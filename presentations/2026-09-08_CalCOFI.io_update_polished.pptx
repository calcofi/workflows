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0" r:id="rId20"/>
    <p:sldId id="275" r:id="rId21"/>
    <p:sldId id="276" r:id="rId22"/>
    <p:sldId id="277" r:id="rId23"/>
    <p:sldId id="278" r:id="rId24"/>
    <p:sldId id="279" r:id="rId25"/>
  </p:sldIdLst>
  <p:sldSz cx="12192000" cy="6858000"/>
  <p:notesSz cx="6858000" cy="12192000"/>
  <p:embeddedFontLst>
    <p:embeddedFont>
      <p:font typeface="Source Sans 3" panose="020B0303030403090204"/>
      <p:regular r:id="rId27"/>
      <p:bold r:id="rId28"/>
      <p:italic r:id="rId29"/>
      <p:boldItalic r:id="rId30"/>
    </p:embeddedFont>
    <p:embeddedFont>
      <p:font typeface="Teko"/>
      <p:regular r:id="rId31"/>
      <p:bold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5"/>
    <p:restoredTop sz="96395"/>
  </p:normalViewPr>
  <p:slideViewPr>
    <p:cSldViewPr snapToGrid="0" snapToObjects="1">
      <p:cViewPr varScale="1">
        <p:scale>
          <a:sx n="120" d="100"/>
          <a:sy n="120" d="100"/>
        </p:scale>
        <p:origin x="18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373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Fifteen minutes on what has landed on CalCOFI.io since we last met, then I would rather discuss than present: your reactions matter more than the features.
Everything in this deck reads one frozen database release: v2026.09.06, published 2026-09-06, 16 datasets, 23 tables, 348,657,010 rows (349 M), 2.46 GB, with its own DOI (10.5281/zenodo.22514953; concept DOI 10.5281/zenodo.22281994).
Sources: data/releases/v2026.09.06/datasets.json (`release`, `counts`) and catalog.json (`doi`, `concept_doi`, `citation`).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talk: five things, in the order we will see them. The point that ties them together is that all five read the same frozen release — the front door, the Explorer, the dataset pages, the portal exports and the packages cannot disagree with each other.
Sources: release facts from data/releases/v2026.09.06/datasets.json (`release`, `counts`) and catalog.json (`doi`, `concept_doi`, `citation`); lens list from explore/src/state.ts (LENS_ICON: station, hex, contour, cruise, region,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calcofi.io now opens on a Line 90 section drawn to scale from the release and the brand's own sprite: the ship, the CTD wire with its 14 bottle depths to 515 m, the bongo at 210 m, PairoVET, manta, the CUFES intake, the GEBCO sea floor, and 14 pins placed at the depth each measurement lives. Every pin links out to calcofi.org's method page — calcofi.io never explains a net.
The six numbers (77 years · 842 cruises · 49 ships · 218 stations · 2,614 taxa · 349 M rows), the Where map (the real 218-cell grid) and the When strip (measured coverage per dataset; the two asserted rows hatched) all come from the record, never typed. The ship's log writes itself: 77 entries from releases, datasets and apps, a hand-written file only for features, and a feed calcofi.org can pull.
Deployed 2026-09-07 (CalCOFI.github.io PR #6). Note for Ben: the numbers band says 349 M rows and the catalog strip 348 M for the same 348,657,010 (rounding vs truncation) — the landing session was handed that.
Sources: plan § B slide 3 (the landing re-cut plan of 2026-09-07, measured L1–L5); the screenshot is presentations/assets/landing_hero_2026-09-07.png (shot-scraper, 1440 wide).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hero the page is a bento of seven tiles, each a way in and each generated from the release: Where (the real 218-cell grid, 67 standard, 37 extended, 114 historical), When (coverage per dataset, 16 datasets, 1949 → 2026), the latest release with its tables, rows and DOI, the Ship's log of what shipped, the Explorer card, Get the data (R, Python, SQL, ERDDAP, parquet — copy-and-paste, not a picture of code), and Life (2,614 taxa, every organism resolved to one accepted WoRMS id).
The point to make out loud: nothing was taken away. Every app that was on the page before is still there, one click down, sorted under Explore (8), Access (5), Build (4) and Students (9). What changed is that the front page now leads with the data rather than with a wall of app cards.
Open question for the group: which of the older apps are superseded by the Explorer's lenses and should be demoted or removed altogether (the Contour Explorer already is), and which stay because they go deep on one grain — the Station, Hexagon and Cruise Explorers.
Sources: shots of calcofi.io taken 2026-09-08 (shot-scraper, 1440 wide, light, tour off): presentations/assets/landing_bento_2026-09-08_light.png and landing_apps_2026-09-08.png; the counts are the page's own category strip.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line, from the 8/30 email: the SIO look becomes CalCOFI's brand kit — UC San Diego's colours (navy, blue, the yellow accent, the sand and navy bands), its fonts, a proper horizontal CalCOFI lockup in the header, and light as the default — while each app keeps its own layout and density. The whitespace of the SIO site is a reading layout for pages; it does not transfer to an app crammed with a map, and it is not supposed to. What transfers is the type, the palette, the header and the buttons.
For Erin: dark stays first-class — one click on the sun/moon in any header, remembered across every calcofi.io site and app, and the dark theme is navy rather than gray or black, so it is the same brand after dark. Add ?theme=dark to any link to force it, which is handy for a slide or a paper figure. For Mark: the fonts are the free stand-ins UC San Diego's brand guide names for Brix Sans and Refrigerator Deluxe; if the SIO web team's licence can cover calcofi.io as a UCSD programme, swapping in the real ones is a one-file change — worth asking them, and worth asking whether they would like to supply a CalCOFI lockup in their font (I drew one from the existing mark in the meantime).
Every colour pair was checked for accessibility and passes AA in both themes. Because every CalCOFI product reads its look from one shared place, a change is a one-line change per product — which is also the point to make: none of this is fixed. Colours, fonts, the lockup, which theme opens first, the partner logos in the footer rather than a UCSD lockup in the masthead — all of it is tweakable, and today is the day to say so. Decided with the group on 9/8; flipped live 2026-09-04.
Sources: Ben's email of 2026-08-30 to Mark, Erin and Betty; the specimen page calcofi.io/brand/v2/ (README = the contract, theme.css = the tokens), shot in both themes on 2026-09-08; the icon sheet at calcofi.io/brand/v2/icons/ (54 glyphs, generated from CalCOFI/explore scripts/build_icons.mjs).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five apps with slightly different grains — station, hexagon, cruise, contour, CTD transect — and switching between them was confusing; every feature (theme, share, export, feedback) was built five times. Now there is one app, and the grains are lenses in one picker: stations, hexagons, contours, cruises, regions and sections. The URL is the view: send a link and the recipient gets the exact map, variable, depth and dates.
Erin proposed friendlier app names on 8/26 (Data Finder, Cruise Data Inventory, …); those names still apply, to the lenses rather than to separate apps.
The next three slides are the orientation a first-time user needs: where everything is, the controls that are the same everywhere, and what each lens is for. The full tour is the docs Explore chapter and the in-app tour (? in the header).
Sources: lens list from explore/src/state.ts (LENS_ICON); the screenshot is explore/shots/tour/stations_light.png — the app's default view, shot from a local production build reading the real release v2026.09.06 (see that folder's README.md; every view is named by URL parameters, so a re-shoot is one command).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orientation slide — say it once, slowly, because everything after it assumes the layout. The sentence at the top is the view stated in words, and it is also the controls: every chip in it opens the same picker as the panel, so you can drive the whole app from the sentence if you prefer.
The Controls panel is deliberately numbered, left to right: ① Select — realm (biology or environment), the organism or the ocean variable, life stage, and View as (the lens). ② Refine — years, season, depth band, datasets, quality flags. ③ Share — download the zip, copy the code, cite, copy the link, copy the image, register a product, send feedback, and see the SQL and its timing.
The rest is the four dimensions of the data: the map is x and y and takes the whole screen; Time (t) runs along the bottom (observations per year, switchable to mean ± se or to cruises, drag to filter); Depth (z) is on the right for environment variables only (the mean profile with its spread, drag to brush a band); and the layers button opens the sea floor and the boundary layers. Every panel floats — move it, collapse it, expand it — and the layout is remembered in the URL.
Say where the long version lives: the Explorer guide in the docs (calcofi.io/docs/explore.html, linked from Help ▾) and the twelve-step in-app tour, which the ? button replays any time.
Sources: explore/shots/tour/stations_light.png and that folder's README.md (the URL of every shot); the callout positions are fractions of that frame, set in this script.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orientation: the controls that do not change between lenses, so learning them once is enough.
Layers (the stack button on the map): Data is a layer like any other — on or off, its own colour ramp (cmocean, viridis, GEBCO by convention per variable) and opacity — and its place in the draw order is a row you can drag, so the data can sit above or below a boundary. The sea floor is GEBCO 2025 as three independent switches (shaded relief, depth colour, contours) with its own opacity. Nineteen boundary layers can be added, grouped as maritime zones, protected areas, administrative, ecological, and energy &amp; industry.
Every viz pane carries the same bar: a drag grip, a ⬇ menu with PNG at 2× (the selection and release stamped into the image), SVG for papers, and CSV of that panel's own table — plus collapse and expand. And in the header: Help ▾ (Take the tour, the Explorer guide at calcofi.io/docs/explore.html, Start here, About, Data Sources &amp; Attribution, Register a product, Keyboard), the feedback bubble, and the light/dark toggle.
Sources: explore/shots/tour/{layers_panel,pane_controls,help_menu}.png, shot 2026-09-08 from a local production build on release v2026.09.06; the boundary-layer groups are the Add a layer list in that shot.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lenses, one selection: change the lens and the organism, variable, years and depth band stay put — only the way of looking changes. The icons are the brand's own lens glyphs, the same ones in the picker, on the landing page and on the dataset pages.
Stations: per-station values, one dot per station — the default. Hexagons: the same selection pooled into H3 cells of about 8.5 km, for density and pattern rather than places. Contours: a surface between the stations by IDW, ordinary kriging or a thin-plate spline, with its error, its inputs drawn on top and its labels — the next slide. Cruises: one voyage along its track with its casts coloured, and the whole series behind it for context. Regions: averaged within a boundary layer — sanctuaries, maritime zones, basins — with the regions ranked so you can read them off. Sections: a line of stations, which for an environment variable is depth × station on one cruise and for biology is station × year across all cruises, because the tows are depth-integrated; and the 3-D curtain over the GEBCO sea floor.
Erin's friendlier names from 8/26 apply here, to the lenses. Sources: explore/src/state.ts (LENS_ICON) for the list and the icon ids; the thumbnails are crops of explore/shots/tour/{stations_light,hexagons,contours_temperature_grid_labels,cruises,regions,sections_env}.png; the icons are rasterised from CalCOFI.github.io/brand/v2/icons/calcofi-icons.svg.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sixth lens, live today, replaces the Contour Explorer (which read the legacy PostgreSQL; app.calcofi.io/contour now redirects to this lens). Three methods: IDW for parity with the old app, ordinary kriging by default, and a thin-plate spline. The model-based two halve IDW's error and say where they are unsure — the error is a surface you can switch to.
The fit line under the method says what you are looking at: 12,046 sites → 60,165 cells in 1.2 s, leave-one-out error 1.46 °C, blank beyond 60 km of a point and over land. The station grid fits in 0.3 s. On 213 station means the leave-one-out error is IDW 1.72, kriging 0.91, spline 0.83 °C.
Eight surfaces from one table (value, error, n, first/last year, p05/p95, spread); the inputs can be drawn on top; ramps follow oceanographic convention per variable (cmocean / viridis / GEBCO). Honesty is built in: the sentence says 'by ordinary kriging', never just 'temperature'. The same algorithm runs in R (calcofi4r::cc_interpolate(), since 1.21.0) and Python (calcofi4py.interpolate(), since 0.8.0), tested cell for cell against a fixture the browser's own worker wrote, so a figure is reproducible outside the app.
Sources: the live fit line on 2026-09-07 and the contours plan (2026-09-07) § The take, D32, D39, D40 — via the facts table. The screenshot is explore/shots/tour/contours_temperature_grid_labels.png (?lens=contour&amp;var=temperature&amp;grain=station&amp;labels=on, release v2026.09.06); the caption's numbers are that shot's own fit line: 213 stations → 56,591 cells of 0.06°, leave-one-out RMSE 0.79 °C, 382 ms, variogram nugget 0.46 · sill 13.91 · range 2634 km.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Explorer answers in 147 ms on average (143 ms over the last 7 days); the Hexagon Explorer, a Shiny app on the VM, in 11,353 ms (6,937 ms over 7 days). No server: the page is on GitHub Pages, the tables are public objects on GCS, and the SQL runs in the browser.
The second bullet, told as today's story rather than as a claim. At 03:27 UTC this morning a crawler (Meta's range, a spoofed browser user-agent) asked erddap.calcofi.io for /erddap/tabledap/calcofi_ctd-cast_full.json with NO query string — an unconstrained dump of the largest table. The client gave up after 25 seconds; ERDDAP does not cancel the query when the client disconnects, so it kept materialising it. From 03:34 the VM's disk sat pinned at its read-throughput ceiling for five hours and forty minutes with writes at zero: the working set was file-backed, so the kernel just evicted and re-read the same pages — no OOM kill, no panic, and it cannot self-heal. Ports answered, sshd never sent a banner. Only a reset cleared it. Fixed the same day: Caddy now 403s any tabledap/griddap data-format request with an empty query string (metadata requests still pass), and the post-mortem is in CalCOFI/server INCIDENTS.md. Still open: a constrained but huge query reproduces it, which needs a size or duration cap in ERDDAP.
The point for this slide is the contrast, not the incident: ERDDAP, the Shiny apps and the CTD team's PostgreSQL were all down for six hours; the Explorer was not, because there is nothing of ours to knock over — GitHub Pages and public objects on GCS. A static product has no attack surface and no uptime to defend.
The cost, so nobody has to guess. They share one GCE VM (shiny-server, n2-standard-4, 16 GB, 200 GB disk) on project ucsd-sio-calcofi. Over Feb–Jul 2026 the bill averaged $107 a month all in — $91 of Compute Engine ($68 to $142; the June peak is the CTD PostgreSQL build) and $14 of Cloud Storage ($10 to $21). January to 11 August came to $792.35, of which $686.04 was compute and $94.20 storage, after $185.47 of committed-use and free-tier savings. Call it $1,281 a year at today's shape. The Explorer adds nothing to it: GitHub Pages is free and its tables are the same GCS objects everything else reads.
How to read it next time without a screenshot: grant calcofi-admin@ucsd-sio-calcofi.iam.gserviceaccount.com the Billing Account Viewer role (roles/billing.viewer) on the billing account, or set up a BigQuery billing export and point this script at it. Today the Cloud Billing API is disabled on the project and that account has no compute.* or serviceusage.* permission either, so both the API call and `gcloud compute instances list` return PERMISSION_DENIED — which is why these figures come from a console reading rather than a live query. One fewer app since today, either way: the Contour Explorer is retired and its URL redirects to the Contours lens.
The honest downside, said on the same slide as the upside: it is a large TypeScript app; maintaining it presumes AI-assisted development and it needs a second pair of eyes. That is one of the asks (the decisions slide), not an apology.
Sources: CalCOFI/uptime api/{explore,db-viz-hex}/response-time{,-week}.json and graphs/*/response-time-week.png, pulled 2026-09-07 (the README regenerates hourly — pull once more in the morning and rebuild); 28 sites from .upptimerc.yml; the VM from server/README.md; the outage from CalCOFI/server INCIDENTS.md (2026-09-08) and /share/logs/caddy/erddap.log; the cost from presentations/assets/billing/gcp_billing_2026{,_ytd_by_service}.csv — the Cloud Console billing pages of project ucsd-sio-calcofi read on 2026-08-11 (gconsole_spend_by_service_2026-08-11.png and gconsole_ytd_2026-08-11.png beside them); the monthly figures here are the 6 months with a per-service split.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Erin's asks from 9/2 are all in, and the same answer is now in three places rather than one. In the Explorer: the source sits beside the variable (one chip per dataset the view pools), Data Sources &amp; Attribution is one row per DATASET — never per taxon, so the phytoplankton dataset is one row and not 393 — and Share ③ → Cite this data copies the release citation plus every dataset in view, as text or BibTeX. Every download carries the citations of only the datasets it actually used: the zip has a CITATION file, every CSV carries a dataset_key column (a column, never a comment line), and every PNG and SVG is stamped with the selection, the release and 'cite: calcofi.io/explore → Cite this data'.
In the catalog: every dataset page has a Cite section with its own citation and the release it came from, both with BibTeX, and it links out to the docs chapter rather than restating it. In the docs: calcofi.io/docs/cite.html is the one answer to 'how do I cite CalCOFI data?' — cite BOTH the release and every dataset you used — and it tabulates the citation, licence, DOI and contact of all sixteen datasets.
The table is the ask to providers, and it is measured, not typed: ../docs/data/release/dataset.csv (the promoted release v2026.09.06 dataset table), counted at build time. Read it as 'this field is still empty for these datasets'. Who holds each one: citation_main, pi_names and acknowledgement are the provider's to state; license and license_url are the provider's decision (never invented here — a licence must already be in metadata/license.csv); doi is whatever the source archive minted; contact is the person or address a user should reach, and it is empty for all sixteen, which is the single biggest gap on this slide. A gap is exempt only while an open question names the field, in metadata/{provider}/{dataset}/questions.csv — which is exactly what the per-provider Sheets are for (the metadata slide), and this table is what the next round of those Sheets should close.
Sources: explore/README.md § Attribution; CLAUDE.md § Attribution; the docs cite chapter. Screenshots, all light theme, shot 2026-09-08 from local production builds: presentations/assets/explore/{sources_modal,share_cite}_light.png (../explore scripts/deck_shots.mjs), assets/cite/ds_cite_swfsc_ichthyo.png (the Jekyll _site) and assets/cite/docs_cite_table.png (the rendered ../docs/_book).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button, and it is the same button everywhere: a speech bubble immediately left of the light/dark toggle on calcofi.io, on every dataset page, on every page of the docs book, and in the Explorer's header (calcofi.io's _layouts/default.html sets the shape — .cc-icon-button.cc-feedback beside .cc-theme-toggle — and the Explorer and the docs book wear it).
What it does: it captures the view you are looking at, lets you mark it up — arrow, circle, rectangle, pen, text, in three colours that read on any map, with undo and clear — and sends your note with the view's URL, the release, the datasets in view, the viewport and the theme. Nothing else: no cookies, no tracking, and the email address is optional (you get a copy and any reply; it is never public).
Where it lands: the "CalCOFI app feedback" Google Sheet and its recipients tab, an email to Ben, Erin and Betty with the screenshot inline, and a public GitHub issue in the product's own repo — CalCOFI/explore, CalCOFI/CalCOFI.github.io, CalCOFI/docs — with the email stripped out. "Open as GitHub issue myself" files a prefilled issue without the Apps Script and copies the screenshot to your clipboard to paste.
Register a product is the second kind of the same dialog, labelled derived-product: the title of the paper, product or project, a link or DOI, and the datasets in view already filled in. It is how someone tells us "I used CalCOFI data in …", which is how the program shows what six decades of sampling is for. It is reachable from Share ③, from Help ▾ and from the bottom of the Data Sources &amp; Attribution modal.
The ask (the decisions slide): use it. Thirty minutes each in the Explorer, and file what you find with the button rather than in an email thread.
Sources: explore/src/feedback.tsx and annotate.tsx; CalCOFI.github.io _config.yml (the shared Apps Script endpoint and feedback_repo) and _layouts/default.html; ../docs README § Feedback. Screenshots, light theme, 2026-09-08: presentations/assets/explore/feedback_annotate_light.png and header_explore_light.png (../explore scripts/deck_shots.mjs, which drives the dialog and draws the marks), assets/headers/hdr_calcofi_io.png and hdr_docs.png (shot-scraper against the local Jekyll _site and the rendered docs _book).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stuck showing datasets — with credit — inside the apps, and nobody could find 'the ERDDAP one' or 'the netCDF one'. Now every dataset has one page: 16 in the database plus 17 holdings (datasets CalCOFI has but has not ingested), by category with the brand icons, generated from the release record. The grid is 12 categories in Biology and Environment columns, alphabetical; holdings are collapsed under 'not yet in the database'; hover or tap a card for its years bar and station map.
Holdings: 17, all visibility: public, statuses external (10) / archived (7), none planned; every one already sits in a public archive. If any should stay off the page until a provider conversation happens, visibility: internal hides it from every public surface in one line — offered, not applied (email item 2).
Sources: data/releases/v2026.09.06/datasets.json (`release`, `counts`) and catalog.json (`doi`, `concept_doi`, `citation`) (counts, holdings[].status); the screenshot is CalCOFI.github.io/images/datasets_light.png (the site's card shot).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top to bottom: Explore (which app opens on this dataset), Get the data, Code in R and Python side by side, Metadata records (STAC item, EML, JSON-LD), then Archives &amp; portals — a table of every endpoint with the archive-of-record policy sentence above it (for ichthyo: the archive of record is OBIS through the IPT; NCEI is SWFSC's own; EDI does not apply) — then the source files and the measured coverage. Coverage is measured at release, never typed.
Sources: plan § B slide 9 and the facts table row 'Dataset page'; the screenshot is CalCOFI.github.io/images/dataset-ichthyo_light.png (the site's card shot).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generic publishers, one per portal. OBIS: 10 Darwin Core archives, staged at gs://calcofi-db/publish/dwca/. EDI: 3 packages (bottle, CTD casts, METS), staged. ERDDAP: 44 datasets live on erddap.calcofi.io. netCDF: one CF file per dataset at storage.calcofi.io/calcofi-files-public/netcdf/. All idempotent since 9/6 — a re-run is a hash comparison.
'Staged' = built and byte-stable, deposited only when we say so — the deposits wait for the decisions on the asks slide (the EDI account, the OBIS resources and contacts). The ichthyo archive was compared with the hand-built one on OBIS today: the data are unchanged; two gaps to raise with SWFSC — depth asserted 0/NULL, biomass in whole mL.
Sources: DwC-A and EDI counts from the facts table (gcloud storage ls, 2026-09-07); ERDDAP count: erddap.calcofi.io allDatasets.csv read at build time (2026-09-08), excluding the allDatasets row; ichthyo parity from artifact d58f5c49; RELEASES.md § Unreleased.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2022 Google Drawing: data → ingest → database → API → apps / reports → publish → portals (ERDDAP, OBIS, DataOne/NCEI, InPort). Right, its successor: sources → one record per dataset (datasets.json + EML) → generated surfaces → who reads them. The publish box is now real.
Ben's caption, verbatim: 'Everything a portal sees is generated from one record per dataset. The dotted boxes are catalogs run by others; each is pointed at a static file we already publish. The one server-shaped option, pycsw, is gated on a partner asking for CSW.'
Machine surfaces live today: STAC at calcofi.io/stac/ (and gs://calcofi-db/stac/catalog.json), datasets.json schema 1.1, EML × 16, ISO 19115 WAF via ERDDAP, DCAT-US data.json, JSON-LD per page, and the sitemap at calcofi.io/datasets/sitemap.xml (the root /sitemap.xml is 404 — say the right path).
Sources: docs/figs/sw_arch.svg rendered with rsvg; docs/diagrams/catalog_flow.mmd rendered with mmdc (2026-09-07); the surfaces row of the facts table (curl, 2026-09-07).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release has a DOI now: a version DOI per release (10.5281/zenodo.22514953 for v2026.09.06) and a concept DOI for 'the database' (10.5281/zenodo.22281994), which always resolves to the latest. The citation string is on the slide, and the Explorer, the packages and every dataset page write it for you.
The changelog, RELEASES.html, says what changed and why, per release, with a table of contents; each version's release notes are its section plus a generated appendix (tables and rows, datasets, the consumer-contract test result, package versions).
Sources: data/releases/v2026.09.06/datasets.json (`release`, `counts`) and catalog.json (`doi`, `concept_doi`, `citation`); the Zenodo record (zenodo.org/records/22514953) and RELEASES.html shot with shot-scraper on 2026-09-07 (the Zenodo cookie banner cropped).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bytes from R, Python and the browser: calcofi4r 1.22.0 and calcofi4py 0.9.0 both open the frozen release as DuckDB views (pin a version for a reproducible figure), run one-shot queries, apply the quality-flag predicate, reproduce the Contours surface (cc_interpolate() / interpolate(), tested cell for cell against a fixture the browser wrote), and — for the CTD group — connect to their PostgreSQL through an SSH tunnel with ~/.pgpass. calcofi4db 4.7.0 is the pipeline engine.
Quality flags: obs.measurement_qual is each dataset's own vocabulary (bottle 8 = suspect, CTD 8/9, DIC WOCE 3/4/9); a flagged value is still a row. One predicate exists in each language — cc_qual_ok_sql(), qual_ok_sql(), db-query's qualOkSQL() — and every static consumer's build SQL and every Shiny app's prep_db.R apply it (after Ralf's 1955 oxygen spike in August).
Sources: versions read at build time from ../calcofi4r/DESCRIPTION, ../calcofi4py/pyproject.toml, ../calcofi4db/DESCRIPTION; the snippets follow each package's README (calcofi4r README § Connect / § Execute Custom Queries; calcofi4py README § Use / § The CTD team's PostgreSQL).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Sheet per provider (7: calcofi, swfsc, sio, cce-lter, cdfw, farallon, sccoos) in the Shared Drive folder 'questions', each titled 'CalCOFI integrated database — questions for &lt;provider&gt;'. Three kinds of tab: one per dataset (questions: edit answer, status, answered_date, who), metadata (long form, tiered required → recommended → optional: edit value; edited_by and edited_date stamp themselves), and on the CalCOFI Sheet a holdings tab, the team's triage board. Everything else is protected on purpose. Service-account auth; pull writes only those columns back into the versioned record, validated, one commit.
The record is git: metadata/{provider}/{dataset}/dataset_meta.yml (the descriptive half) and questions.csv. The monthly release measures coverage, counts and source-access dates and regenerates every public surface from the record: the dataset page, datasets.json, EML, STAC, DCAT, the DwC-A / EDI package / ERDDAP globals. The weekly observer (observe_distributions()) files a proposed question when a portal's record drifts.
This is where the two-sheets question gets asked (the asks slide): Erin's attribution sheet stays the outreach form for this round and is imported; from the next round the per-provider Sheets are the one place — or we add her columns to those Sheets now. The long version is calcofi.io/docs/metadata.html.
Sources: metadata/questions_sheets.yml (count read at build time); scripts/sync_questions_sheets.R and sync_dataset_meta_sheets.R; the screenshot is the CalCOFI Sheet's metadata tab (Chrome, 2026-09-07).</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docs were one long page; they are now a book with 5 parts and 17 numbered chapters plus 3 appendices, and the parts are the data management plan's own five phases — Use the data, Understand the database, Contribute data, Work with the team, The plan and the record — so the documentation and the plan cannot describe different systems.
The first page is an orientation, not an introduction: 'Which door is yours' is a table with a row per person — curious about the ocean or a scientist who wants to see the data; a data scientist writing queries; a data provider now or in future; the CTD team; the data team or someone building a CalCOFI.io product; and reporting on the program. Each row names one chapter to start with and two to read next. Say your own row out loud when you present this.
How it stays true: prose is authored, facts are generated. Every table of counts, columns, keys, datasets, portals or statuses is read from the promoted release's own sidecars and the workflows registries when the book renders — 28 numbered figures and 29 numbered tables, none of them typed. Where a chapter states a rule, the rule is one the pipeline enforces, and the chapter says how.
Three formats from one source: HTML in light and dark (the same ?theme= contract as every other product), and a PDF and a DOCX built by a second CI job and linked from the sidebar, so a Word reader is not left out. The diagrams are SVG with pan, zoom and full-screen — no headless Chrome in CI, which is what used to break the build. And every page carries the same feedback bubble as the Explorer: annotate a screenshot of the page and it reaches the Sheet, our inboxes and a public issue in CalCOFI/docs.
Sources: ../docs/_quarto.yml (parts, chapters and appendices counted at build time), ../docs/*.qmd ({#fig- and {#tbl- labels counted: 28 and 29), and ../docs/index.qmd for the wording of the doors table; the shots are of the locally rendered book (../docs/_book) on 2026-09-08, and the system figure is ../docs/diagrams/system.svg rendered with rsvg-convert (the core ERD, diagrams/core_erd.svg, is rendered too and lives in the Database chapter — it is too dense to read on a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lines, no more; each small, specific and dated, with an owner and a proposed answer already on the table. Read the owner first.
1 data@calcofi.io: forwarding to the three of us is live since 9/7; the public address is already printed in the catalog and metadata we publish and never changes — Erin, a Google Group calcofi-data@ucsd.edu as its long-term target, or one ITS ticket? 2 Holdings: all public archives already; the switch exists and is offered, not applied. 3 Outreach: Erin's attribution sheet is respected this round (import_caloos_sheet.R); per-provider Sheets from the next round, or her columns added to them now. 4 EDI account: Erin recommended; one package per program dataset; CCE-LTER's packages stay in knb-lter-cce. 5 OBIS: archives staged; existing records checked with their owners first. 6 CalOOS: does it harvest erddap.calcofi.io directly, the CoastWatch handoff, propagation to data.ioos.us. 7 Explorer review: the feedback button, 30 minutes each, Betty as second pair of eyes on the code. 8 Crab: CDFW's answers are due Sept 16; the ingest already ships examined-only. 9 calcofi.org ↔ calcofi.io: cosmetic, whenever the web team has a slot.
Sources: plan § B 'Asks (slide 15)'.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Said once, evenly: building is now fast. Deciding what to build, checking it, and telling people about it are what set the pace. That is where I need you.
Then the cadence, one line: a monthly release (already the rhythm since August), a 20-minute demo in the data meeting when something ships, and questions to providers only through the Sheets. Then stop and listen.
Sources: plan § B slide 16 and 'Proposed cadence'.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URL shown in the deck, for the PDF. All answered 200/206 (ranged GET) on 2026-09-07; doi.org answers 302 to the Zenodo record.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calcofi.io/" TargetMode="Externa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hyperlink" Target="https://calcofi.io/"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hyperlink" Target="https://calcofi.io/"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5.png"/><Relationship Id="rId12" Type="http://schemas.openxmlformats.org/officeDocument/2006/relationships/hyperlink" Target="https://calcofi.io/"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hyperlink" Target="https://calcofi.io/brand/v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png"/><Relationship Id="rId4" Type="http://schemas.openxmlformats.org/officeDocument/2006/relationships/hyperlink" Target="https://calcofi.io/explor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1.png"/><Relationship Id="rId4" Type="http://schemas.openxmlformats.org/officeDocument/2006/relationships/hyperlink" Target="https://calcofi.io/docs/explore.html#sec-explore-tour"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calcofi.io/docs/explore.html#sec-explore-layers"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4.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9.xml"/><Relationship Id="rId16"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31.png"/><Relationship Id="rId5" Type="http://schemas.openxmlformats.org/officeDocument/2006/relationships/image" Target="../media/image26.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hyperlink" Target="https://calcofi.io/docs/explore.html#sec-explore-lenses" TargetMode="External"/><Relationship Id="rId9" Type="http://schemas.openxmlformats.org/officeDocument/2006/relationships/image" Target="../media/image29.png"/><Relationship Id="rId1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9.png"/><Relationship Id="rId4" Type="http://schemas.openxmlformats.org/officeDocument/2006/relationships/hyperlink" Target="https://calcofi.io/explore/?lens=contour&amp;inputs=on&amp;var=temperature&amp;years=2000-2027&amp;q=3&amp;depth=0-5"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hyperlink" Target="https://status.calcofi.io/"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hyperlink" Target="https://calcofi.io/datasets" TargetMode="External"/><Relationship Id="rId5" Type="http://schemas.openxmlformats.org/officeDocument/2006/relationships/image" Target="../media/image41.png"/><Relationship Id="rId10" Type="http://schemas.openxmlformats.org/officeDocument/2006/relationships/hyperlink" Target="https://calcofi.io/docs/cite.html" TargetMode="External"/><Relationship Id="rId4" Type="http://schemas.openxmlformats.org/officeDocument/2006/relationships/hyperlink" Target="https://calcofi.io/explore/?modal=sources" TargetMode="External"/><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png"/><Relationship Id="rId7"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7.png"/><Relationship Id="rId4" Type="http://schemas.openxmlformats.org/officeDocument/2006/relationships/hyperlink" Target="https://calcofi.io/datasets/swfsc_ichthy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hyperlink" Target="https://calcofi.io/workflows/"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calcofi.io/datasets/sitemap.xml" TargetMode="External"/><Relationship Id="rId3" Type="http://schemas.openxmlformats.org/officeDocument/2006/relationships/image" Target="../media/image4.pn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8.png"/><Relationship Id="rId10" Type="http://schemas.openxmlformats.org/officeDocument/2006/relationships/hyperlink" Target="https://calcofi.io/stac/" TargetMode="External"/><Relationship Id="rId4" Type="http://schemas.openxmlformats.org/officeDocument/2006/relationships/hyperlink" Target="https://calcofi.io/docs/portals.html" TargetMode="External"/><Relationship Id="rId9" Type="http://schemas.openxmlformats.org/officeDocument/2006/relationships/hyperlink" Target="https://calcofi.io/data.json"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storage.calcofi.io/calcofi-db/ducklake/releases/RELEASES.html" TargetMode="External"/><Relationship Id="rId3" Type="http://schemas.openxmlformats.org/officeDocument/2006/relationships/image" Target="../media/image4.png"/><Relationship Id="rId7"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41.png"/><Relationship Id="rId4" Type="http://schemas.openxmlformats.org/officeDocument/2006/relationships/hyperlink" Target="https://zenodo.org/records/22514953"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calcofi.io/calcofi4py" TargetMode="External"/><Relationship Id="rId5" Type="http://schemas.openxmlformats.org/officeDocument/2006/relationships/image" Target="../media/image9.png"/><Relationship Id="rId4" Type="http://schemas.openxmlformats.org/officeDocument/2006/relationships/hyperlink" Target="https://calcofi.io/calcofi4r"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docs.google.com/spreadsheets/d/1eyvhdzA5YwuDxH8tBld2-h_odKA1KYt_RXI3loI0OaU/edit?gid=0#gid=0"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hyperlink" Target="https://calcofi.io/docs/metadata.html"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png"/><Relationship Id="rId7"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hyperlink" Target="https://calcofi.io/doc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a:effectLst/>
      </p:bgPr>
    </p:bg>
    <p:spTree>
      <p:nvGrpSpPr>
        <p:cNvPr id="1" name=""/>
        <p:cNvGrpSpPr/>
        <p:nvPr/>
      </p:nvGrpSpPr>
      <p:grpSpPr>
        <a:xfrm>
          <a:off x="0" y="0"/>
          <a:ext cx="0" cy="0"/>
          <a:chOff x="0" y="0"/>
          <a:chExt cx="0" cy="0"/>
        </a:xfrm>
      </p:grpSpPr>
      <p:pic>
        <p:nvPicPr>
          <p:cNvPr id="3" name="lockup" descr="/home/claude/work/logos/logo_calcofi_h.png"/>
          <p:cNvPicPr>
            <a:picLocks noChangeAspect="1"/>
          </p:cNvPicPr>
          <p:nvPr/>
        </p:nvPicPr>
        <p:blipFill>
          <a:blip r:embed="rId3"/>
          <a:stretch>
            <a:fillRect/>
          </a:stretch>
        </p:blipFill>
        <p:spPr>
          <a:xfrm>
            <a:off x="457200" y="457200"/>
            <a:ext cx="2378719" cy="566928"/>
          </a:xfrm>
          <a:prstGeom prst="rect">
            <a:avLst/>
          </a:prstGeom>
        </p:spPr>
      </p:pic>
      <p:sp>
        <p:nvSpPr>
          <p:cNvPr id="4" name="caps:title"/>
          <p:cNvSpPr txBox="1"/>
          <p:nvPr/>
        </p:nvSpPr>
        <p:spPr>
          <a:xfrm>
            <a:off x="457200" y="1325880"/>
            <a:ext cx="11277295" cy="1828800"/>
          </a:xfrm>
          <a:prstGeom prst="rect">
            <a:avLst/>
          </a:prstGeom>
          <a:noFill/>
          <a:ln/>
        </p:spPr>
        <p:txBody>
          <a:bodyPr wrap="square" lIns="0" tIns="0" rIns="0" bIns="0" rtlCol="0" anchor="t"/>
          <a:lstStyle/>
          <a:p>
            <a:pPr marL="0" indent="0">
              <a:lnSpc>
                <a:spcPct val="90000"/>
              </a:lnSpc>
              <a:buNone/>
            </a:pPr>
            <a:r>
              <a:rPr lang="en-US" sz="5000" kern="0" cap="all" spc="100" dirty="0">
                <a:solidFill>
                  <a:srgbClr val="FFFFFF"/>
                </a:solidFill>
                <a:latin typeface="Teko" pitchFamily="34" charset="0"/>
                <a:ea typeface="Teko" pitchFamily="34" charset="-122"/>
                <a:cs typeface="Teko" pitchFamily="34" charset="-120"/>
              </a:rPr>
              <a:t>CalCOFI.io — what landed since Aug 25,</a:t>
            </a:r>
            <a:endParaRPr lang="en-US" sz="5000" dirty="0"/>
          </a:p>
          <a:p>
            <a:pPr marL="0" indent="0">
              <a:lnSpc>
                <a:spcPct val="90000"/>
              </a:lnSpc>
              <a:buNone/>
            </a:pPr>
            <a:r>
              <a:rPr lang="en-US" sz="5000" kern="0" cap="all" spc="100" dirty="0">
                <a:solidFill>
                  <a:srgbClr val="FFFFFF"/>
                </a:solidFill>
                <a:latin typeface="Teko" pitchFamily="34" charset="0"/>
                <a:ea typeface="Teko" pitchFamily="34" charset="-122"/>
                <a:cs typeface="Teko" pitchFamily="34" charset="-120"/>
              </a:rPr>
              <a:t>and what we need from each other</a:t>
            </a:r>
            <a:endParaRPr lang="en-US" sz="5000" dirty="0"/>
          </a:p>
        </p:txBody>
      </p:sp>
      <p:sp>
        <p:nvSpPr>
          <p:cNvPr id="5" name="text"/>
          <p:cNvSpPr txBox="1"/>
          <p:nvPr/>
        </p:nvSpPr>
        <p:spPr>
          <a:xfrm>
            <a:off x="457200" y="3200400"/>
            <a:ext cx="11277295" cy="365760"/>
          </a:xfrm>
          <a:prstGeom prst="rect">
            <a:avLst/>
          </a:prstGeom>
          <a:noFill/>
          <a:ln/>
        </p:spPr>
        <p:txBody>
          <a:bodyPr wrap="square" lIns="0" tIns="0" rIns="0" bIns="0" rtlCol="0" anchor="t"/>
          <a:lstStyle/>
          <a:p>
            <a:pPr marL="0" indent="0">
              <a:buNone/>
            </a:pPr>
            <a:r>
              <a:rPr lang="en-US" sz="1800" dirty="0">
                <a:solidFill>
                  <a:srgbClr val="E9EDF3"/>
                </a:solidFill>
                <a:latin typeface="Source Sans 3" pitchFamily="34" charset="0"/>
                <a:ea typeface="Source Sans 3" pitchFamily="34" charset="-122"/>
                <a:cs typeface="Source Sans 3" pitchFamily="34" charset="-120"/>
              </a:rPr>
              <a:t>CalCOFI data meeting · Tuesday 8 September 2026 · 15 minutes, then discussion</a:t>
            </a:r>
            <a:endParaRPr lang="en-US" sz="1800" dirty="0"/>
          </a:p>
        </p:txBody>
      </p:sp>
      <p:sp>
        <p:nvSpPr>
          <p:cNvPr id="6" name="build:numbers"/>
          <p:cNvSpPr/>
          <p:nvPr/>
        </p:nvSpPr>
        <p:spPr>
          <a:xfrm>
            <a:off x="457200" y="3703320"/>
            <a:ext cx="11277295" cy="1188720"/>
          </a:xfrm>
          <a:prstGeom prst="roundRect">
            <a:avLst>
              <a:gd name="adj" fmla="val 8462"/>
            </a:avLst>
          </a:prstGeom>
          <a:solidFill>
            <a:srgbClr val="182B49"/>
          </a:solidFill>
          <a:ln w="12700">
            <a:solidFill>
              <a:srgbClr val="182B49"/>
            </a:solidFill>
            <a:prstDash val="solid"/>
          </a:ln>
        </p:spPr>
        <p:txBody>
          <a:bodyPr/>
          <a:lstStyle/>
          <a:p>
            <a:endParaRPr lang="en-US"/>
          </a:p>
        </p:txBody>
      </p:sp>
      <p:sp>
        <p:nvSpPr>
          <p:cNvPr id="7" name="numeral"/>
          <p:cNvSpPr txBox="1"/>
          <p:nvPr/>
        </p:nvSpPr>
        <p:spPr>
          <a:xfrm>
            <a:off x="685800" y="3867912"/>
            <a:ext cx="2545004" cy="566928"/>
          </a:xfrm>
          <a:prstGeom prst="rect">
            <a:avLst/>
          </a:prstGeom>
          <a:noFill/>
          <a:ln/>
        </p:spPr>
        <p:txBody>
          <a:bodyPr wrap="square" lIns="0" tIns="0" rIns="0" bIns="0" rtlCol="0" anchor="t"/>
          <a:lstStyle/>
          <a:p>
            <a:pPr marL="0" indent="0">
              <a:buNone/>
            </a:pPr>
            <a:r>
              <a:rPr lang="en-US" sz="3200" dirty="0">
                <a:solidFill>
                  <a:srgbClr val="FFCD00"/>
                </a:solidFill>
                <a:latin typeface="Teko" pitchFamily="34" charset="0"/>
                <a:ea typeface="Teko" pitchFamily="34" charset="-122"/>
                <a:cs typeface="Teko" pitchFamily="34" charset="-120"/>
              </a:rPr>
              <a:t>v2026.09.06</a:t>
            </a:r>
            <a:endParaRPr lang="en-US" sz="3200" dirty="0"/>
          </a:p>
        </p:txBody>
      </p:sp>
      <p:sp>
        <p:nvSpPr>
          <p:cNvPr id="8" name="smallcaps:label"/>
          <p:cNvSpPr txBox="1"/>
          <p:nvPr/>
        </p:nvSpPr>
        <p:spPr>
          <a:xfrm>
            <a:off x="685800" y="4471416"/>
            <a:ext cx="2545004" cy="274320"/>
          </a:xfrm>
          <a:prstGeom prst="rect">
            <a:avLst/>
          </a:prstGeom>
          <a:noFill/>
          <a:ln/>
        </p:spPr>
        <p:txBody>
          <a:bodyPr wrap="square" lIns="0" tIns="0" rIns="0" bIns="0" rtlCol="0" anchor="t"/>
          <a:lstStyle/>
          <a:p>
            <a:pPr marL="0" indent="0">
              <a:buNone/>
            </a:pPr>
            <a:r>
              <a:rPr lang="en-US" sz="1300" kern="0" cap="small" spc="80" dirty="0">
                <a:solidFill>
                  <a:srgbClr val="9FB0C8"/>
                </a:solidFill>
                <a:latin typeface="Source Sans 3" pitchFamily="34" charset="0"/>
                <a:ea typeface="Source Sans 3" pitchFamily="34" charset="-122"/>
                <a:cs typeface="Source Sans 3" pitchFamily="34" charset="-120"/>
              </a:rPr>
              <a:t>release, 2026-09-06</a:t>
            </a:r>
            <a:endParaRPr lang="en-US" sz="1300" dirty="0"/>
          </a:p>
        </p:txBody>
      </p:sp>
      <p:sp>
        <p:nvSpPr>
          <p:cNvPr id="9" name="Shape 5"/>
          <p:cNvSpPr/>
          <p:nvPr/>
        </p:nvSpPr>
        <p:spPr>
          <a:xfrm>
            <a:off x="3276524" y="3931920"/>
            <a:ext cx="0" cy="731520"/>
          </a:xfrm>
          <a:prstGeom prst="line">
            <a:avLst/>
          </a:prstGeom>
          <a:noFill/>
          <a:ln w="9525">
            <a:solidFill>
              <a:srgbClr val="34486B"/>
            </a:solidFill>
            <a:prstDash val="solid"/>
          </a:ln>
        </p:spPr>
        <p:txBody>
          <a:bodyPr/>
          <a:lstStyle/>
          <a:p>
            <a:endParaRPr lang="en-US"/>
          </a:p>
        </p:txBody>
      </p:sp>
      <p:sp>
        <p:nvSpPr>
          <p:cNvPr id="10" name="numeral"/>
          <p:cNvSpPr txBox="1"/>
          <p:nvPr/>
        </p:nvSpPr>
        <p:spPr>
          <a:xfrm>
            <a:off x="3505124" y="3867912"/>
            <a:ext cx="2545004" cy="566928"/>
          </a:xfrm>
          <a:prstGeom prst="rect">
            <a:avLst/>
          </a:prstGeom>
          <a:noFill/>
          <a:ln/>
        </p:spPr>
        <p:txBody>
          <a:bodyPr wrap="square" lIns="0" tIns="0" rIns="0" bIns="0" rtlCol="0" anchor="t"/>
          <a:lstStyle/>
          <a:p>
            <a:pPr marL="0" indent="0">
              <a:buNone/>
            </a:pPr>
            <a:r>
              <a:rPr lang="en-US" sz="3200" dirty="0">
                <a:solidFill>
                  <a:srgbClr val="FFCD00"/>
                </a:solidFill>
                <a:latin typeface="Teko" pitchFamily="34" charset="0"/>
                <a:ea typeface="Teko" pitchFamily="34" charset="-122"/>
                <a:cs typeface="Teko" pitchFamily="34" charset="-120"/>
              </a:rPr>
              <a:t>16 datasets</a:t>
            </a:r>
            <a:endParaRPr lang="en-US" sz="3200" dirty="0"/>
          </a:p>
        </p:txBody>
      </p:sp>
      <p:sp>
        <p:nvSpPr>
          <p:cNvPr id="11" name="smallcaps:label"/>
          <p:cNvSpPr txBox="1"/>
          <p:nvPr/>
        </p:nvSpPr>
        <p:spPr>
          <a:xfrm>
            <a:off x="3505124" y="4471416"/>
            <a:ext cx="2545004" cy="274320"/>
          </a:xfrm>
          <a:prstGeom prst="rect">
            <a:avLst/>
          </a:prstGeom>
          <a:noFill/>
          <a:ln/>
        </p:spPr>
        <p:txBody>
          <a:bodyPr wrap="square" lIns="0" tIns="0" rIns="0" bIns="0" rtlCol="0" anchor="t"/>
          <a:lstStyle/>
          <a:p>
            <a:pPr marL="0" indent="0">
              <a:buNone/>
            </a:pPr>
            <a:r>
              <a:rPr lang="en-US" sz="1300" kern="0" cap="small" spc="80" dirty="0">
                <a:solidFill>
                  <a:srgbClr val="9FB0C8"/>
                </a:solidFill>
                <a:latin typeface="Source Sans 3" pitchFamily="34" charset="0"/>
                <a:ea typeface="Source Sans 3" pitchFamily="34" charset="-122"/>
                <a:cs typeface="Source Sans 3" pitchFamily="34" charset="-120"/>
              </a:rPr>
              <a:t>23 tables · 17 holdings</a:t>
            </a:r>
            <a:endParaRPr lang="en-US" sz="1300" dirty="0"/>
          </a:p>
        </p:txBody>
      </p:sp>
      <p:sp>
        <p:nvSpPr>
          <p:cNvPr id="12" name="Shape 8"/>
          <p:cNvSpPr/>
          <p:nvPr/>
        </p:nvSpPr>
        <p:spPr>
          <a:xfrm>
            <a:off x="6095848" y="3931920"/>
            <a:ext cx="0" cy="731520"/>
          </a:xfrm>
          <a:prstGeom prst="line">
            <a:avLst/>
          </a:prstGeom>
          <a:noFill/>
          <a:ln w="9525">
            <a:solidFill>
              <a:srgbClr val="34486B"/>
            </a:solidFill>
            <a:prstDash val="solid"/>
          </a:ln>
        </p:spPr>
        <p:txBody>
          <a:bodyPr/>
          <a:lstStyle/>
          <a:p>
            <a:endParaRPr lang="en-US"/>
          </a:p>
        </p:txBody>
      </p:sp>
      <p:sp>
        <p:nvSpPr>
          <p:cNvPr id="13" name="numeral"/>
          <p:cNvSpPr txBox="1"/>
          <p:nvPr/>
        </p:nvSpPr>
        <p:spPr>
          <a:xfrm>
            <a:off x="6324448" y="3867912"/>
            <a:ext cx="2545004" cy="566928"/>
          </a:xfrm>
          <a:prstGeom prst="rect">
            <a:avLst/>
          </a:prstGeom>
          <a:noFill/>
          <a:ln/>
        </p:spPr>
        <p:txBody>
          <a:bodyPr wrap="square" lIns="0" tIns="0" rIns="0" bIns="0" rtlCol="0" anchor="t"/>
          <a:lstStyle/>
          <a:p>
            <a:pPr marL="0" indent="0">
              <a:buNone/>
            </a:pPr>
            <a:r>
              <a:rPr lang="en-US" sz="3200" dirty="0">
                <a:solidFill>
                  <a:srgbClr val="FFCD00"/>
                </a:solidFill>
                <a:latin typeface="Teko" pitchFamily="34" charset="0"/>
                <a:ea typeface="Teko" pitchFamily="34" charset="-122"/>
                <a:cs typeface="Teko" pitchFamily="34" charset="-120"/>
              </a:rPr>
              <a:t>349 M rows</a:t>
            </a:r>
            <a:endParaRPr lang="en-US" sz="3200" dirty="0"/>
          </a:p>
        </p:txBody>
      </p:sp>
      <p:sp>
        <p:nvSpPr>
          <p:cNvPr id="14" name="smallcaps:label"/>
          <p:cNvSpPr txBox="1"/>
          <p:nvPr/>
        </p:nvSpPr>
        <p:spPr>
          <a:xfrm>
            <a:off x="6324448" y="4471416"/>
            <a:ext cx="2545004" cy="274320"/>
          </a:xfrm>
          <a:prstGeom prst="rect">
            <a:avLst/>
          </a:prstGeom>
          <a:noFill/>
          <a:ln/>
        </p:spPr>
        <p:txBody>
          <a:bodyPr wrap="square" lIns="0" tIns="0" rIns="0" bIns="0" rtlCol="0" anchor="t"/>
          <a:lstStyle/>
          <a:p>
            <a:pPr marL="0" indent="0">
              <a:buNone/>
            </a:pPr>
            <a:r>
              <a:rPr lang="en-US" sz="1300" kern="0" cap="small" spc="80" dirty="0">
                <a:solidFill>
                  <a:srgbClr val="9FB0C8"/>
                </a:solidFill>
                <a:latin typeface="Source Sans 3" pitchFamily="34" charset="0"/>
                <a:ea typeface="Source Sans 3" pitchFamily="34" charset="-122"/>
                <a:cs typeface="Source Sans 3" pitchFamily="34" charset="-120"/>
              </a:rPr>
              <a:t>348,657,010 · 2.46 GB</a:t>
            </a:r>
            <a:endParaRPr lang="en-US" sz="1300" dirty="0"/>
          </a:p>
        </p:txBody>
      </p:sp>
      <p:sp>
        <p:nvSpPr>
          <p:cNvPr id="15" name="Shape 11"/>
          <p:cNvSpPr/>
          <p:nvPr/>
        </p:nvSpPr>
        <p:spPr>
          <a:xfrm>
            <a:off x="8915171" y="3931920"/>
            <a:ext cx="0" cy="731520"/>
          </a:xfrm>
          <a:prstGeom prst="line">
            <a:avLst/>
          </a:prstGeom>
          <a:noFill/>
          <a:ln w="9525">
            <a:solidFill>
              <a:srgbClr val="34486B"/>
            </a:solidFill>
            <a:prstDash val="solid"/>
          </a:ln>
        </p:spPr>
        <p:txBody>
          <a:bodyPr/>
          <a:lstStyle/>
          <a:p>
            <a:endParaRPr lang="en-US"/>
          </a:p>
        </p:txBody>
      </p:sp>
      <p:sp>
        <p:nvSpPr>
          <p:cNvPr id="16" name="numeral"/>
          <p:cNvSpPr txBox="1"/>
          <p:nvPr/>
        </p:nvSpPr>
        <p:spPr>
          <a:xfrm>
            <a:off x="9143771" y="3867912"/>
            <a:ext cx="2545004" cy="566928"/>
          </a:xfrm>
          <a:prstGeom prst="rect">
            <a:avLst/>
          </a:prstGeom>
          <a:noFill/>
          <a:ln/>
        </p:spPr>
        <p:txBody>
          <a:bodyPr wrap="square" lIns="0" tIns="0" rIns="0" bIns="0" rtlCol="0" anchor="t"/>
          <a:lstStyle/>
          <a:p>
            <a:pPr marL="0" indent="0">
              <a:buNone/>
            </a:pPr>
            <a:r>
              <a:rPr lang="en-US" sz="3200" dirty="0">
                <a:solidFill>
                  <a:srgbClr val="FFCD00"/>
                </a:solidFill>
                <a:latin typeface="Teko" pitchFamily="34" charset="0"/>
                <a:ea typeface="Teko" pitchFamily="34" charset="-122"/>
                <a:cs typeface="Teko" pitchFamily="34" charset="-120"/>
              </a:rPr>
              <a:t>DOI</a:t>
            </a:r>
            <a:endParaRPr lang="en-US" sz="3200" dirty="0"/>
          </a:p>
        </p:txBody>
      </p:sp>
      <p:sp>
        <p:nvSpPr>
          <p:cNvPr id="17" name="smallcaps:label"/>
          <p:cNvSpPr txBox="1"/>
          <p:nvPr/>
        </p:nvSpPr>
        <p:spPr>
          <a:xfrm>
            <a:off x="9143771" y="4471416"/>
            <a:ext cx="2545004" cy="274320"/>
          </a:xfrm>
          <a:prstGeom prst="rect">
            <a:avLst/>
          </a:prstGeom>
          <a:noFill/>
          <a:ln/>
        </p:spPr>
        <p:txBody>
          <a:bodyPr wrap="square" lIns="0" tIns="0" rIns="0" bIns="0" rtlCol="0" anchor="t"/>
          <a:lstStyle/>
          <a:p>
            <a:pPr marL="0" indent="0">
              <a:buNone/>
            </a:pPr>
            <a:r>
              <a:rPr lang="en-US" sz="1300" kern="0" cap="small" spc="80" dirty="0">
                <a:solidFill>
                  <a:srgbClr val="9FB0C8"/>
                </a:solidFill>
                <a:latin typeface="Source Sans 3" pitchFamily="34" charset="0"/>
                <a:ea typeface="Source Sans 3" pitchFamily="34" charset="-122"/>
                <a:cs typeface="Source Sans 3" pitchFamily="34" charset="-120"/>
              </a:rPr>
              <a:t>10.5281/zenodo.22514953</a:t>
            </a:r>
            <a:endParaRPr lang="en-US" sz="1300" dirty="0"/>
          </a:p>
        </p:txBody>
      </p:sp>
      <p:sp>
        <p:nvSpPr>
          <p:cNvPr id="18" name="text"/>
          <p:cNvSpPr txBox="1"/>
          <p:nvPr/>
        </p:nvSpPr>
        <p:spPr>
          <a:xfrm>
            <a:off x="457200" y="5047488"/>
            <a:ext cx="11277295" cy="274320"/>
          </a:xfrm>
          <a:prstGeom prst="rect">
            <a:avLst/>
          </a:prstGeom>
          <a:noFill/>
          <a:ln/>
        </p:spPr>
        <p:txBody>
          <a:bodyPr wrap="square" lIns="0" tIns="0" rIns="0" bIns="0" rtlCol="0" anchor="t"/>
          <a:lstStyle/>
          <a:p>
            <a:pPr marL="0" indent="0">
              <a:buNone/>
            </a:pPr>
            <a:r>
              <a:rPr lang="en-US" sz="1250" dirty="0">
                <a:solidFill>
                  <a:srgbClr val="B6B1A9"/>
                </a:solidFill>
                <a:latin typeface="Source Sans 3" pitchFamily="34" charset="0"/>
                <a:ea typeface="Source Sans 3" pitchFamily="34" charset="-122"/>
                <a:cs typeface="Source Sans 3" pitchFamily="34" charset="-120"/>
              </a:rPr>
              <a:t>Ben Best · Ocean Metrics · ben@oceanmetrics.io · data@calcofi.io</a:t>
            </a:r>
            <a:endParaRPr lang="en-US" sz="1250" dirty="0"/>
          </a:p>
        </p:txBody>
      </p:sp>
      <p:pic>
        <p:nvPicPr>
          <p:cNvPr id="19" name="seafloor" descr="/home/claude/work/build/img/seafloor_dark.png"/>
          <p:cNvPicPr>
            <a:picLocks noChangeAspect="1"/>
          </p:cNvPicPr>
          <p:nvPr/>
        </p:nvPicPr>
        <p:blipFill>
          <a:blip r:embed="rId4"/>
          <a:stretch>
            <a:fillRect/>
          </a:stretch>
        </p:blipFill>
        <p:spPr>
          <a:xfrm>
            <a:off x="0" y="5349240"/>
            <a:ext cx="12191695" cy="1508760"/>
          </a:xfrm>
          <a:prstGeom prst="rect">
            <a:avLst/>
          </a:prstGeom>
        </p:spPr>
      </p:pic>
      <p:pic>
        <p:nvPicPr>
          <p:cNvPr id="20" name="icon lens-cruises" descr="/home/claude/work/icons/lens-cruises_sky.png"/>
          <p:cNvPicPr>
            <a:picLocks noChangeAspect="1"/>
          </p:cNvPicPr>
          <p:nvPr/>
        </p:nvPicPr>
        <p:blipFill>
          <a:blip r:embed="rId5"/>
          <a:stretch>
            <a:fillRect/>
          </a:stretch>
        </p:blipFill>
        <p:spPr>
          <a:xfrm>
            <a:off x="8595360" y="4956048"/>
            <a:ext cx="384048" cy="384048"/>
          </a:xfrm>
          <a:prstGeom prst="rect">
            <a:avLst/>
          </a:prstGeom>
        </p:spPr>
      </p:pic>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2</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MAP OF THE TALK</a:t>
            </a:r>
            <a:endParaRPr lang="en-US" sz="1200" dirty="0"/>
          </a:p>
        </p:txBody>
      </p:sp>
      <p:pic>
        <p:nvPicPr>
          <p:cNvPr id="9" name="icon ui-home" descr="/home/claude/work/icons/ui-hom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Five things, one database</a:t>
            </a:r>
            <a:endParaRPr lang="en-US" sz="3400" dirty="0"/>
          </a:p>
        </p:txBody>
      </p:sp>
      <p:sp>
        <p:nvSpPr>
          <p:cNvPr id="11" name="Shape 6"/>
          <p:cNvSpPr/>
          <p:nvPr/>
        </p:nvSpPr>
        <p:spPr>
          <a:xfrm>
            <a:off x="1522476" y="2075688"/>
            <a:ext cx="9146743" cy="0"/>
          </a:xfrm>
          <a:prstGeom prst="line">
            <a:avLst/>
          </a:prstGeom>
          <a:noFill/>
          <a:ln w="9525">
            <a:solidFill>
              <a:srgbClr val="B6B1A9"/>
            </a:solidFill>
            <a:prstDash val="solid"/>
          </a:ln>
        </p:spPr>
        <p:txBody>
          <a:bodyPr/>
          <a:lstStyle/>
          <a:p>
            <a:endParaRPr lang="en-US"/>
          </a:p>
        </p:txBody>
      </p:sp>
      <p:sp>
        <p:nvSpPr>
          <p:cNvPr id="12" name="station"/>
          <p:cNvSpPr/>
          <p:nvPr/>
        </p:nvSpPr>
        <p:spPr>
          <a:xfrm>
            <a:off x="1431036" y="1984248"/>
            <a:ext cx="182880" cy="182880"/>
          </a:xfrm>
          <a:prstGeom prst="ellipse">
            <a:avLst/>
          </a:prstGeom>
          <a:solidFill>
            <a:srgbClr val="FFFFFF"/>
          </a:solidFill>
          <a:ln w="19050">
            <a:solidFill>
              <a:srgbClr val="182B49"/>
            </a:solidFill>
            <a:prstDash val="solid"/>
          </a:ln>
        </p:spPr>
        <p:txBody>
          <a:bodyPr/>
          <a:lstStyle/>
          <a:p>
            <a:endParaRPr lang="en-US"/>
          </a:p>
        </p:txBody>
      </p:sp>
      <p:sp>
        <p:nvSpPr>
          <p:cNvPr id="13" name="card"/>
          <p:cNvSpPr/>
          <p:nvPr/>
        </p:nvSpPr>
        <p:spPr>
          <a:xfrm>
            <a:off x="457200" y="2377440"/>
            <a:ext cx="2130552" cy="2788920"/>
          </a:xfrm>
          <a:prstGeom prst="roundRect">
            <a:avLst>
              <a:gd name="adj" fmla="val 4721"/>
            </a:avLst>
          </a:prstGeom>
          <a:solidFill>
            <a:srgbClr val="F5F0E6"/>
          </a:solidFill>
          <a:ln w="12700">
            <a:solidFill>
              <a:srgbClr val="F5F0E6"/>
            </a:solidFill>
            <a:prstDash val="solid"/>
          </a:ln>
        </p:spPr>
        <p:txBody>
          <a:bodyPr/>
          <a:lstStyle/>
          <a:p>
            <a:endParaRPr lang="en-US"/>
          </a:p>
        </p:txBody>
      </p:sp>
      <p:pic>
        <p:nvPicPr>
          <p:cNvPr id="14" name="icon ui-home" descr="/home/claude/work/icons/ui-home_navy.png"/>
          <p:cNvPicPr>
            <a:picLocks noChangeAspect="1"/>
          </p:cNvPicPr>
          <p:nvPr/>
        </p:nvPicPr>
        <p:blipFill>
          <a:blip r:embed="rId5"/>
          <a:stretch>
            <a:fillRect/>
          </a:stretch>
        </p:blipFill>
        <p:spPr>
          <a:xfrm>
            <a:off x="621792" y="2578608"/>
            <a:ext cx="329184" cy="329184"/>
          </a:xfrm>
          <a:prstGeom prst="rect">
            <a:avLst/>
          </a:prstGeom>
        </p:spPr>
      </p:pic>
      <p:sp>
        <p:nvSpPr>
          <p:cNvPr id="15" name="caps:title"/>
          <p:cNvSpPr txBox="1"/>
          <p:nvPr/>
        </p:nvSpPr>
        <p:spPr>
          <a:xfrm>
            <a:off x="621792" y="2980944"/>
            <a:ext cx="1856232" cy="566928"/>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The front door</a:t>
            </a:r>
            <a:endParaRPr lang="en-US" sz="2200" dirty="0"/>
          </a:p>
        </p:txBody>
      </p:sp>
      <p:sp>
        <p:nvSpPr>
          <p:cNvPr id="16" name="text"/>
          <p:cNvSpPr txBox="1"/>
          <p:nvPr/>
        </p:nvSpPr>
        <p:spPr>
          <a:xfrm>
            <a:off x="621792" y="3566160"/>
            <a:ext cx="1856232" cy="420624"/>
          </a:xfrm>
          <a:prstGeom prst="rect">
            <a:avLst/>
          </a:prstGeom>
          <a:noFill/>
          <a:ln/>
        </p:spPr>
        <p:txBody>
          <a:bodyPr wrap="square" lIns="0" tIns="0" rIns="0" bIns="0" rtlCol="0" anchor="t"/>
          <a:lstStyle/>
          <a:p>
            <a:pPr marL="0" indent="0">
              <a:buNone/>
            </a:pPr>
            <a:r>
              <a:rPr lang="en-US" sz="1250" b="1" dirty="0">
                <a:solidFill>
                  <a:srgbClr val="00629B"/>
                </a:solidFill>
                <a:latin typeface="Source Sans 3" pitchFamily="34" charset="0"/>
                <a:ea typeface="Source Sans 3" pitchFamily="34" charset="-122"/>
                <a:cs typeface="Source Sans 3" pitchFamily="34" charset="-120"/>
              </a:rPr>
              <a:t>calcofi.io</a:t>
            </a:r>
            <a:endParaRPr lang="en-US" sz="1250" dirty="0"/>
          </a:p>
        </p:txBody>
      </p:sp>
      <p:sp>
        <p:nvSpPr>
          <p:cNvPr id="17" name="text"/>
          <p:cNvSpPr txBox="1"/>
          <p:nvPr/>
        </p:nvSpPr>
        <p:spPr>
          <a:xfrm>
            <a:off x="621792" y="4023360"/>
            <a:ext cx="1856232" cy="1051560"/>
          </a:xfrm>
          <a:prstGeom prst="rect">
            <a:avLst/>
          </a:prstGeom>
          <a:noFill/>
          <a:ln/>
        </p:spPr>
        <p:txBody>
          <a:bodyPr wrap="square" lIns="0" tIns="0" rIns="0" bIns="0" rtlCol="0" anchor="t"/>
          <a:lstStyle/>
          <a:p>
            <a:pPr marL="0" indent="0">
              <a:buNone/>
            </a:pPr>
            <a:r>
              <a:rPr lang="en-US" sz="1300" dirty="0">
                <a:solidFill>
                  <a:srgbClr val="182B49"/>
                </a:solidFill>
                <a:latin typeface="Source Sans 3" pitchFamily="34" charset="0"/>
                <a:ea typeface="Source Sans 3" pitchFamily="34" charset="-122"/>
                <a:cs typeface="Source Sans 3" pitchFamily="34" charset="-120"/>
              </a:rPr>
              <a:t>A research vessel profile; numbers drawn from the release;  overview of what, where, when, how; the ship's log (news)</a:t>
            </a:r>
            <a:endParaRPr lang="en-US" sz="1300" dirty="0"/>
          </a:p>
        </p:txBody>
      </p:sp>
      <p:sp>
        <p:nvSpPr>
          <p:cNvPr id="18" name="station"/>
          <p:cNvSpPr/>
          <p:nvPr/>
        </p:nvSpPr>
        <p:spPr>
          <a:xfrm>
            <a:off x="3717722" y="1984248"/>
            <a:ext cx="182880" cy="182880"/>
          </a:xfrm>
          <a:prstGeom prst="ellipse">
            <a:avLst/>
          </a:prstGeom>
          <a:solidFill>
            <a:srgbClr val="FFFFFF"/>
          </a:solidFill>
          <a:ln w="19050">
            <a:solidFill>
              <a:srgbClr val="182B49"/>
            </a:solidFill>
            <a:prstDash val="solid"/>
          </a:ln>
        </p:spPr>
        <p:txBody>
          <a:bodyPr/>
          <a:lstStyle/>
          <a:p>
            <a:endParaRPr lang="en-US"/>
          </a:p>
        </p:txBody>
      </p:sp>
      <p:sp>
        <p:nvSpPr>
          <p:cNvPr id="19" name="card"/>
          <p:cNvSpPr/>
          <p:nvPr/>
        </p:nvSpPr>
        <p:spPr>
          <a:xfrm>
            <a:off x="2743886" y="2377440"/>
            <a:ext cx="2130552" cy="2788920"/>
          </a:xfrm>
          <a:prstGeom prst="roundRect">
            <a:avLst>
              <a:gd name="adj" fmla="val 4721"/>
            </a:avLst>
          </a:prstGeom>
          <a:solidFill>
            <a:srgbClr val="F5F0E6"/>
          </a:solidFill>
          <a:ln w="12700">
            <a:solidFill>
              <a:srgbClr val="F5F0E6"/>
            </a:solidFill>
            <a:prstDash val="solid"/>
          </a:ln>
        </p:spPr>
        <p:txBody>
          <a:bodyPr/>
          <a:lstStyle/>
          <a:p>
            <a:endParaRPr lang="en-US"/>
          </a:p>
        </p:txBody>
      </p:sp>
      <p:pic>
        <p:nvPicPr>
          <p:cNvPr id="20" name="icon lens-stations" descr="/home/claude/work/icons/lens-stations_navy.png"/>
          <p:cNvPicPr>
            <a:picLocks noChangeAspect="1"/>
          </p:cNvPicPr>
          <p:nvPr/>
        </p:nvPicPr>
        <p:blipFill>
          <a:blip r:embed="rId6"/>
          <a:stretch>
            <a:fillRect/>
          </a:stretch>
        </p:blipFill>
        <p:spPr>
          <a:xfrm>
            <a:off x="2908478" y="2578608"/>
            <a:ext cx="329184" cy="329184"/>
          </a:xfrm>
          <a:prstGeom prst="rect">
            <a:avLst/>
          </a:prstGeom>
        </p:spPr>
      </p:pic>
      <p:sp>
        <p:nvSpPr>
          <p:cNvPr id="21" name="caps:title"/>
          <p:cNvSpPr txBox="1"/>
          <p:nvPr/>
        </p:nvSpPr>
        <p:spPr>
          <a:xfrm>
            <a:off x="2908478" y="2980944"/>
            <a:ext cx="1856232" cy="566928"/>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The Explorer</a:t>
            </a:r>
            <a:endParaRPr lang="en-US" sz="2200" dirty="0"/>
          </a:p>
        </p:txBody>
      </p:sp>
      <p:sp>
        <p:nvSpPr>
          <p:cNvPr id="22" name="text"/>
          <p:cNvSpPr txBox="1"/>
          <p:nvPr/>
        </p:nvSpPr>
        <p:spPr>
          <a:xfrm>
            <a:off x="2908478" y="3566160"/>
            <a:ext cx="1856232" cy="420624"/>
          </a:xfrm>
          <a:prstGeom prst="rect">
            <a:avLst/>
          </a:prstGeom>
          <a:noFill/>
          <a:ln/>
        </p:spPr>
        <p:txBody>
          <a:bodyPr wrap="square" lIns="0" tIns="0" rIns="0" bIns="0" rtlCol="0" anchor="t"/>
          <a:lstStyle/>
          <a:p>
            <a:pPr marL="0" indent="0">
              <a:buNone/>
            </a:pPr>
            <a:r>
              <a:rPr lang="en-US" sz="1250" b="1" dirty="0">
                <a:solidFill>
                  <a:srgbClr val="00629B"/>
                </a:solidFill>
                <a:latin typeface="Source Sans 3" pitchFamily="34" charset="0"/>
                <a:ea typeface="Source Sans 3" pitchFamily="34" charset="-122"/>
                <a:cs typeface="Source Sans 3" pitchFamily="34" charset="-120"/>
              </a:rPr>
              <a:t>calcofi.io/explore</a:t>
            </a:r>
            <a:endParaRPr lang="en-US" sz="1250" dirty="0"/>
          </a:p>
        </p:txBody>
      </p:sp>
      <p:sp>
        <p:nvSpPr>
          <p:cNvPr id="23" name="text"/>
          <p:cNvSpPr txBox="1"/>
          <p:nvPr/>
        </p:nvSpPr>
        <p:spPr>
          <a:xfrm>
            <a:off x="2908478" y="4023360"/>
            <a:ext cx="1856232" cy="1051560"/>
          </a:xfrm>
          <a:prstGeom prst="rect">
            <a:avLst/>
          </a:prstGeom>
          <a:noFill/>
          <a:ln/>
        </p:spPr>
        <p:txBody>
          <a:bodyPr wrap="square" lIns="0" tIns="0" rIns="0" bIns="0" rtlCol="0" anchor="t"/>
          <a:lstStyle/>
          <a:p>
            <a:pPr marL="0" indent="0">
              <a:buNone/>
            </a:pPr>
            <a:r>
              <a:rPr lang="en-US" sz="1300" dirty="0">
                <a:solidFill>
                  <a:srgbClr val="182B49"/>
                </a:solidFill>
                <a:latin typeface="Source Sans 3" pitchFamily="34" charset="0"/>
                <a:ea typeface="Source Sans 3" pitchFamily="34" charset="-122"/>
                <a:cs typeface="Source Sans 3" pitchFamily="34" charset="-120"/>
              </a:rPr>
              <a:t>One app, six lenses, no server: stations · hexagons · contours · cruises · regions · sections</a:t>
            </a:r>
            <a:endParaRPr lang="en-US" sz="1300" dirty="0"/>
          </a:p>
        </p:txBody>
      </p:sp>
      <p:sp>
        <p:nvSpPr>
          <p:cNvPr id="24" name="station"/>
          <p:cNvSpPr/>
          <p:nvPr/>
        </p:nvSpPr>
        <p:spPr>
          <a:xfrm>
            <a:off x="6004408" y="1984248"/>
            <a:ext cx="182880" cy="182880"/>
          </a:xfrm>
          <a:prstGeom prst="ellipse">
            <a:avLst/>
          </a:prstGeom>
          <a:solidFill>
            <a:srgbClr val="FFFFFF"/>
          </a:solidFill>
          <a:ln w="19050">
            <a:solidFill>
              <a:srgbClr val="182B49"/>
            </a:solidFill>
            <a:prstDash val="solid"/>
          </a:ln>
        </p:spPr>
        <p:txBody>
          <a:bodyPr/>
          <a:lstStyle/>
          <a:p>
            <a:endParaRPr lang="en-US"/>
          </a:p>
        </p:txBody>
      </p:sp>
      <p:sp>
        <p:nvSpPr>
          <p:cNvPr id="25" name="card"/>
          <p:cNvSpPr/>
          <p:nvPr/>
        </p:nvSpPr>
        <p:spPr>
          <a:xfrm>
            <a:off x="5030572" y="2377440"/>
            <a:ext cx="2130552" cy="2788920"/>
          </a:xfrm>
          <a:prstGeom prst="roundRect">
            <a:avLst>
              <a:gd name="adj" fmla="val 4721"/>
            </a:avLst>
          </a:prstGeom>
          <a:solidFill>
            <a:srgbClr val="F5F0E6"/>
          </a:solidFill>
          <a:ln w="12700">
            <a:solidFill>
              <a:srgbClr val="F5F0E6"/>
            </a:solidFill>
            <a:prstDash val="solid"/>
          </a:ln>
        </p:spPr>
        <p:txBody>
          <a:bodyPr/>
          <a:lstStyle/>
          <a:p>
            <a:endParaRPr lang="en-US"/>
          </a:p>
        </p:txBody>
      </p:sp>
      <p:pic>
        <p:nvPicPr>
          <p:cNvPr id="26" name="icon ui-data" descr="/home/claude/work/icons/ui-data_navy.png"/>
          <p:cNvPicPr>
            <a:picLocks noChangeAspect="1"/>
          </p:cNvPicPr>
          <p:nvPr/>
        </p:nvPicPr>
        <p:blipFill>
          <a:blip r:embed="rId7"/>
          <a:stretch>
            <a:fillRect/>
          </a:stretch>
        </p:blipFill>
        <p:spPr>
          <a:xfrm>
            <a:off x="5195164" y="2578608"/>
            <a:ext cx="329184" cy="329184"/>
          </a:xfrm>
          <a:prstGeom prst="rect">
            <a:avLst/>
          </a:prstGeom>
        </p:spPr>
      </p:pic>
      <p:sp>
        <p:nvSpPr>
          <p:cNvPr id="27" name="caps:title"/>
          <p:cNvSpPr txBox="1"/>
          <p:nvPr/>
        </p:nvSpPr>
        <p:spPr>
          <a:xfrm>
            <a:off x="5195164" y="2980944"/>
            <a:ext cx="1856232" cy="566928"/>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Datasets catalog</a:t>
            </a:r>
            <a:endParaRPr lang="en-US" sz="2200" dirty="0"/>
          </a:p>
        </p:txBody>
      </p:sp>
      <p:sp>
        <p:nvSpPr>
          <p:cNvPr id="28" name="text"/>
          <p:cNvSpPr txBox="1"/>
          <p:nvPr/>
        </p:nvSpPr>
        <p:spPr>
          <a:xfrm>
            <a:off x="5195164" y="3566160"/>
            <a:ext cx="1856232" cy="420624"/>
          </a:xfrm>
          <a:prstGeom prst="rect">
            <a:avLst/>
          </a:prstGeom>
          <a:noFill/>
          <a:ln/>
        </p:spPr>
        <p:txBody>
          <a:bodyPr wrap="square" lIns="0" tIns="0" rIns="0" bIns="0" rtlCol="0" anchor="t"/>
          <a:lstStyle/>
          <a:p>
            <a:pPr marL="0" indent="0">
              <a:buNone/>
            </a:pPr>
            <a:r>
              <a:rPr lang="en-US" sz="1250" b="1" dirty="0">
                <a:solidFill>
                  <a:srgbClr val="00629B"/>
                </a:solidFill>
                <a:latin typeface="Source Sans 3" pitchFamily="34" charset="0"/>
                <a:ea typeface="Source Sans 3" pitchFamily="34" charset="-122"/>
                <a:cs typeface="Source Sans 3" pitchFamily="34" charset="-120"/>
              </a:rPr>
              <a:t>calcofi.io/datasets</a:t>
            </a:r>
            <a:endParaRPr lang="en-US" sz="1250" dirty="0"/>
          </a:p>
        </p:txBody>
      </p:sp>
      <p:sp>
        <p:nvSpPr>
          <p:cNvPr id="29" name="text"/>
          <p:cNvSpPr txBox="1"/>
          <p:nvPr/>
        </p:nvSpPr>
        <p:spPr>
          <a:xfrm>
            <a:off x="5195164" y="4023360"/>
            <a:ext cx="1856232" cy="1051560"/>
          </a:xfrm>
          <a:prstGeom prst="rect">
            <a:avLst/>
          </a:prstGeom>
          <a:noFill/>
          <a:ln/>
        </p:spPr>
        <p:txBody>
          <a:bodyPr wrap="square" lIns="0" tIns="0" rIns="0" bIns="0" rtlCol="0" anchor="t"/>
          <a:lstStyle/>
          <a:p>
            <a:pPr marL="0" indent="0">
              <a:buNone/>
            </a:pPr>
            <a:r>
              <a:rPr lang="en-US" sz="1300" dirty="0">
                <a:solidFill>
                  <a:srgbClr val="182B49"/>
                </a:solidFill>
                <a:latin typeface="Source Sans 3" pitchFamily="34" charset="0"/>
                <a:ea typeface="Source Sans 3" pitchFamily="34" charset="-122"/>
                <a:cs typeface="Source Sans 3" pitchFamily="34" charset="-120"/>
              </a:rPr>
              <a:t>One page per dataset with every endpoint: 16 in the database, 17 holdings</a:t>
            </a:r>
            <a:endParaRPr lang="en-US" sz="1300" dirty="0"/>
          </a:p>
        </p:txBody>
      </p:sp>
      <p:sp>
        <p:nvSpPr>
          <p:cNvPr id="30" name="station"/>
          <p:cNvSpPr/>
          <p:nvPr/>
        </p:nvSpPr>
        <p:spPr>
          <a:xfrm>
            <a:off x="8291093" y="1984248"/>
            <a:ext cx="182880" cy="182880"/>
          </a:xfrm>
          <a:prstGeom prst="ellipse">
            <a:avLst/>
          </a:prstGeom>
          <a:solidFill>
            <a:srgbClr val="FFFFFF"/>
          </a:solidFill>
          <a:ln w="19050">
            <a:solidFill>
              <a:srgbClr val="182B49"/>
            </a:solidFill>
            <a:prstDash val="solid"/>
          </a:ln>
        </p:spPr>
        <p:txBody>
          <a:bodyPr/>
          <a:lstStyle/>
          <a:p>
            <a:endParaRPr lang="en-US"/>
          </a:p>
        </p:txBody>
      </p:sp>
      <p:sp>
        <p:nvSpPr>
          <p:cNvPr id="31" name="card"/>
          <p:cNvSpPr/>
          <p:nvPr/>
        </p:nvSpPr>
        <p:spPr>
          <a:xfrm>
            <a:off x="7317257" y="2377440"/>
            <a:ext cx="2130552" cy="2788920"/>
          </a:xfrm>
          <a:prstGeom prst="roundRect">
            <a:avLst>
              <a:gd name="adj" fmla="val 4721"/>
            </a:avLst>
          </a:prstGeom>
          <a:solidFill>
            <a:srgbClr val="F5F0E6"/>
          </a:solidFill>
          <a:ln w="12700">
            <a:solidFill>
              <a:srgbClr val="F5F0E6"/>
            </a:solidFill>
            <a:prstDash val="solid"/>
          </a:ln>
        </p:spPr>
        <p:txBody>
          <a:bodyPr/>
          <a:lstStyle/>
          <a:p>
            <a:endParaRPr lang="en-US"/>
          </a:p>
        </p:txBody>
      </p:sp>
      <p:pic>
        <p:nvPicPr>
          <p:cNvPr id="32" name="icon ui-share" descr="/home/claude/work/icons/ui-share_navy.png"/>
          <p:cNvPicPr>
            <a:picLocks noChangeAspect="1"/>
          </p:cNvPicPr>
          <p:nvPr/>
        </p:nvPicPr>
        <p:blipFill>
          <a:blip r:embed="rId8"/>
          <a:stretch>
            <a:fillRect/>
          </a:stretch>
        </p:blipFill>
        <p:spPr>
          <a:xfrm>
            <a:off x="7481849" y="2578608"/>
            <a:ext cx="329184" cy="329184"/>
          </a:xfrm>
          <a:prstGeom prst="rect">
            <a:avLst/>
          </a:prstGeom>
        </p:spPr>
      </p:pic>
      <p:sp>
        <p:nvSpPr>
          <p:cNvPr id="33" name="caps:title"/>
          <p:cNvSpPr txBox="1"/>
          <p:nvPr/>
        </p:nvSpPr>
        <p:spPr>
          <a:xfrm>
            <a:off x="7481849" y="2980944"/>
            <a:ext cx="1856232" cy="566928"/>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The publishers</a:t>
            </a:r>
            <a:endParaRPr lang="en-US" sz="2200" dirty="0"/>
          </a:p>
        </p:txBody>
      </p:sp>
      <p:sp>
        <p:nvSpPr>
          <p:cNvPr id="34" name="text"/>
          <p:cNvSpPr txBox="1"/>
          <p:nvPr/>
        </p:nvSpPr>
        <p:spPr>
          <a:xfrm>
            <a:off x="7481849" y="3566160"/>
            <a:ext cx="1856232" cy="420624"/>
          </a:xfrm>
          <a:prstGeom prst="rect">
            <a:avLst/>
          </a:prstGeom>
          <a:noFill/>
          <a:ln/>
        </p:spPr>
        <p:txBody>
          <a:bodyPr wrap="square" lIns="0" tIns="0" rIns="0" bIns="0" rtlCol="0" anchor="t"/>
          <a:lstStyle/>
          <a:p>
            <a:pPr marL="0" indent="0">
              <a:buNone/>
            </a:pPr>
            <a:r>
              <a:rPr lang="en-US" sz="1250" b="1" dirty="0">
                <a:solidFill>
                  <a:srgbClr val="00629B"/>
                </a:solidFill>
                <a:latin typeface="Source Sans 3" pitchFamily="34" charset="0"/>
                <a:ea typeface="Source Sans 3" pitchFamily="34" charset="-122"/>
                <a:cs typeface="Source Sans 3" pitchFamily="34" charset="-120"/>
              </a:rPr>
              <a:t>OBIS · EDI · ERDDAP · netCDF</a:t>
            </a:r>
            <a:endParaRPr lang="en-US" sz="1250" dirty="0"/>
          </a:p>
        </p:txBody>
      </p:sp>
      <p:sp>
        <p:nvSpPr>
          <p:cNvPr id="35" name="text"/>
          <p:cNvSpPr txBox="1"/>
          <p:nvPr/>
        </p:nvSpPr>
        <p:spPr>
          <a:xfrm>
            <a:off x="7481849" y="4023360"/>
            <a:ext cx="1856232" cy="1051560"/>
          </a:xfrm>
          <a:prstGeom prst="rect">
            <a:avLst/>
          </a:prstGeom>
          <a:noFill/>
          <a:ln/>
        </p:spPr>
        <p:txBody>
          <a:bodyPr wrap="square" lIns="0" tIns="0" rIns="0" bIns="0" rtlCol="0" anchor="t"/>
          <a:lstStyle/>
          <a:p>
            <a:pPr marL="0" indent="0">
              <a:buNone/>
            </a:pPr>
            <a:r>
              <a:rPr lang="en-US" sz="1300" dirty="0">
                <a:solidFill>
                  <a:srgbClr val="182B49"/>
                </a:solidFill>
                <a:latin typeface="Source Sans 3" pitchFamily="34" charset="0"/>
                <a:ea typeface="Source Sans 3" pitchFamily="34" charset="-122"/>
                <a:cs typeface="Source Sans 3" pitchFamily="34" charset="-120"/>
              </a:rPr>
              <a:t>Generic, idempotent, staged; the 2022 'publish' box made real</a:t>
            </a:r>
            <a:endParaRPr lang="en-US" sz="1300" dirty="0"/>
          </a:p>
        </p:txBody>
      </p:sp>
      <p:sp>
        <p:nvSpPr>
          <p:cNvPr id="36" name="station"/>
          <p:cNvSpPr/>
          <p:nvPr/>
        </p:nvSpPr>
        <p:spPr>
          <a:xfrm>
            <a:off x="10577779" y="1984248"/>
            <a:ext cx="182880" cy="182880"/>
          </a:xfrm>
          <a:prstGeom prst="ellipse">
            <a:avLst/>
          </a:prstGeom>
          <a:solidFill>
            <a:srgbClr val="FFFFFF"/>
          </a:solidFill>
          <a:ln w="19050">
            <a:solidFill>
              <a:srgbClr val="182B49"/>
            </a:solidFill>
            <a:prstDash val="solid"/>
          </a:ln>
        </p:spPr>
        <p:txBody>
          <a:bodyPr/>
          <a:lstStyle/>
          <a:p>
            <a:endParaRPr lang="en-US"/>
          </a:p>
        </p:txBody>
      </p:sp>
      <p:sp>
        <p:nvSpPr>
          <p:cNvPr id="37" name="card"/>
          <p:cNvSpPr/>
          <p:nvPr/>
        </p:nvSpPr>
        <p:spPr>
          <a:xfrm>
            <a:off x="9603943" y="2377440"/>
            <a:ext cx="2130552" cy="2788920"/>
          </a:xfrm>
          <a:prstGeom prst="roundRect">
            <a:avLst>
              <a:gd name="adj" fmla="val 4721"/>
            </a:avLst>
          </a:prstGeom>
          <a:solidFill>
            <a:srgbClr val="F5F0E6"/>
          </a:solidFill>
          <a:ln w="12700">
            <a:solidFill>
              <a:srgbClr val="F5F0E6"/>
            </a:solidFill>
            <a:prstDash val="solid"/>
          </a:ln>
        </p:spPr>
        <p:txBody>
          <a:bodyPr/>
          <a:lstStyle/>
          <a:p>
            <a:endParaRPr lang="en-US"/>
          </a:p>
        </p:txBody>
      </p:sp>
      <p:pic>
        <p:nvPicPr>
          <p:cNvPr id="38" name="icon ui-code" descr="/home/claude/work/icons/ui-code_navy.png"/>
          <p:cNvPicPr>
            <a:picLocks noChangeAspect="1"/>
          </p:cNvPicPr>
          <p:nvPr/>
        </p:nvPicPr>
        <p:blipFill>
          <a:blip r:embed="rId9"/>
          <a:stretch>
            <a:fillRect/>
          </a:stretch>
        </p:blipFill>
        <p:spPr>
          <a:xfrm>
            <a:off x="9768535" y="2578608"/>
            <a:ext cx="329184" cy="329184"/>
          </a:xfrm>
          <a:prstGeom prst="rect">
            <a:avLst/>
          </a:prstGeom>
        </p:spPr>
      </p:pic>
      <p:sp>
        <p:nvSpPr>
          <p:cNvPr id="39" name="caps:title"/>
          <p:cNvSpPr txBox="1"/>
          <p:nvPr/>
        </p:nvSpPr>
        <p:spPr>
          <a:xfrm>
            <a:off x="9768535" y="2980944"/>
            <a:ext cx="1856232" cy="566928"/>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Packages + DOI</a:t>
            </a:r>
            <a:endParaRPr lang="en-US" sz="2200" dirty="0"/>
          </a:p>
        </p:txBody>
      </p:sp>
      <p:sp>
        <p:nvSpPr>
          <p:cNvPr id="40" name="text"/>
          <p:cNvSpPr txBox="1"/>
          <p:nvPr/>
        </p:nvSpPr>
        <p:spPr>
          <a:xfrm>
            <a:off x="9768535" y="3566160"/>
            <a:ext cx="1856232" cy="420624"/>
          </a:xfrm>
          <a:prstGeom prst="rect">
            <a:avLst/>
          </a:prstGeom>
          <a:noFill/>
          <a:ln/>
        </p:spPr>
        <p:txBody>
          <a:bodyPr wrap="square" lIns="0" tIns="0" rIns="0" bIns="0" rtlCol="0" anchor="t"/>
          <a:lstStyle/>
          <a:p>
            <a:pPr marL="0" indent="0">
              <a:buNone/>
            </a:pPr>
            <a:r>
              <a:rPr lang="en-US" sz="1250" b="1" dirty="0">
                <a:solidFill>
                  <a:srgbClr val="00629B"/>
                </a:solidFill>
                <a:latin typeface="Source Sans 3" pitchFamily="34" charset="0"/>
                <a:ea typeface="Source Sans 3" pitchFamily="34" charset="-122"/>
                <a:cs typeface="Source Sans 3" pitchFamily="34" charset="-120"/>
              </a:rPr>
              <a:t>calcofi4r · calcofi4py · Zenodo</a:t>
            </a:r>
            <a:endParaRPr lang="en-US" sz="1250" dirty="0"/>
          </a:p>
        </p:txBody>
      </p:sp>
      <p:sp>
        <p:nvSpPr>
          <p:cNvPr id="41" name="text"/>
          <p:cNvSpPr txBox="1"/>
          <p:nvPr/>
        </p:nvSpPr>
        <p:spPr>
          <a:xfrm>
            <a:off x="9768535" y="4023360"/>
            <a:ext cx="1856232" cy="1051560"/>
          </a:xfrm>
          <a:prstGeom prst="rect">
            <a:avLst/>
          </a:prstGeom>
          <a:noFill/>
          <a:ln/>
        </p:spPr>
        <p:txBody>
          <a:bodyPr wrap="square" lIns="0" tIns="0" rIns="0" bIns="0" rtlCol="0" anchor="t"/>
          <a:lstStyle/>
          <a:p>
            <a:pPr marL="0" indent="0">
              <a:buNone/>
            </a:pPr>
            <a:r>
              <a:rPr lang="en-US" sz="1300" dirty="0">
                <a:solidFill>
                  <a:srgbClr val="182B49"/>
                </a:solidFill>
                <a:latin typeface="Source Sans 3" pitchFamily="34" charset="0"/>
                <a:ea typeface="Source Sans 3" pitchFamily="34" charset="-122"/>
                <a:cs typeface="Source Sans 3" pitchFamily="34" charset="-120"/>
              </a:rPr>
              <a:t>The same bytes from R, Python and the browser; a citable DOI per release</a:t>
            </a:r>
            <a:endParaRPr lang="en-US" sz="1300" dirty="0"/>
          </a:p>
        </p:txBody>
      </p:sp>
      <p:sp>
        <p:nvSpPr>
          <p:cNvPr id="42" name="build:sentence"/>
          <p:cNvSpPr txBox="1"/>
          <p:nvPr/>
        </p:nvSpPr>
        <p:spPr>
          <a:xfrm>
            <a:off x="457200" y="5376672"/>
            <a:ext cx="11277295" cy="731520"/>
          </a:xfrm>
          <a:prstGeom prst="rect">
            <a:avLst/>
          </a:prstGeom>
          <a:noFill/>
          <a:ln/>
        </p:spPr>
        <p:txBody>
          <a:bodyPr wrap="square" lIns="0" tIns="0" rIns="0" bIns="0" rtlCol="0" anchor="t"/>
          <a:lstStyle/>
          <a:p>
            <a:pPr marL="0" indent="0">
              <a:buNone/>
            </a:pPr>
            <a:r>
              <a:rPr lang="en-US" sz="1800" dirty="0">
                <a:solidFill>
                  <a:srgbClr val="182B49"/>
                </a:solidFill>
                <a:latin typeface="Source Sans 3" pitchFamily="34" charset="0"/>
                <a:ea typeface="Source Sans 3" pitchFamily="34" charset="-122"/>
                <a:cs typeface="Source Sans 3" pitchFamily="34" charset="-120"/>
              </a:rPr>
              <a:t>Everything reads the same frozen release — </a:t>
            </a:r>
            <a:r>
              <a:rPr lang="en-US" sz="1800" b="1" dirty="0">
                <a:solidFill>
                  <a:srgbClr val="182B49"/>
                </a:solidFill>
                <a:latin typeface="Source Sans 3" pitchFamily="34" charset="0"/>
                <a:ea typeface="Source Sans 3" pitchFamily="34" charset="-122"/>
                <a:cs typeface="Source Sans 3" pitchFamily="34" charset="-120"/>
              </a:rPr>
              <a:t>v2026.09.06</a:t>
            </a:r>
            <a:r>
              <a:rPr lang="en-US" sz="1800" dirty="0">
                <a:solidFill>
                  <a:srgbClr val="182B49"/>
                </a:solidFill>
                <a:latin typeface="Source Sans 3" pitchFamily="34" charset="0"/>
                <a:ea typeface="Source Sans 3" pitchFamily="34" charset="-122"/>
                <a:cs typeface="Source Sans 3" pitchFamily="34" charset="-120"/>
              </a:rPr>
              <a:t> — so a number is the same in the app, the CSV, the R session and the portal.</a:t>
            </a:r>
            <a:endParaRPr lang="en-US" sz="18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3</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FRONT DOOR · CALCOFI.IO</a:t>
            </a:r>
            <a:endParaRPr lang="en-US" sz="1200" dirty="0"/>
          </a:p>
        </p:txBody>
      </p:sp>
      <p:pic>
        <p:nvPicPr>
          <p:cNvPr id="9" name="icon ui-home" descr="/home/claude/work/icons/ui-hom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The front door: from ship to screen</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836" descr="/home/claude/work/media/s03_p2_1440x700_8ef307c4.png"/>
          <p:cNvPicPr>
            <a:picLocks noChangeAspect="1"/>
          </p:cNvPicPr>
          <p:nvPr/>
        </p:nvPicPr>
        <p:blipFill>
          <a:blip r:embed="rId6"/>
          <a:stretch>
            <a:fillRect/>
          </a:stretch>
        </p:blipFill>
        <p:spPr>
          <a:xfrm>
            <a:off x="457200" y="1965960"/>
            <a:ext cx="7589520" cy="3689350"/>
          </a:xfrm>
          <a:prstGeom prst="roundRect">
            <a:avLst>
              <a:gd name="adj" fmla="val 1836"/>
            </a:avLst>
          </a:prstGeom>
          <a:effectLst>
            <a:outerShdw blurRad="76200" dist="25400" dir="5400000" algn="bl" rotWithShape="0">
              <a:srgbClr val="182B49">
                <a:alpha val="22000"/>
              </a:srgbClr>
            </a:outerShdw>
          </a:effectLst>
        </p:spPr>
      </p:pic>
      <p:sp>
        <p:nvSpPr>
          <p:cNvPr id="13" name="caption"/>
          <p:cNvSpPr txBox="1"/>
          <p:nvPr/>
        </p:nvSpPr>
        <p:spPr>
          <a:xfrm>
            <a:off x="457200" y="5746750"/>
            <a:ext cx="7589520" cy="292608"/>
          </a:xfrm>
          <a:prstGeom prst="rect">
            <a:avLst/>
          </a:prstGeom>
          <a:noFill/>
          <a:ln/>
        </p:spPr>
        <p:txBody>
          <a:bodyPr wrap="square" lIns="0" tIns="0" rIns="0" bIns="0" rtlCol="0" anchor="t"/>
          <a:lstStyle/>
          <a:p>
            <a:pPr marL="0" indent="0">
              <a:buNone/>
            </a:pPr>
            <a:r>
              <a:rPr lang="en-US" sz="1300" dirty="0">
                <a:solidFill>
                  <a:srgbClr val="66686A"/>
                </a:solidFill>
                <a:latin typeface="Source Sans 3" pitchFamily="34" charset="0"/>
                <a:ea typeface="Source Sans 3" pitchFamily="34" charset="-122"/>
                <a:cs typeface="Source Sans 3" pitchFamily="34" charset="-120"/>
              </a:rPr>
              <a:t>calcofi.io, 2026-09-07, light theme, tour off — the hero and the six numbers, all computed from the release.</a:t>
            </a:r>
            <a:endParaRPr lang="en-US" sz="1300" dirty="0"/>
          </a:p>
        </p:txBody>
      </p:sp>
      <p:sp>
        <p:nvSpPr>
          <p:cNvPr id="14" name="build:bullets"/>
          <p:cNvSpPr txBox="1"/>
          <p:nvPr/>
        </p:nvSpPr>
        <p:spPr>
          <a:xfrm>
            <a:off x="8366760" y="1965960"/>
            <a:ext cx="3364992" cy="411480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500" dirty="0">
                <a:solidFill>
                  <a:srgbClr val="182B49"/>
                </a:solidFill>
                <a:latin typeface="Source Sans 3" pitchFamily="34" charset="0"/>
                <a:ea typeface="Source Sans 3" pitchFamily="34" charset="-122"/>
                <a:cs typeface="Source Sans 3" pitchFamily="34" charset="-120"/>
              </a:rPr>
              <a:t>Opens with a </a:t>
            </a:r>
            <a:r>
              <a:rPr lang="en-US" sz="1500" b="1" dirty="0">
                <a:solidFill>
                  <a:srgbClr val="182B49"/>
                </a:solidFill>
                <a:latin typeface="Source Sans 3" pitchFamily="34" charset="0"/>
                <a:ea typeface="Source Sans 3" pitchFamily="34" charset="-122"/>
                <a:cs typeface="Source Sans 3" pitchFamily="34" charset="-120"/>
              </a:rPr>
              <a:t>profile of a research vessel </a:t>
            </a:r>
            <a:r>
              <a:rPr lang="en-US" sz="1500" dirty="0">
                <a:solidFill>
                  <a:srgbClr val="182B49"/>
                </a:solidFill>
                <a:latin typeface="Source Sans 3" pitchFamily="34" charset="0"/>
                <a:ea typeface="Source Sans 3" pitchFamily="34" charset="-122"/>
                <a:cs typeface="Source Sans 3" pitchFamily="34" charset="-120"/>
              </a:rPr>
              <a:t>along the Line 90 seafloor: the ship, the CTD wire and its bottle depths, the bongo, PairoVET, manta, CUFES, the GEBCO sea floor.</a:t>
            </a:r>
            <a:endParaRPr lang="en-US" sz="1500" dirty="0"/>
          </a:p>
          <a:p>
            <a:pPr marL="177800" indent="-177800">
              <a:lnSpc>
                <a:spcPct val="105000"/>
              </a:lnSpc>
              <a:spcAft>
                <a:spcPts val="700"/>
              </a:spcAft>
              <a:buSzPct val="100000"/>
              <a:buChar char="•"/>
            </a:pPr>
            <a:r>
              <a:rPr lang="en-US" sz="1500" b="1" dirty="0">
                <a:solidFill>
                  <a:srgbClr val="182B49"/>
                </a:solidFill>
                <a:latin typeface="Source Sans 3" pitchFamily="34" charset="0"/>
                <a:ea typeface="Source Sans 3" pitchFamily="34" charset="-122"/>
                <a:cs typeface="Source Sans 3" pitchFamily="34" charset="-120"/>
              </a:rPr>
              <a:t>14 observation type pins</a:t>
            </a:r>
            <a:r>
              <a:rPr lang="en-US" sz="1500" dirty="0">
                <a:solidFill>
                  <a:srgbClr val="182B49"/>
                </a:solidFill>
                <a:latin typeface="Source Sans 3" pitchFamily="34" charset="0"/>
                <a:ea typeface="Source Sans 3" pitchFamily="34" charset="-122"/>
                <a:cs typeface="Source Sans 3" pitchFamily="34" charset="-120"/>
              </a:rPr>
              <a:t> sit at the depth each measurement lives; every pin links to </a:t>
            </a:r>
            <a:r>
              <a:rPr lang="en-US" sz="1500" b="1" i="1" dirty="0">
                <a:solidFill>
                  <a:srgbClr val="182B49"/>
                </a:solidFill>
                <a:latin typeface="Source Sans 3" pitchFamily="34" charset="0"/>
                <a:ea typeface="Source Sans 3" pitchFamily="34" charset="-122"/>
                <a:cs typeface="Source Sans 3" pitchFamily="34" charset="-120"/>
              </a:rPr>
              <a:t>calcofi.org's method page</a:t>
            </a:r>
            <a:r>
              <a:rPr lang="en-US" sz="1500" dirty="0">
                <a:solidFill>
                  <a:srgbClr val="182B49"/>
                </a:solidFill>
                <a:latin typeface="Source Sans 3" pitchFamily="34" charset="0"/>
                <a:ea typeface="Source Sans 3" pitchFamily="34" charset="-122"/>
                <a:cs typeface="Source Sans 3" pitchFamily="34" charset="-120"/>
              </a:rPr>
              <a:t>, so calcofi.io never explains a net.</a:t>
            </a:r>
            <a:endParaRPr lang="en-US" sz="1500" dirty="0"/>
          </a:p>
          <a:p>
            <a:pPr marL="177800" indent="-177800">
              <a:lnSpc>
                <a:spcPct val="105000"/>
              </a:lnSpc>
              <a:spcAft>
                <a:spcPts val="700"/>
              </a:spcAft>
              <a:buSzPct val="100000"/>
              <a:buChar char="•"/>
            </a:pPr>
            <a:r>
              <a:rPr lang="en-US" sz="1500" dirty="0">
                <a:solidFill>
                  <a:srgbClr val="182B49"/>
                </a:solidFill>
                <a:latin typeface="Source Sans 3" pitchFamily="34" charset="0"/>
                <a:ea typeface="Source Sans 3" pitchFamily="34" charset="-122"/>
                <a:cs typeface="Source Sans 3" pitchFamily="34" charset="-120"/>
              </a:rPr>
              <a:t>The six </a:t>
            </a:r>
            <a:r>
              <a:rPr lang="en-US" sz="1500" b="1" dirty="0">
                <a:solidFill>
                  <a:srgbClr val="182B49"/>
                </a:solidFill>
                <a:latin typeface="Source Sans 3" pitchFamily="34" charset="0"/>
                <a:ea typeface="Source Sans 3" pitchFamily="34" charset="-122"/>
                <a:cs typeface="Source Sans 3" pitchFamily="34" charset="-120"/>
              </a:rPr>
              <a:t>numbers</a:t>
            </a:r>
            <a:r>
              <a:rPr lang="en-US" sz="1500" dirty="0">
                <a:solidFill>
                  <a:srgbClr val="182B49"/>
                </a:solidFill>
                <a:latin typeface="Source Sans 3" pitchFamily="34" charset="0"/>
                <a:ea typeface="Source Sans 3" pitchFamily="34" charset="-122"/>
                <a:cs typeface="Source Sans 3" pitchFamily="34" charset="-120"/>
              </a:rPr>
              <a:t> (years, cruises, ships, stations, taxa, rows) all come </a:t>
            </a:r>
            <a:r>
              <a:rPr lang="en-US" sz="1500" b="1" i="1" dirty="0">
                <a:solidFill>
                  <a:srgbClr val="182B49"/>
                </a:solidFill>
                <a:latin typeface="Source Sans 3" pitchFamily="34" charset="0"/>
                <a:ea typeface="Source Sans 3" pitchFamily="34" charset="-122"/>
                <a:cs typeface="Source Sans 3" pitchFamily="34" charset="-120"/>
              </a:rPr>
              <a:t>from the database</a:t>
            </a:r>
            <a:r>
              <a:rPr lang="en-US" sz="1500" dirty="0">
                <a:solidFill>
                  <a:srgbClr val="182B49"/>
                </a:solidFill>
                <a:latin typeface="Source Sans 3" pitchFamily="34" charset="0"/>
                <a:ea typeface="Source Sans 3" pitchFamily="34" charset="-122"/>
                <a:cs typeface="Source Sans 3" pitchFamily="34" charset="-120"/>
              </a:rPr>
              <a:t> record, never typed.</a:t>
            </a:r>
            <a:endParaRPr lang="en-US" sz="1500" dirty="0"/>
          </a:p>
          <a:p>
            <a:pPr marL="177800" indent="-177800">
              <a:lnSpc>
                <a:spcPct val="105000"/>
              </a:lnSpc>
              <a:spcAft>
                <a:spcPts val="700"/>
              </a:spcAft>
              <a:buSzPct val="100000"/>
              <a:buChar char="•"/>
            </a:pPr>
            <a:r>
              <a:rPr lang="en-US" sz="1500" dirty="0">
                <a:solidFill>
                  <a:srgbClr val="182B49"/>
                </a:solidFill>
                <a:latin typeface="Source Sans 3" pitchFamily="34" charset="0"/>
                <a:ea typeface="Source Sans 3" pitchFamily="34" charset="-122"/>
                <a:cs typeface="Source Sans 3" pitchFamily="34" charset="-120"/>
              </a:rPr>
              <a:t>The “</a:t>
            </a:r>
            <a:r>
              <a:rPr lang="en-US" sz="1500" b="1" dirty="0">
                <a:solidFill>
                  <a:srgbClr val="182B49"/>
                </a:solidFill>
                <a:latin typeface="Source Sans 3" pitchFamily="34" charset="0"/>
                <a:ea typeface="Source Sans 3" pitchFamily="34" charset="-122"/>
                <a:cs typeface="Source Sans 3" pitchFamily="34" charset="-120"/>
              </a:rPr>
              <a:t>ship's log</a:t>
            </a:r>
            <a:r>
              <a:rPr lang="en-US" sz="1500" dirty="0">
                <a:solidFill>
                  <a:srgbClr val="182B49"/>
                </a:solidFill>
                <a:latin typeface="Source Sans 3" pitchFamily="34" charset="0"/>
                <a:ea typeface="Source Sans 3" pitchFamily="34" charset="-122"/>
                <a:cs typeface="Source Sans 3" pitchFamily="34" charset="-120"/>
              </a:rPr>
              <a:t>” (news) writes itself from </a:t>
            </a:r>
            <a:r>
              <a:rPr lang="en-US" sz="1500" dirty="0" err="1">
                <a:solidFill>
                  <a:srgbClr val="182B49"/>
                </a:solidFill>
                <a:latin typeface="Source Sans 3" pitchFamily="34" charset="0"/>
                <a:ea typeface="Source Sans 3" pitchFamily="34" charset="-122"/>
                <a:cs typeface="Source Sans 3" pitchFamily="34" charset="-120"/>
              </a:rPr>
              <a:t>db</a:t>
            </a:r>
            <a:r>
              <a:rPr lang="en-US" sz="1500" dirty="0">
                <a:solidFill>
                  <a:srgbClr val="182B49"/>
                </a:solidFill>
                <a:latin typeface="Source Sans 3" pitchFamily="34" charset="0"/>
                <a:ea typeface="Source Sans 3" pitchFamily="34" charset="-122"/>
                <a:cs typeface="Source Sans 3" pitchFamily="34" charset="-120"/>
              </a:rPr>
              <a:t> releases, datasets and apps; calcofi.org can pull it as a feed.</a:t>
            </a:r>
            <a:endParaRPr lang="en-US" sz="15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4</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FRONT DOOR · BELOW THE HERO</a:t>
            </a:r>
            <a:endParaRPr lang="en-US" sz="1200" dirty="0"/>
          </a:p>
        </p:txBody>
      </p:sp>
      <p:pic>
        <p:nvPicPr>
          <p:cNvPr id="9" name="icon ui-home" descr="/home/claude/work/icons/ui-hom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Tiles on what, where, when, how; every app is still there</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731" descr="/home/claude/work/media/s04_p2_1440x930_a9c35a6a.png"/>
          <p:cNvPicPr>
            <a:picLocks noChangeAspect="1"/>
          </p:cNvPicPr>
          <p:nvPr/>
        </p:nvPicPr>
        <p:blipFill>
          <a:blip r:embed="rId6"/>
          <a:stretch>
            <a:fillRect/>
          </a:stretch>
        </p:blipFill>
        <p:spPr>
          <a:xfrm>
            <a:off x="457200" y="1920240"/>
            <a:ext cx="6059817" cy="3913632"/>
          </a:xfrm>
          <a:prstGeom prst="roundRect">
            <a:avLst>
              <a:gd name="adj" fmla="val 1731"/>
            </a:avLst>
          </a:prstGeom>
          <a:effectLst>
            <a:outerShdw blurRad="76200" dist="25400" dir="5400000" algn="bl" rotWithShape="0">
              <a:srgbClr val="182B49">
                <a:alpha val="22000"/>
              </a:srgbClr>
            </a:outerShdw>
          </a:effectLst>
        </p:spPr>
      </p:pic>
      <p:sp>
        <p:nvSpPr>
          <p:cNvPr id="13" name="caption"/>
          <p:cNvSpPr txBox="1"/>
          <p:nvPr/>
        </p:nvSpPr>
        <p:spPr>
          <a:xfrm>
            <a:off x="457200" y="5907024"/>
            <a:ext cx="6059817" cy="292608"/>
          </a:xfrm>
          <a:prstGeom prst="rect">
            <a:avLst/>
          </a:prstGeom>
          <a:noFill/>
          <a:ln/>
        </p:spPr>
        <p:txBody>
          <a:bodyPr wrap="square" lIns="0" tIns="0" rIns="0" bIns="0" rtlCol="0" anchor="t"/>
          <a:lstStyle/>
          <a:p>
            <a:pPr marL="0" indent="0">
              <a:buNone/>
            </a:pPr>
            <a:r>
              <a:rPr lang="en-US" sz="1300" dirty="0">
                <a:solidFill>
                  <a:srgbClr val="66686A"/>
                </a:solidFill>
                <a:latin typeface="Source Sans 3" pitchFamily="34" charset="0"/>
                <a:ea typeface="Source Sans 3" pitchFamily="34" charset="-122"/>
                <a:cs typeface="Source Sans 3" pitchFamily="34" charset="-120"/>
              </a:rPr>
              <a:t>calcofi.io below the hero — Where · When · Latest release · Ship's log · Explore · Get the data · Life.</a:t>
            </a:r>
            <a:endParaRPr lang="en-US" sz="1300" dirty="0"/>
          </a:p>
        </p:txBody>
      </p:sp>
      <p:sp>
        <p:nvSpPr>
          <p:cNvPr id="14" name="build:bullets"/>
          <p:cNvSpPr txBox="1"/>
          <p:nvPr/>
        </p:nvSpPr>
        <p:spPr>
          <a:xfrm>
            <a:off x="6882777" y="1920240"/>
            <a:ext cx="4851718" cy="196596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500" dirty="0">
                <a:solidFill>
                  <a:srgbClr val="182B49"/>
                </a:solidFill>
                <a:latin typeface="Source Sans 3" pitchFamily="34" charset="0"/>
                <a:ea typeface="Source Sans 3" pitchFamily="34" charset="-122"/>
                <a:cs typeface="Source Sans 3" pitchFamily="34" charset="-120"/>
              </a:rPr>
              <a:t>Seven ‘bento box’ </a:t>
            </a:r>
            <a:r>
              <a:rPr lang="en-US" sz="1500" b="1" dirty="0">
                <a:solidFill>
                  <a:srgbClr val="182B49"/>
                </a:solidFill>
                <a:latin typeface="Source Sans 3" pitchFamily="34" charset="0"/>
                <a:ea typeface="Source Sans 3" pitchFamily="34" charset="-122"/>
                <a:cs typeface="Source Sans 3" pitchFamily="34" charset="-120"/>
              </a:rPr>
              <a:t>tiles</a:t>
            </a:r>
            <a:r>
              <a:rPr lang="en-US" sz="1500" dirty="0">
                <a:solidFill>
                  <a:srgbClr val="182B49"/>
                </a:solidFill>
                <a:latin typeface="Source Sans 3" pitchFamily="34" charset="0"/>
                <a:ea typeface="Source Sans 3" pitchFamily="34" charset="-122"/>
                <a:cs typeface="Source Sans 3" pitchFamily="34" charset="-120"/>
              </a:rPr>
              <a:t>, each describing: </a:t>
            </a:r>
            <a:r>
              <a:rPr lang="en-US" sz="1500" b="1" i="1" dirty="0">
                <a:solidFill>
                  <a:srgbClr val="182B49"/>
                </a:solidFill>
                <a:latin typeface="Source Sans 3" pitchFamily="34" charset="0"/>
                <a:ea typeface="Source Sans 3" pitchFamily="34" charset="-122"/>
                <a:cs typeface="Source Sans 3" pitchFamily="34" charset="-120"/>
              </a:rPr>
              <a:t>where</a:t>
            </a:r>
            <a:r>
              <a:rPr lang="en-US" sz="1500" dirty="0">
                <a:solidFill>
                  <a:srgbClr val="182B49"/>
                </a:solidFill>
                <a:latin typeface="Source Sans 3" pitchFamily="34" charset="0"/>
                <a:ea typeface="Source Sans 3" pitchFamily="34" charset="-122"/>
                <a:cs typeface="Source Sans 3" pitchFamily="34" charset="-120"/>
              </a:rPr>
              <a:t> (the 218-cell grid), </a:t>
            </a:r>
            <a:r>
              <a:rPr lang="en-US" sz="1500" b="1" i="1" dirty="0">
                <a:solidFill>
                  <a:srgbClr val="182B49"/>
                </a:solidFill>
                <a:latin typeface="Source Sans 3" pitchFamily="34" charset="0"/>
                <a:ea typeface="Source Sans 3" pitchFamily="34" charset="-122"/>
                <a:cs typeface="Source Sans 3" pitchFamily="34" charset="-120"/>
              </a:rPr>
              <a:t>when</a:t>
            </a:r>
            <a:r>
              <a:rPr lang="en-US" sz="1500" dirty="0">
                <a:solidFill>
                  <a:srgbClr val="182B49"/>
                </a:solidFill>
                <a:latin typeface="Source Sans 3" pitchFamily="34" charset="0"/>
                <a:ea typeface="Source Sans 3" pitchFamily="34" charset="-122"/>
                <a:cs typeface="Source Sans 3" pitchFamily="34" charset="-120"/>
              </a:rPr>
              <a:t> (dataset coverage per year), </a:t>
            </a:r>
            <a:r>
              <a:rPr lang="en-US" sz="1500" b="1" i="1" dirty="0">
                <a:solidFill>
                  <a:srgbClr val="182B49"/>
                </a:solidFill>
                <a:latin typeface="Source Sans 3" pitchFamily="34" charset="0"/>
                <a:ea typeface="Source Sans 3" pitchFamily="34" charset="-122"/>
                <a:cs typeface="Source Sans 3" pitchFamily="34" charset="-120"/>
              </a:rPr>
              <a:t>what</a:t>
            </a:r>
            <a:r>
              <a:rPr lang="en-US" sz="1500" dirty="0">
                <a:solidFill>
                  <a:srgbClr val="182B49"/>
                </a:solidFill>
                <a:latin typeface="Source Sans 3" pitchFamily="34" charset="0"/>
                <a:ea typeface="Source Sans 3" pitchFamily="34" charset="-122"/>
                <a:cs typeface="Source Sans 3" pitchFamily="34" charset="-120"/>
              </a:rPr>
              <a:t> (the release with its DOI, the number of observations / taxa), and </a:t>
            </a:r>
            <a:r>
              <a:rPr lang="en-US" sz="1500" b="1" i="1" dirty="0">
                <a:solidFill>
                  <a:srgbClr val="182B49"/>
                </a:solidFill>
                <a:latin typeface="Source Sans 3" pitchFamily="34" charset="0"/>
                <a:ea typeface="Source Sans 3" pitchFamily="34" charset="-122"/>
                <a:cs typeface="Source Sans 3" pitchFamily="34" charset="-120"/>
              </a:rPr>
              <a:t>how</a:t>
            </a:r>
            <a:r>
              <a:rPr lang="en-US" sz="1500" dirty="0">
                <a:solidFill>
                  <a:srgbClr val="182B49"/>
                </a:solidFill>
                <a:latin typeface="Source Sans 3" pitchFamily="34" charset="0"/>
                <a:ea typeface="Source Sans 3" pitchFamily="34" charset="-122"/>
                <a:cs typeface="Source Sans 3" pitchFamily="34" charset="-120"/>
              </a:rPr>
              <a:t> to access it (the Explorer, code in 4 languages).</a:t>
            </a:r>
            <a:endParaRPr lang="en-US" sz="1500" dirty="0"/>
          </a:p>
          <a:p>
            <a:pPr marL="177800" indent="-177800">
              <a:lnSpc>
                <a:spcPct val="105000"/>
              </a:lnSpc>
              <a:spcAft>
                <a:spcPts val="700"/>
              </a:spcAft>
              <a:buSzPct val="100000"/>
              <a:buChar char="•"/>
            </a:pPr>
            <a:r>
              <a:rPr lang="en-US" sz="1500" dirty="0">
                <a:solidFill>
                  <a:srgbClr val="182B49"/>
                </a:solidFill>
                <a:latin typeface="Source Sans 3" pitchFamily="34" charset="0"/>
                <a:ea typeface="Source Sans 3" pitchFamily="34" charset="-122"/>
                <a:cs typeface="Source Sans 3" pitchFamily="34" charset="-120"/>
              </a:rPr>
              <a:t>Every tile is </a:t>
            </a:r>
            <a:r>
              <a:rPr lang="en-US" sz="1500" b="1" dirty="0">
                <a:solidFill>
                  <a:srgbClr val="182B49"/>
                </a:solidFill>
                <a:latin typeface="Source Sans 3" pitchFamily="34" charset="0"/>
                <a:ea typeface="Source Sans 3" pitchFamily="34" charset="-122"/>
                <a:cs typeface="Source Sans 3" pitchFamily="34" charset="-120"/>
              </a:rPr>
              <a:t>generated from the </a:t>
            </a:r>
            <a:r>
              <a:rPr lang="en-US" sz="1500" b="1" dirty="0" err="1">
                <a:solidFill>
                  <a:srgbClr val="182B49"/>
                </a:solidFill>
                <a:latin typeface="Source Sans 3" pitchFamily="34" charset="0"/>
                <a:ea typeface="Source Sans 3" pitchFamily="34" charset="-122"/>
                <a:cs typeface="Source Sans 3" pitchFamily="34" charset="-120"/>
              </a:rPr>
              <a:t>db</a:t>
            </a:r>
            <a:r>
              <a:rPr lang="en-US" sz="1500" dirty="0">
                <a:solidFill>
                  <a:srgbClr val="182B49"/>
                </a:solidFill>
                <a:latin typeface="Source Sans 3" pitchFamily="34" charset="0"/>
                <a:ea typeface="Source Sans 3" pitchFamily="34" charset="-122"/>
                <a:cs typeface="Source Sans 3" pitchFamily="34" charset="-120"/>
              </a:rPr>
              <a:t> release; the code tile is copy-and-paste, not a picture of code.</a:t>
            </a:r>
            <a:endParaRPr lang="en-US" sz="1500" dirty="0"/>
          </a:p>
          <a:p>
            <a:pPr marL="177800" indent="-177800">
              <a:lnSpc>
                <a:spcPct val="105000"/>
              </a:lnSpc>
              <a:spcAft>
                <a:spcPts val="700"/>
              </a:spcAft>
              <a:buSzPct val="100000"/>
              <a:buChar char="•"/>
            </a:pPr>
            <a:r>
              <a:rPr lang="en-US" sz="1500" b="1" dirty="0">
                <a:solidFill>
                  <a:srgbClr val="182B49"/>
                </a:solidFill>
                <a:latin typeface="Source Sans 3" pitchFamily="34" charset="0"/>
                <a:ea typeface="Source Sans 3" pitchFamily="34" charset="-122"/>
                <a:cs typeface="Source Sans 3" pitchFamily="34" charset="-120"/>
              </a:rPr>
              <a:t>Nothing was removed</a:t>
            </a:r>
            <a:r>
              <a:rPr lang="en-US" sz="1500" dirty="0">
                <a:solidFill>
                  <a:srgbClr val="182B49"/>
                </a:solidFill>
                <a:latin typeface="Source Sans 3" pitchFamily="34" charset="0"/>
                <a:ea typeface="Source Sans 3" pitchFamily="34" charset="-122"/>
                <a:cs typeface="Source Sans 3" pitchFamily="34" charset="-120"/>
              </a:rPr>
              <a:t>: the apps are one click down, under Explore · Access · Build · Students.</a:t>
            </a:r>
            <a:endParaRPr lang="en-US" sz="1500" dirty="0"/>
          </a:p>
        </p:txBody>
      </p:sp>
      <p:pic>
        <p:nvPicPr>
          <p:cNvPr id="15" name="card2|rr4465" descr="/home/claude/work/media/s04_p3_1225x383_1db6a052.png"/>
          <p:cNvPicPr>
            <a:picLocks noChangeAspect="1"/>
          </p:cNvPicPr>
          <p:nvPr/>
        </p:nvPicPr>
        <p:blipFill>
          <a:blip r:embed="rId7"/>
          <a:stretch>
            <a:fillRect/>
          </a:stretch>
        </p:blipFill>
        <p:spPr>
          <a:xfrm>
            <a:off x="6882777" y="4023360"/>
            <a:ext cx="4851718" cy="1516904"/>
          </a:xfrm>
          <a:prstGeom prst="roundRect">
            <a:avLst>
              <a:gd name="adj" fmla="val 4465"/>
            </a:avLst>
          </a:prstGeom>
          <a:effectLst>
            <a:outerShdw blurRad="76200" dist="25400" dir="5400000" algn="bl" rotWithShape="0">
              <a:srgbClr val="182B49">
                <a:alpha val="22000"/>
              </a:srgbClr>
            </a:outerShdw>
          </a:effectLst>
        </p:spPr>
      </p:pic>
      <p:sp>
        <p:nvSpPr>
          <p:cNvPr id="16" name="caption"/>
          <p:cNvSpPr txBox="1"/>
          <p:nvPr/>
        </p:nvSpPr>
        <p:spPr>
          <a:xfrm>
            <a:off x="6882777" y="5613416"/>
            <a:ext cx="4851718" cy="457200"/>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The catalog strip and the Explore section — 8 products under Explore, 5 Access, 4 Build, 9 Students.</a:t>
            </a:r>
            <a:endParaRPr lang="en-US" sz="125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calcofi.io/brand/v2/</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5</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BRAND · CALCOFI.IO/BRAND/V2</a:t>
            </a:r>
            <a:endParaRPr lang="en-US" sz="1200" dirty="0"/>
          </a:p>
        </p:txBody>
      </p:sp>
      <p:pic>
        <p:nvPicPr>
          <p:cNvPr id="9" name="icon ui-image" descr="/home/claude/work/icons/ui-imag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One brand kit, every product</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spec-light|rr3008" descr="/home/claude/work/media/s05_p2_1701x1197_18e23228.png"/>
          <p:cNvPicPr>
            <a:picLocks noChangeAspect="1"/>
          </p:cNvPicPr>
          <p:nvPr/>
        </p:nvPicPr>
        <p:blipFill>
          <a:blip r:embed="rId6"/>
          <a:stretch>
            <a:fillRect/>
          </a:stretch>
        </p:blipFill>
        <p:spPr>
          <a:xfrm>
            <a:off x="457200" y="1874520"/>
            <a:ext cx="3200400" cy="2252133"/>
          </a:xfrm>
          <a:prstGeom prst="roundRect">
            <a:avLst>
              <a:gd name="adj" fmla="val 3008"/>
            </a:avLst>
          </a:prstGeom>
          <a:effectLst>
            <a:outerShdw blurRad="76200" dist="25400" dir="5400000" algn="bl" rotWithShape="0">
              <a:srgbClr val="182B49">
                <a:alpha val="22000"/>
              </a:srgbClr>
            </a:outerShdw>
          </a:effectLst>
        </p:spPr>
      </p:pic>
      <p:pic>
        <p:nvPicPr>
          <p:cNvPr id="13" name="spec-dark|rr3008" descr="/home/claude/work/media/s05_p3_1701x1197_20a0887f.png"/>
          <p:cNvPicPr>
            <a:picLocks noChangeAspect="1"/>
          </p:cNvPicPr>
          <p:nvPr/>
        </p:nvPicPr>
        <p:blipFill>
          <a:blip r:embed="rId7"/>
          <a:stretch>
            <a:fillRect/>
          </a:stretch>
        </p:blipFill>
        <p:spPr>
          <a:xfrm>
            <a:off x="3840480" y="1874520"/>
            <a:ext cx="3200400" cy="2252133"/>
          </a:xfrm>
          <a:prstGeom prst="roundRect">
            <a:avLst>
              <a:gd name="adj" fmla="val 3008"/>
            </a:avLst>
          </a:prstGeom>
          <a:effectLst>
            <a:outerShdw blurRad="76200" dist="25400" dir="5400000" algn="bl" rotWithShape="0">
              <a:srgbClr val="182B49">
                <a:alpha val="22000"/>
              </a:srgbClr>
            </a:outerShdw>
          </a:effectLst>
        </p:spPr>
      </p:pic>
      <p:sp>
        <p:nvSpPr>
          <p:cNvPr id="14" name="caption"/>
          <p:cNvSpPr txBox="1"/>
          <p:nvPr/>
        </p:nvSpPr>
        <p:spPr>
          <a:xfrm>
            <a:off x="457200" y="4218093"/>
            <a:ext cx="6583680" cy="411480"/>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The specimen page, light (the default) and navy dark — one click away, remembered across every calcofi.io site and app.</a:t>
            </a:r>
            <a:endParaRPr lang="en-US" sz="1250" dirty="0"/>
          </a:p>
        </p:txBody>
      </p:sp>
      <p:pic>
        <p:nvPicPr>
          <p:cNvPr id="15" name="lockup-sheet|rr13039" descr="/home/claude/work/media/s05_p6_2452x398_1f3e9f6b.png"/>
          <p:cNvPicPr>
            <a:picLocks noChangeAspect="1"/>
          </p:cNvPicPr>
          <p:nvPr/>
        </p:nvPicPr>
        <p:blipFill>
          <a:blip r:embed="rId8"/>
          <a:stretch>
            <a:fillRect/>
          </a:stretch>
        </p:blipFill>
        <p:spPr>
          <a:xfrm>
            <a:off x="457200" y="4846320"/>
            <a:ext cx="3200400" cy="519478"/>
          </a:xfrm>
          <a:prstGeom prst="roundRect">
            <a:avLst>
              <a:gd name="adj" fmla="val 13039"/>
            </a:avLst>
          </a:prstGeom>
          <a:effectLst>
            <a:outerShdw blurRad="76200" dist="25400" dir="5400000" algn="bl" rotWithShape="0">
              <a:srgbClr val="182B49">
                <a:alpha val="22000"/>
              </a:srgbClr>
            </a:outerShdw>
          </a:effectLst>
        </p:spPr>
      </p:pic>
      <p:pic>
        <p:nvPicPr>
          <p:cNvPr id="16" name="buttons|rr28513" descr="/home/claude/work/media/s05_p4_2452x182_bfa60882.png"/>
          <p:cNvPicPr>
            <a:picLocks noChangeAspect="1"/>
          </p:cNvPicPr>
          <p:nvPr/>
        </p:nvPicPr>
        <p:blipFill>
          <a:blip r:embed="rId9"/>
          <a:stretch>
            <a:fillRect/>
          </a:stretch>
        </p:blipFill>
        <p:spPr>
          <a:xfrm>
            <a:off x="3840480" y="4846320"/>
            <a:ext cx="3200400" cy="237550"/>
          </a:xfrm>
          <a:prstGeom prst="roundRect">
            <a:avLst>
              <a:gd name="adj" fmla="val 28513"/>
            </a:avLst>
          </a:prstGeom>
          <a:effectLst>
            <a:outerShdw blurRad="76200" dist="25400" dir="5400000" algn="bl" rotWithShape="0">
              <a:srgbClr val="182B49">
                <a:alpha val="22000"/>
              </a:srgbClr>
            </a:outerShdw>
          </a:effectLst>
        </p:spPr>
      </p:pic>
      <p:pic>
        <p:nvPicPr>
          <p:cNvPr id="17" name="chips|rr25438" descr="/home/claude/work/media/s05_p5_2452x204_4d708ec4.png"/>
          <p:cNvPicPr>
            <a:picLocks noChangeAspect="1"/>
          </p:cNvPicPr>
          <p:nvPr/>
        </p:nvPicPr>
        <p:blipFill>
          <a:blip r:embed="rId10"/>
          <a:stretch>
            <a:fillRect/>
          </a:stretch>
        </p:blipFill>
        <p:spPr>
          <a:xfrm>
            <a:off x="3840480" y="5175310"/>
            <a:ext cx="3200400" cy="266265"/>
          </a:xfrm>
          <a:prstGeom prst="roundRect">
            <a:avLst>
              <a:gd name="adj" fmla="val 25438"/>
            </a:avLst>
          </a:prstGeom>
          <a:effectLst>
            <a:outerShdw blurRad="76200" dist="25400" dir="5400000" algn="bl" rotWithShape="0">
              <a:srgbClr val="182B49">
                <a:alpha val="22000"/>
              </a:srgbClr>
            </a:outerShdw>
          </a:effectLst>
        </p:spPr>
      </p:pic>
      <p:sp>
        <p:nvSpPr>
          <p:cNvPr id="18" name="caption"/>
          <p:cNvSpPr txBox="1"/>
          <p:nvPr/>
        </p:nvSpPr>
        <p:spPr>
          <a:xfrm>
            <a:off x="3840480" y="5533015"/>
            <a:ext cx="3200400" cy="457200"/>
          </a:xfrm>
          <a:prstGeom prst="rect">
            <a:avLst/>
          </a:prstGeom>
          <a:noFill/>
          <a:ln/>
        </p:spPr>
        <p:txBody>
          <a:bodyPr wrap="square" lIns="0" tIns="0" rIns="0" bIns="0" rtlCol="0" anchor="t"/>
          <a:lstStyle/>
          <a:p>
            <a:pPr marL="0" indent="0">
              <a:buNone/>
            </a:pPr>
            <a:r>
              <a:rPr lang="en-US" sz="1200" dirty="0">
                <a:solidFill>
                  <a:srgbClr val="66686A"/>
                </a:solidFill>
                <a:latin typeface="Source Sans 3" pitchFamily="34" charset="0"/>
                <a:ea typeface="Source Sans 3" pitchFamily="34" charset="-122"/>
                <a:cs typeface="Source Sans 3" pitchFamily="34" charset="-120"/>
              </a:rPr>
              <a:t>Buttons &amp; links (one yellow per view) and chips — a fact, or a state.</a:t>
            </a:r>
            <a:endParaRPr lang="en-US" sz="1200" dirty="0"/>
          </a:p>
        </p:txBody>
      </p:sp>
      <p:sp>
        <p:nvSpPr>
          <p:cNvPr id="19" name="build:bullets"/>
          <p:cNvSpPr txBox="1"/>
          <p:nvPr/>
        </p:nvSpPr>
        <p:spPr>
          <a:xfrm>
            <a:off x="7269480" y="1874520"/>
            <a:ext cx="4465015" cy="288036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UC San Diego's brand (</a:t>
            </a:r>
            <a:r>
              <a:rPr lang="en-US" sz="1300" b="1" dirty="0">
                <a:solidFill>
                  <a:srgbClr val="182B49"/>
                </a:solidFill>
                <a:latin typeface="Source Sans 3" pitchFamily="34" charset="0"/>
                <a:ea typeface="Source Sans 3" pitchFamily="34" charset="-122"/>
                <a:cs typeface="Source Sans 3" pitchFamily="34" charset="-120"/>
              </a:rPr>
              <a:t>brand.ucsd.edu</a:t>
            </a:r>
            <a:r>
              <a:rPr lang="en-US" sz="1300" dirty="0">
                <a:solidFill>
                  <a:srgbClr val="182B49"/>
                </a:solidFill>
                <a:latin typeface="Source Sans 3" pitchFamily="34" charset="0"/>
                <a:ea typeface="Source Sans 3" pitchFamily="34" charset="-122"/>
                <a:cs typeface="Source Sans 3" pitchFamily="34" charset="-120"/>
              </a:rPr>
              <a:t>) by way of the SIO look: navy, blue, one yellow accent, sand and navy bands.</a:t>
            </a:r>
            <a:endParaRPr lang="en-US" sz="1300" dirty="0"/>
          </a:p>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Source Sans 3 and Teko are the free stand-ins UCSD names for Brix Sans and Refrigerator Deluxe; the real ones later are a one-file swap.</a:t>
            </a:r>
            <a:endParaRPr lang="en-US" sz="1300" dirty="0"/>
          </a:p>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A horizontal </a:t>
            </a:r>
            <a:r>
              <a:rPr lang="en-US" sz="1300" b="1" dirty="0">
                <a:solidFill>
                  <a:srgbClr val="182B49"/>
                </a:solidFill>
                <a:latin typeface="Source Sans 3" pitchFamily="34" charset="0"/>
                <a:ea typeface="Source Sans 3" pitchFamily="34" charset="-122"/>
                <a:cs typeface="Source Sans 3" pitchFamily="34" charset="-120"/>
              </a:rPr>
              <a:t>lockup</a:t>
            </a:r>
            <a:r>
              <a:rPr lang="en-US" sz="1300" dirty="0">
                <a:solidFill>
                  <a:srgbClr val="182B49"/>
                </a:solidFill>
                <a:latin typeface="Source Sans 3" pitchFamily="34" charset="0"/>
                <a:ea typeface="Source Sans 3" pitchFamily="34" charset="-122"/>
                <a:cs typeface="Source Sans 3" pitchFamily="34" charset="-120"/>
              </a:rPr>
              <a:t> in every header; light is the default, navy dark one click away and remembered across every site and app.</a:t>
            </a:r>
            <a:endParaRPr lang="en-US" sz="1300" dirty="0"/>
          </a:p>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Every colour pair passes </a:t>
            </a:r>
            <a:r>
              <a:rPr lang="en-US" sz="1300" b="1" dirty="0">
                <a:solidFill>
                  <a:srgbClr val="182B49"/>
                </a:solidFill>
                <a:latin typeface="Source Sans 3" pitchFamily="34" charset="0"/>
                <a:ea typeface="Source Sans 3" pitchFamily="34" charset="-122"/>
                <a:cs typeface="Source Sans 3" pitchFamily="34" charset="-120"/>
              </a:rPr>
              <a:t>AA</a:t>
            </a:r>
            <a:r>
              <a:rPr lang="en-US" sz="1300" dirty="0">
                <a:solidFill>
                  <a:srgbClr val="182B49"/>
                </a:solidFill>
                <a:latin typeface="Source Sans 3" pitchFamily="34" charset="0"/>
                <a:ea typeface="Source Sans 3" pitchFamily="34" charset="-122"/>
                <a:cs typeface="Source Sans 3" pitchFamily="34" charset="-120"/>
              </a:rPr>
              <a:t> in both themes.</a:t>
            </a:r>
            <a:endParaRPr lang="en-US" sz="1300" dirty="0"/>
          </a:p>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54 custom icons — the lenses, the categories, the actions (calcofi.io/brand/v2/icons/).</a:t>
            </a:r>
            <a:endParaRPr lang="en-US" sz="1300" dirty="0"/>
          </a:p>
          <a:p>
            <a:pPr marL="177800" indent="-177800">
              <a:lnSpc>
                <a:spcPct val="105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One shared place — so all of it is tweakable.</a:t>
            </a:r>
            <a:endParaRPr lang="en-US" sz="1300" dirty="0"/>
          </a:p>
        </p:txBody>
      </p:sp>
      <p:pic>
        <p:nvPicPr>
          <p:cNvPr id="20" name="icons|rr5572" descr="/home/claude/work/media/s05_p7_1381x376_555eff9a.png"/>
          <p:cNvPicPr>
            <a:picLocks noChangeAspect="1"/>
          </p:cNvPicPr>
          <p:nvPr/>
        </p:nvPicPr>
        <p:blipFill>
          <a:blip r:embed="rId11"/>
          <a:stretch>
            <a:fillRect/>
          </a:stretch>
        </p:blipFill>
        <p:spPr>
          <a:xfrm>
            <a:off x="7269480" y="4846320"/>
            <a:ext cx="4465015" cy="1215674"/>
          </a:xfrm>
          <a:prstGeom prst="roundRect">
            <a:avLst>
              <a:gd name="adj" fmla="val 5572"/>
            </a:avLst>
          </a:prstGeom>
          <a:effectLst>
            <a:outerShdw blurRad="76200" dist="25400" dir="5400000" algn="bl" rotWithShape="0">
              <a:srgbClr val="182B49">
                <a:alpha val="22000"/>
              </a:srgbClr>
            </a:outerShdw>
          </a:effectLst>
        </p:spPr>
      </p:pic>
      <p:sp>
        <p:nvSpPr>
          <p:cNvPr id="2" name="footer-left">
            <a:hlinkClick r:id="rId12"/>
            <a:extLst>
              <a:ext uri="{FF2B5EF4-FFF2-40B4-BE49-F238E27FC236}">
                <a16:creationId xmlns:a16="http://schemas.microsoft.com/office/drawing/2014/main" id="{D4F40EC9-7C44-5E45-C27D-0C31D206F8BF}"/>
              </a:ext>
            </a:extLst>
          </p:cNvPr>
          <p:cNvSpPr txBox="1"/>
          <p:nvPr/>
        </p:nvSpPr>
        <p:spPr>
          <a:xfrm>
            <a:off x="1782925" y="6345936"/>
            <a:ext cx="2253393"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(linked at the bottom of calcofi.io)</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calcofi.io/explore</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6</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CALCOFI.IO/EXPLORE</a:t>
            </a:r>
            <a:endParaRPr lang="en-US" sz="1200" dirty="0"/>
          </a:p>
        </p:txBody>
      </p:sp>
      <p:pic>
        <p:nvPicPr>
          <p:cNvPr id="9" name="icon lens-stations" descr="/home/claude/work/icons/lens-stations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One app, six lenses</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764" descr="/home/claude/work/media/s06_p2_3200x2000_5bac2a43.png"/>
          <p:cNvPicPr>
            <a:picLocks noChangeAspect="1"/>
          </p:cNvPicPr>
          <p:nvPr/>
        </p:nvPicPr>
        <p:blipFill>
          <a:blip r:embed="rId6"/>
          <a:stretch>
            <a:fillRect/>
          </a:stretch>
        </p:blipFill>
        <p:spPr>
          <a:xfrm>
            <a:off x="457200" y="1920240"/>
            <a:ext cx="6144768" cy="3840480"/>
          </a:xfrm>
          <a:prstGeom prst="roundRect">
            <a:avLst>
              <a:gd name="adj" fmla="val 1764"/>
            </a:avLst>
          </a:prstGeom>
          <a:effectLst>
            <a:outerShdw blurRad="76200" dist="25400" dir="5400000" algn="bl" rotWithShape="0">
              <a:srgbClr val="182B49">
                <a:alpha val="22000"/>
              </a:srgbClr>
            </a:outerShdw>
          </a:effectLst>
        </p:spPr>
      </p:pic>
      <p:sp>
        <p:nvSpPr>
          <p:cNvPr id="13" name="caption"/>
          <p:cNvSpPr txBox="1"/>
          <p:nvPr/>
        </p:nvSpPr>
        <p:spPr>
          <a:xfrm>
            <a:off x="457200" y="5833872"/>
            <a:ext cx="6144768" cy="411480"/>
          </a:xfrm>
          <a:prstGeom prst="rect">
            <a:avLst/>
          </a:prstGeom>
          <a:noFill/>
          <a:ln/>
        </p:spPr>
        <p:txBody>
          <a:bodyPr wrap="square" lIns="0" tIns="0" rIns="0" bIns="0" rtlCol="0" anchor="t"/>
          <a:lstStyle/>
          <a:p>
            <a:pPr marL="0" indent="0">
              <a:buNone/>
            </a:pPr>
            <a:r>
              <a:rPr lang="en-US" sz="1300" dirty="0">
                <a:solidFill>
                  <a:srgbClr val="66686A"/>
                </a:solidFill>
                <a:latin typeface="Source Sans 3" pitchFamily="34" charset="0"/>
                <a:ea typeface="Source Sans 3" pitchFamily="34" charset="-122"/>
                <a:cs typeface="Source Sans 3" pitchFamily="34" charset="-120"/>
              </a:rPr>
              <a:t>The default view: Stations — Pacific sardine larvae per 10 m² at each station, over the GEBCO sea floor (release v2026.09.06, light theme, tour off).</a:t>
            </a:r>
            <a:endParaRPr lang="en-US" sz="1300" dirty="0"/>
          </a:p>
        </p:txBody>
      </p:sp>
      <p:sp>
        <p:nvSpPr>
          <p:cNvPr id="14" name="build:bullets"/>
          <p:cNvSpPr txBox="1"/>
          <p:nvPr/>
        </p:nvSpPr>
        <p:spPr>
          <a:xfrm>
            <a:off x="6967728" y="1920240"/>
            <a:ext cx="4766767" cy="4114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We had </a:t>
            </a:r>
            <a:r>
              <a:rPr lang="en-US" sz="1700" b="1" dirty="0">
                <a:solidFill>
                  <a:srgbClr val="182B49"/>
                </a:solidFill>
                <a:latin typeface="Source Sans 3" pitchFamily="34" charset="0"/>
                <a:ea typeface="Source Sans 3" pitchFamily="34" charset="-122"/>
                <a:cs typeface="Source Sans 3" pitchFamily="34" charset="-120"/>
              </a:rPr>
              <a:t>five apps </a:t>
            </a:r>
            <a:r>
              <a:rPr lang="en-US" sz="1700" dirty="0">
                <a:solidFill>
                  <a:srgbClr val="182B49"/>
                </a:solidFill>
                <a:latin typeface="Source Sans 3" pitchFamily="34" charset="0"/>
                <a:ea typeface="Source Sans 3" pitchFamily="34" charset="-122"/>
                <a:cs typeface="Source Sans 3" pitchFamily="34" charset="-120"/>
              </a:rPr>
              <a:t>with slightly different grains; switching between them was confusing and every feature was built five times.</a:t>
            </a:r>
            <a:endParaRPr lang="en-US" sz="1700" dirty="0"/>
          </a:p>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Now </a:t>
            </a:r>
            <a:r>
              <a:rPr lang="en-US" sz="1700" b="1" dirty="0">
                <a:solidFill>
                  <a:srgbClr val="182B49"/>
                </a:solidFill>
                <a:latin typeface="Source Sans 3" pitchFamily="34" charset="0"/>
                <a:ea typeface="Source Sans 3" pitchFamily="34" charset="-122"/>
                <a:cs typeface="Source Sans 3" pitchFamily="34" charset="-120"/>
              </a:rPr>
              <a:t>one app</a:t>
            </a:r>
            <a:r>
              <a:rPr lang="en-US" sz="1700" dirty="0">
                <a:solidFill>
                  <a:srgbClr val="182B49"/>
                </a:solidFill>
                <a:latin typeface="Source Sans 3" pitchFamily="34" charset="0"/>
                <a:ea typeface="Source Sans 3" pitchFamily="34" charset="-122"/>
                <a:cs typeface="Source Sans 3" pitchFamily="34" charset="-120"/>
              </a:rPr>
              <a:t>, and the grains are </a:t>
            </a:r>
            <a:r>
              <a:rPr lang="en-US" sz="1700" b="1" dirty="0">
                <a:solidFill>
                  <a:srgbClr val="182B49"/>
                </a:solidFill>
                <a:latin typeface="Source Sans 3" pitchFamily="34" charset="0"/>
                <a:ea typeface="Source Sans 3" pitchFamily="34" charset="-122"/>
                <a:cs typeface="Source Sans 3" pitchFamily="34" charset="-120"/>
              </a:rPr>
              <a:t>lenses</a:t>
            </a:r>
            <a:r>
              <a:rPr lang="en-US" sz="1700" dirty="0">
                <a:solidFill>
                  <a:srgbClr val="182B49"/>
                </a:solidFill>
                <a:latin typeface="Source Sans 3" pitchFamily="34" charset="0"/>
                <a:ea typeface="Source Sans 3" pitchFamily="34" charset="-122"/>
                <a:cs typeface="Source Sans 3" pitchFamily="34" charset="-120"/>
              </a:rPr>
              <a:t> in one picker: stations, hexagons, contours, cruises, regions, sections.</a:t>
            </a:r>
            <a:endParaRPr lang="en-US" sz="1700" dirty="0"/>
          </a:p>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The </a:t>
            </a:r>
            <a:r>
              <a:rPr lang="en-US" sz="1700" b="1" dirty="0">
                <a:solidFill>
                  <a:srgbClr val="182B49"/>
                </a:solidFill>
                <a:latin typeface="Source Sans 3" pitchFamily="34" charset="0"/>
                <a:ea typeface="Source Sans 3" pitchFamily="34" charset="-122"/>
                <a:cs typeface="Source Sans 3" pitchFamily="34" charset="-120"/>
              </a:rPr>
              <a:t>URL</a:t>
            </a:r>
            <a:r>
              <a:rPr lang="en-US" sz="1700" dirty="0">
                <a:solidFill>
                  <a:srgbClr val="182B49"/>
                </a:solidFill>
                <a:latin typeface="Source Sans 3" pitchFamily="34" charset="0"/>
                <a:ea typeface="Source Sans 3" pitchFamily="34" charset="-122"/>
                <a:cs typeface="Source Sans 3" pitchFamily="34" charset="-120"/>
              </a:rPr>
              <a:t> is the view: send a link, get the exact map.</a:t>
            </a:r>
            <a:endParaRPr lang="en-US" sz="1700" dirty="0"/>
          </a:p>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Erin's friendlier names from 8/26 still apply — to the lenses.</a:t>
            </a:r>
            <a:endParaRPr lang="en-US" sz="17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calcofi.io/docs/explore.html  ·  Help → Take the tour</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7</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HOW TO READ IT</a:t>
            </a:r>
            <a:endParaRPr lang="en-US" sz="1200" dirty="0"/>
          </a:p>
        </p:txBody>
      </p:sp>
      <p:pic>
        <p:nvPicPr>
          <p:cNvPr id="9" name="icon ui-tune" descr="/home/claude/work/icons/ui-tun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One screen: a sentence, three steps, and x·y·z·t</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684" descr="/home/claude/work/media/s07_p2_3200x2000_5bac2a43.png"/>
          <p:cNvPicPr>
            <a:picLocks noChangeAspect="1"/>
          </p:cNvPicPr>
          <p:nvPr/>
        </p:nvPicPr>
        <p:blipFill>
          <a:blip r:embed="rId6"/>
          <a:stretch>
            <a:fillRect/>
          </a:stretch>
        </p:blipFill>
        <p:spPr>
          <a:xfrm>
            <a:off x="457200" y="1874520"/>
            <a:ext cx="6437376" cy="4023360"/>
          </a:xfrm>
          <a:prstGeom prst="roundRect">
            <a:avLst>
              <a:gd name="adj" fmla="val 1684"/>
            </a:avLst>
          </a:prstGeom>
          <a:effectLst>
            <a:outerShdw blurRad="76200" dist="25400" dir="5400000" algn="bl" rotWithShape="0">
              <a:srgbClr val="182B49">
                <a:alpha val="22000"/>
              </a:srgbClr>
            </a:outerShdw>
          </a:effectLst>
        </p:spPr>
      </p:pic>
      <p:sp>
        <p:nvSpPr>
          <p:cNvPr id="13" name="caption"/>
          <p:cNvSpPr txBox="1"/>
          <p:nvPr/>
        </p:nvSpPr>
        <p:spPr>
          <a:xfrm>
            <a:off x="457200" y="5971032"/>
            <a:ext cx="6437376" cy="274320"/>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calcofi.io/explore/?tour=off&amp;theme=light — the default view, release v2026.09.06.</a:t>
            </a:r>
            <a:endParaRPr lang="en-US" sz="1250" dirty="0"/>
          </a:p>
        </p:txBody>
      </p:sp>
      <p:sp>
        <p:nvSpPr>
          <p:cNvPr id="14" name="callout"/>
          <p:cNvSpPr/>
          <p:nvPr/>
        </p:nvSpPr>
        <p:spPr>
          <a:xfrm>
            <a:off x="2535653" y="1920935"/>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15" name="callout-n"/>
          <p:cNvSpPr txBox="1"/>
          <p:nvPr/>
        </p:nvSpPr>
        <p:spPr>
          <a:xfrm>
            <a:off x="2535653" y="1920935"/>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1</a:t>
            </a:r>
            <a:endParaRPr lang="en-US" sz="1300" dirty="0"/>
          </a:p>
        </p:txBody>
      </p:sp>
      <p:sp>
        <p:nvSpPr>
          <p:cNvPr id="16" name="callout"/>
          <p:cNvSpPr/>
          <p:nvPr/>
        </p:nvSpPr>
        <p:spPr>
          <a:xfrm>
            <a:off x="941759" y="2149059"/>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17" name="callout-n"/>
          <p:cNvSpPr txBox="1"/>
          <p:nvPr/>
        </p:nvSpPr>
        <p:spPr>
          <a:xfrm>
            <a:off x="941759" y="2149059"/>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2</a:t>
            </a:r>
            <a:endParaRPr lang="en-US" sz="1300" dirty="0"/>
          </a:p>
        </p:txBody>
      </p:sp>
      <p:sp>
        <p:nvSpPr>
          <p:cNvPr id="18" name="callout"/>
          <p:cNvSpPr/>
          <p:nvPr/>
        </p:nvSpPr>
        <p:spPr>
          <a:xfrm>
            <a:off x="3919045" y="3621609"/>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19" name="callout-n"/>
          <p:cNvSpPr txBox="1"/>
          <p:nvPr/>
        </p:nvSpPr>
        <p:spPr>
          <a:xfrm>
            <a:off x="3919045" y="3621609"/>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3</a:t>
            </a:r>
            <a:endParaRPr lang="en-US" sz="1300" dirty="0"/>
          </a:p>
        </p:txBody>
      </p:sp>
      <p:sp>
        <p:nvSpPr>
          <p:cNvPr id="20" name="callout"/>
          <p:cNvSpPr/>
          <p:nvPr/>
        </p:nvSpPr>
        <p:spPr>
          <a:xfrm>
            <a:off x="599934" y="5225723"/>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21" name="callout-n"/>
          <p:cNvSpPr txBox="1"/>
          <p:nvPr/>
        </p:nvSpPr>
        <p:spPr>
          <a:xfrm>
            <a:off x="599934" y="5225723"/>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4</a:t>
            </a:r>
            <a:endParaRPr lang="en-US" sz="1300" dirty="0"/>
          </a:p>
        </p:txBody>
      </p:sp>
      <p:sp>
        <p:nvSpPr>
          <p:cNvPr id="22" name="callout"/>
          <p:cNvSpPr/>
          <p:nvPr/>
        </p:nvSpPr>
        <p:spPr>
          <a:xfrm>
            <a:off x="6468246" y="2718767"/>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23" name="callout-n"/>
          <p:cNvSpPr txBox="1"/>
          <p:nvPr/>
        </p:nvSpPr>
        <p:spPr>
          <a:xfrm>
            <a:off x="6468246" y="2718767"/>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5</a:t>
            </a:r>
            <a:endParaRPr lang="en-US" sz="1300" dirty="0"/>
          </a:p>
        </p:txBody>
      </p:sp>
      <p:sp>
        <p:nvSpPr>
          <p:cNvPr id="24" name="callout"/>
          <p:cNvSpPr/>
          <p:nvPr/>
        </p:nvSpPr>
        <p:spPr>
          <a:xfrm>
            <a:off x="6468246" y="2008644"/>
            <a:ext cx="292608" cy="292608"/>
          </a:xfrm>
          <a:prstGeom prst="ellipse">
            <a:avLst/>
          </a:prstGeom>
          <a:solidFill>
            <a:srgbClr val="FFCD00"/>
          </a:solidFill>
          <a:ln w="12700">
            <a:solidFill>
              <a:srgbClr val="182B49"/>
            </a:solidFill>
            <a:prstDash val="solid"/>
          </a:ln>
          <a:effectLst>
            <a:outerShdw blurRad="76200" dist="25400" dir="5400000" algn="bl" rotWithShape="0">
              <a:srgbClr val="182B49">
                <a:alpha val="25000"/>
              </a:srgbClr>
            </a:outerShdw>
          </a:effectLst>
        </p:spPr>
        <p:txBody>
          <a:bodyPr/>
          <a:lstStyle/>
          <a:p>
            <a:endParaRPr lang="en-US"/>
          </a:p>
        </p:txBody>
      </p:sp>
      <p:sp>
        <p:nvSpPr>
          <p:cNvPr id="25" name="callout-n"/>
          <p:cNvSpPr txBox="1"/>
          <p:nvPr/>
        </p:nvSpPr>
        <p:spPr>
          <a:xfrm>
            <a:off x="6468246" y="2008644"/>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6</a:t>
            </a:r>
            <a:endParaRPr lang="en-US" sz="1300" dirty="0"/>
          </a:p>
        </p:txBody>
      </p:sp>
      <p:sp>
        <p:nvSpPr>
          <p:cNvPr id="26" name="wire"/>
          <p:cNvSpPr/>
          <p:nvPr/>
        </p:nvSpPr>
        <p:spPr>
          <a:xfrm>
            <a:off x="7571232" y="1938528"/>
            <a:ext cx="0" cy="3703320"/>
          </a:xfrm>
          <a:prstGeom prst="line">
            <a:avLst/>
          </a:prstGeom>
          <a:noFill/>
          <a:ln w="12700">
            <a:solidFill>
              <a:srgbClr val="182B49"/>
            </a:solidFill>
            <a:prstDash val="solid"/>
          </a:ln>
        </p:spPr>
        <p:txBody>
          <a:bodyPr/>
          <a:lstStyle/>
          <a:p>
            <a:endParaRPr lang="en-US"/>
          </a:p>
        </p:txBody>
      </p:sp>
      <p:sp>
        <p:nvSpPr>
          <p:cNvPr id="27" name="Shape 21"/>
          <p:cNvSpPr/>
          <p:nvPr/>
        </p:nvSpPr>
        <p:spPr>
          <a:xfrm>
            <a:off x="7424928" y="1938528"/>
            <a:ext cx="109728" cy="0"/>
          </a:xfrm>
          <a:prstGeom prst="line">
            <a:avLst/>
          </a:prstGeom>
          <a:noFill/>
          <a:ln w="9525">
            <a:solidFill>
              <a:srgbClr val="B6B1A9"/>
            </a:solidFill>
            <a:prstDash val="solid"/>
          </a:ln>
        </p:spPr>
        <p:txBody>
          <a:bodyPr/>
          <a:lstStyle/>
          <a:p>
            <a:endParaRPr lang="en-US"/>
          </a:p>
        </p:txBody>
      </p:sp>
      <p:sp>
        <p:nvSpPr>
          <p:cNvPr id="28" name="Shape 22"/>
          <p:cNvSpPr/>
          <p:nvPr/>
        </p:nvSpPr>
        <p:spPr>
          <a:xfrm>
            <a:off x="7488936" y="2121408"/>
            <a:ext cx="45720" cy="0"/>
          </a:xfrm>
          <a:prstGeom prst="line">
            <a:avLst/>
          </a:prstGeom>
          <a:noFill/>
          <a:ln w="9525">
            <a:solidFill>
              <a:srgbClr val="B6B1A9"/>
            </a:solidFill>
            <a:prstDash val="solid"/>
          </a:ln>
        </p:spPr>
        <p:txBody>
          <a:bodyPr/>
          <a:lstStyle/>
          <a:p>
            <a:endParaRPr lang="en-US"/>
          </a:p>
        </p:txBody>
      </p:sp>
      <p:sp>
        <p:nvSpPr>
          <p:cNvPr id="29" name="Shape 23"/>
          <p:cNvSpPr/>
          <p:nvPr/>
        </p:nvSpPr>
        <p:spPr>
          <a:xfrm>
            <a:off x="7488936" y="2304288"/>
            <a:ext cx="45720" cy="0"/>
          </a:xfrm>
          <a:prstGeom prst="line">
            <a:avLst/>
          </a:prstGeom>
          <a:noFill/>
          <a:ln w="9525">
            <a:solidFill>
              <a:srgbClr val="B6B1A9"/>
            </a:solidFill>
            <a:prstDash val="solid"/>
          </a:ln>
        </p:spPr>
        <p:txBody>
          <a:bodyPr/>
          <a:lstStyle/>
          <a:p>
            <a:endParaRPr lang="en-US"/>
          </a:p>
        </p:txBody>
      </p:sp>
      <p:sp>
        <p:nvSpPr>
          <p:cNvPr id="30" name="Shape 24"/>
          <p:cNvSpPr/>
          <p:nvPr/>
        </p:nvSpPr>
        <p:spPr>
          <a:xfrm>
            <a:off x="7488936" y="2487168"/>
            <a:ext cx="45720" cy="0"/>
          </a:xfrm>
          <a:prstGeom prst="line">
            <a:avLst/>
          </a:prstGeom>
          <a:noFill/>
          <a:ln w="9525">
            <a:solidFill>
              <a:srgbClr val="B6B1A9"/>
            </a:solidFill>
            <a:prstDash val="solid"/>
          </a:ln>
        </p:spPr>
        <p:txBody>
          <a:bodyPr/>
          <a:lstStyle/>
          <a:p>
            <a:endParaRPr lang="en-US"/>
          </a:p>
        </p:txBody>
      </p:sp>
      <p:sp>
        <p:nvSpPr>
          <p:cNvPr id="31" name="Shape 25"/>
          <p:cNvSpPr/>
          <p:nvPr/>
        </p:nvSpPr>
        <p:spPr>
          <a:xfrm>
            <a:off x="7488936" y="2670048"/>
            <a:ext cx="45720" cy="0"/>
          </a:xfrm>
          <a:prstGeom prst="line">
            <a:avLst/>
          </a:prstGeom>
          <a:noFill/>
          <a:ln w="9525">
            <a:solidFill>
              <a:srgbClr val="B6B1A9"/>
            </a:solidFill>
            <a:prstDash val="solid"/>
          </a:ln>
        </p:spPr>
        <p:txBody>
          <a:bodyPr/>
          <a:lstStyle/>
          <a:p>
            <a:endParaRPr lang="en-US"/>
          </a:p>
        </p:txBody>
      </p:sp>
      <p:sp>
        <p:nvSpPr>
          <p:cNvPr id="32" name="Shape 26"/>
          <p:cNvSpPr/>
          <p:nvPr/>
        </p:nvSpPr>
        <p:spPr>
          <a:xfrm>
            <a:off x="7424928" y="2852928"/>
            <a:ext cx="109728" cy="0"/>
          </a:xfrm>
          <a:prstGeom prst="line">
            <a:avLst/>
          </a:prstGeom>
          <a:noFill/>
          <a:ln w="9525">
            <a:solidFill>
              <a:srgbClr val="B6B1A9"/>
            </a:solidFill>
            <a:prstDash val="solid"/>
          </a:ln>
        </p:spPr>
        <p:txBody>
          <a:bodyPr/>
          <a:lstStyle/>
          <a:p>
            <a:endParaRPr lang="en-US"/>
          </a:p>
        </p:txBody>
      </p:sp>
      <p:sp>
        <p:nvSpPr>
          <p:cNvPr id="33" name="Shape 27"/>
          <p:cNvSpPr/>
          <p:nvPr/>
        </p:nvSpPr>
        <p:spPr>
          <a:xfrm>
            <a:off x="7488936" y="3035808"/>
            <a:ext cx="45720" cy="0"/>
          </a:xfrm>
          <a:prstGeom prst="line">
            <a:avLst/>
          </a:prstGeom>
          <a:noFill/>
          <a:ln w="9525">
            <a:solidFill>
              <a:srgbClr val="B6B1A9"/>
            </a:solidFill>
            <a:prstDash val="solid"/>
          </a:ln>
        </p:spPr>
        <p:txBody>
          <a:bodyPr/>
          <a:lstStyle/>
          <a:p>
            <a:endParaRPr lang="en-US"/>
          </a:p>
        </p:txBody>
      </p:sp>
      <p:sp>
        <p:nvSpPr>
          <p:cNvPr id="34" name="Shape 28"/>
          <p:cNvSpPr/>
          <p:nvPr/>
        </p:nvSpPr>
        <p:spPr>
          <a:xfrm>
            <a:off x="7488936" y="3218688"/>
            <a:ext cx="45720" cy="0"/>
          </a:xfrm>
          <a:prstGeom prst="line">
            <a:avLst/>
          </a:prstGeom>
          <a:noFill/>
          <a:ln w="9525">
            <a:solidFill>
              <a:srgbClr val="B6B1A9"/>
            </a:solidFill>
            <a:prstDash val="solid"/>
          </a:ln>
        </p:spPr>
        <p:txBody>
          <a:bodyPr/>
          <a:lstStyle/>
          <a:p>
            <a:endParaRPr lang="en-US"/>
          </a:p>
        </p:txBody>
      </p:sp>
      <p:sp>
        <p:nvSpPr>
          <p:cNvPr id="35" name="Shape 29"/>
          <p:cNvSpPr/>
          <p:nvPr/>
        </p:nvSpPr>
        <p:spPr>
          <a:xfrm>
            <a:off x="7488936" y="3401568"/>
            <a:ext cx="45720" cy="0"/>
          </a:xfrm>
          <a:prstGeom prst="line">
            <a:avLst/>
          </a:prstGeom>
          <a:noFill/>
          <a:ln w="9525">
            <a:solidFill>
              <a:srgbClr val="B6B1A9"/>
            </a:solidFill>
            <a:prstDash val="solid"/>
          </a:ln>
        </p:spPr>
        <p:txBody>
          <a:bodyPr/>
          <a:lstStyle/>
          <a:p>
            <a:endParaRPr lang="en-US"/>
          </a:p>
        </p:txBody>
      </p:sp>
      <p:sp>
        <p:nvSpPr>
          <p:cNvPr id="36" name="Shape 30"/>
          <p:cNvSpPr/>
          <p:nvPr/>
        </p:nvSpPr>
        <p:spPr>
          <a:xfrm>
            <a:off x="7488936" y="3584448"/>
            <a:ext cx="45720" cy="0"/>
          </a:xfrm>
          <a:prstGeom prst="line">
            <a:avLst/>
          </a:prstGeom>
          <a:noFill/>
          <a:ln w="9525">
            <a:solidFill>
              <a:srgbClr val="B6B1A9"/>
            </a:solidFill>
            <a:prstDash val="solid"/>
          </a:ln>
        </p:spPr>
        <p:txBody>
          <a:bodyPr/>
          <a:lstStyle/>
          <a:p>
            <a:endParaRPr lang="en-US"/>
          </a:p>
        </p:txBody>
      </p:sp>
      <p:sp>
        <p:nvSpPr>
          <p:cNvPr id="37" name="Shape 31"/>
          <p:cNvSpPr/>
          <p:nvPr/>
        </p:nvSpPr>
        <p:spPr>
          <a:xfrm>
            <a:off x="7424928" y="3767328"/>
            <a:ext cx="109728" cy="0"/>
          </a:xfrm>
          <a:prstGeom prst="line">
            <a:avLst/>
          </a:prstGeom>
          <a:noFill/>
          <a:ln w="9525">
            <a:solidFill>
              <a:srgbClr val="B6B1A9"/>
            </a:solidFill>
            <a:prstDash val="solid"/>
          </a:ln>
        </p:spPr>
        <p:txBody>
          <a:bodyPr/>
          <a:lstStyle/>
          <a:p>
            <a:endParaRPr lang="en-US"/>
          </a:p>
        </p:txBody>
      </p:sp>
      <p:sp>
        <p:nvSpPr>
          <p:cNvPr id="38" name="Shape 32"/>
          <p:cNvSpPr/>
          <p:nvPr/>
        </p:nvSpPr>
        <p:spPr>
          <a:xfrm>
            <a:off x="7488936" y="3950208"/>
            <a:ext cx="45720" cy="0"/>
          </a:xfrm>
          <a:prstGeom prst="line">
            <a:avLst/>
          </a:prstGeom>
          <a:noFill/>
          <a:ln w="9525">
            <a:solidFill>
              <a:srgbClr val="B6B1A9"/>
            </a:solidFill>
            <a:prstDash val="solid"/>
          </a:ln>
        </p:spPr>
        <p:txBody>
          <a:bodyPr/>
          <a:lstStyle/>
          <a:p>
            <a:endParaRPr lang="en-US"/>
          </a:p>
        </p:txBody>
      </p:sp>
      <p:sp>
        <p:nvSpPr>
          <p:cNvPr id="39" name="Shape 33"/>
          <p:cNvSpPr/>
          <p:nvPr/>
        </p:nvSpPr>
        <p:spPr>
          <a:xfrm>
            <a:off x="7488936" y="4133088"/>
            <a:ext cx="45720" cy="0"/>
          </a:xfrm>
          <a:prstGeom prst="line">
            <a:avLst/>
          </a:prstGeom>
          <a:noFill/>
          <a:ln w="9525">
            <a:solidFill>
              <a:srgbClr val="B6B1A9"/>
            </a:solidFill>
            <a:prstDash val="solid"/>
          </a:ln>
        </p:spPr>
        <p:txBody>
          <a:bodyPr/>
          <a:lstStyle/>
          <a:p>
            <a:endParaRPr lang="en-US"/>
          </a:p>
        </p:txBody>
      </p:sp>
      <p:sp>
        <p:nvSpPr>
          <p:cNvPr id="40" name="Shape 34"/>
          <p:cNvSpPr/>
          <p:nvPr/>
        </p:nvSpPr>
        <p:spPr>
          <a:xfrm>
            <a:off x="7488936" y="4315968"/>
            <a:ext cx="45720" cy="0"/>
          </a:xfrm>
          <a:prstGeom prst="line">
            <a:avLst/>
          </a:prstGeom>
          <a:noFill/>
          <a:ln w="9525">
            <a:solidFill>
              <a:srgbClr val="B6B1A9"/>
            </a:solidFill>
            <a:prstDash val="solid"/>
          </a:ln>
        </p:spPr>
        <p:txBody>
          <a:bodyPr/>
          <a:lstStyle/>
          <a:p>
            <a:endParaRPr lang="en-US"/>
          </a:p>
        </p:txBody>
      </p:sp>
      <p:sp>
        <p:nvSpPr>
          <p:cNvPr id="41" name="Shape 35"/>
          <p:cNvSpPr/>
          <p:nvPr/>
        </p:nvSpPr>
        <p:spPr>
          <a:xfrm>
            <a:off x="7488936" y="4498848"/>
            <a:ext cx="45720" cy="0"/>
          </a:xfrm>
          <a:prstGeom prst="line">
            <a:avLst/>
          </a:prstGeom>
          <a:noFill/>
          <a:ln w="9525">
            <a:solidFill>
              <a:srgbClr val="B6B1A9"/>
            </a:solidFill>
            <a:prstDash val="solid"/>
          </a:ln>
        </p:spPr>
        <p:txBody>
          <a:bodyPr/>
          <a:lstStyle/>
          <a:p>
            <a:endParaRPr lang="en-US"/>
          </a:p>
        </p:txBody>
      </p:sp>
      <p:sp>
        <p:nvSpPr>
          <p:cNvPr id="42" name="Shape 36"/>
          <p:cNvSpPr/>
          <p:nvPr/>
        </p:nvSpPr>
        <p:spPr>
          <a:xfrm>
            <a:off x="7424928" y="4681728"/>
            <a:ext cx="109728" cy="0"/>
          </a:xfrm>
          <a:prstGeom prst="line">
            <a:avLst/>
          </a:prstGeom>
          <a:noFill/>
          <a:ln w="9525">
            <a:solidFill>
              <a:srgbClr val="B6B1A9"/>
            </a:solidFill>
            <a:prstDash val="solid"/>
          </a:ln>
        </p:spPr>
        <p:txBody>
          <a:bodyPr/>
          <a:lstStyle/>
          <a:p>
            <a:endParaRPr lang="en-US"/>
          </a:p>
        </p:txBody>
      </p:sp>
      <p:sp>
        <p:nvSpPr>
          <p:cNvPr id="43" name="Shape 37"/>
          <p:cNvSpPr/>
          <p:nvPr/>
        </p:nvSpPr>
        <p:spPr>
          <a:xfrm>
            <a:off x="7488936" y="4864608"/>
            <a:ext cx="45720" cy="0"/>
          </a:xfrm>
          <a:prstGeom prst="line">
            <a:avLst/>
          </a:prstGeom>
          <a:noFill/>
          <a:ln w="9525">
            <a:solidFill>
              <a:srgbClr val="B6B1A9"/>
            </a:solidFill>
            <a:prstDash val="solid"/>
          </a:ln>
        </p:spPr>
        <p:txBody>
          <a:bodyPr/>
          <a:lstStyle/>
          <a:p>
            <a:endParaRPr lang="en-US"/>
          </a:p>
        </p:txBody>
      </p:sp>
      <p:sp>
        <p:nvSpPr>
          <p:cNvPr id="44" name="Shape 38"/>
          <p:cNvSpPr/>
          <p:nvPr/>
        </p:nvSpPr>
        <p:spPr>
          <a:xfrm>
            <a:off x="7488936" y="5047488"/>
            <a:ext cx="45720" cy="0"/>
          </a:xfrm>
          <a:prstGeom prst="line">
            <a:avLst/>
          </a:prstGeom>
          <a:noFill/>
          <a:ln w="9525">
            <a:solidFill>
              <a:srgbClr val="B6B1A9"/>
            </a:solidFill>
            <a:prstDash val="solid"/>
          </a:ln>
        </p:spPr>
        <p:txBody>
          <a:bodyPr/>
          <a:lstStyle/>
          <a:p>
            <a:endParaRPr lang="en-US"/>
          </a:p>
        </p:txBody>
      </p:sp>
      <p:sp>
        <p:nvSpPr>
          <p:cNvPr id="45" name="Shape 39"/>
          <p:cNvSpPr/>
          <p:nvPr/>
        </p:nvSpPr>
        <p:spPr>
          <a:xfrm>
            <a:off x="7488936" y="5230368"/>
            <a:ext cx="45720" cy="0"/>
          </a:xfrm>
          <a:prstGeom prst="line">
            <a:avLst/>
          </a:prstGeom>
          <a:noFill/>
          <a:ln w="9525">
            <a:solidFill>
              <a:srgbClr val="B6B1A9"/>
            </a:solidFill>
            <a:prstDash val="solid"/>
          </a:ln>
        </p:spPr>
        <p:txBody>
          <a:bodyPr/>
          <a:lstStyle/>
          <a:p>
            <a:endParaRPr lang="en-US"/>
          </a:p>
        </p:txBody>
      </p:sp>
      <p:sp>
        <p:nvSpPr>
          <p:cNvPr id="46" name="Shape 40"/>
          <p:cNvSpPr/>
          <p:nvPr/>
        </p:nvSpPr>
        <p:spPr>
          <a:xfrm>
            <a:off x="7488936" y="5413248"/>
            <a:ext cx="45720" cy="0"/>
          </a:xfrm>
          <a:prstGeom prst="line">
            <a:avLst/>
          </a:prstGeom>
          <a:noFill/>
          <a:ln w="9525">
            <a:solidFill>
              <a:srgbClr val="B6B1A9"/>
            </a:solidFill>
            <a:prstDash val="solid"/>
          </a:ln>
        </p:spPr>
        <p:txBody>
          <a:bodyPr/>
          <a:lstStyle/>
          <a:p>
            <a:endParaRPr lang="en-US"/>
          </a:p>
        </p:txBody>
      </p:sp>
      <p:sp>
        <p:nvSpPr>
          <p:cNvPr id="47" name="Shape 41"/>
          <p:cNvSpPr/>
          <p:nvPr/>
        </p:nvSpPr>
        <p:spPr>
          <a:xfrm>
            <a:off x="7424928" y="5596128"/>
            <a:ext cx="109728" cy="0"/>
          </a:xfrm>
          <a:prstGeom prst="line">
            <a:avLst/>
          </a:prstGeom>
          <a:noFill/>
          <a:ln w="9525">
            <a:solidFill>
              <a:srgbClr val="B6B1A9"/>
            </a:solidFill>
            <a:prstDash val="solid"/>
          </a:ln>
        </p:spPr>
        <p:txBody>
          <a:bodyPr/>
          <a:lstStyle/>
          <a:p>
            <a:endParaRPr lang="en-US"/>
          </a:p>
        </p:txBody>
      </p:sp>
      <p:sp>
        <p:nvSpPr>
          <p:cNvPr id="48" name="bottle"/>
          <p:cNvSpPr/>
          <p:nvPr/>
        </p:nvSpPr>
        <p:spPr>
          <a:xfrm>
            <a:off x="7424928" y="1993392"/>
            <a:ext cx="292608" cy="292608"/>
          </a:xfrm>
          <a:prstGeom prst="ellipse">
            <a:avLst/>
          </a:prstGeom>
          <a:solidFill>
            <a:srgbClr val="FFCD00"/>
          </a:solidFill>
          <a:ln w="12700">
            <a:solidFill>
              <a:srgbClr val="182B49"/>
            </a:solidFill>
            <a:prstDash val="solid"/>
          </a:ln>
        </p:spPr>
        <p:txBody>
          <a:bodyPr/>
          <a:lstStyle/>
          <a:p>
            <a:endParaRPr lang="en-US"/>
          </a:p>
        </p:txBody>
      </p:sp>
      <p:sp>
        <p:nvSpPr>
          <p:cNvPr id="49" name="Text 43"/>
          <p:cNvSpPr txBox="1"/>
          <p:nvPr/>
        </p:nvSpPr>
        <p:spPr>
          <a:xfrm>
            <a:off x="7424928" y="19933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1</a:t>
            </a:r>
            <a:endParaRPr lang="en-US" sz="1300" dirty="0"/>
          </a:p>
        </p:txBody>
      </p:sp>
      <p:sp>
        <p:nvSpPr>
          <p:cNvPr id="50" name="text"/>
          <p:cNvSpPr txBox="1"/>
          <p:nvPr/>
        </p:nvSpPr>
        <p:spPr>
          <a:xfrm>
            <a:off x="7863840" y="1938528"/>
            <a:ext cx="3870655" cy="649224"/>
          </a:xfrm>
          <a:prstGeom prst="rect">
            <a:avLst/>
          </a:prstGeom>
          <a:noFill/>
          <a:ln/>
        </p:spPr>
        <p:txBody>
          <a:bodyPr wrap="square" lIns="0" tIns="0" rIns="0" bIns="0" rtlCol="0" anchor="t"/>
          <a:lstStyle/>
          <a:p>
            <a:pPr marL="0" indent="0">
              <a:lnSpc>
                <a:spcPct val="102000"/>
              </a:lnSpc>
              <a:buNone/>
            </a:pPr>
            <a:r>
              <a:rPr lang="en-US" sz="1250" dirty="0">
                <a:solidFill>
                  <a:srgbClr val="182B49"/>
                </a:solidFill>
                <a:latin typeface="Source Sans 3" pitchFamily="34" charset="0"/>
                <a:ea typeface="Source Sans 3" pitchFamily="34" charset="-122"/>
                <a:cs typeface="Source Sans 3" pitchFamily="34" charset="-120"/>
              </a:rPr>
              <a:t>The </a:t>
            </a:r>
            <a:r>
              <a:rPr lang="en-US" sz="1250" b="1" dirty="0">
                <a:solidFill>
                  <a:srgbClr val="182B49"/>
                </a:solidFill>
                <a:latin typeface="Source Sans 3" pitchFamily="34" charset="0"/>
                <a:ea typeface="Source Sans 3" pitchFamily="34" charset="-122"/>
                <a:cs typeface="Source Sans 3" pitchFamily="34" charset="-120"/>
              </a:rPr>
              <a:t>sentence</a:t>
            </a:r>
            <a:r>
              <a:rPr lang="en-US" sz="1250" dirty="0">
                <a:solidFill>
                  <a:srgbClr val="182B49"/>
                </a:solidFill>
                <a:latin typeface="Source Sans 3" pitchFamily="34" charset="0"/>
                <a:ea typeface="Source Sans 3" pitchFamily="34" charset="-122"/>
                <a:cs typeface="Source Sans 3" pitchFamily="34" charset="-120"/>
              </a:rPr>
              <a:t> says what you are looking at — and every chip in it is a control: click one and its </a:t>
            </a:r>
            <a:r>
              <a:rPr lang="en-US" sz="1250" b="1" i="1" dirty="0">
                <a:solidFill>
                  <a:srgbClr val="182B49"/>
                </a:solidFill>
                <a:latin typeface="Source Sans 3" pitchFamily="34" charset="0"/>
                <a:ea typeface="Source Sans 3" pitchFamily="34" charset="-122"/>
                <a:cs typeface="Source Sans 3" pitchFamily="34" charset="-120"/>
              </a:rPr>
              <a:t>dropdown</a:t>
            </a:r>
            <a:r>
              <a:rPr lang="en-US" sz="1250" dirty="0">
                <a:solidFill>
                  <a:srgbClr val="182B49"/>
                </a:solidFill>
                <a:latin typeface="Source Sans 3" pitchFamily="34" charset="0"/>
                <a:ea typeface="Source Sans 3" pitchFamily="34" charset="-122"/>
                <a:cs typeface="Source Sans 3" pitchFamily="34" charset="-120"/>
              </a:rPr>
              <a:t> is the same picker as in the Controls panel.</a:t>
            </a:r>
            <a:endParaRPr lang="en-US" sz="1250" dirty="0"/>
          </a:p>
        </p:txBody>
      </p:sp>
      <p:sp>
        <p:nvSpPr>
          <p:cNvPr id="51" name="bottle"/>
          <p:cNvSpPr/>
          <p:nvPr/>
        </p:nvSpPr>
        <p:spPr>
          <a:xfrm>
            <a:off x="7424928" y="2679192"/>
            <a:ext cx="292608" cy="292608"/>
          </a:xfrm>
          <a:prstGeom prst="ellipse">
            <a:avLst/>
          </a:prstGeom>
          <a:solidFill>
            <a:srgbClr val="FFCD00"/>
          </a:solidFill>
          <a:ln w="12700">
            <a:solidFill>
              <a:srgbClr val="182B49"/>
            </a:solidFill>
            <a:prstDash val="solid"/>
          </a:ln>
        </p:spPr>
        <p:txBody>
          <a:bodyPr/>
          <a:lstStyle/>
          <a:p>
            <a:endParaRPr lang="en-US"/>
          </a:p>
        </p:txBody>
      </p:sp>
      <p:sp>
        <p:nvSpPr>
          <p:cNvPr id="52" name="Text 46"/>
          <p:cNvSpPr txBox="1"/>
          <p:nvPr/>
        </p:nvSpPr>
        <p:spPr>
          <a:xfrm>
            <a:off x="7424928" y="26791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2</a:t>
            </a:r>
            <a:endParaRPr lang="en-US" sz="1300" dirty="0"/>
          </a:p>
        </p:txBody>
      </p:sp>
      <p:sp>
        <p:nvSpPr>
          <p:cNvPr id="53" name="text"/>
          <p:cNvSpPr txBox="1"/>
          <p:nvPr/>
        </p:nvSpPr>
        <p:spPr>
          <a:xfrm>
            <a:off x="7863840" y="2624328"/>
            <a:ext cx="3870655" cy="649224"/>
          </a:xfrm>
          <a:prstGeom prst="rect">
            <a:avLst/>
          </a:prstGeom>
          <a:noFill/>
          <a:ln/>
        </p:spPr>
        <p:txBody>
          <a:bodyPr wrap="square" lIns="0" tIns="0" rIns="0" bIns="0" rtlCol="0" anchor="t"/>
          <a:lstStyle/>
          <a:p>
            <a:pPr marL="0" indent="0">
              <a:lnSpc>
                <a:spcPct val="102000"/>
              </a:lnSpc>
              <a:buNone/>
            </a:pPr>
            <a:r>
              <a:rPr lang="en-US" sz="1250" b="1" dirty="0">
                <a:solidFill>
                  <a:srgbClr val="182B49"/>
                </a:solidFill>
                <a:latin typeface="Source Sans 3" pitchFamily="34" charset="0"/>
                <a:ea typeface="Source Sans 3" pitchFamily="34" charset="-122"/>
                <a:cs typeface="Source Sans 3" pitchFamily="34" charset="-120"/>
              </a:rPr>
              <a:t>Controls</a:t>
            </a:r>
            <a:r>
              <a:rPr lang="en-US" sz="1250" dirty="0">
                <a:solidFill>
                  <a:srgbClr val="182B49"/>
                </a:solidFill>
                <a:latin typeface="Source Sans 3" pitchFamily="34" charset="0"/>
                <a:ea typeface="Source Sans 3" pitchFamily="34" charset="-122"/>
                <a:cs typeface="Source Sans 3" pitchFamily="34" charset="-120"/>
              </a:rPr>
              <a:t>, in order: ① </a:t>
            </a:r>
            <a:r>
              <a:rPr lang="en-US" sz="1250" b="1" i="1" dirty="0">
                <a:solidFill>
                  <a:srgbClr val="182B49"/>
                </a:solidFill>
                <a:latin typeface="Source Sans 3" pitchFamily="34" charset="0"/>
                <a:ea typeface="Source Sans 3" pitchFamily="34" charset="-122"/>
                <a:cs typeface="Source Sans 3" pitchFamily="34" charset="-120"/>
              </a:rPr>
              <a:t>Select</a:t>
            </a:r>
            <a:r>
              <a:rPr lang="en-US" sz="1250" dirty="0">
                <a:solidFill>
                  <a:srgbClr val="182B49"/>
                </a:solidFill>
                <a:latin typeface="Source Sans 3" pitchFamily="34" charset="0"/>
                <a:ea typeface="Source Sans 3" pitchFamily="34" charset="-122"/>
                <a:cs typeface="Source Sans 3" pitchFamily="34" charset="-120"/>
              </a:rPr>
              <a:t> what · ② </a:t>
            </a:r>
            <a:r>
              <a:rPr lang="en-US" sz="1250" b="1" i="1" dirty="0">
                <a:solidFill>
                  <a:srgbClr val="182B49"/>
                </a:solidFill>
                <a:latin typeface="Source Sans 3" pitchFamily="34" charset="0"/>
                <a:ea typeface="Source Sans 3" pitchFamily="34" charset="-122"/>
                <a:cs typeface="Source Sans 3" pitchFamily="34" charset="-120"/>
              </a:rPr>
              <a:t>Refine</a:t>
            </a:r>
            <a:r>
              <a:rPr lang="en-US" sz="1250" dirty="0">
                <a:solidFill>
                  <a:srgbClr val="182B49"/>
                </a:solidFill>
                <a:latin typeface="Source Sans 3" pitchFamily="34" charset="0"/>
                <a:ea typeface="Source Sans 3" pitchFamily="34" charset="-122"/>
                <a:cs typeface="Source Sans 3" pitchFamily="34" charset="-120"/>
              </a:rPr>
              <a:t> when, where and how deep · ③ </a:t>
            </a:r>
            <a:r>
              <a:rPr lang="en-US" sz="1250" b="1" i="1" dirty="0">
                <a:solidFill>
                  <a:srgbClr val="182B49"/>
                </a:solidFill>
                <a:latin typeface="Source Sans 3" pitchFamily="34" charset="0"/>
                <a:ea typeface="Source Sans 3" pitchFamily="34" charset="-122"/>
                <a:cs typeface="Source Sans 3" pitchFamily="34" charset="-120"/>
              </a:rPr>
              <a:t>Share</a:t>
            </a:r>
            <a:r>
              <a:rPr lang="en-US" sz="1250" dirty="0">
                <a:solidFill>
                  <a:srgbClr val="182B49"/>
                </a:solidFill>
                <a:latin typeface="Source Sans 3" pitchFamily="34" charset="0"/>
                <a:ea typeface="Source Sans 3" pitchFamily="34" charset="-122"/>
                <a:cs typeface="Source Sans 3" pitchFamily="34" charset="-120"/>
              </a:rPr>
              <a:t> the </a:t>
            </a:r>
            <a:r>
              <a:rPr lang="en-US" sz="1250" b="1" i="1" dirty="0">
                <a:solidFill>
                  <a:srgbClr val="182B49"/>
                </a:solidFill>
                <a:latin typeface="Source Sans 3" pitchFamily="34" charset="0"/>
                <a:ea typeface="Source Sans 3" pitchFamily="34" charset="-122"/>
                <a:cs typeface="Source Sans 3" pitchFamily="34" charset="-120"/>
              </a:rPr>
              <a:t>link</a:t>
            </a:r>
            <a:r>
              <a:rPr lang="en-US" sz="1250" dirty="0">
                <a:solidFill>
                  <a:srgbClr val="182B49"/>
                </a:solidFill>
                <a:latin typeface="Source Sans 3" pitchFamily="34" charset="0"/>
                <a:ea typeface="Source Sans 3" pitchFamily="34" charset="-122"/>
                <a:cs typeface="Source Sans 3" pitchFamily="34" charset="-120"/>
              </a:rPr>
              <a:t>, the </a:t>
            </a:r>
            <a:r>
              <a:rPr lang="en-US" sz="1250" b="1" i="1" dirty="0">
                <a:solidFill>
                  <a:srgbClr val="182B49"/>
                </a:solidFill>
                <a:latin typeface="Source Sans 3" pitchFamily="34" charset="0"/>
                <a:ea typeface="Source Sans 3" pitchFamily="34" charset="-122"/>
                <a:cs typeface="Source Sans 3" pitchFamily="34" charset="-120"/>
              </a:rPr>
              <a:t>data</a:t>
            </a:r>
            <a:r>
              <a:rPr lang="en-US" sz="1250" dirty="0">
                <a:solidFill>
                  <a:srgbClr val="182B49"/>
                </a:solidFill>
                <a:latin typeface="Source Sans 3" pitchFamily="34" charset="0"/>
                <a:ea typeface="Source Sans 3" pitchFamily="34" charset="-122"/>
                <a:cs typeface="Source Sans 3" pitchFamily="34" charset="-120"/>
              </a:rPr>
              <a:t>, the </a:t>
            </a:r>
            <a:r>
              <a:rPr lang="en-US" sz="1250" b="1" i="1" dirty="0">
                <a:solidFill>
                  <a:srgbClr val="182B49"/>
                </a:solidFill>
                <a:latin typeface="Source Sans 3" pitchFamily="34" charset="0"/>
                <a:ea typeface="Source Sans 3" pitchFamily="34" charset="-122"/>
                <a:cs typeface="Source Sans 3" pitchFamily="34" charset="-120"/>
              </a:rPr>
              <a:t>code</a:t>
            </a:r>
            <a:r>
              <a:rPr lang="en-US" sz="1250" dirty="0">
                <a:solidFill>
                  <a:srgbClr val="182B49"/>
                </a:solidFill>
                <a:latin typeface="Source Sans 3" pitchFamily="34" charset="0"/>
                <a:ea typeface="Source Sans 3" pitchFamily="34" charset="-122"/>
                <a:cs typeface="Source Sans 3" pitchFamily="34" charset="-120"/>
              </a:rPr>
              <a:t>, the </a:t>
            </a:r>
            <a:r>
              <a:rPr lang="en-US" sz="1250" b="1" i="1" dirty="0">
                <a:solidFill>
                  <a:srgbClr val="182B49"/>
                </a:solidFill>
                <a:latin typeface="Source Sans 3" pitchFamily="34" charset="0"/>
                <a:ea typeface="Source Sans 3" pitchFamily="34" charset="-122"/>
                <a:cs typeface="Source Sans 3" pitchFamily="34" charset="-120"/>
              </a:rPr>
              <a:t>citation</a:t>
            </a:r>
            <a:r>
              <a:rPr lang="en-US" sz="1250" dirty="0">
                <a:solidFill>
                  <a:srgbClr val="182B49"/>
                </a:solidFill>
                <a:latin typeface="Source Sans 3" pitchFamily="34" charset="0"/>
                <a:ea typeface="Source Sans 3" pitchFamily="34" charset="-122"/>
                <a:cs typeface="Source Sans 3" pitchFamily="34" charset="-120"/>
              </a:rPr>
              <a:t>.</a:t>
            </a:r>
            <a:endParaRPr lang="en-US" sz="1250" dirty="0"/>
          </a:p>
        </p:txBody>
      </p:sp>
      <p:sp>
        <p:nvSpPr>
          <p:cNvPr id="54" name="bottle"/>
          <p:cNvSpPr/>
          <p:nvPr/>
        </p:nvSpPr>
        <p:spPr>
          <a:xfrm>
            <a:off x="7424928" y="3364992"/>
            <a:ext cx="292608" cy="292608"/>
          </a:xfrm>
          <a:prstGeom prst="ellipse">
            <a:avLst/>
          </a:prstGeom>
          <a:solidFill>
            <a:srgbClr val="FFCD00"/>
          </a:solidFill>
          <a:ln w="12700">
            <a:solidFill>
              <a:srgbClr val="182B49"/>
            </a:solidFill>
            <a:prstDash val="solid"/>
          </a:ln>
        </p:spPr>
        <p:txBody>
          <a:bodyPr/>
          <a:lstStyle/>
          <a:p>
            <a:endParaRPr lang="en-US"/>
          </a:p>
        </p:txBody>
      </p:sp>
      <p:sp>
        <p:nvSpPr>
          <p:cNvPr id="55" name="Text 49"/>
          <p:cNvSpPr txBox="1"/>
          <p:nvPr/>
        </p:nvSpPr>
        <p:spPr>
          <a:xfrm>
            <a:off x="7424928" y="33649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3</a:t>
            </a:r>
            <a:endParaRPr lang="en-US" sz="1300" dirty="0"/>
          </a:p>
        </p:txBody>
      </p:sp>
      <p:sp>
        <p:nvSpPr>
          <p:cNvPr id="56" name="text"/>
          <p:cNvSpPr txBox="1"/>
          <p:nvPr/>
        </p:nvSpPr>
        <p:spPr>
          <a:xfrm>
            <a:off x="7863840" y="3310128"/>
            <a:ext cx="3870655" cy="649224"/>
          </a:xfrm>
          <a:prstGeom prst="rect">
            <a:avLst/>
          </a:prstGeom>
          <a:noFill/>
          <a:ln/>
        </p:spPr>
        <p:txBody>
          <a:bodyPr wrap="square" lIns="0" tIns="0" rIns="0" bIns="0" rtlCol="0" anchor="t"/>
          <a:lstStyle/>
          <a:p>
            <a:pPr>
              <a:lnSpc>
                <a:spcPct val="102000"/>
              </a:lnSpc>
            </a:pPr>
            <a:r>
              <a:rPr lang="en-US" sz="1250" dirty="0">
                <a:solidFill>
                  <a:srgbClr val="182B49"/>
                </a:solidFill>
                <a:latin typeface="Source Sans 3" pitchFamily="34" charset="0"/>
                <a:ea typeface="Source Sans 3" pitchFamily="34" charset="-122"/>
                <a:cs typeface="Source Sans 3" pitchFamily="34" charset="-120"/>
              </a:rPr>
              <a:t>The </a:t>
            </a:r>
            <a:r>
              <a:rPr lang="en-US" sz="1250" b="1" dirty="0">
                <a:solidFill>
                  <a:srgbClr val="182B49"/>
                </a:solidFill>
                <a:latin typeface="Source Sans 3" pitchFamily="34" charset="0"/>
                <a:ea typeface="Source Sans 3" pitchFamily="34" charset="-122"/>
                <a:cs typeface="Source Sans 3" pitchFamily="34" charset="-120"/>
              </a:rPr>
              <a:t>map</a:t>
            </a:r>
            <a:r>
              <a:rPr lang="en-US" sz="1250" dirty="0">
                <a:solidFill>
                  <a:srgbClr val="182B49"/>
                </a:solidFill>
                <a:latin typeface="Source Sans 3" pitchFamily="34" charset="0"/>
                <a:ea typeface="Source Sans 3" pitchFamily="34" charset="-122"/>
                <a:cs typeface="Source Sans 3" pitchFamily="34" charset="-120"/>
              </a:rPr>
              <a:t> (x, y) is </a:t>
            </a:r>
            <a:r>
              <a:rPr lang="en-US" sz="1250" b="1" i="1" dirty="0">
                <a:solidFill>
                  <a:srgbClr val="182B49"/>
                </a:solidFill>
                <a:latin typeface="Source Sans 3" pitchFamily="34" charset="0"/>
                <a:ea typeface="Source Sans 3" pitchFamily="34" charset="-122"/>
                <a:cs typeface="Source Sans 3" pitchFamily="34" charset="-120"/>
              </a:rPr>
              <a:t>full screen</a:t>
            </a:r>
            <a:r>
              <a:rPr lang="en-US" sz="1250" dirty="0">
                <a:solidFill>
                  <a:srgbClr val="182B49"/>
                </a:solidFill>
                <a:latin typeface="Source Sans 3" pitchFamily="34" charset="0"/>
                <a:ea typeface="Source Sans 3" pitchFamily="34" charset="-122"/>
                <a:cs typeface="Source Sans 3" pitchFamily="34" charset="-120"/>
              </a:rPr>
              <a:t>; every </a:t>
            </a:r>
            <a:r>
              <a:rPr lang="en-US" sz="1250" b="1" dirty="0">
                <a:solidFill>
                  <a:srgbClr val="182B49"/>
                </a:solidFill>
                <a:latin typeface="Source Sans 3" pitchFamily="34" charset="0"/>
                <a:ea typeface="Source Sans 3" pitchFamily="34" charset="-122"/>
                <a:cs typeface="Source Sans 3" pitchFamily="34" charset="-120"/>
              </a:rPr>
              <a:t>panel</a:t>
            </a:r>
            <a:r>
              <a:rPr lang="en-US" sz="1250" dirty="0">
                <a:solidFill>
                  <a:srgbClr val="182B49"/>
                </a:solidFill>
                <a:latin typeface="Source Sans 3" pitchFamily="34" charset="0"/>
                <a:ea typeface="Source Sans 3" pitchFamily="34" charset="-122"/>
                <a:cs typeface="Source Sans 3" pitchFamily="34" charset="-120"/>
              </a:rPr>
              <a:t> </a:t>
            </a:r>
            <a:r>
              <a:rPr lang="en-US" sz="1250" b="1" i="1" dirty="0">
                <a:solidFill>
                  <a:srgbClr val="182B49"/>
                </a:solidFill>
                <a:latin typeface="Source Sans 3" pitchFamily="34" charset="0"/>
                <a:ea typeface="Source Sans 3" pitchFamily="34" charset="-122"/>
                <a:cs typeface="Source Sans 3" pitchFamily="34" charset="-120"/>
              </a:rPr>
              <a:t>floats</a:t>
            </a:r>
            <a:r>
              <a:rPr lang="en-US" sz="1250" dirty="0">
                <a:solidFill>
                  <a:srgbClr val="182B49"/>
                </a:solidFill>
                <a:latin typeface="Source Sans 3" pitchFamily="34" charset="0"/>
                <a:ea typeface="Source Sans 3" pitchFamily="34" charset="-122"/>
                <a:cs typeface="Source Sans 3" pitchFamily="34" charset="-120"/>
              </a:rPr>
              <a:t> over it and can be </a:t>
            </a:r>
            <a:r>
              <a:rPr lang="en-US" sz="1250" b="1" i="1" dirty="0">
                <a:solidFill>
                  <a:srgbClr val="182B49"/>
                </a:solidFill>
                <a:latin typeface="Source Sans 3" pitchFamily="34" charset="0"/>
                <a:ea typeface="Source Sans 3" pitchFamily="34" charset="-122"/>
                <a:cs typeface="Source Sans 3" pitchFamily="34" charset="-120"/>
              </a:rPr>
              <a:t>moved</a:t>
            </a:r>
            <a:r>
              <a:rPr lang="en-US" sz="1250" dirty="0">
                <a:solidFill>
                  <a:srgbClr val="182B49"/>
                </a:solidFill>
                <a:latin typeface="Source Sans 3" pitchFamily="34" charset="0"/>
                <a:ea typeface="Source Sans 3" pitchFamily="34" charset="-122"/>
                <a:cs typeface="Source Sans 3" pitchFamily="34" charset="-120"/>
              </a:rPr>
              <a:t>, </a:t>
            </a:r>
            <a:r>
              <a:rPr lang="en-US" sz="1250" b="1" i="1" dirty="0">
                <a:solidFill>
                  <a:srgbClr val="182B49"/>
                </a:solidFill>
                <a:latin typeface="Source Sans 3" pitchFamily="34" charset="0"/>
                <a:ea typeface="Source Sans 3" pitchFamily="34" charset="-122"/>
                <a:cs typeface="Source Sans 3" pitchFamily="34" charset="-120"/>
              </a:rPr>
              <a:t>collapsed</a:t>
            </a:r>
            <a:r>
              <a:rPr lang="en-US" sz="1250" dirty="0">
                <a:solidFill>
                  <a:srgbClr val="182B49"/>
                </a:solidFill>
                <a:latin typeface="Source Sans 3" pitchFamily="34" charset="0"/>
                <a:ea typeface="Source Sans 3" pitchFamily="34" charset="-122"/>
                <a:cs typeface="Source Sans 3" pitchFamily="34" charset="-120"/>
              </a:rPr>
              <a:t> or </a:t>
            </a:r>
            <a:r>
              <a:rPr lang="en-US" sz="1250" b="1" i="1" dirty="0">
                <a:solidFill>
                  <a:srgbClr val="182B49"/>
                </a:solidFill>
                <a:latin typeface="Source Sans 3" pitchFamily="34" charset="0"/>
                <a:ea typeface="Source Sans 3" pitchFamily="34" charset="-122"/>
                <a:cs typeface="Source Sans 3" pitchFamily="34" charset="-120"/>
              </a:rPr>
              <a:t>expanded</a:t>
            </a:r>
            <a:r>
              <a:rPr lang="en-US" sz="1250" dirty="0">
                <a:solidFill>
                  <a:srgbClr val="182B49"/>
                </a:solidFill>
                <a:latin typeface="Source Sans 3" pitchFamily="34" charset="0"/>
                <a:ea typeface="Source Sans 3" pitchFamily="34" charset="-122"/>
                <a:cs typeface="Source Sans 3" pitchFamily="34" charset="-120"/>
              </a:rPr>
              <a:t>.</a:t>
            </a:r>
            <a:endParaRPr lang="en-US" sz="1250" dirty="0"/>
          </a:p>
        </p:txBody>
      </p:sp>
      <p:sp>
        <p:nvSpPr>
          <p:cNvPr id="57" name="bottle"/>
          <p:cNvSpPr/>
          <p:nvPr/>
        </p:nvSpPr>
        <p:spPr>
          <a:xfrm>
            <a:off x="7424928" y="4050792"/>
            <a:ext cx="292608" cy="292608"/>
          </a:xfrm>
          <a:prstGeom prst="ellipse">
            <a:avLst/>
          </a:prstGeom>
          <a:solidFill>
            <a:srgbClr val="FFCD00"/>
          </a:solidFill>
          <a:ln w="12700">
            <a:solidFill>
              <a:srgbClr val="182B49"/>
            </a:solidFill>
            <a:prstDash val="solid"/>
          </a:ln>
        </p:spPr>
        <p:txBody>
          <a:bodyPr/>
          <a:lstStyle/>
          <a:p>
            <a:endParaRPr lang="en-US"/>
          </a:p>
        </p:txBody>
      </p:sp>
      <p:sp>
        <p:nvSpPr>
          <p:cNvPr id="58" name="Text 52"/>
          <p:cNvSpPr txBox="1"/>
          <p:nvPr/>
        </p:nvSpPr>
        <p:spPr>
          <a:xfrm>
            <a:off x="7424928" y="40507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4</a:t>
            </a:r>
            <a:endParaRPr lang="en-US" sz="1300" dirty="0"/>
          </a:p>
        </p:txBody>
      </p:sp>
      <p:sp>
        <p:nvSpPr>
          <p:cNvPr id="59" name="text"/>
          <p:cNvSpPr txBox="1"/>
          <p:nvPr/>
        </p:nvSpPr>
        <p:spPr>
          <a:xfrm>
            <a:off x="7863840" y="3995928"/>
            <a:ext cx="3870655" cy="649224"/>
          </a:xfrm>
          <a:prstGeom prst="rect">
            <a:avLst/>
          </a:prstGeom>
          <a:noFill/>
          <a:ln/>
        </p:spPr>
        <p:txBody>
          <a:bodyPr wrap="square" lIns="0" tIns="0" rIns="0" bIns="0" rtlCol="0" anchor="t"/>
          <a:lstStyle/>
          <a:p>
            <a:pPr marL="0" indent="0">
              <a:lnSpc>
                <a:spcPct val="102000"/>
              </a:lnSpc>
              <a:buNone/>
            </a:pPr>
            <a:r>
              <a:rPr lang="en-US" sz="1250" b="1" dirty="0">
                <a:solidFill>
                  <a:srgbClr val="182B49"/>
                </a:solidFill>
                <a:latin typeface="Source Sans 3" pitchFamily="34" charset="0"/>
                <a:ea typeface="Source Sans 3" pitchFamily="34" charset="-122"/>
                <a:cs typeface="Source Sans 3" pitchFamily="34" charset="-120"/>
              </a:rPr>
              <a:t>Time</a:t>
            </a:r>
            <a:r>
              <a:rPr lang="en-US" sz="1250" dirty="0">
                <a:solidFill>
                  <a:srgbClr val="182B49"/>
                </a:solidFill>
                <a:latin typeface="Source Sans 3" pitchFamily="34" charset="0"/>
                <a:ea typeface="Source Sans 3" pitchFamily="34" charset="-122"/>
                <a:cs typeface="Source Sans 3" pitchFamily="34" charset="-120"/>
              </a:rPr>
              <a:t> (t) along the bottom: </a:t>
            </a:r>
            <a:r>
              <a:rPr lang="en-US" sz="1250" b="1" i="1" dirty="0">
                <a:solidFill>
                  <a:srgbClr val="182B49"/>
                </a:solidFill>
                <a:latin typeface="Source Sans 3" pitchFamily="34" charset="0"/>
                <a:ea typeface="Source Sans 3" pitchFamily="34" charset="-122"/>
                <a:cs typeface="Source Sans 3" pitchFamily="34" charset="-120"/>
              </a:rPr>
              <a:t>observations</a:t>
            </a:r>
            <a:r>
              <a:rPr lang="en-US" sz="1250" dirty="0">
                <a:solidFill>
                  <a:srgbClr val="182B49"/>
                </a:solidFill>
                <a:latin typeface="Source Sans 3" pitchFamily="34" charset="0"/>
                <a:ea typeface="Source Sans 3" pitchFamily="34" charset="-122"/>
                <a:cs typeface="Source Sans 3" pitchFamily="34" charset="-120"/>
              </a:rPr>
              <a:t> per year — drag to filter, or switch it to </a:t>
            </a:r>
            <a:r>
              <a:rPr lang="en-US" sz="1250" b="1" i="1" dirty="0">
                <a:solidFill>
                  <a:srgbClr val="182B49"/>
                </a:solidFill>
                <a:latin typeface="Source Sans 3" pitchFamily="34" charset="0"/>
                <a:ea typeface="Source Sans 3" pitchFamily="34" charset="-122"/>
                <a:cs typeface="Source Sans 3" pitchFamily="34" charset="-120"/>
              </a:rPr>
              <a:t>mean ± se</a:t>
            </a:r>
            <a:r>
              <a:rPr lang="en-US" sz="1250" dirty="0">
                <a:solidFill>
                  <a:srgbClr val="182B49"/>
                </a:solidFill>
                <a:latin typeface="Source Sans 3" pitchFamily="34" charset="0"/>
                <a:ea typeface="Source Sans 3" pitchFamily="34" charset="-122"/>
                <a:cs typeface="Source Sans 3" pitchFamily="34" charset="-120"/>
              </a:rPr>
              <a:t>, or </a:t>
            </a:r>
            <a:r>
              <a:rPr lang="en-US" sz="1250" b="1" i="1" dirty="0">
                <a:solidFill>
                  <a:srgbClr val="182B49"/>
                </a:solidFill>
                <a:latin typeface="Source Sans 3" pitchFamily="34" charset="0"/>
                <a:ea typeface="Source Sans 3" pitchFamily="34" charset="-122"/>
                <a:cs typeface="Source Sans 3" pitchFamily="34" charset="-120"/>
              </a:rPr>
              <a:t>cruises</a:t>
            </a:r>
            <a:r>
              <a:rPr lang="en-US" sz="1250" dirty="0">
                <a:solidFill>
                  <a:srgbClr val="182B49"/>
                </a:solidFill>
                <a:latin typeface="Source Sans 3" pitchFamily="34" charset="0"/>
                <a:ea typeface="Source Sans 3" pitchFamily="34" charset="-122"/>
                <a:cs typeface="Source Sans 3" pitchFamily="34" charset="-120"/>
              </a:rPr>
              <a:t>.</a:t>
            </a:r>
            <a:endParaRPr lang="en-US" sz="1250" dirty="0"/>
          </a:p>
        </p:txBody>
      </p:sp>
      <p:sp>
        <p:nvSpPr>
          <p:cNvPr id="60" name="bottle"/>
          <p:cNvSpPr/>
          <p:nvPr/>
        </p:nvSpPr>
        <p:spPr>
          <a:xfrm>
            <a:off x="7424928" y="4736592"/>
            <a:ext cx="292608" cy="292608"/>
          </a:xfrm>
          <a:prstGeom prst="ellipse">
            <a:avLst/>
          </a:prstGeom>
          <a:solidFill>
            <a:srgbClr val="FFCD00"/>
          </a:solidFill>
          <a:ln w="12700">
            <a:solidFill>
              <a:srgbClr val="182B49"/>
            </a:solidFill>
            <a:prstDash val="solid"/>
          </a:ln>
        </p:spPr>
        <p:txBody>
          <a:bodyPr/>
          <a:lstStyle/>
          <a:p>
            <a:endParaRPr lang="en-US"/>
          </a:p>
        </p:txBody>
      </p:sp>
      <p:sp>
        <p:nvSpPr>
          <p:cNvPr id="61" name="Text 55"/>
          <p:cNvSpPr txBox="1"/>
          <p:nvPr/>
        </p:nvSpPr>
        <p:spPr>
          <a:xfrm>
            <a:off x="7424928" y="47365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5</a:t>
            </a:r>
            <a:endParaRPr lang="en-US" sz="1300" dirty="0"/>
          </a:p>
        </p:txBody>
      </p:sp>
      <p:sp>
        <p:nvSpPr>
          <p:cNvPr id="62" name="text"/>
          <p:cNvSpPr txBox="1"/>
          <p:nvPr/>
        </p:nvSpPr>
        <p:spPr>
          <a:xfrm>
            <a:off x="7863840" y="4681728"/>
            <a:ext cx="3870655" cy="649224"/>
          </a:xfrm>
          <a:prstGeom prst="rect">
            <a:avLst/>
          </a:prstGeom>
          <a:noFill/>
          <a:ln/>
        </p:spPr>
        <p:txBody>
          <a:bodyPr wrap="square" lIns="0" tIns="0" rIns="0" bIns="0" rtlCol="0" anchor="t"/>
          <a:lstStyle/>
          <a:p>
            <a:pPr marL="0" indent="0">
              <a:lnSpc>
                <a:spcPct val="102000"/>
              </a:lnSpc>
              <a:buNone/>
            </a:pPr>
            <a:r>
              <a:rPr lang="en-US" sz="1250" b="1" dirty="0">
                <a:solidFill>
                  <a:srgbClr val="182B49"/>
                </a:solidFill>
                <a:latin typeface="Source Sans 3" pitchFamily="34" charset="0"/>
                <a:ea typeface="Source Sans 3" pitchFamily="34" charset="-122"/>
                <a:cs typeface="Source Sans 3" pitchFamily="34" charset="-120"/>
              </a:rPr>
              <a:t>Depth</a:t>
            </a:r>
            <a:r>
              <a:rPr lang="en-US" sz="1250" dirty="0">
                <a:solidFill>
                  <a:srgbClr val="182B49"/>
                </a:solidFill>
                <a:latin typeface="Source Sans 3" pitchFamily="34" charset="0"/>
                <a:ea typeface="Source Sans 3" pitchFamily="34" charset="-122"/>
                <a:cs typeface="Source Sans 3" pitchFamily="34" charset="-120"/>
              </a:rPr>
              <a:t> (z) on the right, </a:t>
            </a:r>
            <a:r>
              <a:rPr lang="en-US" sz="1250" b="1" i="1" dirty="0">
                <a:solidFill>
                  <a:srgbClr val="182B49"/>
                </a:solidFill>
                <a:latin typeface="Source Sans 3" pitchFamily="34" charset="0"/>
                <a:ea typeface="Source Sans 3" pitchFamily="34" charset="-122"/>
                <a:cs typeface="Source Sans 3" pitchFamily="34" charset="-120"/>
              </a:rPr>
              <a:t>environment only</a:t>
            </a:r>
            <a:r>
              <a:rPr lang="en-US" sz="1250" dirty="0">
                <a:solidFill>
                  <a:srgbClr val="182B49"/>
                </a:solidFill>
                <a:latin typeface="Source Sans 3" pitchFamily="34" charset="0"/>
                <a:ea typeface="Source Sans 3" pitchFamily="34" charset="-122"/>
                <a:cs typeface="Source Sans 3" pitchFamily="34" charset="-120"/>
              </a:rPr>
              <a:t>: the mean profile with its spread; drag to brush a band.</a:t>
            </a:r>
            <a:endParaRPr lang="en-US" sz="1250" dirty="0"/>
          </a:p>
        </p:txBody>
      </p:sp>
      <p:sp>
        <p:nvSpPr>
          <p:cNvPr id="63" name="bottle"/>
          <p:cNvSpPr/>
          <p:nvPr/>
        </p:nvSpPr>
        <p:spPr>
          <a:xfrm>
            <a:off x="7424928" y="5422392"/>
            <a:ext cx="292608" cy="292608"/>
          </a:xfrm>
          <a:prstGeom prst="ellipse">
            <a:avLst/>
          </a:prstGeom>
          <a:solidFill>
            <a:srgbClr val="FFCD00"/>
          </a:solidFill>
          <a:ln w="12700">
            <a:solidFill>
              <a:srgbClr val="182B49"/>
            </a:solidFill>
            <a:prstDash val="solid"/>
          </a:ln>
        </p:spPr>
        <p:txBody>
          <a:bodyPr/>
          <a:lstStyle/>
          <a:p>
            <a:endParaRPr lang="en-US"/>
          </a:p>
        </p:txBody>
      </p:sp>
      <p:sp>
        <p:nvSpPr>
          <p:cNvPr id="64" name="Text 58"/>
          <p:cNvSpPr txBox="1"/>
          <p:nvPr/>
        </p:nvSpPr>
        <p:spPr>
          <a:xfrm>
            <a:off x="7424928" y="5422392"/>
            <a:ext cx="292608" cy="292608"/>
          </a:xfrm>
          <a:prstGeom prst="rect">
            <a:avLst/>
          </a:prstGeom>
          <a:noFill/>
          <a:ln/>
        </p:spPr>
        <p:txBody>
          <a:bodyPr wrap="square" lIns="0" tIns="0" rIns="0" bIns="0" rtlCol="0" anchor="ctr"/>
          <a:lstStyle/>
          <a:p>
            <a:pPr marL="0" indent="0" algn="ctr">
              <a:buNone/>
            </a:pPr>
            <a:r>
              <a:rPr lang="en-US" sz="1300" b="1" dirty="0">
                <a:solidFill>
                  <a:srgbClr val="182B49"/>
                </a:solidFill>
                <a:latin typeface="Source Sans 3" pitchFamily="34" charset="0"/>
                <a:ea typeface="Source Sans 3" pitchFamily="34" charset="-122"/>
                <a:cs typeface="Source Sans 3" pitchFamily="34" charset="-120"/>
              </a:rPr>
              <a:t>6</a:t>
            </a:r>
            <a:endParaRPr lang="en-US" sz="1300" dirty="0"/>
          </a:p>
        </p:txBody>
      </p:sp>
      <p:sp>
        <p:nvSpPr>
          <p:cNvPr id="65" name="text"/>
          <p:cNvSpPr txBox="1"/>
          <p:nvPr/>
        </p:nvSpPr>
        <p:spPr>
          <a:xfrm>
            <a:off x="7863840" y="5367528"/>
            <a:ext cx="3870655" cy="649224"/>
          </a:xfrm>
          <a:prstGeom prst="rect">
            <a:avLst/>
          </a:prstGeom>
          <a:noFill/>
          <a:ln/>
        </p:spPr>
        <p:txBody>
          <a:bodyPr wrap="square" lIns="0" tIns="0" rIns="0" bIns="0" rtlCol="0" anchor="t"/>
          <a:lstStyle/>
          <a:p>
            <a:pPr marL="0" indent="0">
              <a:lnSpc>
                <a:spcPct val="102000"/>
              </a:lnSpc>
              <a:buNone/>
            </a:pPr>
            <a:r>
              <a:rPr lang="en-US" sz="1250" dirty="0">
                <a:solidFill>
                  <a:srgbClr val="182B49"/>
                </a:solidFill>
                <a:latin typeface="Source Sans 3" pitchFamily="34" charset="0"/>
                <a:ea typeface="Source Sans 3" pitchFamily="34" charset="-122"/>
                <a:cs typeface="Source Sans 3" pitchFamily="34" charset="-120"/>
              </a:rPr>
              <a:t>The </a:t>
            </a:r>
            <a:r>
              <a:rPr lang="en-US" sz="1250" b="1" dirty="0">
                <a:solidFill>
                  <a:srgbClr val="182B49"/>
                </a:solidFill>
                <a:latin typeface="Source Sans 3" pitchFamily="34" charset="0"/>
                <a:ea typeface="Source Sans 3" pitchFamily="34" charset="-122"/>
                <a:cs typeface="Source Sans 3" pitchFamily="34" charset="-120"/>
              </a:rPr>
              <a:t>layers</a:t>
            </a:r>
            <a:r>
              <a:rPr lang="en-US" sz="1250" dirty="0">
                <a:solidFill>
                  <a:srgbClr val="182B49"/>
                </a:solidFill>
                <a:latin typeface="Source Sans 3" pitchFamily="34" charset="0"/>
                <a:ea typeface="Source Sans 3" pitchFamily="34" charset="-122"/>
                <a:cs typeface="Source Sans 3" pitchFamily="34" charset="-120"/>
              </a:rPr>
              <a:t> button: the sea floor, the boundary layers, the data’s color ramp and ordering of all layers.</a:t>
            </a:r>
            <a:endParaRPr lang="en-US" sz="125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calcofi.io/explore  ·  Help ▾ → Explorer guide</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8</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THE SAME CONTROLS EVERYWHERE</a:t>
            </a:r>
            <a:endParaRPr lang="en-US" sz="1200" dirty="0"/>
          </a:p>
        </p:txBody>
      </p:sp>
      <p:pic>
        <p:nvPicPr>
          <p:cNvPr id="9" name="icon ui-layers" descr="/home/claude/work/icons/ui-layers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The same layers, exports and help in every lens</a:t>
            </a:r>
            <a:endParaRPr lang="en-US" sz="3400" dirty="0"/>
          </a:p>
        </p:txBody>
      </p:sp>
      <p:sp>
        <p:nvSpPr>
          <p:cNvPr id="11" name="band"/>
          <p:cNvSpPr/>
          <p:nvPr/>
        </p:nvSpPr>
        <p:spPr>
          <a:xfrm>
            <a:off x="0" y="1783080"/>
            <a:ext cx="12191695" cy="2880360"/>
          </a:xfrm>
          <a:prstGeom prst="rect">
            <a:avLst/>
          </a:prstGeom>
          <a:solidFill>
            <a:srgbClr val="F5F0E6"/>
          </a:solidFill>
          <a:ln w="12700">
            <a:solidFill>
              <a:srgbClr val="F5F0E6"/>
            </a:solidFill>
            <a:prstDash val="solid"/>
          </a:ln>
        </p:spPr>
        <p:txBody>
          <a:bodyPr/>
          <a:lstStyle/>
          <a:p>
            <a:endParaRPr lang="en-US"/>
          </a:p>
        </p:txBody>
      </p:sp>
      <p:pic>
        <p:nvPicPr>
          <p:cNvPr id="12" name="layers|rr3193" descr="/home/claude/work/media/s08_p2_2112x1384_821b4ee8.png"/>
          <p:cNvPicPr>
            <a:picLocks noChangeAspect="1"/>
          </p:cNvPicPr>
          <p:nvPr/>
        </p:nvPicPr>
        <p:blipFill>
          <a:blip r:embed="rId6"/>
          <a:stretch>
            <a:fillRect/>
          </a:stretch>
        </p:blipFill>
        <p:spPr>
          <a:xfrm>
            <a:off x="457200" y="1938528"/>
            <a:ext cx="3237293" cy="2121408"/>
          </a:xfrm>
          <a:prstGeom prst="roundRect">
            <a:avLst>
              <a:gd name="adj" fmla="val 3193"/>
            </a:avLst>
          </a:prstGeom>
          <a:effectLst>
            <a:outerShdw blurRad="76200" dist="25400" dir="5400000" algn="bl" rotWithShape="0">
              <a:srgbClr val="182B49">
                <a:alpha val="22000"/>
              </a:srgbClr>
            </a:outerShdw>
          </a:effectLst>
        </p:spPr>
      </p:pic>
      <p:pic>
        <p:nvPicPr>
          <p:cNvPr id="13" name="pane|rr3807" descr="/home/claude/work/media/s08_p3_816x406_5ab2ec22.png"/>
          <p:cNvPicPr>
            <a:picLocks noChangeAspect="1"/>
          </p:cNvPicPr>
          <p:nvPr/>
        </p:nvPicPr>
        <p:blipFill>
          <a:blip r:embed="rId7"/>
          <a:stretch>
            <a:fillRect/>
          </a:stretch>
        </p:blipFill>
        <p:spPr>
          <a:xfrm>
            <a:off x="4307738" y="1938528"/>
            <a:ext cx="3576218" cy="1779344"/>
          </a:xfrm>
          <a:prstGeom prst="roundRect">
            <a:avLst>
              <a:gd name="adj" fmla="val 3807"/>
            </a:avLst>
          </a:prstGeom>
          <a:effectLst>
            <a:outerShdw blurRad="76200" dist="25400" dir="5400000" algn="bl" rotWithShape="0">
              <a:srgbClr val="182B49">
                <a:alpha val="22000"/>
              </a:srgbClr>
            </a:outerShdw>
          </a:effectLst>
        </p:spPr>
      </p:pic>
      <p:pic>
        <p:nvPicPr>
          <p:cNvPr id="14" name="help|rr3193" descr="/home/claude/work/media/s08_p4_737x724_60d26060.png"/>
          <p:cNvPicPr>
            <a:picLocks noChangeAspect="1"/>
          </p:cNvPicPr>
          <p:nvPr/>
        </p:nvPicPr>
        <p:blipFill>
          <a:blip r:embed="rId8"/>
          <a:stretch>
            <a:fillRect/>
          </a:stretch>
        </p:blipFill>
        <p:spPr>
          <a:xfrm>
            <a:off x="8866636" y="1938528"/>
            <a:ext cx="2159500" cy="2121408"/>
          </a:xfrm>
          <a:prstGeom prst="roundRect">
            <a:avLst>
              <a:gd name="adj" fmla="val 3193"/>
            </a:avLst>
          </a:prstGeom>
          <a:effectLst>
            <a:outerShdw blurRad="76200" dist="25400" dir="5400000" algn="bl" rotWithShape="0">
              <a:srgbClr val="182B49">
                <a:alpha val="22000"/>
              </a:srgbClr>
            </a:outerShdw>
          </a:effectLst>
        </p:spPr>
      </p:pic>
      <p:sp>
        <p:nvSpPr>
          <p:cNvPr id="15" name="caption"/>
          <p:cNvSpPr txBox="1"/>
          <p:nvPr/>
        </p:nvSpPr>
        <p:spPr>
          <a:xfrm>
            <a:off x="457200" y="4151376"/>
            <a:ext cx="3576218" cy="566928"/>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The Layers card (the map's layers button): Data on/off with its ramp and opacity, the GEBCO 2025 sea floor, and On the map in draw order.</a:t>
            </a:r>
            <a:endParaRPr lang="en-US" sz="1250" dirty="0"/>
          </a:p>
        </p:txBody>
      </p:sp>
      <p:sp>
        <p:nvSpPr>
          <p:cNvPr id="16" name="caption"/>
          <p:cNvSpPr txBox="1"/>
          <p:nvPr/>
        </p:nvSpPr>
        <p:spPr>
          <a:xfrm>
            <a:off x="4307738" y="4151376"/>
            <a:ext cx="3576218" cy="566928"/>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Every viz pane: drag grip · ⬇ PNG 2× / SVG / CSV · collapse · expand.</a:t>
            </a:r>
            <a:endParaRPr lang="en-US" sz="1250" dirty="0"/>
          </a:p>
        </p:txBody>
      </p:sp>
      <p:sp>
        <p:nvSpPr>
          <p:cNvPr id="17" name="caption"/>
          <p:cNvSpPr txBox="1"/>
          <p:nvPr/>
        </p:nvSpPr>
        <p:spPr>
          <a:xfrm>
            <a:off x="8158277" y="4151376"/>
            <a:ext cx="3576218" cy="566928"/>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Help ▾, the feedback bubble and the theme toggle.</a:t>
            </a:r>
            <a:endParaRPr lang="en-US" sz="1250" dirty="0"/>
          </a:p>
        </p:txBody>
      </p:sp>
      <p:sp>
        <p:nvSpPr>
          <p:cNvPr id="18" name="build:bullets"/>
          <p:cNvSpPr txBox="1"/>
          <p:nvPr/>
        </p:nvSpPr>
        <p:spPr>
          <a:xfrm>
            <a:off x="457200" y="4754880"/>
            <a:ext cx="11277295" cy="146304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350" b="1" dirty="0">
                <a:solidFill>
                  <a:srgbClr val="182B49"/>
                </a:solidFill>
                <a:latin typeface="Source Sans 3" pitchFamily="34" charset="0"/>
                <a:ea typeface="Source Sans 3" pitchFamily="34" charset="-122"/>
                <a:cs typeface="Source Sans 3" pitchFamily="34" charset="-120"/>
              </a:rPr>
              <a:t>Layers</a:t>
            </a:r>
            <a:r>
              <a:rPr lang="en-US" sz="1350" dirty="0">
                <a:solidFill>
                  <a:srgbClr val="182B49"/>
                </a:solidFill>
                <a:latin typeface="Source Sans 3" pitchFamily="34" charset="0"/>
                <a:ea typeface="Source Sans 3" pitchFamily="34" charset="-122"/>
                <a:cs typeface="Source Sans 3" pitchFamily="34" charset="-120"/>
              </a:rPr>
              <a:t>: turn a layer on or off, set its </a:t>
            </a:r>
            <a:r>
              <a:rPr lang="en-US" sz="1350" b="1" i="1" dirty="0">
                <a:solidFill>
                  <a:srgbClr val="182B49"/>
                </a:solidFill>
                <a:latin typeface="Source Sans 3" pitchFamily="34" charset="0"/>
                <a:ea typeface="Source Sans 3" pitchFamily="34" charset="-122"/>
                <a:cs typeface="Source Sans 3" pitchFamily="34" charset="-120"/>
              </a:rPr>
              <a:t>color ramp</a:t>
            </a:r>
            <a:r>
              <a:rPr lang="en-US" sz="1350" dirty="0">
                <a:solidFill>
                  <a:srgbClr val="182B49"/>
                </a:solidFill>
                <a:latin typeface="Source Sans 3" pitchFamily="34" charset="0"/>
                <a:ea typeface="Source Sans 3" pitchFamily="34" charset="-122"/>
                <a:cs typeface="Source Sans 3" pitchFamily="34" charset="-120"/>
              </a:rPr>
              <a:t> and </a:t>
            </a:r>
            <a:r>
              <a:rPr lang="en-US" sz="1350" b="1" i="1" dirty="0">
                <a:solidFill>
                  <a:srgbClr val="182B49"/>
                </a:solidFill>
                <a:latin typeface="Source Sans 3" pitchFamily="34" charset="0"/>
                <a:ea typeface="Source Sans 3" pitchFamily="34" charset="-122"/>
                <a:cs typeface="Source Sans 3" pitchFamily="34" charset="-120"/>
              </a:rPr>
              <a:t>transparency</a:t>
            </a:r>
            <a:r>
              <a:rPr lang="en-US" sz="1350" dirty="0">
                <a:solidFill>
                  <a:srgbClr val="182B49"/>
                </a:solidFill>
                <a:latin typeface="Source Sans 3" pitchFamily="34" charset="0"/>
                <a:ea typeface="Source Sans 3" pitchFamily="34" charset="-122"/>
                <a:cs typeface="Source Sans 3" pitchFamily="34" charset="-120"/>
              </a:rPr>
              <a:t>, drag ▲ ▼ to </a:t>
            </a:r>
            <a:r>
              <a:rPr lang="en-US" sz="1350" b="1" i="1" dirty="0">
                <a:solidFill>
                  <a:srgbClr val="182B49"/>
                </a:solidFill>
                <a:latin typeface="Source Sans 3" pitchFamily="34" charset="0"/>
                <a:ea typeface="Source Sans 3" pitchFamily="34" charset="-122"/>
                <a:cs typeface="Source Sans 3" pitchFamily="34" charset="-120"/>
              </a:rPr>
              <a:t>reorder</a:t>
            </a:r>
            <a:r>
              <a:rPr lang="en-US" sz="1350" dirty="0">
                <a:solidFill>
                  <a:srgbClr val="182B49"/>
                </a:solidFill>
                <a:latin typeface="Source Sans 3" pitchFamily="34" charset="0"/>
                <a:ea typeface="Source Sans 3" pitchFamily="34" charset="-122"/>
                <a:cs typeface="Source Sans 3" pitchFamily="34" charset="-120"/>
              </a:rPr>
              <a:t> — the data can draw above or below a boundary.</a:t>
            </a:r>
            <a:endParaRPr lang="en-US" sz="1350" dirty="0"/>
          </a:p>
          <a:p>
            <a:pPr marL="177800" indent="-177800">
              <a:lnSpc>
                <a:spcPct val="105000"/>
              </a:lnSpc>
              <a:spcAft>
                <a:spcPts val="300"/>
              </a:spcAft>
              <a:buSzPct val="100000"/>
              <a:buChar char="•"/>
            </a:pPr>
            <a:r>
              <a:rPr lang="en-US" sz="1350" dirty="0">
                <a:solidFill>
                  <a:srgbClr val="182B49"/>
                </a:solidFill>
                <a:latin typeface="Source Sans 3" pitchFamily="34" charset="0"/>
                <a:ea typeface="Source Sans 3" pitchFamily="34" charset="-122"/>
                <a:cs typeface="Source Sans 3" pitchFamily="34" charset="-120"/>
              </a:rPr>
              <a:t>The sea floor is </a:t>
            </a:r>
            <a:r>
              <a:rPr lang="en-US" sz="1350" b="1" dirty="0">
                <a:solidFill>
                  <a:srgbClr val="182B49"/>
                </a:solidFill>
                <a:latin typeface="Source Sans 3" pitchFamily="34" charset="0"/>
                <a:ea typeface="Source Sans 3" pitchFamily="34" charset="-122"/>
                <a:cs typeface="Source Sans 3" pitchFamily="34" charset="-120"/>
              </a:rPr>
              <a:t>GEBCO</a:t>
            </a:r>
            <a:r>
              <a:rPr lang="en-US" sz="1350" dirty="0">
                <a:solidFill>
                  <a:srgbClr val="182B49"/>
                </a:solidFill>
                <a:latin typeface="Source Sans 3" pitchFamily="34" charset="0"/>
                <a:ea typeface="Source Sans 3" pitchFamily="34" charset="-122"/>
                <a:cs typeface="Source Sans 3" pitchFamily="34" charset="-120"/>
              </a:rPr>
              <a:t> 2025 as three switches: </a:t>
            </a:r>
            <a:r>
              <a:rPr lang="en-US" sz="1350" b="1" i="1" dirty="0">
                <a:solidFill>
                  <a:srgbClr val="182B49"/>
                </a:solidFill>
                <a:latin typeface="Source Sans 3" pitchFamily="34" charset="0"/>
                <a:ea typeface="Source Sans 3" pitchFamily="34" charset="-122"/>
                <a:cs typeface="Source Sans 3" pitchFamily="34" charset="-120"/>
              </a:rPr>
              <a:t>shaded relief</a:t>
            </a:r>
            <a:r>
              <a:rPr lang="en-US" sz="1350" dirty="0">
                <a:solidFill>
                  <a:srgbClr val="182B49"/>
                </a:solidFill>
                <a:latin typeface="Source Sans 3" pitchFamily="34" charset="0"/>
                <a:ea typeface="Source Sans 3" pitchFamily="34" charset="-122"/>
                <a:cs typeface="Source Sans 3" pitchFamily="34" charset="-120"/>
              </a:rPr>
              <a:t>, </a:t>
            </a:r>
            <a:r>
              <a:rPr lang="en-US" sz="1350" b="1" i="1" dirty="0">
                <a:solidFill>
                  <a:srgbClr val="182B49"/>
                </a:solidFill>
                <a:latin typeface="Source Sans 3" pitchFamily="34" charset="0"/>
                <a:ea typeface="Source Sans 3" pitchFamily="34" charset="-122"/>
                <a:cs typeface="Source Sans 3" pitchFamily="34" charset="-120"/>
              </a:rPr>
              <a:t>depth color</a:t>
            </a:r>
            <a:r>
              <a:rPr lang="en-US" sz="1350" dirty="0">
                <a:solidFill>
                  <a:srgbClr val="182B49"/>
                </a:solidFill>
                <a:latin typeface="Source Sans 3" pitchFamily="34" charset="0"/>
                <a:ea typeface="Source Sans 3" pitchFamily="34" charset="-122"/>
                <a:cs typeface="Source Sans 3" pitchFamily="34" charset="-120"/>
              </a:rPr>
              <a:t>, </a:t>
            </a:r>
            <a:r>
              <a:rPr lang="en-US" sz="1350" b="1" i="1" dirty="0">
                <a:solidFill>
                  <a:srgbClr val="182B49"/>
                </a:solidFill>
                <a:latin typeface="Source Sans 3" pitchFamily="34" charset="0"/>
                <a:ea typeface="Source Sans 3" pitchFamily="34" charset="-122"/>
                <a:cs typeface="Source Sans 3" pitchFamily="34" charset="-120"/>
              </a:rPr>
              <a:t>contours</a:t>
            </a:r>
            <a:r>
              <a:rPr lang="en-US" sz="1350" dirty="0">
                <a:solidFill>
                  <a:srgbClr val="182B49"/>
                </a:solidFill>
                <a:latin typeface="Source Sans 3" pitchFamily="34" charset="0"/>
                <a:ea typeface="Source Sans 3" pitchFamily="34" charset="-122"/>
                <a:cs typeface="Source Sans 3" pitchFamily="34" charset="-120"/>
              </a:rPr>
              <a:t>.</a:t>
            </a:r>
            <a:endParaRPr lang="en-US" sz="1350" dirty="0"/>
          </a:p>
          <a:p>
            <a:pPr marL="177800" indent="-177800">
              <a:lnSpc>
                <a:spcPct val="105000"/>
              </a:lnSpc>
              <a:spcAft>
                <a:spcPts val="300"/>
              </a:spcAft>
              <a:buSzPct val="100000"/>
              <a:buChar char="•"/>
            </a:pPr>
            <a:r>
              <a:rPr lang="en-US" sz="1350" b="1" dirty="0">
                <a:solidFill>
                  <a:srgbClr val="182B49"/>
                </a:solidFill>
                <a:latin typeface="Source Sans 3" pitchFamily="34" charset="0"/>
                <a:ea typeface="Source Sans 3" pitchFamily="34" charset="-122"/>
                <a:cs typeface="Source Sans 3" pitchFamily="34" charset="-120"/>
              </a:rPr>
              <a:t>19 boundary layers</a:t>
            </a:r>
            <a:r>
              <a:rPr lang="en-US" sz="1350" dirty="0">
                <a:solidFill>
                  <a:srgbClr val="182B49"/>
                </a:solidFill>
                <a:latin typeface="Source Sans 3" pitchFamily="34" charset="0"/>
                <a:ea typeface="Source Sans 3" pitchFamily="34" charset="-122"/>
                <a:cs typeface="Source Sans 3" pitchFamily="34" charset="-120"/>
              </a:rPr>
              <a:t> to add: maritime zones, protected areas, administrative, ecological, energy &amp; industry.</a:t>
            </a:r>
            <a:endParaRPr lang="en-US" sz="1350" dirty="0"/>
          </a:p>
          <a:p>
            <a:pPr marL="177800" indent="-177800">
              <a:lnSpc>
                <a:spcPct val="105000"/>
              </a:lnSpc>
              <a:spcAft>
                <a:spcPts val="300"/>
              </a:spcAft>
              <a:buSzPct val="100000"/>
              <a:buChar char="•"/>
            </a:pPr>
            <a:r>
              <a:rPr lang="en-US" sz="1350" dirty="0">
                <a:solidFill>
                  <a:srgbClr val="182B49"/>
                </a:solidFill>
                <a:latin typeface="Source Sans 3" pitchFamily="34" charset="0"/>
                <a:ea typeface="Source Sans 3" pitchFamily="34" charset="-122"/>
                <a:cs typeface="Source Sans 3" pitchFamily="34" charset="-120"/>
              </a:rPr>
              <a:t>Every panel exports the same three ways: </a:t>
            </a:r>
            <a:r>
              <a:rPr lang="en-US" sz="1350" b="1" dirty="0">
                <a:solidFill>
                  <a:srgbClr val="182B49"/>
                </a:solidFill>
                <a:latin typeface="Source Sans 3" pitchFamily="34" charset="0"/>
                <a:ea typeface="Source Sans 3" pitchFamily="34" charset="-122"/>
                <a:cs typeface="Source Sans 3" pitchFamily="34" charset="-120"/>
              </a:rPr>
              <a:t>PNG</a:t>
            </a:r>
            <a:r>
              <a:rPr lang="en-US" sz="1350" dirty="0">
                <a:solidFill>
                  <a:srgbClr val="182B49"/>
                </a:solidFill>
                <a:latin typeface="Source Sans 3" pitchFamily="34" charset="0"/>
                <a:ea typeface="Source Sans 3" pitchFamily="34" charset="-122"/>
                <a:cs typeface="Source Sans 3" pitchFamily="34" charset="-120"/>
              </a:rPr>
              <a:t> at 2× with the selection and release stamped, </a:t>
            </a:r>
            <a:r>
              <a:rPr lang="en-US" sz="1350" b="1" dirty="0">
                <a:solidFill>
                  <a:srgbClr val="182B49"/>
                </a:solidFill>
                <a:latin typeface="Source Sans 3" pitchFamily="34" charset="0"/>
                <a:ea typeface="Source Sans 3" pitchFamily="34" charset="-122"/>
                <a:cs typeface="Source Sans 3" pitchFamily="34" charset="-120"/>
              </a:rPr>
              <a:t>SVG</a:t>
            </a:r>
            <a:r>
              <a:rPr lang="en-US" sz="1350" dirty="0">
                <a:solidFill>
                  <a:srgbClr val="182B49"/>
                </a:solidFill>
                <a:latin typeface="Source Sans 3" pitchFamily="34" charset="0"/>
                <a:ea typeface="Source Sans 3" pitchFamily="34" charset="-122"/>
                <a:cs typeface="Source Sans 3" pitchFamily="34" charset="-120"/>
              </a:rPr>
              <a:t> for papers, </a:t>
            </a:r>
            <a:r>
              <a:rPr lang="en-US" sz="1350" b="1" dirty="0">
                <a:solidFill>
                  <a:srgbClr val="182B49"/>
                </a:solidFill>
                <a:latin typeface="Source Sans 3" pitchFamily="34" charset="0"/>
                <a:ea typeface="Source Sans 3" pitchFamily="34" charset="-122"/>
                <a:cs typeface="Source Sans 3" pitchFamily="34" charset="-120"/>
              </a:rPr>
              <a:t>CSV</a:t>
            </a:r>
            <a:r>
              <a:rPr lang="en-US" sz="1350" dirty="0">
                <a:solidFill>
                  <a:srgbClr val="182B49"/>
                </a:solidFill>
                <a:latin typeface="Source Sans 3" pitchFamily="34" charset="0"/>
                <a:ea typeface="Source Sans 3" pitchFamily="34" charset="-122"/>
                <a:cs typeface="Source Sans 3" pitchFamily="34" charset="-120"/>
              </a:rPr>
              <a:t> of that panel's table.</a:t>
            </a:r>
            <a:endParaRPr lang="en-US" sz="1350" dirty="0"/>
          </a:p>
          <a:p>
            <a:pPr marL="177800" indent="-177800">
              <a:lnSpc>
                <a:spcPct val="105000"/>
              </a:lnSpc>
              <a:spcAft>
                <a:spcPts val="300"/>
              </a:spcAft>
              <a:buSzPct val="100000"/>
              <a:buChar char="•"/>
            </a:pPr>
            <a:r>
              <a:rPr lang="en-US" sz="1350" dirty="0">
                <a:solidFill>
                  <a:srgbClr val="182B49"/>
                </a:solidFill>
                <a:latin typeface="Source Sans 3" pitchFamily="34" charset="0"/>
                <a:ea typeface="Source Sans 3" pitchFamily="34" charset="-122"/>
                <a:cs typeface="Source Sans 3" pitchFamily="34" charset="-120"/>
              </a:rPr>
              <a:t>Help ▾ now carries the Explorer </a:t>
            </a:r>
            <a:r>
              <a:rPr lang="en-US" sz="1350" b="1" dirty="0">
                <a:solidFill>
                  <a:srgbClr val="182B49"/>
                </a:solidFill>
                <a:latin typeface="Source Sans 3" pitchFamily="34" charset="0"/>
                <a:ea typeface="Source Sans 3" pitchFamily="34" charset="-122"/>
                <a:cs typeface="Source Sans 3" pitchFamily="34" charset="-120"/>
              </a:rPr>
              <a:t>guide</a:t>
            </a:r>
            <a:r>
              <a:rPr lang="en-US" sz="1350" dirty="0">
                <a:solidFill>
                  <a:srgbClr val="182B49"/>
                </a:solidFill>
                <a:latin typeface="Source Sans 3" pitchFamily="34" charset="0"/>
                <a:ea typeface="Source Sans 3" pitchFamily="34" charset="-122"/>
                <a:cs typeface="Source Sans 3" pitchFamily="34" charset="-120"/>
              </a:rPr>
              <a:t> — the written tour, at calcofi.io/docs/explore.html.</a:t>
            </a:r>
            <a:endParaRPr lang="en-US" sz="135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calcofi.io/explore/?lens={station,hex,contour,cruise,region,section}</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9</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THE PICKER</a:t>
            </a:r>
            <a:endParaRPr lang="en-US" sz="1200" dirty="0"/>
          </a:p>
        </p:txBody>
      </p:sp>
      <p:pic>
        <p:nvPicPr>
          <p:cNvPr id="9" name="icon lens-hexagons" descr="/home/claude/work/icons/lens-hexagons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Six lenses, one selection</a:t>
            </a:r>
            <a:endParaRPr lang="en-US" sz="3400" dirty="0"/>
          </a:p>
        </p:txBody>
      </p:sp>
      <p:sp>
        <p:nvSpPr>
          <p:cNvPr id="11" name="band"/>
          <p:cNvSpPr/>
          <p:nvPr/>
        </p:nvSpPr>
        <p:spPr>
          <a:xfrm>
            <a:off x="0" y="1783080"/>
            <a:ext cx="12191695" cy="4480560"/>
          </a:xfrm>
          <a:prstGeom prst="rect">
            <a:avLst/>
          </a:prstGeom>
          <a:solidFill>
            <a:srgbClr val="F5F0E6"/>
          </a:solidFill>
          <a:ln w="12700">
            <a:solidFill>
              <a:srgbClr val="F5F0E6"/>
            </a:solidFill>
            <a:prstDash val="solid"/>
          </a:ln>
        </p:spPr>
        <p:txBody>
          <a:bodyPr/>
          <a:lstStyle/>
          <a:p>
            <a:endParaRPr lang="en-US"/>
          </a:p>
        </p:txBody>
      </p:sp>
      <p:pic>
        <p:nvPicPr>
          <p:cNvPr id="12" name="icon lens-stations" descr="/home/claude/work/icons/lens-stations_navy.png"/>
          <p:cNvPicPr>
            <a:picLocks noChangeAspect="1"/>
          </p:cNvPicPr>
          <p:nvPr/>
        </p:nvPicPr>
        <p:blipFill>
          <a:blip r:embed="rId6"/>
          <a:stretch>
            <a:fillRect/>
          </a:stretch>
        </p:blipFill>
        <p:spPr>
          <a:xfrm>
            <a:off x="457200" y="1874520"/>
            <a:ext cx="274320" cy="274320"/>
          </a:xfrm>
          <a:prstGeom prst="rect">
            <a:avLst/>
          </a:prstGeom>
        </p:spPr>
      </p:pic>
      <p:sp>
        <p:nvSpPr>
          <p:cNvPr id="13" name="caps:title"/>
          <p:cNvSpPr txBox="1"/>
          <p:nvPr/>
        </p:nvSpPr>
        <p:spPr>
          <a:xfrm>
            <a:off x="822960" y="1828800"/>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Stations</a:t>
            </a:r>
            <a:endParaRPr lang="en-US" sz="2200" dirty="0"/>
          </a:p>
        </p:txBody>
      </p:sp>
      <p:pic>
        <p:nvPicPr>
          <p:cNvPr id="14" name="thumb|rr5598" descr="/home/claude/work/media/s09_p3_2561x911_20d09a6e.png"/>
          <p:cNvPicPr>
            <a:picLocks noChangeAspect="1"/>
          </p:cNvPicPr>
          <p:nvPr/>
        </p:nvPicPr>
        <p:blipFill>
          <a:blip r:embed="rId7"/>
          <a:stretch>
            <a:fillRect/>
          </a:stretch>
        </p:blipFill>
        <p:spPr>
          <a:xfrm>
            <a:off x="457200" y="2231136"/>
            <a:ext cx="3401568" cy="1210007"/>
          </a:xfrm>
          <a:prstGeom prst="roundRect">
            <a:avLst>
              <a:gd name="adj" fmla="val 5598"/>
            </a:avLst>
          </a:prstGeom>
          <a:effectLst>
            <a:outerShdw blurRad="76200" dist="25400" dir="5400000" algn="bl" rotWithShape="0">
              <a:srgbClr val="182B49">
                <a:alpha val="22000"/>
              </a:srgbClr>
            </a:outerShdw>
          </a:effectLst>
        </p:spPr>
      </p:pic>
      <p:sp>
        <p:nvSpPr>
          <p:cNvPr id="15" name="text"/>
          <p:cNvSpPr txBox="1"/>
          <p:nvPr/>
        </p:nvSpPr>
        <p:spPr>
          <a:xfrm>
            <a:off x="457200" y="3505151"/>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Per-station values — one dot per station, the default view.</a:t>
            </a:r>
            <a:endParaRPr lang="en-US" sz="1200" dirty="0"/>
          </a:p>
        </p:txBody>
      </p:sp>
      <p:pic>
        <p:nvPicPr>
          <p:cNvPr id="16" name="icon lens-hexagons" descr="/home/claude/work/icons/lens-hexagons_navy.png"/>
          <p:cNvPicPr>
            <a:picLocks noChangeAspect="1"/>
          </p:cNvPicPr>
          <p:nvPr/>
        </p:nvPicPr>
        <p:blipFill>
          <a:blip r:embed="rId5"/>
          <a:stretch>
            <a:fillRect/>
          </a:stretch>
        </p:blipFill>
        <p:spPr>
          <a:xfrm>
            <a:off x="4395064" y="1874520"/>
            <a:ext cx="274320" cy="274320"/>
          </a:xfrm>
          <a:prstGeom prst="rect">
            <a:avLst/>
          </a:prstGeom>
        </p:spPr>
      </p:pic>
      <p:sp>
        <p:nvSpPr>
          <p:cNvPr id="17" name="caps:title"/>
          <p:cNvSpPr txBox="1"/>
          <p:nvPr/>
        </p:nvSpPr>
        <p:spPr>
          <a:xfrm>
            <a:off x="4760824" y="1828800"/>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Hexagons</a:t>
            </a:r>
            <a:endParaRPr lang="en-US" sz="2200" dirty="0"/>
          </a:p>
        </p:txBody>
      </p:sp>
      <p:pic>
        <p:nvPicPr>
          <p:cNvPr id="18" name="thumb|rr5598" descr="/home/claude/work/media/s09_p5_2561x911_9a5f2cdc.png"/>
          <p:cNvPicPr>
            <a:picLocks noChangeAspect="1"/>
          </p:cNvPicPr>
          <p:nvPr/>
        </p:nvPicPr>
        <p:blipFill>
          <a:blip r:embed="rId8"/>
          <a:stretch>
            <a:fillRect/>
          </a:stretch>
        </p:blipFill>
        <p:spPr>
          <a:xfrm>
            <a:off x="4395064" y="2231136"/>
            <a:ext cx="3401568" cy="1210007"/>
          </a:xfrm>
          <a:prstGeom prst="roundRect">
            <a:avLst>
              <a:gd name="adj" fmla="val 5598"/>
            </a:avLst>
          </a:prstGeom>
          <a:effectLst>
            <a:outerShdw blurRad="76200" dist="25400" dir="5400000" algn="bl" rotWithShape="0">
              <a:srgbClr val="182B49">
                <a:alpha val="22000"/>
              </a:srgbClr>
            </a:outerShdw>
          </a:effectLst>
        </p:spPr>
      </p:pic>
      <p:sp>
        <p:nvSpPr>
          <p:cNvPr id="19" name="text"/>
          <p:cNvSpPr txBox="1"/>
          <p:nvPr/>
        </p:nvSpPr>
        <p:spPr>
          <a:xfrm>
            <a:off x="4395064" y="3505151"/>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The same selection pooled into H3 cells of ~8.5 km — density and pattern, not places.</a:t>
            </a:r>
            <a:endParaRPr lang="en-US" sz="1200" dirty="0"/>
          </a:p>
        </p:txBody>
      </p:sp>
      <p:pic>
        <p:nvPicPr>
          <p:cNvPr id="20" name="icon lens-contours" descr="/home/claude/work/icons/lens-contours_navy.png"/>
          <p:cNvPicPr>
            <a:picLocks noChangeAspect="1"/>
          </p:cNvPicPr>
          <p:nvPr/>
        </p:nvPicPr>
        <p:blipFill>
          <a:blip r:embed="rId9"/>
          <a:stretch>
            <a:fillRect/>
          </a:stretch>
        </p:blipFill>
        <p:spPr>
          <a:xfrm>
            <a:off x="8332927" y="1874520"/>
            <a:ext cx="274320" cy="274320"/>
          </a:xfrm>
          <a:prstGeom prst="rect">
            <a:avLst/>
          </a:prstGeom>
        </p:spPr>
      </p:pic>
      <p:sp>
        <p:nvSpPr>
          <p:cNvPr id="21" name="caps:title"/>
          <p:cNvSpPr txBox="1"/>
          <p:nvPr/>
        </p:nvSpPr>
        <p:spPr>
          <a:xfrm>
            <a:off x="8698687" y="1828800"/>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Contours</a:t>
            </a:r>
            <a:endParaRPr lang="en-US" sz="2200" dirty="0"/>
          </a:p>
        </p:txBody>
      </p:sp>
      <p:pic>
        <p:nvPicPr>
          <p:cNvPr id="22" name="thumb|rr5598" descr="/home/claude/work/media/s09_p7_2561x911_ed8b805d.png"/>
          <p:cNvPicPr>
            <a:picLocks noChangeAspect="1"/>
          </p:cNvPicPr>
          <p:nvPr/>
        </p:nvPicPr>
        <p:blipFill>
          <a:blip r:embed="rId10"/>
          <a:stretch>
            <a:fillRect/>
          </a:stretch>
        </p:blipFill>
        <p:spPr>
          <a:xfrm>
            <a:off x="8332927" y="2231136"/>
            <a:ext cx="3401568" cy="1210007"/>
          </a:xfrm>
          <a:prstGeom prst="roundRect">
            <a:avLst>
              <a:gd name="adj" fmla="val 5598"/>
            </a:avLst>
          </a:prstGeom>
          <a:effectLst>
            <a:outerShdw blurRad="76200" dist="25400" dir="5400000" algn="bl" rotWithShape="0">
              <a:srgbClr val="182B49">
                <a:alpha val="22000"/>
              </a:srgbClr>
            </a:outerShdw>
          </a:effectLst>
        </p:spPr>
      </p:pic>
      <p:sp>
        <p:nvSpPr>
          <p:cNvPr id="23" name="text"/>
          <p:cNvSpPr txBox="1"/>
          <p:nvPr/>
        </p:nvSpPr>
        <p:spPr>
          <a:xfrm>
            <a:off x="8332927" y="3505151"/>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A kriged, IDW or spline surface between the stations, with its error, inputs and labels.</a:t>
            </a:r>
            <a:endParaRPr lang="en-US" sz="1200" dirty="0"/>
          </a:p>
        </p:txBody>
      </p:sp>
      <p:pic>
        <p:nvPicPr>
          <p:cNvPr id="24" name="icon lens-cruises" descr="/home/claude/work/icons/lens-cruises_navy.png"/>
          <p:cNvPicPr>
            <a:picLocks noChangeAspect="1"/>
          </p:cNvPicPr>
          <p:nvPr/>
        </p:nvPicPr>
        <p:blipFill>
          <a:blip r:embed="rId11"/>
          <a:stretch>
            <a:fillRect/>
          </a:stretch>
        </p:blipFill>
        <p:spPr>
          <a:xfrm>
            <a:off x="457200" y="4032504"/>
            <a:ext cx="274320" cy="274320"/>
          </a:xfrm>
          <a:prstGeom prst="rect">
            <a:avLst/>
          </a:prstGeom>
        </p:spPr>
      </p:pic>
      <p:sp>
        <p:nvSpPr>
          <p:cNvPr id="25" name="caps:title"/>
          <p:cNvSpPr txBox="1"/>
          <p:nvPr/>
        </p:nvSpPr>
        <p:spPr>
          <a:xfrm>
            <a:off x="822960" y="3986784"/>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Cruises</a:t>
            </a:r>
            <a:endParaRPr lang="en-US" sz="2200" dirty="0"/>
          </a:p>
        </p:txBody>
      </p:sp>
      <p:pic>
        <p:nvPicPr>
          <p:cNvPr id="26" name="thumb|rr5598" descr="/home/claude/work/media/s09_p9_2561x911_c2a32f84.png"/>
          <p:cNvPicPr>
            <a:picLocks noChangeAspect="1"/>
          </p:cNvPicPr>
          <p:nvPr/>
        </p:nvPicPr>
        <p:blipFill>
          <a:blip r:embed="rId12"/>
          <a:stretch>
            <a:fillRect/>
          </a:stretch>
        </p:blipFill>
        <p:spPr>
          <a:xfrm>
            <a:off x="457200" y="4389120"/>
            <a:ext cx="3401568" cy="1210007"/>
          </a:xfrm>
          <a:prstGeom prst="roundRect">
            <a:avLst>
              <a:gd name="adj" fmla="val 5598"/>
            </a:avLst>
          </a:prstGeom>
          <a:effectLst>
            <a:outerShdw blurRad="76200" dist="25400" dir="5400000" algn="bl" rotWithShape="0">
              <a:srgbClr val="182B49">
                <a:alpha val="22000"/>
              </a:srgbClr>
            </a:outerShdw>
          </a:effectLst>
        </p:spPr>
      </p:pic>
      <p:sp>
        <p:nvSpPr>
          <p:cNvPr id="27" name="text"/>
          <p:cNvSpPr txBox="1"/>
          <p:nvPr/>
        </p:nvSpPr>
        <p:spPr>
          <a:xfrm>
            <a:off x="457200" y="5663135"/>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One voyage along its track: its casts, coloured, and the whole series behind it.</a:t>
            </a:r>
            <a:endParaRPr lang="en-US" sz="1200" dirty="0"/>
          </a:p>
        </p:txBody>
      </p:sp>
      <p:pic>
        <p:nvPicPr>
          <p:cNvPr id="28" name="icon lens-regions" descr="/home/claude/work/icons/lens-regions_navy.png"/>
          <p:cNvPicPr>
            <a:picLocks noChangeAspect="1"/>
          </p:cNvPicPr>
          <p:nvPr/>
        </p:nvPicPr>
        <p:blipFill>
          <a:blip r:embed="rId13"/>
          <a:stretch>
            <a:fillRect/>
          </a:stretch>
        </p:blipFill>
        <p:spPr>
          <a:xfrm>
            <a:off x="4395064" y="4032504"/>
            <a:ext cx="274320" cy="274320"/>
          </a:xfrm>
          <a:prstGeom prst="rect">
            <a:avLst/>
          </a:prstGeom>
        </p:spPr>
      </p:pic>
      <p:sp>
        <p:nvSpPr>
          <p:cNvPr id="29" name="caps:title"/>
          <p:cNvSpPr txBox="1"/>
          <p:nvPr/>
        </p:nvSpPr>
        <p:spPr>
          <a:xfrm>
            <a:off x="4760824" y="3986784"/>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Regions</a:t>
            </a:r>
            <a:endParaRPr lang="en-US" sz="2200" dirty="0"/>
          </a:p>
        </p:txBody>
      </p:sp>
      <p:pic>
        <p:nvPicPr>
          <p:cNvPr id="30" name="thumb|rr5598" descr="/home/claude/work/media/s09_p11_2561x911_b0eaed06.png"/>
          <p:cNvPicPr>
            <a:picLocks noChangeAspect="1"/>
          </p:cNvPicPr>
          <p:nvPr/>
        </p:nvPicPr>
        <p:blipFill>
          <a:blip r:embed="rId14"/>
          <a:stretch>
            <a:fillRect/>
          </a:stretch>
        </p:blipFill>
        <p:spPr>
          <a:xfrm>
            <a:off x="4395064" y="4389120"/>
            <a:ext cx="3401568" cy="1210007"/>
          </a:xfrm>
          <a:prstGeom prst="roundRect">
            <a:avLst>
              <a:gd name="adj" fmla="val 5598"/>
            </a:avLst>
          </a:prstGeom>
          <a:effectLst>
            <a:outerShdw blurRad="76200" dist="25400" dir="5400000" algn="bl" rotWithShape="0">
              <a:srgbClr val="182B49">
                <a:alpha val="22000"/>
              </a:srgbClr>
            </a:outerShdw>
          </a:effectLst>
        </p:spPr>
      </p:pic>
      <p:sp>
        <p:nvSpPr>
          <p:cNvPr id="31" name="text"/>
          <p:cNvSpPr txBox="1"/>
          <p:nvPr/>
        </p:nvSpPr>
        <p:spPr>
          <a:xfrm>
            <a:off x="4395064" y="5663135"/>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Averaged within a boundary — sanctuaries, zones, basins — with the regions ranked.</a:t>
            </a:r>
            <a:endParaRPr lang="en-US" sz="1200" dirty="0"/>
          </a:p>
        </p:txBody>
      </p:sp>
      <p:pic>
        <p:nvPicPr>
          <p:cNvPr id="32" name="icon lens-sections" descr="/home/claude/work/icons/lens-sections_navy.png"/>
          <p:cNvPicPr>
            <a:picLocks noChangeAspect="1"/>
          </p:cNvPicPr>
          <p:nvPr/>
        </p:nvPicPr>
        <p:blipFill>
          <a:blip r:embed="rId15"/>
          <a:stretch>
            <a:fillRect/>
          </a:stretch>
        </p:blipFill>
        <p:spPr>
          <a:xfrm>
            <a:off x="8332927" y="4032504"/>
            <a:ext cx="274320" cy="274320"/>
          </a:xfrm>
          <a:prstGeom prst="rect">
            <a:avLst/>
          </a:prstGeom>
        </p:spPr>
      </p:pic>
      <p:sp>
        <p:nvSpPr>
          <p:cNvPr id="33" name="caps:title"/>
          <p:cNvSpPr txBox="1"/>
          <p:nvPr/>
        </p:nvSpPr>
        <p:spPr>
          <a:xfrm>
            <a:off x="8698687" y="3986784"/>
            <a:ext cx="3035808" cy="365760"/>
          </a:xfrm>
          <a:prstGeom prst="rect">
            <a:avLst/>
          </a:prstGeom>
          <a:noFill/>
          <a:ln/>
        </p:spPr>
        <p:txBody>
          <a:bodyPr wrap="square" lIns="0" tIns="0" rIns="0" bIns="0" rtlCol="0" anchor="t"/>
          <a:lstStyle/>
          <a:p>
            <a:pPr marL="0" indent="0">
              <a:lnSpc>
                <a:spcPct val="90000"/>
              </a:lnSpc>
              <a:buNone/>
            </a:pPr>
            <a:r>
              <a:rPr lang="en-US" sz="2200" kern="0" cap="all" spc="70" dirty="0">
                <a:solidFill>
                  <a:srgbClr val="182B49"/>
                </a:solidFill>
                <a:latin typeface="Teko" pitchFamily="34" charset="0"/>
                <a:ea typeface="Teko" pitchFamily="34" charset="-122"/>
                <a:cs typeface="Teko" pitchFamily="34" charset="-120"/>
              </a:rPr>
              <a:t>Sections</a:t>
            </a:r>
            <a:endParaRPr lang="en-US" sz="2200" dirty="0"/>
          </a:p>
        </p:txBody>
      </p:sp>
      <p:pic>
        <p:nvPicPr>
          <p:cNvPr id="34" name="thumb|rr5660" descr="/home/claude/work/media/s09_p13_2561x901_c89c0147.png"/>
          <p:cNvPicPr>
            <a:picLocks noChangeAspect="1"/>
          </p:cNvPicPr>
          <p:nvPr/>
        </p:nvPicPr>
        <p:blipFill>
          <a:blip r:embed="rId16"/>
          <a:stretch>
            <a:fillRect/>
          </a:stretch>
        </p:blipFill>
        <p:spPr>
          <a:xfrm>
            <a:off x="8332927" y="4389120"/>
            <a:ext cx="3401568" cy="1196725"/>
          </a:xfrm>
          <a:prstGeom prst="roundRect">
            <a:avLst>
              <a:gd name="adj" fmla="val 5660"/>
            </a:avLst>
          </a:prstGeom>
          <a:effectLst>
            <a:outerShdw blurRad="76200" dist="25400" dir="5400000" algn="bl" rotWithShape="0">
              <a:srgbClr val="182B49">
                <a:alpha val="22000"/>
              </a:srgbClr>
            </a:outerShdw>
          </a:effectLst>
        </p:spPr>
      </p:pic>
      <p:sp>
        <p:nvSpPr>
          <p:cNvPr id="35" name="text"/>
          <p:cNvSpPr txBox="1"/>
          <p:nvPr/>
        </p:nvSpPr>
        <p:spPr>
          <a:xfrm>
            <a:off x="8332927" y="5649853"/>
            <a:ext cx="3401568" cy="457200"/>
          </a:xfrm>
          <a:prstGeom prst="rect">
            <a:avLst/>
          </a:prstGeom>
          <a:noFill/>
          <a:ln/>
        </p:spPr>
        <p:txBody>
          <a:bodyPr wrap="square" lIns="0" tIns="0" rIns="0" bIns="0" rtlCol="0" anchor="t"/>
          <a:lstStyle/>
          <a:p>
            <a:pPr marL="0" indent="0">
              <a:lnSpc>
                <a:spcPct val="100000"/>
              </a:lnSpc>
              <a:buNone/>
            </a:pPr>
            <a:r>
              <a:rPr lang="en-US" sz="1200" dirty="0">
                <a:solidFill>
                  <a:srgbClr val="182B49"/>
                </a:solidFill>
                <a:latin typeface="Source Sans 3" pitchFamily="34" charset="0"/>
                <a:ea typeface="Source Sans 3" pitchFamily="34" charset="-122"/>
                <a:cs typeface="Source Sans 3" pitchFamily="34" charset="-120"/>
              </a:rPr>
              <a:t>A line of stations: depth × station for one cruise (environment), station × year (biology); 3-D over the sea floor.</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r>
              <a:rPr lang="en-US" sz="1200" dirty="0">
                <a:solidFill>
                  <a:srgbClr val="00629B"/>
                </a:solidFill>
                <a:latin typeface="Source Sans 3" pitchFamily="34" charset="0"/>
                <a:ea typeface="Source Sans 3" pitchFamily="34" charset="-122"/>
                <a:cs typeface="Source Sans 3" pitchFamily="34" charset="-120"/>
              </a:rPr>
              <a:t>https://</a:t>
            </a: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/explore/?lens=</a:t>
            </a:r>
            <a:r>
              <a:rPr lang="en-US" sz="1200" dirty="0" err="1">
                <a:solidFill>
                  <a:srgbClr val="00629B"/>
                </a:solidFill>
                <a:latin typeface="Source Sans 3" pitchFamily="34" charset="0"/>
                <a:ea typeface="Source Sans 3" pitchFamily="34" charset="-122"/>
                <a:cs typeface="Source Sans 3" pitchFamily="34" charset="-120"/>
              </a:rPr>
              <a:t>contour&amp;inputs</a:t>
            </a:r>
            <a:r>
              <a:rPr lang="en-US" sz="1200" dirty="0">
                <a:solidFill>
                  <a:srgbClr val="00629B"/>
                </a:solidFill>
                <a:latin typeface="Source Sans 3" pitchFamily="34" charset="0"/>
                <a:ea typeface="Source Sans 3" pitchFamily="34" charset="-122"/>
                <a:cs typeface="Source Sans 3" pitchFamily="34" charset="-120"/>
              </a:rPr>
              <a:t>=</a:t>
            </a:r>
            <a:r>
              <a:rPr lang="en-US" sz="1200" dirty="0" err="1">
                <a:solidFill>
                  <a:srgbClr val="00629B"/>
                </a:solidFill>
                <a:latin typeface="Source Sans 3" pitchFamily="34" charset="0"/>
                <a:ea typeface="Source Sans 3" pitchFamily="34" charset="-122"/>
                <a:cs typeface="Source Sans 3" pitchFamily="34" charset="-120"/>
              </a:rPr>
              <a:t>on&amp;var</a:t>
            </a:r>
            <a:r>
              <a:rPr lang="en-US" sz="1200" dirty="0">
                <a:solidFill>
                  <a:srgbClr val="00629B"/>
                </a:solidFill>
                <a:latin typeface="Source Sans 3" pitchFamily="34" charset="0"/>
                <a:ea typeface="Source Sans 3" pitchFamily="34" charset="-122"/>
                <a:cs typeface="Source Sans 3" pitchFamily="34" charset="-120"/>
              </a:rPr>
              <a:t>=</a:t>
            </a:r>
            <a:r>
              <a:rPr lang="en-US" sz="1200" dirty="0" err="1">
                <a:solidFill>
                  <a:srgbClr val="00629B"/>
                </a:solidFill>
                <a:latin typeface="Source Sans 3" pitchFamily="34" charset="0"/>
                <a:ea typeface="Source Sans 3" pitchFamily="34" charset="-122"/>
                <a:cs typeface="Source Sans 3" pitchFamily="34" charset="-120"/>
              </a:rPr>
              <a:t>temperature&amp;years</a:t>
            </a:r>
            <a:r>
              <a:rPr lang="en-US" sz="1200" dirty="0">
                <a:solidFill>
                  <a:srgbClr val="00629B"/>
                </a:solidFill>
                <a:latin typeface="Source Sans 3" pitchFamily="34" charset="0"/>
                <a:ea typeface="Source Sans 3" pitchFamily="34" charset="-122"/>
                <a:cs typeface="Source Sans 3" pitchFamily="34" charset="-120"/>
              </a:rPr>
              <a:t>=2000-2027&amp;q=3&amp;depth=0-5</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10</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THE SIXTH LENS, LIVE 2026-09-07</a:t>
            </a:r>
            <a:endParaRPr lang="en-US" sz="1200" dirty="0"/>
          </a:p>
        </p:txBody>
      </p:sp>
      <p:pic>
        <p:nvPicPr>
          <p:cNvPr id="9" name="icon lens-contours" descr="/home/claude/work/icons/lens-contours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000" kern="0" cap="all" spc="70" dirty="0">
                <a:solidFill>
                  <a:srgbClr val="182B49"/>
                </a:solidFill>
                <a:latin typeface="Teko" pitchFamily="34" charset="0"/>
                <a:ea typeface="Teko" pitchFamily="34" charset="-122"/>
                <a:cs typeface="Teko" pitchFamily="34" charset="-120"/>
              </a:rPr>
              <a:t>Contours: a surface between the stations, with its error, computed in your browser</a:t>
            </a:r>
            <a:endParaRPr lang="en-US" sz="3000" dirty="0"/>
          </a:p>
        </p:txBody>
      </p:sp>
      <p:sp>
        <p:nvSpPr>
          <p:cNvPr id="11" name="band"/>
          <p:cNvSpPr/>
          <p:nvPr/>
        </p:nvSpPr>
        <p:spPr>
          <a:xfrm>
            <a:off x="0" y="2029968"/>
            <a:ext cx="12191695" cy="4187952"/>
          </a:xfrm>
          <a:prstGeom prst="rect">
            <a:avLst/>
          </a:prstGeom>
          <a:solidFill>
            <a:srgbClr val="182B49"/>
          </a:solidFill>
          <a:ln w="12700">
            <a:solidFill>
              <a:srgbClr val="182B49"/>
            </a:solidFill>
            <a:prstDash val="solid"/>
          </a:ln>
        </p:spPr>
        <p:txBody>
          <a:bodyPr/>
          <a:lstStyle/>
          <a:p>
            <a:endParaRPr lang="en-US"/>
          </a:p>
        </p:txBody>
      </p:sp>
      <p:pic>
        <p:nvPicPr>
          <p:cNvPr id="12" name="card|rr1715"/>
          <p:cNvPicPr>
            <a:picLocks noChangeAspect="1"/>
          </p:cNvPicPr>
          <p:nvPr/>
        </p:nvPicPr>
        <p:blipFill>
          <a:blip r:embed="rId6"/>
          <a:srcRect l="4745" r="4745"/>
          <a:stretch/>
        </p:blipFill>
        <p:spPr>
          <a:xfrm>
            <a:off x="457200" y="2121408"/>
            <a:ext cx="6320333" cy="3950208"/>
          </a:xfrm>
          <a:prstGeom prst="roundRect">
            <a:avLst>
              <a:gd name="adj" fmla="val 1715"/>
            </a:avLst>
          </a:prstGeom>
          <a:effectLst>
            <a:outerShdw blurRad="76200" dist="25400" dir="5400000" algn="bl" rotWithShape="0">
              <a:srgbClr val="182B49">
                <a:alpha val="45000"/>
              </a:srgbClr>
            </a:outerShdw>
          </a:effectLst>
        </p:spPr>
      </p:pic>
      <p:sp>
        <p:nvSpPr>
          <p:cNvPr id="13" name="build:bullets"/>
          <p:cNvSpPr txBox="1"/>
          <p:nvPr/>
        </p:nvSpPr>
        <p:spPr>
          <a:xfrm>
            <a:off x="7097573" y="2148840"/>
            <a:ext cx="4636922" cy="29260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350" dirty="0">
                <a:solidFill>
                  <a:srgbClr val="FFFFFF"/>
                </a:solidFill>
                <a:latin typeface="Source Sans 3" pitchFamily="34" charset="0"/>
                <a:ea typeface="Source Sans 3" pitchFamily="34" charset="-122"/>
                <a:cs typeface="Source Sans 3" pitchFamily="34" charset="-120"/>
              </a:rPr>
              <a:t>Replaces the Contour Explorer, which read the legacy PostgreSQL; its URL now redirects here.</a:t>
            </a:r>
            <a:endParaRPr lang="en-US" sz="1350" dirty="0"/>
          </a:p>
          <a:p>
            <a:pPr marL="177800" indent="-177800">
              <a:lnSpc>
                <a:spcPct val="105000"/>
              </a:lnSpc>
              <a:spcAft>
                <a:spcPts val="500"/>
              </a:spcAft>
              <a:buSzPct val="100000"/>
              <a:buChar char="•"/>
            </a:pPr>
            <a:r>
              <a:rPr lang="en-US" sz="1350" dirty="0">
                <a:solidFill>
                  <a:srgbClr val="FFFFFF"/>
                </a:solidFill>
                <a:latin typeface="Source Sans 3" pitchFamily="34" charset="0"/>
                <a:ea typeface="Source Sans 3" pitchFamily="34" charset="-122"/>
                <a:cs typeface="Source Sans 3" pitchFamily="34" charset="-120"/>
              </a:rPr>
              <a:t>Three methods — </a:t>
            </a:r>
            <a:r>
              <a:rPr lang="en-US" sz="1350" b="1" dirty="0">
                <a:solidFill>
                  <a:srgbClr val="FFFFFF"/>
                </a:solidFill>
                <a:latin typeface="Source Sans 3" pitchFamily="34" charset="0"/>
                <a:ea typeface="Source Sans 3" pitchFamily="34" charset="-122"/>
                <a:cs typeface="Source Sans 3" pitchFamily="34" charset="-120"/>
              </a:rPr>
              <a:t>IDW</a:t>
            </a:r>
            <a:r>
              <a:rPr lang="en-US" sz="1350" dirty="0">
                <a:solidFill>
                  <a:srgbClr val="FFFFFF"/>
                </a:solidFill>
                <a:latin typeface="Source Sans 3" pitchFamily="34" charset="0"/>
                <a:ea typeface="Source Sans 3" pitchFamily="34" charset="-122"/>
                <a:cs typeface="Source Sans 3" pitchFamily="34" charset="-120"/>
              </a:rPr>
              <a:t> for parity with the old app, ordinary </a:t>
            </a:r>
            <a:r>
              <a:rPr lang="en-US" sz="1350" b="1" dirty="0">
                <a:solidFill>
                  <a:srgbClr val="FFFFFF"/>
                </a:solidFill>
                <a:latin typeface="Source Sans 3" pitchFamily="34" charset="0"/>
                <a:ea typeface="Source Sans 3" pitchFamily="34" charset="-122"/>
                <a:cs typeface="Source Sans 3" pitchFamily="34" charset="-120"/>
              </a:rPr>
              <a:t>kriging</a:t>
            </a:r>
            <a:r>
              <a:rPr lang="en-US" sz="1350" dirty="0">
                <a:solidFill>
                  <a:srgbClr val="FFFFFF"/>
                </a:solidFill>
                <a:latin typeface="Source Sans 3" pitchFamily="34" charset="0"/>
                <a:ea typeface="Source Sans 3" pitchFamily="34" charset="-122"/>
                <a:cs typeface="Source Sans 3" pitchFamily="34" charset="-120"/>
              </a:rPr>
              <a:t> by default, a thin-plate </a:t>
            </a:r>
            <a:r>
              <a:rPr lang="en-US" sz="1350" b="1" dirty="0">
                <a:solidFill>
                  <a:srgbClr val="FFFFFF"/>
                </a:solidFill>
                <a:latin typeface="Source Sans 3" pitchFamily="34" charset="0"/>
                <a:ea typeface="Source Sans 3" pitchFamily="34" charset="-122"/>
                <a:cs typeface="Source Sans 3" pitchFamily="34" charset="-120"/>
              </a:rPr>
              <a:t>spline</a:t>
            </a:r>
            <a:r>
              <a:rPr lang="en-US" sz="1350" dirty="0">
                <a:solidFill>
                  <a:srgbClr val="FFFFFF"/>
                </a:solidFill>
                <a:latin typeface="Source Sans 3" pitchFamily="34" charset="0"/>
                <a:ea typeface="Source Sans 3" pitchFamily="34" charset="-122"/>
                <a:cs typeface="Source Sans 3" pitchFamily="34" charset="-120"/>
              </a:rPr>
              <a:t>; the model-based two halve IDW's error (leave-one-out 0.91 vs 1.72 °C) and say where they are unsure.</a:t>
            </a:r>
            <a:endParaRPr lang="en-US" sz="1350" dirty="0"/>
          </a:p>
          <a:p>
            <a:pPr marL="177800" indent="-177800">
              <a:lnSpc>
                <a:spcPct val="105000"/>
              </a:lnSpc>
              <a:spcAft>
                <a:spcPts val="500"/>
              </a:spcAft>
              <a:buSzPct val="100000"/>
              <a:buChar char="•"/>
            </a:pPr>
            <a:r>
              <a:rPr lang="en-US" sz="1350" dirty="0">
                <a:solidFill>
                  <a:srgbClr val="FFFFFF"/>
                </a:solidFill>
                <a:latin typeface="Source Sans 3" pitchFamily="34" charset="0"/>
                <a:ea typeface="Source Sans 3" pitchFamily="34" charset="-122"/>
                <a:cs typeface="Source Sans 3" pitchFamily="34" charset="-120"/>
              </a:rPr>
              <a:t>Eight surfaces from one table: the statistic, its error, observation density, first and last year, the 5th/95th percentiles and their spread.</a:t>
            </a:r>
            <a:endParaRPr lang="en-US" sz="1350" dirty="0"/>
          </a:p>
          <a:p>
            <a:pPr marL="177800" indent="-177800">
              <a:lnSpc>
                <a:spcPct val="105000"/>
              </a:lnSpc>
              <a:spcAft>
                <a:spcPts val="500"/>
              </a:spcAft>
              <a:buSzPct val="100000"/>
              <a:buChar char="•"/>
            </a:pPr>
            <a:r>
              <a:rPr lang="en-US" sz="1350" dirty="0">
                <a:solidFill>
                  <a:srgbClr val="FFFFFF"/>
                </a:solidFill>
                <a:latin typeface="Source Sans 3" pitchFamily="34" charset="0"/>
                <a:ea typeface="Source Sans 3" pitchFamily="34" charset="-122"/>
                <a:cs typeface="Source Sans 3" pitchFamily="34" charset="-120"/>
              </a:rPr>
              <a:t>The same algorithm runs in R (</a:t>
            </a:r>
            <a:r>
              <a:rPr lang="en-US" sz="1350" b="1" dirty="0">
                <a:solidFill>
                  <a:srgbClr val="FFFFFF"/>
                </a:solidFill>
                <a:latin typeface="Courier New" panose="02070309020205020404" pitchFamily="49" charset="0"/>
                <a:ea typeface="Source Sans 3" pitchFamily="34" charset="-122"/>
                <a:cs typeface="Courier New" panose="02070309020205020404" pitchFamily="49" charset="0"/>
              </a:rPr>
              <a:t>cc_interpolate</a:t>
            </a:r>
            <a:r>
              <a:rPr lang="en-US" sz="1350" dirty="0">
                <a:solidFill>
                  <a:srgbClr val="FFFFFF"/>
                </a:solidFill>
                <a:latin typeface="Source Sans 3" pitchFamily="34" charset="0"/>
                <a:ea typeface="Source Sans 3" pitchFamily="34" charset="-122"/>
                <a:cs typeface="Source Sans 3" pitchFamily="34" charset="-120"/>
              </a:rPr>
              <a:t>) and Python (</a:t>
            </a:r>
            <a:r>
              <a:rPr lang="en-US" sz="1350" b="1" dirty="0">
                <a:solidFill>
                  <a:srgbClr val="FFFFFF"/>
                </a:solidFill>
                <a:latin typeface="Courier New" panose="02070309020205020404" pitchFamily="49" charset="0"/>
                <a:ea typeface="Source Sans 3" pitchFamily="34" charset="-122"/>
                <a:cs typeface="Courier New" panose="02070309020205020404" pitchFamily="49" charset="0"/>
              </a:rPr>
              <a:t>interpolate</a:t>
            </a:r>
            <a:r>
              <a:rPr lang="en-US" sz="1350" dirty="0">
                <a:solidFill>
                  <a:srgbClr val="FFFFFF"/>
                </a:solidFill>
                <a:latin typeface="Source Sans 3" pitchFamily="34" charset="0"/>
                <a:ea typeface="Source Sans 3" pitchFamily="34" charset="-122"/>
                <a:cs typeface="Source Sans 3" pitchFamily="34" charset="-120"/>
              </a:rPr>
              <a:t>), tested cell for cell against a fixture the browser wrote. No server.</a:t>
            </a:r>
            <a:endParaRPr lang="en-US" sz="1350" dirty="0"/>
          </a:p>
        </p:txBody>
      </p:sp>
      <p:sp>
        <p:nvSpPr>
          <p:cNvPr id="14" name="chip"/>
          <p:cNvSpPr/>
          <p:nvPr/>
        </p:nvSpPr>
        <p:spPr>
          <a:xfrm>
            <a:off x="7097573" y="5138928"/>
            <a:ext cx="4636922" cy="914400"/>
          </a:xfrm>
          <a:prstGeom prst="roundRect">
            <a:avLst>
              <a:gd name="adj" fmla="val 9000"/>
            </a:avLst>
          </a:prstGeom>
          <a:solidFill>
            <a:srgbClr val="FFCD00"/>
          </a:solidFill>
          <a:ln w="12700">
            <a:solidFill>
              <a:srgbClr val="FFCD00"/>
            </a:solidFill>
            <a:prstDash val="solid"/>
          </a:ln>
        </p:spPr>
        <p:txBody>
          <a:bodyPr/>
          <a:lstStyle/>
          <a:p>
            <a:endParaRPr lang="en-US"/>
          </a:p>
        </p:txBody>
      </p:sp>
      <p:sp>
        <p:nvSpPr>
          <p:cNvPr id="15" name="chip-text"/>
          <p:cNvSpPr txBox="1"/>
          <p:nvPr/>
        </p:nvSpPr>
        <p:spPr>
          <a:xfrm>
            <a:off x="7205893" y="5193792"/>
            <a:ext cx="4472330" cy="804672"/>
          </a:xfrm>
          <a:prstGeom prst="rect">
            <a:avLst/>
          </a:prstGeom>
          <a:noFill/>
          <a:ln/>
        </p:spPr>
        <p:txBody>
          <a:bodyPr wrap="square" lIns="0" tIns="0" rIns="0" bIns="0" rtlCol="0" anchor="ctr"/>
          <a:lstStyle/>
          <a:p>
            <a:r>
              <a:rPr lang="en-US" sz="1250" b="1" dirty="0">
                <a:solidFill>
                  <a:srgbClr val="182B49"/>
                </a:solidFill>
                <a:latin typeface="Source Sans 3" pitchFamily="34" charset="0"/>
                <a:ea typeface="Source Sans 3" pitchFamily="34" charset="-122"/>
                <a:cs typeface="Source Sans 3" pitchFamily="34" charset="-120"/>
              </a:rPr>
              <a:t>Temperature</a:t>
            </a:r>
            <a:r>
              <a:rPr lang="en-US" sz="1250" dirty="0">
                <a:solidFill>
                  <a:srgbClr val="182B49"/>
                </a:solidFill>
                <a:latin typeface="Source Sans 3" pitchFamily="34" charset="0"/>
                <a:ea typeface="Source Sans 3" pitchFamily="34" charset="-122"/>
                <a:cs typeface="Source Sans 3" pitchFamily="34" charset="-120"/>
              </a:rPr>
              <a:t>, the mean as a contoured surface by ordinary kriging over every site, 2000–2027 · Jul–Sep · 0–5 m.</a:t>
            </a:r>
            <a:endParaRPr lang="en-US" sz="125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status.calcofi.io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11</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HOSTING</a:t>
            </a:r>
            <a:endParaRPr lang="en-US" sz="1200" dirty="0"/>
          </a:p>
        </p:txBody>
      </p:sp>
      <p:pic>
        <p:nvPicPr>
          <p:cNvPr id="9" name="icon ui-check" descr="/home/claude/work/icons/ui-check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It answers in 0.15 s, and it costs nothing to host</a:t>
            </a:r>
            <a:endParaRPr lang="en-US" sz="3400" dirty="0"/>
          </a:p>
        </p:txBody>
      </p:sp>
      <p:sp>
        <p:nvSpPr>
          <p:cNvPr id="11" name="panel-explore"/>
          <p:cNvSpPr/>
          <p:nvPr/>
        </p:nvSpPr>
        <p:spPr>
          <a:xfrm>
            <a:off x="457200" y="1874520"/>
            <a:ext cx="3383280" cy="3246120"/>
          </a:xfrm>
          <a:prstGeom prst="roundRect">
            <a:avLst>
              <a:gd name="adj" fmla="val 3099"/>
            </a:avLst>
          </a:prstGeom>
          <a:solidFill>
            <a:srgbClr val="F5F0E6"/>
          </a:solidFill>
          <a:ln w="12700">
            <a:solidFill>
              <a:srgbClr val="F5F0E6"/>
            </a:solidFill>
            <a:prstDash val="solid"/>
          </a:ln>
        </p:spPr>
        <p:txBody>
          <a:bodyPr/>
          <a:lstStyle/>
          <a:p>
            <a:endParaRPr lang="en-US"/>
          </a:p>
        </p:txBody>
      </p:sp>
      <p:sp>
        <p:nvSpPr>
          <p:cNvPr id="12" name="caps:eyebrow"/>
          <p:cNvSpPr txBox="1"/>
          <p:nvPr/>
        </p:nvSpPr>
        <p:spPr>
          <a:xfrm>
            <a:off x="658368" y="2039112"/>
            <a:ext cx="3017520" cy="201168"/>
          </a:xfrm>
          <a:prstGeom prst="rect">
            <a:avLst/>
          </a:prstGeom>
          <a:noFill/>
          <a:ln/>
        </p:spPr>
        <p:txBody>
          <a:bodyPr wrap="square" lIns="0" tIns="0" rIns="0" bIns="0" rtlCol="0" anchor="t"/>
          <a:lstStyle/>
          <a:p>
            <a:pPr marL="0" indent="0">
              <a:buNone/>
            </a:pPr>
            <a:r>
              <a:rPr lang="en-US" sz="1150" b="1" kern="0" cap="all" spc="120" dirty="0">
                <a:solidFill>
                  <a:srgbClr val="66686A"/>
                </a:solidFill>
                <a:latin typeface="Source Sans 3" pitchFamily="34" charset="0"/>
                <a:ea typeface="Source Sans 3" pitchFamily="34" charset="-122"/>
                <a:cs typeface="Source Sans 3" pitchFamily="34" charset="-120"/>
              </a:rPr>
              <a:t>CalCOFI Explorer · calcofi.io/explore</a:t>
            </a:r>
            <a:endParaRPr lang="en-US" sz="1150" dirty="0"/>
          </a:p>
        </p:txBody>
      </p:sp>
      <p:sp>
        <p:nvSpPr>
          <p:cNvPr id="13" name="numeral"/>
          <p:cNvSpPr txBox="1"/>
          <p:nvPr/>
        </p:nvSpPr>
        <p:spPr>
          <a:xfrm>
            <a:off x="640080" y="2312356"/>
            <a:ext cx="3017520" cy="914400"/>
          </a:xfrm>
          <a:prstGeom prst="rect">
            <a:avLst/>
          </a:prstGeom>
          <a:noFill/>
          <a:ln/>
        </p:spPr>
        <p:txBody>
          <a:bodyPr wrap="square" lIns="0" tIns="0" rIns="0" bIns="0" rtlCol="0" anchor="t"/>
          <a:lstStyle/>
          <a:p>
            <a:pPr marL="0" indent="0">
              <a:buNone/>
            </a:pPr>
            <a:r>
              <a:rPr lang="en-US" sz="5000" dirty="0">
                <a:solidFill>
                  <a:srgbClr val="00629B"/>
                </a:solidFill>
                <a:latin typeface="Teko" pitchFamily="34" charset="0"/>
                <a:ea typeface="Teko" pitchFamily="34" charset="-122"/>
                <a:cs typeface="Teko" pitchFamily="34" charset="-120"/>
              </a:rPr>
              <a:t>0.15 sec</a:t>
            </a:r>
            <a:endParaRPr lang="en-US" sz="5000" dirty="0"/>
          </a:p>
        </p:txBody>
      </p:sp>
      <p:pic>
        <p:nvPicPr>
          <p:cNvPr id="14" name="spark-explore" descr="/home/claude/work/build/img/spark_explore.png"/>
          <p:cNvPicPr>
            <a:picLocks noChangeAspect="1"/>
          </p:cNvPicPr>
          <p:nvPr/>
        </p:nvPicPr>
        <p:blipFill>
          <a:blip r:embed="rId6"/>
          <a:stretch>
            <a:fillRect/>
          </a:stretch>
        </p:blipFill>
        <p:spPr>
          <a:xfrm>
            <a:off x="457200" y="2886456"/>
            <a:ext cx="3383280" cy="2255520"/>
          </a:xfrm>
          <a:prstGeom prst="rect">
            <a:avLst/>
          </a:prstGeom>
        </p:spPr>
      </p:pic>
      <p:sp>
        <p:nvSpPr>
          <p:cNvPr id="15" name="panel-hex"/>
          <p:cNvSpPr/>
          <p:nvPr/>
        </p:nvSpPr>
        <p:spPr>
          <a:xfrm>
            <a:off x="4069080" y="1874520"/>
            <a:ext cx="2743200" cy="3246120"/>
          </a:xfrm>
          <a:prstGeom prst="roundRect">
            <a:avLst>
              <a:gd name="adj" fmla="val 3667"/>
            </a:avLst>
          </a:prstGeom>
          <a:solidFill>
            <a:srgbClr val="F5F0E6"/>
          </a:solidFill>
          <a:ln w="12700">
            <a:solidFill>
              <a:srgbClr val="F5F0E6"/>
            </a:solidFill>
            <a:prstDash val="solid"/>
          </a:ln>
        </p:spPr>
        <p:txBody>
          <a:bodyPr/>
          <a:lstStyle/>
          <a:p>
            <a:endParaRPr lang="en-US"/>
          </a:p>
        </p:txBody>
      </p:sp>
      <p:sp>
        <p:nvSpPr>
          <p:cNvPr id="16" name="caps:eyebrow"/>
          <p:cNvSpPr txBox="1"/>
          <p:nvPr/>
        </p:nvSpPr>
        <p:spPr>
          <a:xfrm>
            <a:off x="4270248" y="2039112"/>
            <a:ext cx="2377440" cy="201168"/>
          </a:xfrm>
          <a:prstGeom prst="rect">
            <a:avLst/>
          </a:prstGeom>
          <a:noFill/>
          <a:ln/>
        </p:spPr>
        <p:txBody>
          <a:bodyPr wrap="square" lIns="0" tIns="0" rIns="0" bIns="0" rtlCol="0" anchor="t"/>
          <a:lstStyle/>
          <a:p>
            <a:pPr marL="0" indent="0">
              <a:buNone/>
            </a:pPr>
            <a:r>
              <a:rPr lang="en-US" sz="1150" b="1" kern="0" cap="all" spc="120" dirty="0">
                <a:solidFill>
                  <a:srgbClr val="66686A"/>
                </a:solidFill>
                <a:latin typeface="Source Sans 3" pitchFamily="34" charset="0"/>
                <a:ea typeface="Source Sans 3" pitchFamily="34" charset="-122"/>
                <a:cs typeface="Source Sans 3" pitchFamily="34" charset="-120"/>
              </a:rPr>
              <a:t>Hexagon Explorer (Shiny) · app.calcofi.io/hex</a:t>
            </a:r>
            <a:endParaRPr lang="en-US" sz="1150" dirty="0"/>
          </a:p>
        </p:txBody>
      </p:sp>
      <p:sp>
        <p:nvSpPr>
          <p:cNvPr id="17" name="numeral"/>
          <p:cNvSpPr txBox="1"/>
          <p:nvPr/>
        </p:nvSpPr>
        <p:spPr>
          <a:xfrm>
            <a:off x="4251960" y="2312356"/>
            <a:ext cx="2377440" cy="685800"/>
          </a:xfrm>
          <a:prstGeom prst="rect">
            <a:avLst/>
          </a:prstGeom>
          <a:noFill/>
          <a:ln/>
        </p:spPr>
        <p:txBody>
          <a:bodyPr wrap="square" lIns="0" tIns="0" rIns="0" bIns="0" rtlCol="0" anchor="t"/>
          <a:lstStyle/>
          <a:p>
            <a:pPr marL="0" indent="0">
              <a:buNone/>
            </a:pPr>
            <a:r>
              <a:rPr lang="en-US" sz="5000" dirty="0">
                <a:solidFill>
                  <a:srgbClr val="8A6500"/>
                </a:solidFill>
                <a:latin typeface="Teko" pitchFamily="34" charset="0"/>
                <a:ea typeface="Teko" pitchFamily="34" charset="-122"/>
                <a:cs typeface="Teko" pitchFamily="34" charset="-120"/>
              </a:rPr>
              <a:t>11.4 sec</a:t>
            </a:r>
            <a:endParaRPr lang="en-US" sz="5000" dirty="0"/>
          </a:p>
        </p:txBody>
      </p:sp>
      <p:pic>
        <p:nvPicPr>
          <p:cNvPr id="18" name="spark-hex" descr="/home/claude/work/build/img/spark_hex.png"/>
          <p:cNvPicPr>
            <a:picLocks noChangeAspect="1"/>
          </p:cNvPicPr>
          <p:nvPr/>
        </p:nvPicPr>
        <p:blipFill>
          <a:blip r:embed="rId7"/>
          <a:stretch>
            <a:fillRect/>
          </a:stretch>
        </p:blipFill>
        <p:spPr>
          <a:xfrm>
            <a:off x="4114800" y="3331464"/>
            <a:ext cx="2683764" cy="1789176"/>
          </a:xfrm>
          <a:prstGeom prst="rect">
            <a:avLst/>
          </a:prstGeom>
        </p:spPr>
      </p:pic>
      <p:sp>
        <p:nvSpPr>
          <p:cNvPr id="19" name="caption"/>
          <p:cNvSpPr txBox="1"/>
          <p:nvPr/>
        </p:nvSpPr>
        <p:spPr>
          <a:xfrm>
            <a:off x="457200" y="5230368"/>
            <a:ext cx="6355080" cy="548640"/>
          </a:xfrm>
          <a:prstGeom prst="rect">
            <a:avLst/>
          </a:prstGeom>
          <a:noFill/>
          <a:ln/>
        </p:spPr>
        <p:txBody>
          <a:bodyPr wrap="square" lIns="0" tIns="0" rIns="0" bIns="0" rtlCol="0" anchor="t"/>
          <a:lstStyle/>
          <a:p>
            <a:pPr marL="0" indent="0">
              <a:buNone/>
            </a:pPr>
            <a:r>
              <a:rPr lang="en-US" sz="1250" dirty="0">
                <a:solidFill>
                  <a:srgbClr val="66686A"/>
                </a:solidFill>
                <a:latin typeface="Source Sans 3" pitchFamily="34" charset="0"/>
                <a:ea typeface="Source Sans 3" pitchFamily="34" charset="-122"/>
                <a:cs typeface="Source Sans 3" pitchFamily="34" charset="-120"/>
              </a:rPr>
              <a:t>Response time, all-time average; the graphs are the last week. status.calcofi.io checks 28 sites every 15 min (28 up at the pull, 2026-09-07).</a:t>
            </a:r>
            <a:endParaRPr lang="en-US" sz="1250" dirty="0"/>
          </a:p>
        </p:txBody>
      </p:sp>
      <p:sp>
        <p:nvSpPr>
          <p:cNvPr id="20" name="build:bullets"/>
          <p:cNvSpPr txBox="1"/>
          <p:nvPr/>
        </p:nvSpPr>
        <p:spPr>
          <a:xfrm>
            <a:off x="7086600" y="1874520"/>
            <a:ext cx="4647895" cy="4251960"/>
          </a:xfrm>
          <a:prstGeom prst="rect">
            <a:avLst/>
          </a:prstGeom>
          <a:noFill/>
          <a:ln/>
        </p:spPr>
        <p:txBody>
          <a:bodyPr wrap="square" lIns="0" tIns="0" rIns="0" bIns="0" rtlCol="0" anchor="t"/>
          <a:lstStyle/>
          <a:p>
            <a:pPr marL="177800" indent="-177800">
              <a:lnSpc>
                <a:spcPct val="103000"/>
              </a:lnSpc>
              <a:spcAft>
                <a:spcPts val="500"/>
              </a:spcAft>
              <a:buSzPct val="100000"/>
              <a:buChar char="•"/>
            </a:pPr>
            <a:r>
              <a:rPr lang="en-US" sz="1300" b="1" dirty="0">
                <a:solidFill>
                  <a:srgbClr val="182B49"/>
                </a:solidFill>
                <a:latin typeface="Source Sans 3" pitchFamily="34" charset="0"/>
                <a:ea typeface="Source Sans 3" pitchFamily="34" charset="-122"/>
                <a:cs typeface="Source Sans 3" pitchFamily="34" charset="-120"/>
              </a:rPr>
              <a:t>No server</a:t>
            </a:r>
            <a:r>
              <a:rPr lang="en-US" sz="1300" dirty="0">
                <a:solidFill>
                  <a:srgbClr val="182B49"/>
                </a:solidFill>
                <a:latin typeface="Source Sans 3" pitchFamily="34" charset="0"/>
                <a:ea typeface="Source Sans 3" pitchFamily="34" charset="-122"/>
                <a:cs typeface="Source Sans 3" pitchFamily="34" charset="-120"/>
              </a:rPr>
              <a:t>: the page is on GitHub Pages, the tables are public objects on GCS, and the SQL runs in the browser (DuckDB-WASM).</a:t>
            </a:r>
            <a:endParaRPr lang="en-US" sz="1300" dirty="0"/>
          </a:p>
          <a:p>
            <a:pPr marL="177800" indent="-177800">
              <a:lnSpc>
                <a:spcPct val="103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No server also means </a:t>
            </a:r>
            <a:r>
              <a:rPr lang="en-US" sz="1300" b="1" dirty="0">
                <a:solidFill>
                  <a:srgbClr val="182B49"/>
                </a:solidFill>
                <a:latin typeface="Source Sans 3" pitchFamily="34" charset="0"/>
                <a:ea typeface="Source Sans 3" pitchFamily="34" charset="-122"/>
                <a:cs typeface="Source Sans 3" pitchFamily="34" charset="-120"/>
              </a:rPr>
              <a:t>no security</a:t>
            </a:r>
            <a:r>
              <a:rPr lang="en-US" sz="1300" dirty="0">
                <a:solidFill>
                  <a:srgbClr val="182B49"/>
                </a:solidFill>
                <a:latin typeface="Source Sans 3" pitchFamily="34" charset="0"/>
                <a:ea typeface="Source Sans 3" pitchFamily="34" charset="-122"/>
                <a:cs typeface="Source Sans 3" pitchFamily="34" charset="-120"/>
              </a:rPr>
              <a:t> surface and </a:t>
            </a:r>
            <a:r>
              <a:rPr lang="en-US" sz="1300" b="1" dirty="0">
                <a:solidFill>
                  <a:srgbClr val="182B49"/>
                </a:solidFill>
                <a:latin typeface="Source Sans 3" pitchFamily="34" charset="0"/>
                <a:ea typeface="Source Sans 3" pitchFamily="34" charset="-122"/>
                <a:cs typeface="Source Sans 3" pitchFamily="34" charset="-120"/>
              </a:rPr>
              <a:t>no downtime</a:t>
            </a:r>
            <a:r>
              <a:rPr lang="en-US" sz="1300" dirty="0">
                <a:solidFill>
                  <a:srgbClr val="182B49"/>
                </a:solidFill>
                <a:latin typeface="Source Sans 3" pitchFamily="34" charset="0"/>
                <a:ea typeface="Source Sans 3" pitchFamily="34" charset="-122"/>
                <a:cs typeface="Source Sans 3" pitchFamily="34" charset="-120"/>
              </a:rPr>
              <a:t>. Today's outage is the example: a crawler asked ERDDAP for a whole table as JSON and wedged the VM for hours — the Explorer never noticed.</a:t>
            </a:r>
            <a:endParaRPr lang="en-US" sz="1300" dirty="0"/>
          </a:p>
          <a:p>
            <a:pPr marL="177800" indent="-177800">
              <a:lnSpc>
                <a:spcPct val="103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The Shiny apps, ERDDAP and the CTD team's PostgreSQL share one VM: about </a:t>
            </a:r>
            <a:r>
              <a:rPr lang="en-US" sz="1300" b="1" dirty="0">
                <a:solidFill>
                  <a:srgbClr val="182B49"/>
                </a:solidFill>
                <a:latin typeface="Source Sans 3" pitchFamily="34" charset="0"/>
                <a:ea typeface="Source Sans 3" pitchFamily="34" charset="-122"/>
                <a:cs typeface="Source Sans 3" pitchFamily="34" charset="-120"/>
              </a:rPr>
              <a:t>$91/month</a:t>
            </a:r>
            <a:r>
              <a:rPr lang="en-US" sz="1300" dirty="0">
                <a:solidFill>
                  <a:srgbClr val="182B49"/>
                </a:solidFill>
                <a:latin typeface="Source Sans 3" pitchFamily="34" charset="0"/>
                <a:ea typeface="Source Sans 3" pitchFamily="34" charset="-122"/>
                <a:cs typeface="Source Sans 3" pitchFamily="34" charset="-120"/>
              </a:rPr>
              <a:t> of compute ($68–$142, peaking in June) and $14/month of storage — $792 so far in 2026, roughly $1,281 a year. The Explorer's own share of that is nothing beyond its bytes on GCS.</a:t>
            </a:r>
            <a:endParaRPr lang="en-US" sz="1300" dirty="0"/>
          </a:p>
          <a:p>
            <a:pPr marL="177800" indent="-177800">
              <a:lnSpc>
                <a:spcPct val="103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The honest downside: it is a large </a:t>
            </a:r>
            <a:r>
              <a:rPr lang="en-US" sz="1300" b="1" dirty="0">
                <a:solidFill>
                  <a:srgbClr val="182B49"/>
                </a:solidFill>
                <a:latin typeface="Source Sans 3" pitchFamily="34" charset="0"/>
                <a:ea typeface="Source Sans 3" pitchFamily="34" charset="-122"/>
                <a:cs typeface="Source Sans 3" pitchFamily="34" charset="-120"/>
              </a:rPr>
              <a:t>TypeScript app</a:t>
            </a:r>
            <a:r>
              <a:rPr lang="en-US" sz="1300" dirty="0">
                <a:solidFill>
                  <a:srgbClr val="182B49"/>
                </a:solidFill>
                <a:latin typeface="Source Sans 3" pitchFamily="34" charset="0"/>
                <a:ea typeface="Source Sans 3" pitchFamily="34" charset="-122"/>
                <a:cs typeface="Source Sans 3" pitchFamily="34" charset="-120"/>
              </a:rPr>
              <a:t>. Maintaining it presumes AI-assisted development, and it needs a second pair of eyes — that is one of the asks.</a:t>
            </a:r>
            <a:endParaRPr lang="en-US" sz="1300" dirty="0"/>
          </a:p>
          <a:p>
            <a:pPr marL="177800" indent="-177800">
              <a:lnSpc>
                <a:spcPct val="103000"/>
              </a:lnSpc>
              <a:spcAft>
                <a:spcPts val="500"/>
              </a:spcAft>
              <a:buSzPct val="100000"/>
              <a:buChar char="•"/>
            </a:pPr>
            <a:r>
              <a:rPr lang="en-US" sz="1300" dirty="0">
                <a:solidFill>
                  <a:srgbClr val="182B49"/>
                </a:solidFill>
                <a:latin typeface="Source Sans 3" pitchFamily="34" charset="0"/>
                <a:ea typeface="Source Sans 3" pitchFamily="34" charset="-122"/>
                <a:cs typeface="Source Sans 3" pitchFamily="34" charset="-120"/>
              </a:rPr>
              <a:t>Q for group: so which of the older </a:t>
            </a:r>
            <a:r>
              <a:rPr lang="en-US" sz="1300" b="1" i="1" dirty="0">
                <a:solidFill>
                  <a:srgbClr val="182B49"/>
                </a:solidFill>
                <a:latin typeface="Source Sans 3" pitchFamily="34" charset="0"/>
                <a:ea typeface="Source Sans 3" pitchFamily="34" charset="-122"/>
                <a:cs typeface="Source Sans 3" pitchFamily="34" charset="-120"/>
              </a:rPr>
              <a:t>apps are superseded</a:t>
            </a:r>
            <a:r>
              <a:rPr lang="en-US" sz="1300" dirty="0">
                <a:solidFill>
                  <a:srgbClr val="182B49"/>
                </a:solidFill>
                <a:latin typeface="Source Sans 3" pitchFamily="34" charset="0"/>
                <a:ea typeface="Source Sans 3" pitchFamily="34" charset="-122"/>
                <a:cs typeface="Source Sans 3" pitchFamily="34" charset="-120"/>
              </a:rPr>
              <a:t> by Explorer, and which should be removed rather than demoted?</a:t>
            </a:r>
            <a:endParaRPr lang="en-US" sz="13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2363599"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calcofi.io/explore/?modal=sources  ·</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12</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ATTRIBUTION</a:t>
            </a:r>
            <a:endParaRPr lang="en-US" sz="1200" dirty="0"/>
          </a:p>
        </p:txBody>
      </p:sp>
      <p:pic>
        <p:nvPicPr>
          <p:cNvPr id="9" name="icon ui-link" descr="/home/claude/work/icons/ui-link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"Cite this dataset" is built in everywhere</a:t>
            </a:r>
            <a:endParaRPr lang="en-US" sz="3400" dirty="0"/>
          </a:p>
        </p:txBody>
      </p:sp>
      <p:pic>
        <p:nvPicPr>
          <p:cNvPr id="11" name="shot|rr5926" descr="/home/claude/work/media/s12_p2_1596x1073_c05a7209.png"/>
          <p:cNvPicPr>
            <a:picLocks noChangeAspect="1"/>
          </p:cNvPicPr>
          <p:nvPr/>
        </p:nvPicPr>
        <p:blipFill>
          <a:blip r:embed="rId6"/>
          <a:stretch>
            <a:fillRect/>
          </a:stretch>
        </p:blipFill>
        <p:spPr>
          <a:xfrm>
            <a:off x="457200" y="1389887"/>
            <a:ext cx="2352966" cy="1581913"/>
          </a:xfrm>
          <a:prstGeom prst="roundRect">
            <a:avLst>
              <a:gd name="adj" fmla="val 5926"/>
            </a:avLst>
          </a:prstGeom>
          <a:effectLst>
            <a:outerShdw blurRad="76200" dist="25400" dir="5400000" algn="bl" rotWithShape="0">
              <a:srgbClr val="182B49">
                <a:alpha val="22000"/>
              </a:srgbClr>
            </a:outerShdw>
          </a:effectLst>
        </p:spPr>
      </p:pic>
      <p:sp>
        <p:nvSpPr>
          <p:cNvPr id="12" name="caption"/>
          <p:cNvSpPr txBox="1"/>
          <p:nvPr/>
        </p:nvSpPr>
        <p:spPr>
          <a:xfrm>
            <a:off x="457200" y="3026664"/>
            <a:ext cx="2867853"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Explorer · Data Sources</a:t>
            </a:r>
            <a:endParaRPr lang="en-US" sz="1150" dirty="0"/>
          </a:p>
        </p:txBody>
      </p:sp>
      <p:pic>
        <p:nvPicPr>
          <p:cNvPr id="13" name="shot|rr7084" descr="/home/claude/work/media/s12_p3_696x832_05d25cd2.png"/>
          <p:cNvPicPr>
            <a:picLocks noChangeAspect="1"/>
          </p:cNvPicPr>
          <p:nvPr/>
        </p:nvPicPr>
        <p:blipFill>
          <a:blip r:embed="rId7"/>
          <a:stretch>
            <a:fillRect/>
          </a:stretch>
        </p:blipFill>
        <p:spPr>
          <a:xfrm>
            <a:off x="3553653" y="1336524"/>
            <a:ext cx="1367971" cy="1635276"/>
          </a:xfrm>
          <a:prstGeom prst="roundRect">
            <a:avLst>
              <a:gd name="adj" fmla="val 7084"/>
            </a:avLst>
          </a:prstGeom>
          <a:effectLst>
            <a:outerShdw blurRad="76200" dist="25400" dir="5400000" algn="bl" rotWithShape="0">
              <a:srgbClr val="182B49">
                <a:alpha val="22000"/>
              </a:srgbClr>
            </a:outerShdw>
          </a:effectLst>
        </p:spPr>
      </p:pic>
      <p:sp>
        <p:nvSpPr>
          <p:cNvPr id="14" name="caption"/>
          <p:cNvSpPr txBox="1"/>
          <p:nvPr/>
        </p:nvSpPr>
        <p:spPr>
          <a:xfrm>
            <a:off x="3553653" y="3026664"/>
            <a:ext cx="2123897"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Explorer · Share ③ → Cite</a:t>
            </a:r>
            <a:endParaRPr lang="en-US" sz="1150" dirty="0"/>
          </a:p>
        </p:txBody>
      </p:sp>
      <p:pic>
        <p:nvPicPr>
          <p:cNvPr id="15" name="shot|rr5926" descr="/home/claude/work/media/s12_p4_718x394_a5fd1f92.png"/>
          <p:cNvPicPr>
            <a:picLocks noChangeAspect="1"/>
          </p:cNvPicPr>
          <p:nvPr/>
        </p:nvPicPr>
        <p:blipFill>
          <a:blip r:embed="rId8"/>
          <a:stretch>
            <a:fillRect/>
          </a:stretch>
        </p:blipFill>
        <p:spPr>
          <a:xfrm>
            <a:off x="5906150" y="1504188"/>
            <a:ext cx="2674481" cy="1467612"/>
          </a:xfrm>
          <a:prstGeom prst="roundRect">
            <a:avLst>
              <a:gd name="adj" fmla="val 5926"/>
            </a:avLst>
          </a:prstGeom>
          <a:effectLst>
            <a:outerShdw blurRad="76200" dist="25400" dir="5400000" algn="bl" rotWithShape="0">
              <a:srgbClr val="182B49">
                <a:alpha val="22000"/>
              </a:srgbClr>
            </a:outerShdw>
          </a:effectLst>
        </p:spPr>
      </p:pic>
      <p:sp>
        <p:nvSpPr>
          <p:cNvPr id="16" name="caption"/>
          <p:cNvSpPr txBox="1"/>
          <p:nvPr/>
        </p:nvSpPr>
        <p:spPr>
          <a:xfrm>
            <a:off x="5906150" y="3026664"/>
            <a:ext cx="3250663"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A dataset page's Cite section — the dataset, then the release</a:t>
            </a:r>
            <a:endParaRPr lang="en-US" sz="1150" dirty="0"/>
          </a:p>
        </p:txBody>
      </p:sp>
      <p:pic>
        <p:nvPicPr>
          <p:cNvPr id="17" name="shot|rr5926" descr="/home/claude/work/media/s12_p5_1564x761_bf5dc649.png"/>
          <p:cNvPicPr>
            <a:picLocks noChangeAspect="1"/>
          </p:cNvPicPr>
          <p:nvPr/>
        </p:nvPicPr>
        <p:blipFill>
          <a:blip r:embed="rId9"/>
          <a:stretch>
            <a:fillRect/>
          </a:stretch>
        </p:blipFill>
        <p:spPr>
          <a:xfrm>
            <a:off x="8827808" y="1101853"/>
            <a:ext cx="3363887" cy="1636776"/>
          </a:xfrm>
          <a:prstGeom prst="roundRect">
            <a:avLst>
              <a:gd name="adj" fmla="val 0"/>
            </a:avLst>
          </a:prstGeom>
          <a:effectLst>
            <a:outerShdw blurRad="76200" dist="25400" dir="5400000" algn="bl" rotWithShape="0">
              <a:srgbClr val="182B49">
                <a:alpha val="22000"/>
              </a:srgbClr>
            </a:outerShdw>
          </a:effectLst>
        </p:spPr>
      </p:pic>
      <p:sp>
        <p:nvSpPr>
          <p:cNvPr id="18" name="caption"/>
          <p:cNvSpPr txBox="1"/>
          <p:nvPr/>
        </p:nvSpPr>
        <p:spPr>
          <a:xfrm>
            <a:off x="9385412" y="3026664"/>
            <a:ext cx="2349083"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The docs · Cite This Data — every dataset's citation, licence, DOI, contact</a:t>
            </a:r>
            <a:endParaRPr lang="en-US" sz="1150" dirty="0"/>
          </a:p>
        </p:txBody>
      </p:sp>
      <p:sp>
        <p:nvSpPr>
          <p:cNvPr id="19" name="build:para"/>
          <p:cNvSpPr txBox="1"/>
          <p:nvPr/>
        </p:nvSpPr>
        <p:spPr>
          <a:xfrm>
            <a:off x="457200" y="3721608"/>
            <a:ext cx="11277295" cy="411480"/>
          </a:xfrm>
          <a:prstGeom prst="rect">
            <a:avLst/>
          </a:prstGeom>
          <a:noFill/>
          <a:ln/>
        </p:spPr>
        <p:txBody>
          <a:bodyPr wrap="square" lIns="0" tIns="0" rIns="0" bIns="0" rtlCol="0" anchor="t"/>
          <a:lstStyle/>
          <a:p>
            <a:pPr marL="0" indent="0">
              <a:lnSpc>
                <a:spcPct val="100000"/>
              </a:lnSpc>
              <a:buNone/>
            </a:pPr>
            <a:r>
              <a:rPr lang="en-US" sz="1250" dirty="0">
                <a:solidFill>
                  <a:srgbClr val="182B49"/>
                </a:solidFill>
                <a:latin typeface="Source Sans 3" pitchFamily="34" charset="0"/>
                <a:ea typeface="Source Sans 3" pitchFamily="34" charset="-122"/>
                <a:cs typeface="Source Sans 3" pitchFamily="34" charset="-120"/>
              </a:rPr>
              <a:t>One row per dataset in the </a:t>
            </a:r>
            <a:r>
              <a:rPr lang="en-US" sz="1250" b="1" dirty="0">
                <a:solidFill>
                  <a:srgbClr val="182B49"/>
                </a:solidFill>
                <a:latin typeface="Source Sans 3" pitchFamily="34" charset="0"/>
                <a:ea typeface="Source Sans 3" pitchFamily="34" charset="-122"/>
                <a:cs typeface="Source Sans 3" pitchFamily="34" charset="-120"/>
              </a:rPr>
              <a:t>Explorer</a:t>
            </a:r>
            <a:r>
              <a:rPr lang="en-US" sz="1250" dirty="0">
                <a:solidFill>
                  <a:srgbClr val="182B49"/>
                </a:solidFill>
                <a:latin typeface="Source Sans 3" pitchFamily="34" charset="0"/>
                <a:ea typeface="Source Sans 3" pitchFamily="34" charset="-122"/>
                <a:cs typeface="Source Sans 3" pitchFamily="34" charset="-120"/>
              </a:rPr>
              <a:t>, a Cite section on every </a:t>
            </a:r>
            <a:r>
              <a:rPr lang="en-US" sz="1250" b="1" dirty="0">
                <a:solidFill>
                  <a:srgbClr val="182B49"/>
                </a:solidFill>
                <a:latin typeface="Source Sans 3" pitchFamily="34" charset="0"/>
                <a:ea typeface="Source Sans 3" pitchFamily="34" charset="-122"/>
                <a:cs typeface="Source Sans 3" pitchFamily="34" charset="-120"/>
              </a:rPr>
              <a:t>dataset page</a:t>
            </a:r>
            <a:r>
              <a:rPr lang="en-US" sz="1250" dirty="0">
                <a:solidFill>
                  <a:srgbClr val="182B49"/>
                </a:solidFill>
                <a:latin typeface="Source Sans 3" pitchFamily="34" charset="0"/>
                <a:ea typeface="Source Sans 3" pitchFamily="34" charset="-122"/>
                <a:cs typeface="Source Sans 3" pitchFamily="34" charset="-120"/>
              </a:rPr>
              <a:t>, one chapter in the </a:t>
            </a:r>
            <a:r>
              <a:rPr lang="en-US" sz="1250" b="1" dirty="0">
                <a:solidFill>
                  <a:srgbClr val="182B49"/>
                </a:solidFill>
                <a:latin typeface="Source Sans 3" pitchFamily="34" charset="0"/>
                <a:ea typeface="Source Sans 3" pitchFamily="34" charset="-122"/>
                <a:cs typeface="Source Sans 3" pitchFamily="34" charset="-120"/>
              </a:rPr>
              <a:t>docs</a:t>
            </a:r>
            <a:r>
              <a:rPr lang="en-US" sz="1250" dirty="0">
                <a:solidFill>
                  <a:srgbClr val="182B49"/>
                </a:solidFill>
                <a:latin typeface="Source Sans 3" pitchFamily="34" charset="0"/>
                <a:ea typeface="Source Sans 3" pitchFamily="34" charset="-122"/>
                <a:cs typeface="Source Sans 3" pitchFamily="34" charset="-120"/>
              </a:rPr>
              <a:t> — and every </a:t>
            </a:r>
            <a:r>
              <a:rPr lang="en-US" sz="1250" b="1" dirty="0">
                <a:solidFill>
                  <a:srgbClr val="182B49"/>
                </a:solidFill>
                <a:latin typeface="Source Sans 3" pitchFamily="34" charset="0"/>
                <a:ea typeface="Source Sans 3" pitchFamily="34" charset="-122"/>
                <a:cs typeface="Source Sans 3" pitchFamily="34" charset="-120"/>
              </a:rPr>
              <a:t>download</a:t>
            </a:r>
            <a:r>
              <a:rPr lang="en-US" sz="1250" dirty="0">
                <a:solidFill>
                  <a:srgbClr val="182B49"/>
                </a:solidFill>
                <a:latin typeface="Source Sans 3" pitchFamily="34" charset="0"/>
                <a:ea typeface="Source Sans 3" pitchFamily="34" charset="-122"/>
                <a:cs typeface="Source Sans 3" pitchFamily="34" charset="-120"/>
              </a:rPr>
              <a:t> (PNG, SVG, CSV, SQL, zip) carries the citations of only the datasets it used.</a:t>
            </a:r>
            <a:r>
              <a:rPr lang="en-US" sz="1250" dirty="0"/>
              <a:t> </a:t>
            </a:r>
            <a:r>
              <a:rPr lang="en-US" sz="1250" dirty="0">
                <a:solidFill>
                  <a:srgbClr val="182B49"/>
                </a:solidFill>
                <a:latin typeface="Source Sans 3" pitchFamily="34" charset="0"/>
                <a:ea typeface="Source Sans 3" pitchFamily="34" charset="-122"/>
                <a:cs typeface="Source Sans 3" pitchFamily="34" charset="-120"/>
              </a:rPr>
              <a:t>What still needs filling, counted at build time from the v2026.09.06 dataset table:</a:t>
            </a:r>
            <a:endParaRPr lang="en-US" sz="1250" dirty="0"/>
          </a:p>
        </p:txBody>
      </p:sp>
      <p:graphicFrame>
        <p:nvGraphicFramePr>
          <p:cNvPr id="20" name="build:table"/>
          <p:cNvGraphicFramePr>
            <a:graphicFrameLocks noGrp="1"/>
          </p:cNvGraphicFramePr>
          <p:nvPr>
            <p:extLst>
              <p:ext uri="{D42A27DB-BD31-4B8C-83A1-F6EECF244321}">
                <p14:modId xmlns:p14="http://schemas.microsoft.com/office/powerpoint/2010/main" val="1579011935"/>
              </p:ext>
            </p:extLst>
          </p:nvPr>
        </p:nvGraphicFramePr>
        <p:xfrm>
          <a:off x="457200" y="4160520"/>
          <a:ext cx="11277295" cy="1644396"/>
        </p:xfrm>
        <a:graphic>
          <a:graphicData uri="http://schemas.openxmlformats.org/drawingml/2006/table">
            <a:tbl>
              <a:tblPr/>
              <a:tblGrid>
                <a:gridCol w="1554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8671255">
                  <a:extLst>
                    <a:ext uri="{9D8B030D-6E8A-4147-A177-3AD203B41FA5}">
                      <a16:colId xmlns:a16="http://schemas.microsoft.com/office/drawing/2014/main" val="20002"/>
                    </a:ext>
                  </a:extLst>
                </a:gridCol>
              </a:tblGrid>
              <a:tr h="182880">
                <a:tc>
                  <a:txBody>
                    <a:bodyPr/>
                    <a:lstStyle/>
                    <a:p>
                      <a:pPr marL="0" indent="0">
                        <a:buNone/>
                      </a:pPr>
                      <a:r>
                        <a:rPr lang="en-US" sz="1050" b="1" kern="0" spc="60" dirty="0">
                          <a:solidFill>
                            <a:srgbClr val="FFFFFF"/>
                          </a:solidFill>
                          <a:latin typeface="Source Sans 3" pitchFamily="34" charset="0"/>
                          <a:ea typeface="Source Sans 3" pitchFamily="34" charset="-122"/>
                          <a:cs typeface="Source Sans 3" pitchFamily="34" charset="-120"/>
                        </a:rPr>
                        <a:t>Field</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050" b="1" kern="0" spc="60" dirty="0">
                          <a:solidFill>
                            <a:srgbClr val="FFFFFF"/>
                          </a:solidFill>
                          <a:latin typeface="Source Sans 3" pitchFamily="34" charset="0"/>
                          <a:ea typeface="Source Sans 3" pitchFamily="34" charset="-122"/>
                          <a:cs typeface="Source Sans 3" pitchFamily="34" charset="-120"/>
                        </a:rPr>
                        <a:t>Missing</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050" b="1" kern="0" spc="60" dirty="0">
                          <a:solidFill>
                            <a:srgbClr val="FFFFFF"/>
                          </a:solidFill>
                          <a:latin typeface="Source Sans 3" pitchFamily="34" charset="0"/>
                          <a:ea typeface="Source Sans 3" pitchFamily="34" charset="-122"/>
                          <a:cs typeface="Source Sans 3" pitchFamily="34" charset="-120"/>
                        </a:rPr>
                        <a:t>Which datasets</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182B49"/>
                    </a:solidFill>
                  </a:tcPr>
                </a:tc>
                <a:extLst>
                  <a:ext uri="{0D108BD9-81ED-4DB2-BD59-A6C34878D82A}">
                    <a16:rowId xmlns:a16="http://schemas.microsoft.com/office/drawing/2014/main" val="10000"/>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citation_main</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5</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000" dirty="0">
                          <a:solidFill>
                            <a:srgbClr val="66686A"/>
                          </a:solidFill>
                          <a:highlight>
                            <a:srgbClr val="FFFFFF"/>
                          </a:highlight>
                          <a:latin typeface="Source Sans 3" pitchFamily="34" charset="0"/>
                          <a:ea typeface="Source Sans 3" pitchFamily="34" charset="-122"/>
                          <a:cs typeface="Source Sans 3" pitchFamily="34" charset="-120"/>
                        </a:rPr>
                        <a:t>zoodb</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zooscan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bird-mammal</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pic-zooplankton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cufes</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1"/>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license</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6</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66686A"/>
                          </a:solidFill>
                          <a:highlight>
                            <a:srgbClr val="F5F5F5"/>
                          </a:highlight>
                          <a:latin typeface="Source Sans 3" pitchFamily="34" charset="0"/>
                          <a:ea typeface="Source Sans 3" pitchFamily="34" charset="-122"/>
                          <a:cs typeface="Source Sans 3" pitchFamily="34" charset="-120"/>
                        </a:rPr>
                        <a:t>bottle</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ctd-cast</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mets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picoplankton-bacteria</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pic-zooplankton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ichthyo</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doi</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11</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000" dirty="0">
                          <a:solidFill>
                            <a:srgbClr val="66686A"/>
                          </a:solidFill>
                          <a:highlight>
                            <a:srgbClr val="FFFFFF"/>
                          </a:highlight>
                          <a:latin typeface="Source Sans 3" pitchFamily="34" charset="0"/>
                          <a:ea typeface="Source Sans 3" pitchFamily="34" charset="-122"/>
                          <a:cs typeface="Source Sans 3" pitchFamily="34" charset="-120"/>
                        </a:rPr>
                        <a:t>bottle</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ctd-cast</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mets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picoplankton-bacteria</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zoodb</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zooscan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dungeness-crab</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bird-mammal</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pic-zooplankton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cufes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ichthyo</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3"/>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pi_names</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4</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66686A"/>
                          </a:solidFill>
                          <a:highlight>
                            <a:srgbClr val="F5F5F5"/>
                          </a:highlight>
                          <a:latin typeface="Source Sans 3" pitchFamily="34" charset="0"/>
                          <a:ea typeface="Source Sans 3" pitchFamily="34" charset="-122"/>
                          <a:cs typeface="Source Sans 3" pitchFamily="34" charset="-120"/>
                        </a:rPr>
                        <a:t>bottle</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ctd-cast</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mets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ichthyo</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contact</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16</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000" dirty="0">
                          <a:solidFill>
                            <a:srgbClr val="66686A"/>
                          </a:solidFill>
                          <a:highlight>
                            <a:srgbClr val="FFFFFF"/>
                          </a:highlight>
                          <a:latin typeface="Source Sans 3" pitchFamily="34" charset="0"/>
                          <a:ea typeface="Source Sans 3" pitchFamily="34" charset="-122"/>
                          <a:cs typeface="Source Sans 3" pitchFamily="34" charset="-120"/>
                        </a:rPr>
                        <a:t>every dataset</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5"/>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acknowledgement</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13</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66686A"/>
                          </a:solidFill>
                          <a:highlight>
                            <a:srgbClr val="F5F5F5"/>
                          </a:highlight>
                          <a:latin typeface="Source Sans 3" pitchFamily="34" charset="0"/>
                          <a:ea typeface="Source Sans 3" pitchFamily="34" charset="-122"/>
                          <a:cs typeface="Source Sans 3" pitchFamily="34" charset="-120"/>
                        </a:rPr>
                        <a:t>bottle</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ctd-cast</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dic</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mets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phyllosoma</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phytoplankton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picoplankton-bacteria</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dungeness-crab</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bird-mammal</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mesopelagic-fish</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pic-zooplankton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cufes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5F5F5"/>
                          </a:highlight>
                          <a:latin typeface="Source Sans 3" pitchFamily="34" charset="0"/>
                          <a:ea typeface="Source Sans 3" pitchFamily="34" charset="-122"/>
                          <a:cs typeface="Source Sans 3" pitchFamily="34" charset="-120"/>
                        </a:rPr>
                        <a:t>ichthyo</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r h="182880">
                <a:tc>
                  <a:txBody>
                    <a:bodyPr/>
                    <a:lstStyle/>
                    <a:p>
                      <a:pPr marL="0" indent="0">
                        <a:buNone/>
                      </a:pPr>
                      <a:r>
                        <a:rPr lang="en-US" sz="1050" b="1" dirty="0">
                          <a:solidFill>
                            <a:srgbClr val="182B49"/>
                          </a:solidFill>
                          <a:latin typeface="Source Sans 3" pitchFamily="34" charset="0"/>
                          <a:ea typeface="Source Sans 3" pitchFamily="34" charset="-122"/>
                          <a:cs typeface="Source Sans 3" pitchFamily="34" charset="-120"/>
                        </a:rPr>
                        <a:t>license_url</a:t>
                      </a:r>
                      <a:endParaRPr lang="en-US" sz="105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Teko" pitchFamily="34" charset="0"/>
                          <a:ea typeface="Teko" pitchFamily="34" charset="-122"/>
                          <a:cs typeface="Teko" pitchFamily="34" charset="-120"/>
                        </a:rPr>
                        <a:t>9</a:t>
                      </a:r>
                      <a:r>
                        <a:rPr lang="en-US" sz="1000" dirty="0">
                          <a:solidFill>
                            <a:srgbClr val="66686A"/>
                          </a:solidFill>
                          <a:latin typeface="Source Sans 3" pitchFamily="34" charset="0"/>
                          <a:ea typeface="Source Sans 3" pitchFamily="34" charset="-122"/>
                          <a:cs typeface="Source Sans 3" pitchFamily="34" charset="-120"/>
                        </a:rPr>
                        <a:t> of 16</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000" dirty="0">
                          <a:solidFill>
                            <a:srgbClr val="66686A"/>
                          </a:solidFill>
                          <a:highlight>
                            <a:srgbClr val="FFFFFF"/>
                          </a:highlight>
                          <a:latin typeface="Source Sans 3" pitchFamily="34" charset="0"/>
                          <a:ea typeface="Source Sans 3" pitchFamily="34" charset="-122"/>
                          <a:cs typeface="Source Sans 3" pitchFamily="34" charset="-120"/>
                        </a:rPr>
                        <a:t>bottle</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ctd-cast</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dic</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mets</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picoplankton-bacteria</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dungeness-crab</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mesopelagic-fish</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pic-zooplankton</a:t>
                      </a:r>
                      <a:r>
                        <a:rPr lang="en-US" sz="1000" dirty="0">
                          <a:solidFill>
                            <a:srgbClr val="66686A"/>
                          </a:solidFill>
                          <a:latin typeface="Source Sans 3" pitchFamily="34" charset="0"/>
                          <a:ea typeface="Source Sans 3" pitchFamily="34" charset="-122"/>
                          <a:cs typeface="Source Sans 3" pitchFamily="34" charset="-120"/>
                        </a:rPr>
                        <a:t>, </a:t>
                      </a:r>
                      <a:r>
                        <a:rPr lang="en-US" sz="1000" dirty="0">
                          <a:solidFill>
                            <a:srgbClr val="66686A"/>
                          </a:solidFill>
                          <a:highlight>
                            <a:srgbClr val="FFFFFF"/>
                          </a:highlight>
                          <a:latin typeface="Source Sans 3" pitchFamily="34" charset="0"/>
                          <a:ea typeface="Source Sans 3" pitchFamily="34" charset="-122"/>
                          <a:cs typeface="Source Sans 3" pitchFamily="34" charset="-120"/>
                        </a:rPr>
                        <a:t>ichthyo</a:t>
                      </a:r>
                      <a:endParaRPr lang="en-US" sz="1000" dirty="0">
                        <a:latin typeface="Source Sans 3" charset="0"/>
                        <a:ea typeface="Source Sans 3" charset="0"/>
                        <a:cs typeface="Source Sans 3" charset="0"/>
                      </a:endParaRPr>
                    </a:p>
                  </a:txBody>
                  <a:tcPr marL="73152" marR="73152" marT="9144" marB="9144"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7"/>
                  </a:ext>
                </a:extLst>
              </a:tr>
            </a:tbl>
          </a:graphicData>
        </a:graphic>
      </p:graphicFrame>
      <p:sp>
        <p:nvSpPr>
          <p:cNvPr id="2" name="footer-left">
            <a:hlinkClick r:id="rId10"/>
            <a:extLst>
              <a:ext uri="{FF2B5EF4-FFF2-40B4-BE49-F238E27FC236}">
                <a16:creationId xmlns:a16="http://schemas.microsoft.com/office/drawing/2014/main" id="{CADA1428-F5DD-8D74-C382-9D27213EF20E}"/>
              </a:ext>
            </a:extLst>
          </p:cNvPr>
          <p:cNvSpPr txBox="1"/>
          <p:nvPr/>
        </p:nvSpPr>
        <p:spPr>
          <a:xfrm>
            <a:off x="4205739" y="6342959"/>
            <a:ext cx="1582271" cy="185928"/>
          </a:xfrm>
          <a:prstGeom prst="rect">
            <a:avLst/>
          </a:prstGeom>
          <a:noFill/>
          <a:ln/>
        </p:spPr>
        <p:txBody>
          <a:bodyPr wrap="square" lIns="0" tIns="0" rIns="0" bIns="0" rtlCol="0" anchor="t"/>
          <a:lstStyle/>
          <a:p>
            <a:pPr marL="0" indent="0">
              <a:buNone/>
            </a:pP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/docs/cite.html</a:t>
            </a:r>
            <a:endParaRPr lang="en-US" sz="1200" dirty="0"/>
          </a:p>
        </p:txBody>
      </p:sp>
      <p:sp>
        <p:nvSpPr>
          <p:cNvPr id="21" name="footer-left">
            <a:hlinkClick r:id="rId11"/>
            <a:extLst>
              <a:ext uri="{FF2B5EF4-FFF2-40B4-BE49-F238E27FC236}">
                <a16:creationId xmlns:a16="http://schemas.microsoft.com/office/drawing/2014/main" id="{76505D67-B3C3-5130-F89E-AE64A03EADEF}"/>
              </a:ext>
            </a:extLst>
          </p:cNvPr>
          <p:cNvSpPr txBox="1"/>
          <p:nvPr/>
        </p:nvSpPr>
        <p:spPr>
          <a:xfrm>
            <a:off x="2820799" y="6348913"/>
            <a:ext cx="1304260" cy="274320"/>
          </a:xfrm>
          <a:prstGeom prst="rect">
            <a:avLst/>
          </a:prstGeom>
          <a:noFill/>
          <a:ln/>
        </p:spPr>
        <p:txBody>
          <a:bodyPr wrap="square" lIns="0" tIns="0" rIns="0" bIns="0" rtlCol="0" anchor="t"/>
          <a:lstStyle/>
          <a:p>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/datasets/ ·</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Graphic spid="20"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Help ▾ → Send feedback  ·  the same button on calcofi.io, /datasets/, /docs/ and /explore</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13</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EXPLORER · FEEDBACK</a:t>
            </a:r>
            <a:endParaRPr lang="en-US" sz="1200" dirty="0"/>
          </a:p>
        </p:txBody>
      </p:sp>
      <p:pic>
        <p:nvPicPr>
          <p:cNvPr id="9" name="icon ui-feedback" descr="/home/claude/work/icons/ui-feedback_navy.png"/>
          <p:cNvPicPr>
            <a:picLocks noChangeAspect="1"/>
          </p:cNvPicPr>
          <p:nvPr/>
        </p:nvPicPr>
        <p:blipFill>
          <a:blip r:embed="rId4"/>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One button, everywhere</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924" descr="/home/claude/work/media/s13_p2_1876x1468_04f5308a.png"/>
          <p:cNvPicPr>
            <a:picLocks noChangeAspect="1"/>
          </p:cNvPicPr>
          <p:nvPr/>
        </p:nvPicPr>
        <p:blipFill>
          <a:blip r:embed="rId5"/>
          <a:stretch>
            <a:fillRect/>
          </a:stretch>
        </p:blipFill>
        <p:spPr>
          <a:xfrm>
            <a:off x="457200" y="1874520"/>
            <a:ext cx="4498873" cy="3520440"/>
          </a:xfrm>
          <a:prstGeom prst="roundRect">
            <a:avLst>
              <a:gd name="adj" fmla="val 1924"/>
            </a:avLst>
          </a:prstGeom>
          <a:effectLst>
            <a:outerShdw blurRad="76200" dist="25400" dir="5400000" algn="bl" rotWithShape="0">
              <a:srgbClr val="182B49">
                <a:alpha val="22000"/>
              </a:srgbClr>
            </a:outerShdw>
          </a:effectLst>
        </p:spPr>
      </p:pic>
      <p:sp>
        <p:nvSpPr>
          <p:cNvPr id="13" name="caption"/>
          <p:cNvSpPr txBox="1"/>
          <p:nvPr/>
        </p:nvSpPr>
        <p:spPr>
          <a:xfrm>
            <a:off x="457200" y="5468112"/>
            <a:ext cx="4773193" cy="640080"/>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The </a:t>
            </a:r>
            <a:r>
              <a:rPr lang="en-US" sz="1150" b="1" dirty="0">
                <a:solidFill>
                  <a:srgbClr val="66686A"/>
                </a:solidFill>
                <a:latin typeface="Source Sans 3" pitchFamily="34" charset="0"/>
                <a:ea typeface="Source Sans 3" pitchFamily="34" charset="-122"/>
                <a:cs typeface="Source Sans 3" pitchFamily="34" charset="-120"/>
              </a:rPr>
              <a:t>Explorer</a:t>
            </a:r>
            <a:r>
              <a:rPr lang="en-US" sz="1150" dirty="0">
                <a:solidFill>
                  <a:srgbClr val="66686A"/>
                </a:solidFill>
                <a:latin typeface="Source Sans 3" pitchFamily="34" charset="0"/>
                <a:ea typeface="Source Sans 3" pitchFamily="34" charset="-122"/>
                <a:cs typeface="Source Sans 3" pitchFamily="34" charset="-120"/>
              </a:rPr>
              <a:t>, Send </a:t>
            </a:r>
            <a:r>
              <a:rPr lang="en-US" sz="1150" b="1" dirty="0">
                <a:solidFill>
                  <a:srgbClr val="66686A"/>
                </a:solidFill>
                <a:latin typeface="Source Sans 3" pitchFamily="34" charset="0"/>
                <a:ea typeface="Source Sans 3" pitchFamily="34" charset="-122"/>
                <a:cs typeface="Source Sans 3" pitchFamily="34" charset="-120"/>
              </a:rPr>
              <a:t>feedback</a:t>
            </a:r>
            <a:r>
              <a:rPr lang="en-US" sz="1150" dirty="0">
                <a:solidFill>
                  <a:srgbClr val="66686A"/>
                </a:solidFill>
                <a:latin typeface="Source Sans 3" pitchFamily="34" charset="0"/>
                <a:ea typeface="Source Sans 3" pitchFamily="34" charset="-122"/>
                <a:cs typeface="Source Sans 3" pitchFamily="34" charset="-120"/>
              </a:rPr>
              <a:t> → edit: the captured view, the tools (arrow · circle · rectangle · pen · text, three colours, undo, clear) and two marks drawn on it.</a:t>
            </a:r>
            <a:endParaRPr lang="en-US" sz="1150" dirty="0"/>
          </a:p>
        </p:txBody>
      </p:sp>
      <p:sp>
        <p:nvSpPr>
          <p:cNvPr id="14" name="caps:eyebrow"/>
          <p:cNvSpPr txBox="1"/>
          <p:nvPr/>
        </p:nvSpPr>
        <p:spPr>
          <a:xfrm>
            <a:off x="5532120" y="1874520"/>
            <a:ext cx="620237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SAME BUTTON IN EVERY PRODUCT</a:t>
            </a:r>
            <a:endParaRPr lang="en-US" sz="1200" dirty="0"/>
          </a:p>
        </p:txBody>
      </p:sp>
      <p:sp>
        <p:nvSpPr>
          <p:cNvPr id="15" name="caption"/>
          <p:cNvSpPr txBox="1"/>
          <p:nvPr/>
        </p:nvSpPr>
        <p:spPr>
          <a:xfrm>
            <a:off x="5532120" y="2121408"/>
            <a:ext cx="6202375" cy="201168"/>
          </a:xfrm>
          <a:prstGeom prst="rect">
            <a:avLst/>
          </a:prstGeom>
          <a:noFill/>
          <a:ln/>
        </p:spPr>
        <p:txBody>
          <a:bodyPr wrap="square" lIns="0" tIns="0" rIns="0" bIns="0" rtlCol="0" anchor="t"/>
          <a:lstStyle/>
          <a:p>
            <a:pPr marL="0" indent="0">
              <a:buNone/>
            </a:pPr>
            <a:r>
              <a:rPr lang="en-US" sz="1150" b="1" dirty="0">
                <a:solidFill>
                  <a:srgbClr val="66686A"/>
                </a:solidFill>
                <a:latin typeface="Source Sans 3" pitchFamily="34" charset="0"/>
                <a:ea typeface="Source Sans 3" pitchFamily="34" charset="-122"/>
                <a:cs typeface="Source Sans 3" pitchFamily="34" charset="-120"/>
              </a:rPr>
              <a:t>calcofi.io</a:t>
            </a:r>
            <a:r>
              <a:rPr lang="en-US" sz="1150" dirty="0">
                <a:solidFill>
                  <a:srgbClr val="66686A"/>
                </a:solidFill>
                <a:latin typeface="Source Sans 3" pitchFamily="34" charset="0"/>
                <a:ea typeface="Source Sans 3" pitchFamily="34" charset="-122"/>
                <a:cs typeface="Source Sans 3" pitchFamily="34" charset="-120"/>
              </a:rPr>
              <a:t> — the landing page and the Datasets catalog share one header</a:t>
            </a:r>
            <a:endParaRPr lang="en-US" sz="1150" dirty="0"/>
          </a:p>
        </p:txBody>
      </p:sp>
      <p:pic>
        <p:nvPicPr>
          <p:cNvPr id="16" name="bar|rr16377" descr="/home/claude/work/media/s13_p3_1369x144_32a0f3be.png"/>
          <p:cNvPicPr>
            <a:picLocks noChangeAspect="1"/>
          </p:cNvPicPr>
          <p:nvPr/>
        </p:nvPicPr>
        <p:blipFill>
          <a:blip r:embed="rId6"/>
          <a:stretch>
            <a:fillRect/>
          </a:stretch>
        </p:blipFill>
        <p:spPr>
          <a:xfrm>
            <a:off x="6005404" y="2340864"/>
            <a:ext cx="3931920" cy="413584"/>
          </a:xfrm>
          <a:prstGeom prst="roundRect">
            <a:avLst>
              <a:gd name="adj" fmla="val 16377"/>
            </a:avLst>
          </a:prstGeom>
          <a:effectLst>
            <a:outerShdw blurRad="76200" dist="25400" dir="5400000" algn="bl" rotWithShape="0">
              <a:srgbClr val="182B49">
                <a:alpha val="18000"/>
              </a:srgbClr>
            </a:outerShdw>
          </a:effectLst>
        </p:spPr>
      </p:pic>
      <p:sp>
        <p:nvSpPr>
          <p:cNvPr id="17" name="caption"/>
          <p:cNvSpPr txBox="1"/>
          <p:nvPr/>
        </p:nvSpPr>
        <p:spPr>
          <a:xfrm>
            <a:off x="5532120" y="2845888"/>
            <a:ext cx="6202375" cy="20116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calcofi.io/</a:t>
            </a:r>
            <a:r>
              <a:rPr lang="en-US" sz="1150" b="1" dirty="0">
                <a:solidFill>
                  <a:srgbClr val="66686A"/>
                </a:solidFill>
                <a:latin typeface="Source Sans 3" pitchFamily="34" charset="0"/>
                <a:ea typeface="Source Sans 3" pitchFamily="34" charset="-122"/>
                <a:cs typeface="Source Sans 3" pitchFamily="34" charset="-120"/>
              </a:rPr>
              <a:t>docs</a:t>
            </a:r>
            <a:r>
              <a:rPr lang="en-US" sz="1150" dirty="0">
                <a:solidFill>
                  <a:srgbClr val="66686A"/>
                </a:solidFill>
                <a:latin typeface="Source Sans 3" pitchFamily="34" charset="0"/>
                <a:ea typeface="Source Sans 3" pitchFamily="34" charset="-122"/>
                <a:cs typeface="Source Sans 3" pitchFamily="34" charset="-120"/>
              </a:rPr>
              <a:t> — the book's sidebar tools</a:t>
            </a:r>
            <a:endParaRPr lang="en-US" sz="1150" dirty="0"/>
          </a:p>
        </p:txBody>
      </p:sp>
      <p:pic>
        <p:nvPicPr>
          <p:cNvPr id="18" name="bar|rr17778" descr="/home/claude/work/media/s13_p4_312x100_ed96566a.png"/>
          <p:cNvPicPr>
            <a:picLocks noChangeAspect="1"/>
          </p:cNvPicPr>
          <p:nvPr/>
        </p:nvPicPr>
        <p:blipFill>
          <a:blip r:embed="rId7"/>
          <a:stretch>
            <a:fillRect/>
          </a:stretch>
        </p:blipFill>
        <p:spPr>
          <a:xfrm>
            <a:off x="7938684" y="3065344"/>
            <a:ext cx="1188720" cy="381000"/>
          </a:xfrm>
          <a:prstGeom prst="roundRect">
            <a:avLst>
              <a:gd name="adj" fmla="val 17778"/>
            </a:avLst>
          </a:prstGeom>
          <a:effectLst>
            <a:outerShdw blurRad="76200" dist="25400" dir="5400000" algn="bl" rotWithShape="0">
              <a:srgbClr val="182B49">
                <a:alpha val="18000"/>
              </a:srgbClr>
            </a:outerShdw>
          </a:effectLst>
        </p:spPr>
      </p:pic>
      <p:sp>
        <p:nvSpPr>
          <p:cNvPr id="19" name="caption"/>
          <p:cNvSpPr txBox="1"/>
          <p:nvPr/>
        </p:nvSpPr>
        <p:spPr>
          <a:xfrm>
            <a:off x="5532120" y="3537784"/>
            <a:ext cx="6202375" cy="20116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calcofi.io/</a:t>
            </a:r>
            <a:r>
              <a:rPr lang="en-US" sz="1150" b="1" dirty="0">
                <a:solidFill>
                  <a:srgbClr val="66686A"/>
                </a:solidFill>
                <a:latin typeface="Source Sans 3" pitchFamily="34" charset="0"/>
                <a:ea typeface="Source Sans 3" pitchFamily="34" charset="-122"/>
                <a:cs typeface="Source Sans 3" pitchFamily="34" charset="-120"/>
              </a:rPr>
              <a:t>explore</a:t>
            </a:r>
            <a:r>
              <a:rPr lang="en-US" sz="1150" dirty="0">
                <a:solidFill>
                  <a:srgbClr val="66686A"/>
                </a:solidFill>
                <a:latin typeface="Source Sans 3" pitchFamily="34" charset="0"/>
                <a:ea typeface="Source Sans 3" pitchFamily="34" charset="-122"/>
                <a:cs typeface="Source Sans 3" pitchFamily="34" charset="-120"/>
              </a:rPr>
              <a:t> — the Explorer's own header</a:t>
            </a:r>
            <a:endParaRPr lang="en-US" sz="1150" dirty="0"/>
          </a:p>
        </p:txBody>
      </p:sp>
      <p:pic>
        <p:nvPicPr>
          <p:cNvPr id="20" name="bar|rr21570" descr="/home/claude/work/media/s13_p5_1025x88_fed17f65.png"/>
          <p:cNvPicPr>
            <a:picLocks noChangeAspect="1"/>
          </p:cNvPicPr>
          <p:nvPr/>
        </p:nvPicPr>
        <p:blipFill>
          <a:blip r:embed="rId8"/>
          <a:stretch>
            <a:fillRect/>
          </a:stretch>
        </p:blipFill>
        <p:spPr>
          <a:xfrm>
            <a:off x="5550408" y="3757240"/>
            <a:ext cx="3657600" cy="314018"/>
          </a:xfrm>
          <a:prstGeom prst="roundRect">
            <a:avLst>
              <a:gd name="adj" fmla="val 21570"/>
            </a:avLst>
          </a:prstGeom>
          <a:effectLst>
            <a:outerShdw blurRad="76200" dist="25400" dir="5400000" algn="bl" rotWithShape="0">
              <a:srgbClr val="182B49">
                <a:alpha val="18000"/>
              </a:srgbClr>
            </a:outerShdw>
          </a:effectLst>
        </p:spPr>
      </p:pic>
      <p:sp>
        <p:nvSpPr>
          <p:cNvPr id="21" name="guide"/>
          <p:cNvSpPr/>
          <p:nvPr/>
        </p:nvSpPr>
        <p:spPr>
          <a:xfrm>
            <a:off x="8736909" y="2359152"/>
            <a:ext cx="0" cy="1712106"/>
          </a:xfrm>
          <a:prstGeom prst="line">
            <a:avLst/>
          </a:prstGeom>
          <a:noFill/>
          <a:ln w="9525">
            <a:solidFill>
              <a:srgbClr val="B6B1A9"/>
            </a:solidFill>
            <a:prstDash val="dash"/>
          </a:ln>
        </p:spPr>
        <p:txBody>
          <a:bodyPr/>
          <a:lstStyle/>
          <a:p>
            <a:endParaRPr lang="en-US"/>
          </a:p>
        </p:txBody>
      </p:sp>
      <p:sp>
        <p:nvSpPr>
          <p:cNvPr id="22" name="callout"/>
          <p:cNvSpPr/>
          <p:nvPr/>
        </p:nvSpPr>
        <p:spPr>
          <a:xfrm>
            <a:off x="5532120" y="4180986"/>
            <a:ext cx="2372660" cy="603504"/>
          </a:xfrm>
          <a:prstGeom prst="roundRect">
            <a:avLst>
              <a:gd name="adj" fmla="val 13636"/>
            </a:avLst>
          </a:prstGeom>
          <a:solidFill>
            <a:srgbClr val="FFFFFF"/>
          </a:solidFill>
          <a:ln w="12700">
            <a:solidFill>
              <a:srgbClr val="FFFFFF"/>
            </a:solidFill>
            <a:prstDash val="solid"/>
          </a:ln>
          <a:effectLst>
            <a:outerShdw blurRad="76200" dist="25400" dir="5400000" algn="bl" rotWithShape="0">
              <a:srgbClr val="182B49">
                <a:alpha val="12000"/>
              </a:srgbClr>
            </a:outerShdw>
          </a:effectLst>
        </p:spPr>
        <p:txBody>
          <a:bodyPr/>
          <a:lstStyle/>
          <a:p>
            <a:endParaRPr lang="en-US"/>
          </a:p>
        </p:txBody>
      </p:sp>
      <p:pic>
        <p:nvPicPr>
          <p:cNvPr id="23" name="register|rr16103" descr="/home/claude/work/media/s13_p6_439x88_024f70d2.png"/>
          <p:cNvPicPr>
            <a:picLocks noChangeAspect="1"/>
          </p:cNvPicPr>
          <p:nvPr/>
        </p:nvPicPr>
        <p:blipFill>
          <a:blip r:embed="rId9"/>
          <a:stretch>
            <a:fillRect/>
          </a:stretch>
        </p:blipFill>
        <p:spPr>
          <a:xfrm>
            <a:off x="5669280" y="4272426"/>
            <a:ext cx="2098340" cy="420624"/>
          </a:xfrm>
          <a:prstGeom prst="roundRect">
            <a:avLst>
              <a:gd name="adj" fmla="val 16103"/>
            </a:avLst>
          </a:prstGeom>
          <a:effectLst>
            <a:outerShdw blurRad="76200" dist="25400" dir="5400000" algn="bl" rotWithShape="0">
              <a:srgbClr val="182B49">
                <a:alpha val="10000"/>
              </a:srgbClr>
            </a:outerShdw>
          </a:effectLst>
        </p:spPr>
      </p:pic>
      <p:sp>
        <p:nvSpPr>
          <p:cNvPr id="24" name="text"/>
          <p:cNvSpPr txBox="1"/>
          <p:nvPr/>
        </p:nvSpPr>
        <p:spPr>
          <a:xfrm>
            <a:off x="8087660" y="4217562"/>
            <a:ext cx="3646835" cy="603504"/>
          </a:xfrm>
          <a:prstGeom prst="rect">
            <a:avLst/>
          </a:prstGeom>
          <a:noFill/>
          <a:ln/>
        </p:spPr>
        <p:txBody>
          <a:bodyPr wrap="square" lIns="0" tIns="0" rIns="0" bIns="0" rtlCol="0" anchor="ctr"/>
          <a:lstStyle/>
          <a:p>
            <a:pPr marL="0" indent="0">
              <a:buNone/>
            </a:pPr>
            <a:r>
              <a:rPr lang="en-US" sz="1150" dirty="0">
                <a:solidFill>
                  <a:srgbClr val="66686A"/>
                </a:solidFill>
                <a:latin typeface="Source Sans 3" pitchFamily="34" charset="0"/>
                <a:ea typeface="Source Sans 3" pitchFamily="34" charset="-122"/>
                <a:cs typeface="Source Sans 3" pitchFamily="34" charset="-120"/>
              </a:rPr>
              <a:t>Share ③, Help ▾ and the Sources modal all carry it: "I used CalCOFI data in …".</a:t>
            </a:r>
            <a:endParaRPr lang="en-US" sz="1150" dirty="0"/>
          </a:p>
        </p:txBody>
      </p:sp>
      <p:sp>
        <p:nvSpPr>
          <p:cNvPr id="25" name="build:bullets"/>
          <p:cNvSpPr txBox="1"/>
          <p:nvPr/>
        </p:nvSpPr>
        <p:spPr>
          <a:xfrm>
            <a:off x="5532120" y="4894218"/>
            <a:ext cx="6202375" cy="1305414"/>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A report carries your note, the view's </a:t>
            </a:r>
            <a:r>
              <a:rPr lang="en-US" sz="1200" b="1" dirty="0">
                <a:solidFill>
                  <a:srgbClr val="182B49"/>
                </a:solidFill>
                <a:latin typeface="Source Sans 3" pitchFamily="34" charset="0"/>
                <a:ea typeface="Source Sans 3" pitchFamily="34" charset="-122"/>
                <a:cs typeface="Source Sans 3" pitchFamily="34" charset="-120"/>
              </a:rPr>
              <a:t>URL</a:t>
            </a:r>
            <a:r>
              <a:rPr lang="en-US" sz="1200" dirty="0">
                <a:solidFill>
                  <a:srgbClr val="182B49"/>
                </a:solidFill>
                <a:latin typeface="Source Sans 3" pitchFamily="34" charset="0"/>
                <a:ea typeface="Source Sans 3" pitchFamily="34" charset="-122"/>
                <a:cs typeface="Source Sans 3" pitchFamily="34" charset="-120"/>
              </a:rPr>
              <a:t>, the release, the datasets in view, the viewport and theme, and the </a:t>
            </a:r>
            <a:r>
              <a:rPr lang="en-US" sz="1200" b="1" dirty="0">
                <a:solidFill>
                  <a:srgbClr val="182B49"/>
                </a:solidFill>
                <a:latin typeface="Source Sans 3" pitchFamily="34" charset="0"/>
                <a:ea typeface="Source Sans 3" pitchFamily="34" charset="-122"/>
                <a:cs typeface="Source Sans 3" pitchFamily="34" charset="-120"/>
              </a:rPr>
              <a:t>marked-up screenshot</a:t>
            </a:r>
            <a:r>
              <a:rPr lang="en-US" sz="1200" dirty="0">
                <a:solidFill>
                  <a:srgbClr val="182B49"/>
                </a:solidFill>
                <a:latin typeface="Source Sans 3" pitchFamily="34" charset="0"/>
                <a:ea typeface="Source Sans 3" pitchFamily="34" charset="-122"/>
                <a:cs typeface="Source Sans 3" pitchFamily="34" charset="-120"/>
              </a:rPr>
              <a:t> — nothing else.</a:t>
            </a:r>
            <a:endParaRPr lang="en-US" sz="1200" dirty="0"/>
          </a:p>
          <a:p>
            <a:pPr marL="177800" indent="-177800">
              <a:lnSpc>
                <a:spcPct val="100000"/>
              </a:lnSpc>
              <a:spcAft>
                <a:spcPts val="4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It goes to the "CalCOFI app feedback" </a:t>
            </a:r>
            <a:r>
              <a:rPr lang="en-US" sz="1200" b="1" dirty="0" err="1">
                <a:solidFill>
                  <a:srgbClr val="182B49"/>
                </a:solidFill>
                <a:latin typeface="Source Sans 3" pitchFamily="34" charset="0"/>
                <a:ea typeface="Source Sans 3" pitchFamily="34" charset="-122"/>
                <a:cs typeface="Source Sans 3" pitchFamily="34" charset="-120"/>
              </a:rPr>
              <a:t>Gsheet</a:t>
            </a:r>
            <a:r>
              <a:rPr lang="en-US" sz="1200" dirty="0">
                <a:solidFill>
                  <a:srgbClr val="182B49"/>
                </a:solidFill>
                <a:latin typeface="Source Sans 3" pitchFamily="34" charset="0"/>
                <a:ea typeface="Source Sans 3" pitchFamily="34" charset="-122"/>
                <a:cs typeface="Source Sans 3" pitchFamily="34" charset="-120"/>
              </a:rPr>
              <a:t>, an </a:t>
            </a:r>
            <a:r>
              <a:rPr lang="en-US" sz="1200" b="1" dirty="0">
                <a:solidFill>
                  <a:srgbClr val="182B49"/>
                </a:solidFill>
                <a:latin typeface="Source Sans 3" pitchFamily="34" charset="0"/>
                <a:ea typeface="Source Sans 3" pitchFamily="34" charset="-122"/>
                <a:cs typeface="Source Sans 3" pitchFamily="34" charset="-120"/>
              </a:rPr>
              <a:t>email</a:t>
            </a:r>
            <a:r>
              <a:rPr lang="en-US" sz="1200" dirty="0">
                <a:solidFill>
                  <a:srgbClr val="182B49"/>
                </a:solidFill>
                <a:latin typeface="Source Sans 3" pitchFamily="34" charset="0"/>
                <a:ea typeface="Source Sans 3" pitchFamily="34" charset="-122"/>
                <a:cs typeface="Source Sans 3" pitchFamily="34" charset="-120"/>
              </a:rPr>
              <a:t> to Ben, Erin and Betty with the screenshot inline, and a public </a:t>
            </a:r>
            <a:r>
              <a:rPr lang="en-US" sz="1200" dirty="0" err="1">
                <a:solidFill>
                  <a:srgbClr val="182B49"/>
                </a:solidFill>
                <a:latin typeface="Source Sans 3" pitchFamily="34" charset="0"/>
                <a:ea typeface="Source Sans 3" pitchFamily="34" charset="-122"/>
                <a:cs typeface="Source Sans 3" pitchFamily="34" charset="-120"/>
              </a:rPr>
              <a:t>Github</a:t>
            </a:r>
            <a:r>
              <a:rPr lang="en-US" sz="1200" dirty="0">
                <a:solidFill>
                  <a:srgbClr val="182B49"/>
                </a:solidFill>
                <a:latin typeface="Source Sans 3" pitchFamily="34" charset="0"/>
                <a:ea typeface="Source Sans 3" pitchFamily="34" charset="-122"/>
                <a:cs typeface="Source Sans 3" pitchFamily="34" charset="-120"/>
              </a:rPr>
              <a:t> </a:t>
            </a:r>
            <a:r>
              <a:rPr lang="en-US" sz="1200" b="1" dirty="0">
                <a:solidFill>
                  <a:srgbClr val="182B49"/>
                </a:solidFill>
                <a:latin typeface="Source Sans 3" pitchFamily="34" charset="0"/>
                <a:ea typeface="Source Sans 3" pitchFamily="34" charset="-122"/>
                <a:cs typeface="Source Sans 3" pitchFamily="34" charset="-120"/>
              </a:rPr>
              <a:t>issue</a:t>
            </a:r>
            <a:r>
              <a:rPr lang="en-US" sz="1200" dirty="0">
                <a:solidFill>
                  <a:srgbClr val="182B49"/>
                </a:solidFill>
                <a:latin typeface="Source Sans 3" pitchFamily="34" charset="0"/>
                <a:ea typeface="Source Sans 3" pitchFamily="34" charset="-122"/>
                <a:cs typeface="Source Sans 3" pitchFamily="34" charset="-120"/>
              </a:rPr>
              <a:t> in that product's own repo.</a:t>
            </a:r>
            <a:endParaRPr lang="en-US" sz="1200" dirty="0"/>
          </a:p>
          <a:p>
            <a:pPr marL="177800" indent="-177800">
              <a:lnSpc>
                <a:spcPct val="100000"/>
              </a:lnSpc>
              <a:spcAft>
                <a:spcPts val="400"/>
              </a:spcAft>
              <a:buSzPct val="100000"/>
              <a:buChar char="•"/>
            </a:pPr>
            <a:r>
              <a:rPr lang="en-US" sz="1200" b="1" dirty="0">
                <a:solidFill>
                  <a:srgbClr val="182B49"/>
                </a:solidFill>
                <a:latin typeface="Source Sans 3" pitchFamily="34" charset="0"/>
                <a:ea typeface="Source Sans 3" pitchFamily="34" charset="-122"/>
                <a:cs typeface="Source Sans 3" pitchFamily="34" charset="-120"/>
              </a:rPr>
              <a:t>Register a product</a:t>
            </a:r>
            <a:r>
              <a:rPr lang="en-US" sz="1200" dirty="0">
                <a:solidFill>
                  <a:srgbClr val="182B49"/>
                </a:solidFill>
                <a:latin typeface="Source Sans 3" pitchFamily="34" charset="0"/>
                <a:ea typeface="Source Sans 3" pitchFamily="34" charset="-122"/>
                <a:cs typeface="Source Sans 3" pitchFamily="34" charset="-120"/>
              </a:rPr>
              <a:t> uses the same dialog and the same pipe — how someone tells us where the data ended up.</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calcofi.io/datasets/</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14</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DATASETS CATALOG · CALCOFI.IO/DATASETS</a:t>
            </a:r>
            <a:endParaRPr lang="en-US" sz="1200" dirty="0"/>
          </a:p>
        </p:txBody>
      </p:sp>
      <p:pic>
        <p:nvPicPr>
          <p:cNvPr id="9" name="icon ui-data" descr="/home/claude/work/icons/ui-data_navy.png"/>
          <p:cNvPicPr>
            <a:picLocks noChangeAspect="1"/>
          </p:cNvPicPr>
          <p:nvPr/>
        </p:nvPicPr>
        <p:blipFill>
          <a:blip r:embed="rId4"/>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Every dataset has one page, and every page has every endpoint</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987" descr="/home/claude/work/media/s14_p2_1200x1400_d975ccae.png"/>
          <p:cNvPicPr>
            <a:picLocks noChangeAspect="1"/>
          </p:cNvPicPr>
          <p:nvPr/>
        </p:nvPicPr>
        <p:blipFill>
          <a:blip r:embed="rId5"/>
          <a:stretch>
            <a:fillRect/>
          </a:stretch>
        </p:blipFill>
        <p:spPr>
          <a:xfrm>
            <a:off x="457200" y="1874520"/>
            <a:ext cx="3409406" cy="3977640"/>
          </a:xfrm>
          <a:prstGeom prst="roundRect">
            <a:avLst>
              <a:gd name="adj" fmla="val 1987"/>
            </a:avLst>
          </a:prstGeom>
          <a:effectLst>
            <a:outerShdw blurRad="76200" dist="25400" dir="5400000" algn="bl" rotWithShape="0">
              <a:srgbClr val="182B49">
                <a:alpha val="22000"/>
              </a:srgbClr>
            </a:outerShdw>
          </a:effectLst>
        </p:spPr>
      </p:pic>
      <p:sp>
        <p:nvSpPr>
          <p:cNvPr id="13" name="caption"/>
          <p:cNvSpPr txBox="1"/>
          <p:nvPr/>
        </p:nvSpPr>
        <p:spPr>
          <a:xfrm>
            <a:off x="457200" y="5916168"/>
            <a:ext cx="11277295" cy="274320"/>
          </a:xfrm>
          <a:prstGeom prst="rect">
            <a:avLst/>
          </a:prstGeom>
          <a:noFill/>
          <a:ln/>
        </p:spPr>
        <p:txBody>
          <a:bodyPr wrap="square" lIns="0" tIns="0" rIns="0" bIns="0" rtlCol="0" anchor="t"/>
          <a:lstStyle/>
          <a:p>
            <a:pPr marL="0" indent="0">
              <a:buNone/>
            </a:pPr>
            <a:r>
              <a:rPr lang="en-US" sz="1300" dirty="0">
                <a:solidFill>
                  <a:srgbClr val="66686A"/>
                </a:solidFill>
                <a:latin typeface="Source Sans 3" pitchFamily="34" charset="0"/>
                <a:ea typeface="Source Sans 3" pitchFamily="34" charset="-122"/>
                <a:cs typeface="Source Sans 3" pitchFamily="34" charset="-120"/>
              </a:rPr>
              <a:t>calcofi.io/datasets/ — 12 categories in Biology ‖ Environment columns; holdings collapsed under "not yet in the database".</a:t>
            </a:r>
            <a:endParaRPr lang="en-US" sz="1300" dirty="0"/>
          </a:p>
        </p:txBody>
      </p:sp>
      <p:sp>
        <p:nvSpPr>
          <p:cNvPr id="14" name="build:bullets"/>
          <p:cNvSpPr txBox="1"/>
          <p:nvPr/>
        </p:nvSpPr>
        <p:spPr>
          <a:xfrm>
            <a:off x="4278086" y="1920240"/>
            <a:ext cx="7456409" cy="393192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We were stuck showing datasets with </a:t>
            </a:r>
            <a:r>
              <a:rPr lang="en-US" sz="1700" b="1" dirty="0">
                <a:solidFill>
                  <a:srgbClr val="182B49"/>
                </a:solidFill>
                <a:latin typeface="Source Sans 3" pitchFamily="34" charset="0"/>
                <a:ea typeface="Source Sans 3" pitchFamily="34" charset="-122"/>
                <a:cs typeface="Source Sans 3" pitchFamily="34" charset="-120"/>
              </a:rPr>
              <a:t>credit</a:t>
            </a:r>
            <a:r>
              <a:rPr lang="en-US" sz="1700" dirty="0">
                <a:solidFill>
                  <a:srgbClr val="182B49"/>
                </a:solidFill>
                <a:latin typeface="Source Sans 3" pitchFamily="34" charset="0"/>
                <a:ea typeface="Source Sans 3" pitchFamily="34" charset="-122"/>
                <a:cs typeface="Source Sans 3" pitchFamily="34" charset="-120"/>
              </a:rPr>
              <a:t> inside the apps, and nobody could find "the </a:t>
            </a:r>
            <a:r>
              <a:rPr lang="en-US" sz="1700" b="1" dirty="0">
                <a:solidFill>
                  <a:srgbClr val="182B49"/>
                </a:solidFill>
                <a:latin typeface="Source Sans 3" pitchFamily="34" charset="0"/>
                <a:ea typeface="Source Sans 3" pitchFamily="34" charset="-122"/>
                <a:cs typeface="Source Sans 3" pitchFamily="34" charset="-120"/>
              </a:rPr>
              <a:t>ERDDAP</a:t>
            </a:r>
            <a:r>
              <a:rPr lang="en-US" sz="1700" dirty="0">
                <a:solidFill>
                  <a:srgbClr val="182B49"/>
                </a:solidFill>
                <a:latin typeface="Source Sans 3" pitchFamily="34" charset="0"/>
                <a:ea typeface="Source Sans 3" pitchFamily="34" charset="-122"/>
                <a:cs typeface="Source Sans 3" pitchFamily="34" charset="-120"/>
              </a:rPr>
              <a:t> one" or "the </a:t>
            </a:r>
            <a:r>
              <a:rPr lang="en-US" sz="1700" b="1" dirty="0">
                <a:solidFill>
                  <a:srgbClr val="182B49"/>
                </a:solidFill>
                <a:latin typeface="Source Sans 3" pitchFamily="34" charset="0"/>
                <a:ea typeface="Source Sans 3" pitchFamily="34" charset="-122"/>
                <a:cs typeface="Source Sans 3" pitchFamily="34" charset="-120"/>
              </a:rPr>
              <a:t>netCDF</a:t>
            </a:r>
            <a:r>
              <a:rPr lang="en-US" sz="1700" dirty="0">
                <a:solidFill>
                  <a:srgbClr val="182B49"/>
                </a:solidFill>
                <a:latin typeface="Source Sans 3" pitchFamily="34" charset="0"/>
                <a:ea typeface="Source Sans 3" pitchFamily="34" charset="-122"/>
                <a:cs typeface="Source Sans 3" pitchFamily="34" charset="-120"/>
              </a:rPr>
              <a:t> one".</a:t>
            </a:r>
            <a:endParaRPr lang="en-US" sz="1700" dirty="0"/>
          </a:p>
          <a:p>
            <a:pPr marL="177800" indent="-177800">
              <a:lnSpc>
                <a:spcPct val="100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Datasets catalog</a:t>
            </a:r>
            <a:r>
              <a:rPr lang="en-US" sz="1700" dirty="0">
                <a:solidFill>
                  <a:srgbClr val="182B49"/>
                </a:solidFill>
                <a:latin typeface="Source Sans 3" pitchFamily="34" charset="0"/>
                <a:ea typeface="Source Sans 3" pitchFamily="34" charset="-122"/>
                <a:cs typeface="Source Sans 3" pitchFamily="34" charset="-120"/>
              </a:rPr>
              <a:t>: </a:t>
            </a:r>
            <a:r>
              <a:rPr lang="en-US" sz="1700" b="1" i="1" dirty="0">
                <a:solidFill>
                  <a:srgbClr val="182B49"/>
                </a:solidFill>
                <a:latin typeface="Source Sans 3" pitchFamily="34" charset="0"/>
                <a:ea typeface="Source Sans 3" pitchFamily="34" charset="-122"/>
                <a:cs typeface="Source Sans 3" pitchFamily="34" charset="-120"/>
              </a:rPr>
              <a:t>16 datasets</a:t>
            </a:r>
            <a:r>
              <a:rPr lang="en-US" sz="1700" dirty="0">
                <a:solidFill>
                  <a:srgbClr val="182B49"/>
                </a:solidFill>
                <a:latin typeface="Source Sans 3" pitchFamily="34" charset="0"/>
                <a:ea typeface="Source Sans 3" pitchFamily="34" charset="-122"/>
                <a:cs typeface="Source Sans 3" pitchFamily="34" charset="-120"/>
              </a:rPr>
              <a:t> in the database + 17 holdings (not yet in the </a:t>
            </a:r>
            <a:r>
              <a:rPr lang="en-US" sz="1700" dirty="0" err="1">
                <a:solidFill>
                  <a:srgbClr val="182B49"/>
                </a:solidFill>
                <a:latin typeface="Source Sans 3" pitchFamily="34" charset="0"/>
                <a:ea typeface="Source Sans 3" pitchFamily="34" charset="-122"/>
                <a:cs typeface="Source Sans 3" pitchFamily="34" charset="-120"/>
              </a:rPr>
              <a:t>db</a:t>
            </a:r>
            <a:r>
              <a:rPr lang="en-US" cap="all" dirty="0"/>
              <a:t>)</a:t>
            </a:r>
            <a:r>
              <a:rPr lang="en-US" sz="1700" dirty="0">
                <a:solidFill>
                  <a:srgbClr val="182B49"/>
                </a:solidFill>
                <a:latin typeface="Source Sans 3" pitchFamily="34" charset="0"/>
                <a:ea typeface="Source Sans 3" pitchFamily="34" charset="-122"/>
                <a:cs typeface="Source Sans 3" pitchFamily="34" charset="-120"/>
              </a:rPr>
              <a:t>, by </a:t>
            </a:r>
            <a:r>
              <a:rPr lang="en-US" sz="1700" b="1" i="1" dirty="0">
                <a:solidFill>
                  <a:srgbClr val="182B49"/>
                </a:solidFill>
                <a:latin typeface="Source Sans 3" pitchFamily="34" charset="0"/>
                <a:ea typeface="Source Sans 3" pitchFamily="34" charset="-122"/>
                <a:cs typeface="Source Sans 3" pitchFamily="34" charset="-120"/>
              </a:rPr>
              <a:t>realm</a:t>
            </a:r>
            <a:r>
              <a:rPr lang="en-US" sz="1700" dirty="0">
                <a:solidFill>
                  <a:srgbClr val="182B49"/>
                </a:solidFill>
                <a:latin typeface="Source Sans 3" pitchFamily="34" charset="0"/>
                <a:ea typeface="Source Sans 3" pitchFamily="34" charset="-122"/>
                <a:cs typeface="Source Sans 3" pitchFamily="34" charset="-120"/>
              </a:rPr>
              <a:t> (bio/env), </a:t>
            </a:r>
            <a:r>
              <a:rPr lang="en-US" sz="1700" b="1" i="1" dirty="0">
                <a:solidFill>
                  <a:srgbClr val="182B49"/>
                </a:solidFill>
                <a:latin typeface="Source Sans 3" pitchFamily="34" charset="0"/>
                <a:ea typeface="Source Sans 3" pitchFamily="34" charset="-122"/>
                <a:cs typeface="Source Sans 3" pitchFamily="34" charset="-120"/>
              </a:rPr>
              <a:t>category</a:t>
            </a:r>
            <a:r>
              <a:rPr lang="en-US" sz="1700" dirty="0">
                <a:solidFill>
                  <a:srgbClr val="182B49"/>
                </a:solidFill>
                <a:latin typeface="Source Sans 3" pitchFamily="34" charset="0"/>
                <a:ea typeface="Source Sans 3" pitchFamily="34" charset="-122"/>
                <a:cs typeface="Source Sans 3" pitchFamily="34" charset="-120"/>
              </a:rPr>
              <a:t> with the brand </a:t>
            </a:r>
            <a:r>
              <a:rPr lang="en-US" sz="1700" b="1" i="1" dirty="0">
                <a:solidFill>
                  <a:srgbClr val="182B49"/>
                </a:solidFill>
                <a:latin typeface="Source Sans 3" pitchFamily="34" charset="0"/>
                <a:ea typeface="Source Sans 3" pitchFamily="34" charset="-122"/>
                <a:cs typeface="Source Sans 3" pitchFamily="34" charset="-120"/>
              </a:rPr>
              <a:t>icons</a:t>
            </a:r>
            <a:r>
              <a:rPr lang="en-US" sz="1700" dirty="0">
                <a:solidFill>
                  <a:srgbClr val="182B49"/>
                </a:solidFill>
                <a:latin typeface="Source Sans 3" pitchFamily="34" charset="0"/>
                <a:ea typeface="Source Sans 3" pitchFamily="34" charset="-122"/>
                <a:cs typeface="Source Sans 3" pitchFamily="34" charset="-120"/>
              </a:rPr>
              <a:t>, generated from the release.</a:t>
            </a:r>
            <a:endParaRPr lang="en-US" sz="1700" dirty="0"/>
          </a:p>
          <a:p>
            <a:pPr marL="177800" indent="-177800">
              <a:lnSpc>
                <a:spcPct val="105000"/>
              </a:lnSpc>
              <a:spcAft>
                <a:spcPts val="800"/>
              </a:spcAft>
              <a:buSzPct val="100000"/>
              <a:buChar char="•"/>
            </a:pPr>
            <a:r>
              <a:rPr lang="en-US" sz="1700" dirty="0">
                <a:solidFill>
                  <a:srgbClr val="182B49"/>
                </a:solidFill>
                <a:latin typeface="Source Sans 3" pitchFamily="34" charset="0"/>
                <a:ea typeface="Source Sans 3" pitchFamily="34" charset="-122"/>
                <a:cs typeface="Source Sans 3" pitchFamily="34" charset="-120"/>
              </a:rPr>
              <a:t>The 17 </a:t>
            </a:r>
            <a:r>
              <a:rPr lang="en-US" sz="1700" b="1" dirty="0">
                <a:solidFill>
                  <a:srgbClr val="182B49"/>
                </a:solidFill>
                <a:latin typeface="Source Sans 3" pitchFamily="34" charset="0"/>
                <a:ea typeface="Source Sans 3" pitchFamily="34" charset="-122"/>
                <a:cs typeface="Source Sans 3" pitchFamily="34" charset="-120"/>
              </a:rPr>
              <a:t>‘holdings’</a:t>
            </a:r>
            <a:r>
              <a:rPr lang="en-US" sz="1700" dirty="0">
                <a:solidFill>
                  <a:srgbClr val="182B49"/>
                </a:solidFill>
                <a:latin typeface="Source Sans 3" pitchFamily="34" charset="0"/>
                <a:ea typeface="Source Sans 3" pitchFamily="34" charset="-122"/>
                <a:cs typeface="Source Sans 3" pitchFamily="34" charset="-120"/>
              </a:rPr>
              <a:t> are “not yet published”, all public archives already (EDI, Stanford SDR, Zenodo, NCBI, CoastWatch ERDDAP, IFCB) — 10 external, 7 archived; one line hides any of them.</a:t>
            </a:r>
            <a:endParaRPr lang="en-US" sz="17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calcofi.io/datasets/swfsc_ichthyo/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15</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DATASETS CATALOG · ONE PAGE</a:t>
            </a:r>
            <a:endParaRPr lang="en-US" sz="1200" dirty="0"/>
          </a:p>
        </p:txBody>
      </p:sp>
      <p:pic>
        <p:nvPicPr>
          <p:cNvPr id="9" name="icon ui-data" descr="/home/claude/work/icons/ui-data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A dataset page, top to bottom</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1703" descr="/home/claude/work/media/s15_p2_1200x900_08d4fb5e.png"/>
          <p:cNvPicPr>
            <a:picLocks noChangeAspect="1"/>
          </p:cNvPicPr>
          <p:nvPr/>
        </p:nvPicPr>
        <p:blipFill>
          <a:blip r:embed="rId6"/>
          <a:stretch>
            <a:fillRect/>
          </a:stretch>
        </p:blipFill>
        <p:spPr>
          <a:xfrm>
            <a:off x="457200" y="1874520"/>
            <a:ext cx="5303520" cy="3977640"/>
          </a:xfrm>
          <a:prstGeom prst="roundRect">
            <a:avLst>
              <a:gd name="adj" fmla="val 1703"/>
            </a:avLst>
          </a:prstGeom>
          <a:effectLst>
            <a:outerShdw blurRad="76200" dist="25400" dir="5400000" algn="bl" rotWithShape="0">
              <a:srgbClr val="182B49">
                <a:alpha val="22000"/>
              </a:srgbClr>
            </a:outerShdw>
          </a:effectLst>
        </p:spPr>
      </p:pic>
      <p:sp>
        <p:nvSpPr>
          <p:cNvPr id="13" name="caption"/>
          <p:cNvSpPr txBox="1"/>
          <p:nvPr/>
        </p:nvSpPr>
        <p:spPr>
          <a:xfrm>
            <a:off x="457200" y="5916168"/>
            <a:ext cx="11277295" cy="274320"/>
          </a:xfrm>
          <a:prstGeom prst="rect">
            <a:avLst/>
          </a:prstGeom>
          <a:noFill/>
          <a:ln/>
        </p:spPr>
        <p:txBody>
          <a:bodyPr wrap="square" lIns="0" tIns="0" rIns="0" bIns="0" rtlCol="0" anchor="t"/>
          <a:lstStyle/>
          <a:p>
            <a:pPr marL="0" indent="0">
              <a:buNone/>
            </a:pPr>
            <a:r>
              <a:rPr lang="en-US" sz="1300" dirty="0">
                <a:solidFill>
                  <a:srgbClr val="66686A"/>
                </a:solidFill>
                <a:latin typeface="Source Sans 3" pitchFamily="34" charset="0"/>
                <a:ea typeface="Source Sans 3" pitchFamily="34" charset="-122"/>
                <a:cs typeface="Source Sans 3" pitchFamily="34" charset="-120"/>
              </a:rPr>
              <a:t>calcofi.io/datasets/swfsc_ichthyo/ — the SWFSC ichthyoplankton page.</a:t>
            </a:r>
            <a:endParaRPr lang="en-US" sz="1300" dirty="0"/>
          </a:p>
        </p:txBody>
      </p:sp>
      <p:sp>
        <p:nvSpPr>
          <p:cNvPr id="14" name="build:bullets"/>
          <p:cNvSpPr txBox="1"/>
          <p:nvPr/>
        </p:nvSpPr>
        <p:spPr>
          <a:xfrm>
            <a:off x="6172200" y="1920240"/>
            <a:ext cx="5562295" cy="3931920"/>
          </a:xfrm>
          <a:prstGeom prst="rect">
            <a:avLst/>
          </a:prstGeom>
          <a:noFill/>
          <a:ln/>
        </p:spPr>
        <p:txBody>
          <a:bodyPr wrap="square" lIns="0" tIns="0" rIns="0" bIns="0" rtlCol="0" anchor="t"/>
          <a:lstStyle/>
          <a:p>
            <a:pPr marL="177800" indent="-177800">
              <a:lnSpc>
                <a:spcPct val="105000"/>
              </a:lnSpc>
              <a:spcAft>
                <a:spcPts val="800"/>
              </a:spcAft>
              <a:buSzPct val="100000"/>
              <a:buFontTx/>
              <a:buChar char="•"/>
            </a:pPr>
            <a:r>
              <a:rPr lang="en-US" sz="1700" b="1" dirty="0">
                <a:solidFill>
                  <a:srgbClr val="182B49"/>
                </a:solidFill>
                <a:latin typeface="Source Sans 3" pitchFamily="34" charset="0"/>
                <a:ea typeface="Source Sans 3" pitchFamily="34" charset="-122"/>
                <a:cs typeface="Source Sans 3" pitchFamily="34" charset="-120"/>
              </a:rPr>
              <a:t>Datasets page</a:t>
            </a:r>
            <a:r>
              <a:rPr lang="en-US" sz="1700" dirty="0">
                <a:solidFill>
                  <a:srgbClr val="182B49"/>
                </a:solidFill>
                <a:latin typeface="Source Sans 3" pitchFamily="34" charset="0"/>
                <a:ea typeface="Source Sans 3" pitchFamily="34" charset="-122"/>
                <a:cs typeface="Source Sans 3" pitchFamily="34" charset="-120"/>
              </a:rPr>
              <a:t>: hover/click for its observation by year (time) or station (map).</a:t>
            </a:r>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Explore apps</a:t>
            </a:r>
            <a:r>
              <a:rPr lang="en-US" sz="1700" dirty="0">
                <a:solidFill>
                  <a:srgbClr val="182B49"/>
                </a:solidFill>
                <a:latin typeface="Source Sans 3" pitchFamily="34" charset="0"/>
                <a:ea typeface="Source Sans 3" pitchFamily="34" charset="-122"/>
                <a:cs typeface="Source Sans 3" pitchFamily="34" charset="-120"/>
              </a:rPr>
              <a:t>: open to the dataset</a:t>
            </a:r>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Data files</a:t>
            </a:r>
            <a:r>
              <a:rPr lang="en-US" sz="1700" dirty="0">
                <a:solidFill>
                  <a:srgbClr val="182B49"/>
                </a:solidFill>
                <a:latin typeface="Source Sans 3" pitchFamily="34" charset="0"/>
                <a:ea typeface="Source Sans 3" pitchFamily="34" charset="-122"/>
                <a:cs typeface="Source Sans 3" pitchFamily="34" charset="-120"/>
              </a:rPr>
              <a:t>: parquet, </a:t>
            </a:r>
            <a:r>
              <a:rPr lang="en-US" sz="1700" dirty="0" err="1">
                <a:solidFill>
                  <a:srgbClr val="182B49"/>
                </a:solidFill>
                <a:latin typeface="Source Sans 3" pitchFamily="34" charset="0"/>
                <a:ea typeface="Source Sans 3" pitchFamily="34" charset="-122"/>
                <a:cs typeface="Source Sans 3" pitchFamily="34" charset="-120"/>
              </a:rPr>
              <a:t>netCDF</a:t>
            </a:r>
            <a:r>
              <a:rPr lang="en-US" sz="1700" dirty="0">
                <a:solidFill>
                  <a:srgbClr val="182B49"/>
                </a:solidFill>
                <a:latin typeface="Source Sans 3" pitchFamily="34" charset="0"/>
                <a:ea typeface="Source Sans 3" pitchFamily="34" charset="-122"/>
                <a:cs typeface="Source Sans 3" pitchFamily="34" charset="-120"/>
              </a:rPr>
              <a:t>, ERDDAP (CSV, JSON,…)</a:t>
            </a:r>
          </a:p>
          <a:p>
            <a:pPr marL="177800" indent="-177800">
              <a:lnSpc>
                <a:spcPct val="105000"/>
              </a:lnSpc>
              <a:spcAft>
                <a:spcPts val="800"/>
              </a:spcAft>
              <a:buSzPct val="100000"/>
              <a:buFontTx/>
              <a:buChar char="•"/>
            </a:pPr>
            <a:r>
              <a:rPr lang="en-US" sz="1700" b="1" dirty="0">
                <a:solidFill>
                  <a:srgbClr val="182B49"/>
                </a:solidFill>
                <a:latin typeface="Source Sans 3" pitchFamily="34" charset="0"/>
                <a:ea typeface="Source Sans 3" pitchFamily="34" charset="-122"/>
                <a:cs typeface="Source Sans 3" pitchFamily="34" charset="-120"/>
              </a:rPr>
              <a:t>Code snippets</a:t>
            </a:r>
            <a:r>
              <a:rPr lang="en-US" sz="1700" dirty="0">
                <a:solidFill>
                  <a:srgbClr val="182B49"/>
                </a:solidFill>
                <a:latin typeface="Source Sans 3" pitchFamily="34" charset="0"/>
                <a:ea typeface="Source Sans 3" pitchFamily="34" charset="-122"/>
                <a:cs typeface="Source Sans 3" pitchFamily="34" charset="-120"/>
              </a:rPr>
              <a:t>: SQL, </a:t>
            </a:r>
            <a:r>
              <a:rPr lang="en-US" sz="1400" dirty="0">
                <a:solidFill>
                  <a:srgbClr val="182B49"/>
                </a:solidFill>
                <a:latin typeface="Source Sans 3" pitchFamily="34" charset="0"/>
                <a:ea typeface="Source Sans 3" pitchFamily="34" charset="-122"/>
                <a:cs typeface="Source Sans 3" pitchFamily="34" charset="-120"/>
              </a:rPr>
              <a:t>calcofi4</a:t>
            </a:r>
            <a:r>
              <a:rPr lang="en-US" sz="1700" dirty="0">
                <a:solidFill>
                  <a:srgbClr val="182B49"/>
                </a:solidFill>
                <a:latin typeface="Source Sans 3" pitchFamily="34" charset="0"/>
                <a:ea typeface="Source Sans 3" pitchFamily="34" charset="-122"/>
                <a:cs typeface="Source Sans 3" pitchFamily="34" charset="-120"/>
              </a:rPr>
              <a:t>R, </a:t>
            </a:r>
            <a:r>
              <a:rPr lang="en-US" sz="1400" dirty="0">
                <a:solidFill>
                  <a:srgbClr val="182B49"/>
                </a:solidFill>
                <a:latin typeface="Source Sans 3" pitchFamily="34" charset="0"/>
                <a:ea typeface="Source Sans 3" pitchFamily="34" charset="-122"/>
                <a:cs typeface="Source Sans 3" pitchFamily="34" charset="-120"/>
              </a:rPr>
              <a:t>calcofi4</a:t>
            </a:r>
            <a:r>
              <a:rPr lang="en-US" sz="1700" dirty="0">
                <a:solidFill>
                  <a:srgbClr val="182B49"/>
                </a:solidFill>
                <a:latin typeface="Source Sans 3" pitchFamily="34" charset="0"/>
                <a:ea typeface="Source Sans 3" pitchFamily="34" charset="-122"/>
                <a:cs typeface="Source Sans 3" pitchFamily="34" charset="-120"/>
              </a:rPr>
              <a:t>Py, </a:t>
            </a:r>
            <a:r>
              <a:rPr lang="en-US" sz="1700" dirty="0" err="1">
                <a:solidFill>
                  <a:srgbClr val="182B49"/>
                </a:solidFill>
                <a:latin typeface="Source Sans 3" pitchFamily="34" charset="0"/>
                <a:ea typeface="Source Sans 3" pitchFamily="34" charset="-122"/>
                <a:cs typeface="Source Sans 3" pitchFamily="34" charset="-120"/>
              </a:rPr>
              <a:t>db</a:t>
            </a:r>
            <a:r>
              <a:rPr lang="en-US" sz="1700" dirty="0">
                <a:solidFill>
                  <a:srgbClr val="182B49"/>
                </a:solidFill>
                <a:latin typeface="Source Sans 3" pitchFamily="34" charset="0"/>
                <a:ea typeface="Source Sans 3" pitchFamily="34" charset="-122"/>
                <a:cs typeface="Source Sans 3" pitchFamily="34" charset="-120"/>
              </a:rPr>
              <a:t>-query</a:t>
            </a:r>
            <a:endParaRPr lang="en-US" sz="1700" dirty="0"/>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Metadata formats</a:t>
            </a:r>
            <a:r>
              <a:rPr lang="en-US" sz="1700" dirty="0">
                <a:solidFill>
                  <a:srgbClr val="182B49"/>
                </a:solidFill>
                <a:latin typeface="Source Sans 3" pitchFamily="34" charset="0"/>
                <a:ea typeface="Source Sans 3" pitchFamily="34" charset="-122"/>
                <a:cs typeface="Source Sans 3" pitchFamily="34" charset="-120"/>
              </a:rPr>
              <a:t>: STAC, EML, JSON-LD.</a:t>
            </a:r>
            <a:endParaRPr lang="en-US" sz="1700" dirty="0"/>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Portals &amp; archives</a:t>
            </a:r>
            <a:r>
              <a:rPr lang="en-US" sz="1700" dirty="0">
                <a:solidFill>
                  <a:srgbClr val="182B49"/>
                </a:solidFill>
                <a:latin typeface="Source Sans 3" pitchFamily="34" charset="0"/>
                <a:ea typeface="Source Sans 3" pitchFamily="34" charset="-122"/>
                <a:cs typeface="Source Sans 3" pitchFamily="34" charset="-120"/>
              </a:rPr>
              <a:t>: policy per bio/env &amp; source; OBIS (bio) vs EDI (env) vs ERDDAP (service)</a:t>
            </a:r>
            <a:endParaRPr lang="en-US" sz="1700" dirty="0"/>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Cite</a:t>
            </a:r>
            <a:r>
              <a:rPr lang="en-US" sz="1700" dirty="0">
                <a:solidFill>
                  <a:srgbClr val="182B49"/>
                </a:solidFill>
                <a:latin typeface="Source Sans 3" pitchFamily="34" charset="0"/>
                <a:ea typeface="Source Sans 3" pitchFamily="34" charset="-122"/>
                <a:cs typeface="Source Sans 3" pitchFamily="34" charset="-120"/>
              </a:rPr>
              <a:t>: dataset and integrated database</a:t>
            </a:r>
            <a:endParaRPr lang="en-US" sz="1700" b="1" dirty="0">
              <a:solidFill>
                <a:srgbClr val="182B49"/>
              </a:solidFill>
              <a:latin typeface="Source Sans 3" pitchFamily="34" charset="0"/>
              <a:ea typeface="Source Sans 3" pitchFamily="34" charset="-122"/>
              <a:cs typeface="Source Sans 3" pitchFamily="34" charset="-120"/>
            </a:endParaRPr>
          </a:p>
          <a:p>
            <a:pPr marL="177800" indent="-177800">
              <a:lnSpc>
                <a:spcPct val="105000"/>
              </a:lnSpc>
              <a:spcAft>
                <a:spcPts val="800"/>
              </a:spcAft>
              <a:buSzPct val="100000"/>
              <a:buChar char="•"/>
            </a:pPr>
            <a:r>
              <a:rPr lang="en-US" sz="1700" b="1" dirty="0">
                <a:solidFill>
                  <a:srgbClr val="182B49"/>
                </a:solidFill>
                <a:latin typeface="Source Sans 3" pitchFamily="34" charset="0"/>
                <a:ea typeface="Source Sans 3" pitchFamily="34" charset="-122"/>
                <a:cs typeface="Source Sans 3" pitchFamily="34" charset="-120"/>
              </a:rPr>
              <a:t>Source files</a:t>
            </a:r>
            <a:r>
              <a:rPr lang="en-US" sz="1700" dirty="0">
                <a:solidFill>
                  <a:srgbClr val="182B49"/>
                </a:solidFill>
                <a:latin typeface="Source Sans 3" pitchFamily="34" charset="0"/>
                <a:ea typeface="Source Sans 3" pitchFamily="34" charset="-122"/>
                <a:cs typeface="Source Sans 3" pitchFamily="34" charset="-120"/>
              </a:rPr>
              <a:t>: measured coverage.</a:t>
            </a:r>
            <a:endParaRPr lang="en-US" sz="17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calcofi.io/workflows/  (publish_to-obis · publish_to-edi · publish_to-erddap · publish_to-netcdf)</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16</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PUBLISHING</a:t>
            </a:r>
            <a:endParaRPr lang="en-US" sz="1200" dirty="0"/>
          </a:p>
        </p:txBody>
      </p:sp>
      <p:pic>
        <p:nvPicPr>
          <p:cNvPr id="9" name="icon ui-share" descr="/home/claude/work/icons/ui-shar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The generic publishers work, and they wait for a decision, not a build</a:t>
            </a:r>
            <a:endParaRPr lang="en-US" sz="3400" dirty="0"/>
          </a:p>
        </p:txBody>
      </p:sp>
      <p:graphicFrame>
        <p:nvGraphicFramePr>
          <p:cNvPr id="11" name="build:table"/>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4144975">
                  <a:extLst>
                    <a:ext uri="{9D8B030D-6E8A-4147-A177-3AD203B41FA5}">
                      <a16:colId xmlns:a16="http://schemas.microsoft.com/office/drawing/2014/main" val="20003"/>
                    </a:ext>
                  </a:extLst>
                </a:gridCol>
              </a:tblGrid>
              <a:tr h="365760">
                <a:tc>
                  <a:txBody>
                    <a:bodyPr/>
                    <a:lstStyle/>
                    <a:p>
                      <a:pPr marL="0" indent="0">
                        <a:buNone/>
                      </a:pPr>
                      <a:r>
                        <a:rPr lang="en-US" sz="1300" b="1" kern="0" spc="60" dirty="0">
                          <a:solidFill>
                            <a:srgbClr val="FFFFFF"/>
                          </a:solidFill>
                          <a:latin typeface="Source Sans 3" pitchFamily="34" charset="0"/>
                          <a:ea typeface="Source Sans 3" pitchFamily="34" charset="-122"/>
                          <a:cs typeface="Source Sans 3" pitchFamily="34" charset="-120"/>
                        </a:rPr>
                        <a:t>Portal</a:t>
                      </a:r>
                      <a:endParaRPr lang="en-US" sz="13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300" b="1" kern="0" spc="60" dirty="0">
                          <a:solidFill>
                            <a:srgbClr val="FFFFFF"/>
                          </a:solidFill>
                          <a:latin typeface="Source Sans 3" pitchFamily="34" charset="0"/>
                          <a:ea typeface="Source Sans 3" pitchFamily="34" charset="-122"/>
                          <a:cs typeface="Source Sans 3" pitchFamily="34" charset="-120"/>
                        </a:rPr>
                        <a:t>What</a:t>
                      </a:r>
                      <a:endParaRPr lang="en-US" sz="13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300" b="1" kern="0" spc="60" dirty="0">
                          <a:solidFill>
                            <a:srgbClr val="FFFFFF"/>
                          </a:solidFill>
                          <a:latin typeface="Source Sans 3" pitchFamily="34" charset="0"/>
                          <a:ea typeface="Source Sans 3" pitchFamily="34" charset="-122"/>
                          <a:cs typeface="Source Sans 3" pitchFamily="34" charset="-120"/>
                        </a:rPr>
                        <a:t>How many</a:t>
                      </a:r>
                      <a:endParaRPr lang="en-US" sz="13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300" b="1" kern="0" spc="60" dirty="0">
                          <a:solidFill>
                            <a:srgbClr val="FFFFFF"/>
                          </a:solidFill>
                          <a:latin typeface="Source Sans 3" pitchFamily="34" charset="0"/>
                          <a:ea typeface="Source Sans 3" pitchFamily="34" charset="-122"/>
                          <a:cs typeface="Source Sans 3" pitchFamily="34" charset="-120"/>
                        </a:rPr>
                        <a:t>State</a:t>
                      </a:r>
                      <a:endParaRPr lang="en-US" sz="13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182B49"/>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182B49"/>
                          </a:solidFill>
                          <a:latin typeface="Source Sans 3" pitchFamily="34" charset="0"/>
                          <a:ea typeface="Source Sans 3" pitchFamily="34" charset="-122"/>
                          <a:cs typeface="Source Sans 3" pitchFamily="34" charset="-120"/>
                        </a:rPr>
                        <a:t>OBIS</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Darwin Core archives (DwC-A), one per bio dataset</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10</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staged at gs://calcofi-db/publish/dwca/</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182B49"/>
                          </a:solidFill>
                          <a:latin typeface="Source Sans 3" pitchFamily="34" charset="0"/>
                          <a:ea typeface="Source Sans 3" pitchFamily="34" charset="-122"/>
                          <a:cs typeface="Source Sans 3" pitchFamily="34" charset="-120"/>
                        </a:rPr>
                        <a:t>EDI</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Data packages: bottle, CTD casts, METS</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3</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staged (built, byte-stable; deposited when we say so)</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182B49"/>
                          </a:solidFill>
                          <a:latin typeface="Source Sans 3" pitchFamily="34" charset="0"/>
                          <a:ea typeface="Source Sans 3" pitchFamily="34" charset="-122"/>
                          <a:cs typeface="Source Sans 3" pitchFamily="34" charset="-120"/>
                        </a:rPr>
                        <a:t>ERDDAP</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Datasets served by erddap.calcofi.io</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44</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live</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182B49"/>
                          </a:solidFill>
                          <a:latin typeface="Source Sans 3" pitchFamily="34" charset="0"/>
                          <a:ea typeface="Source Sans 3" pitchFamily="34" charset="-122"/>
                          <a:cs typeface="Source Sans 3" pitchFamily="34" charset="-120"/>
                        </a:rPr>
                        <a:t>netCDF</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CF netCDF, one per dataset</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one per dataset</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82B49"/>
                          </a:solidFill>
                          <a:latin typeface="Source Sans 3" pitchFamily="34" charset="0"/>
                          <a:ea typeface="Source Sans 3" pitchFamily="34" charset="-122"/>
                          <a:cs typeface="Source Sans 3" pitchFamily="34" charset="-120"/>
                        </a:rPr>
                        <a:t>live at storage.calcofi.io/calcofi-files-public/netcdf/</a:t>
                      </a:r>
                      <a:endParaRPr lang="en-US" sz="1400" dirty="0">
                        <a:latin typeface="Source Sans 3" charset="0"/>
                        <a:ea typeface="Source Sans 3" charset="0"/>
                        <a:cs typeface="Source Sans 3"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12" name="build:bullets"/>
          <p:cNvSpPr txBox="1"/>
          <p:nvPr/>
        </p:nvSpPr>
        <p:spPr>
          <a:xfrm>
            <a:off x="457200" y="4343400"/>
            <a:ext cx="11277295" cy="1828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600" dirty="0">
                <a:solidFill>
                  <a:srgbClr val="182B49"/>
                </a:solidFill>
                <a:latin typeface="Source Sans 3" pitchFamily="34" charset="0"/>
                <a:ea typeface="Source Sans 3" pitchFamily="34" charset="-122"/>
                <a:cs typeface="Source Sans 3" pitchFamily="34" charset="-120"/>
              </a:rPr>
              <a:t>"</a:t>
            </a:r>
            <a:r>
              <a:rPr lang="en-US" sz="1600" b="1" dirty="0">
                <a:solidFill>
                  <a:srgbClr val="182B49"/>
                </a:solidFill>
                <a:latin typeface="Source Sans 3" pitchFamily="34" charset="0"/>
                <a:ea typeface="Source Sans 3" pitchFamily="34" charset="-122"/>
                <a:cs typeface="Source Sans 3" pitchFamily="34" charset="-120"/>
              </a:rPr>
              <a:t>Staged</a:t>
            </a:r>
            <a:r>
              <a:rPr lang="en-US" sz="1600" dirty="0">
                <a:solidFill>
                  <a:srgbClr val="182B49"/>
                </a:solidFill>
                <a:latin typeface="Source Sans 3" pitchFamily="34" charset="0"/>
                <a:ea typeface="Source Sans 3" pitchFamily="34" charset="-122"/>
                <a:cs typeface="Source Sans 3" pitchFamily="34" charset="-120"/>
              </a:rPr>
              <a:t>" means built and byte-stable: a re-run is a hash comparison; a deposit happens only when we say so.</a:t>
            </a:r>
            <a:endParaRPr lang="en-US" sz="1600" dirty="0"/>
          </a:p>
          <a:p>
            <a:pPr marL="177800" indent="-177800">
              <a:lnSpc>
                <a:spcPct val="105000"/>
              </a:lnSpc>
              <a:spcAft>
                <a:spcPts val="800"/>
              </a:spcAft>
              <a:buSzPct val="100000"/>
              <a:buChar char="•"/>
            </a:pPr>
            <a:r>
              <a:rPr lang="en-US" sz="1600" dirty="0">
                <a:solidFill>
                  <a:srgbClr val="182B49"/>
                </a:solidFill>
                <a:latin typeface="Source Sans 3" pitchFamily="34" charset="0"/>
                <a:ea typeface="Source Sans 3" pitchFamily="34" charset="-122"/>
                <a:cs typeface="Source Sans 3" pitchFamily="34" charset="-120"/>
              </a:rPr>
              <a:t>The </a:t>
            </a:r>
            <a:r>
              <a:rPr lang="en-US" sz="1600" b="1" dirty="0" err="1">
                <a:solidFill>
                  <a:srgbClr val="182B49"/>
                </a:solidFill>
                <a:latin typeface="Source Sans 3" pitchFamily="34" charset="0"/>
                <a:ea typeface="Source Sans 3" pitchFamily="34" charset="-122"/>
                <a:cs typeface="Source Sans 3" pitchFamily="34" charset="-120"/>
              </a:rPr>
              <a:t>ichthyo</a:t>
            </a:r>
            <a:r>
              <a:rPr lang="en-US" sz="1600" dirty="0">
                <a:solidFill>
                  <a:srgbClr val="182B49"/>
                </a:solidFill>
                <a:latin typeface="Source Sans 3" pitchFamily="34" charset="0"/>
                <a:ea typeface="Source Sans 3" pitchFamily="34" charset="-122"/>
                <a:cs typeface="Source Sans 3" pitchFamily="34" charset="-120"/>
              </a:rPr>
              <a:t> archive matches the hand-built one that is on OBIS today with expanded vocabularies (NERC P01, P06 and S11)</a:t>
            </a:r>
            <a:endParaRPr lang="en-US" sz="1600" dirty="0"/>
          </a:p>
          <a:p>
            <a:pPr marL="177800" indent="-177800">
              <a:lnSpc>
                <a:spcPct val="105000"/>
              </a:lnSpc>
              <a:spcAft>
                <a:spcPts val="800"/>
              </a:spcAft>
              <a:buSzPct val="100000"/>
              <a:buChar char="•"/>
            </a:pPr>
            <a:r>
              <a:rPr lang="en-US" sz="1600" dirty="0">
                <a:solidFill>
                  <a:srgbClr val="182B49"/>
                </a:solidFill>
                <a:latin typeface="Source Sans 3" pitchFamily="34" charset="0"/>
                <a:ea typeface="Source Sans 3" pitchFamily="34" charset="-122"/>
                <a:cs typeface="Source Sans 3" pitchFamily="34" charset="-120"/>
              </a:rPr>
              <a:t>This is the 'publish' box of the </a:t>
            </a:r>
            <a:r>
              <a:rPr lang="en-US" sz="1600" b="1" dirty="0">
                <a:solidFill>
                  <a:srgbClr val="182B49"/>
                </a:solidFill>
                <a:latin typeface="Source Sans 3" pitchFamily="34" charset="0"/>
                <a:ea typeface="Source Sans 3" pitchFamily="34" charset="-122"/>
                <a:cs typeface="Source Sans 3" pitchFamily="34" charset="-120"/>
              </a:rPr>
              <a:t>2022 architecture</a:t>
            </a:r>
            <a:r>
              <a:rPr lang="en-US" sz="1600" dirty="0">
                <a:solidFill>
                  <a:srgbClr val="182B49"/>
                </a:solidFill>
                <a:latin typeface="Source Sans 3" pitchFamily="34" charset="0"/>
                <a:ea typeface="Source Sans 3" pitchFamily="34" charset="-122"/>
                <a:cs typeface="Source Sans 3" pitchFamily="34" charset="-120"/>
              </a:rPr>
              <a:t> figure, made real (next slide).</a:t>
            </a:r>
            <a:endParaRPr lang="en-US" sz="16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0405"/>
            <a:ext cx="1850065"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calcofi.io/docs/</a:t>
            </a:r>
            <a:r>
              <a:rPr lang="en-US" sz="1200" dirty="0" err="1">
                <a:solidFill>
                  <a:srgbClr val="00629B"/>
                </a:solidFill>
                <a:latin typeface="Source Sans 3" pitchFamily="34" charset="0"/>
                <a:ea typeface="Source Sans 3" pitchFamily="34" charset="-122"/>
                <a:cs typeface="Source Sans 3" pitchFamily="34" charset="-120"/>
              </a:rPr>
              <a:t>portals.html</a:t>
            </a:r>
            <a:r>
              <a:rPr lang="en-US" sz="1200" dirty="0">
                <a:solidFill>
                  <a:srgbClr val="00629B"/>
                </a:solidFill>
                <a:latin typeface="Source Sans 3" pitchFamily="34" charset="0"/>
                <a:ea typeface="Source Sans 3" pitchFamily="34" charset="-122"/>
                <a:cs typeface="Source Sans 3" pitchFamily="34" charset="-120"/>
              </a:rPr>
              <a:t> ·</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17</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PUBLISHING · THE ARCHITECTURE</a:t>
            </a:r>
            <a:endParaRPr lang="en-US" sz="1200" dirty="0"/>
          </a:p>
        </p:txBody>
      </p:sp>
      <p:pic>
        <p:nvPicPr>
          <p:cNvPr id="9" name="icon ui-share" descr="/home/claude/work/icons/ui-shar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The 2022 picture, and what it became</a:t>
            </a:r>
            <a:endParaRPr lang="en-US" sz="3400" dirty="0"/>
          </a:p>
        </p:txBody>
      </p:sp>
      <p:sp>
        <p:nvSpPr>
          <p:cNvPr id="11" name="band"/>
          <p:cNvSpPr/>
          <p:nvPr/>
        </p:nvSpPr>
        <p:spPr>
          <a:xfrm>
            <a:off x="0" y="1508760"/>
            <a:ext cx="12191695" cy="3566160"/>
          </a:xfrm>
          <a:prstGeom prst="rect">
            <a:avLst/>
          </a:prstGeom>
          <a:solidFill>
            <a:srgbClr val="F5F0E6"/>
          </a:solidFill>
          <a:ln w="12700">
            <a:solidFill>
              <a:srgbClr val="F5F0E6"/>
            </a:solidFill>
            <a:prstDash val="solid"/>
          </a:ln>
        </p:spPr>
        <p:txBody>
          <a:bodyPr/>
          <a:lstStyle/>
          <a:p>
            <a:endParaRPr lang="en-US"/>
          </a:p>
        </p:txBody>
      </p:sp>
      <p:sp>
        <p:nvSpPr>
          <p:cNvPr id="12" name="caps:eyebrow"/>
          <p:cNvSpPr txBox="1"/>
          <p:nvPr/>
        </p:nvSpPr>
        <p:spPr>
          <a:xfrm>
            <a:off x="215261" y="1692064"/>
            <a:ext cx="5212080" cy="365760"/>
          </a:xfrm>
          <a:prstGeom prst="rect">
            <a:avLst/>
          </a:prstGeom>
          <a:noFill/>
          <a:ln/>
        </p:spPr>
        <p:txBody>
          <a:bodyPr wrap="square" lIns="0" tIns="0" rIns="0" bIns="0" rtlCol="0" anchor="t"/>
          <a:lstStyle/>
          <a:p>
            <a:pPr marL="0" indent="0">
              <a:buNone/>
            </a:pPr>
            <a:r>
              <a:rPr lang="en-US" sz="1100" b="1" kern="0" cap="all" spc="120" dirty="0">
                <a:solidFill>
                  <a:srgbClr val="66686A"/>
                </a:solidFill>
                <a:latin typeface="Source Sans 3" pitchFamily="34" charset="0"/>
                <a:ea typeface="Source Sans 3" pitchFamily="34" charset="-122"/>
                <a:cs typeface="Source Sans 3" pitchFamily="34" charset="-120"/>
              </a:rPr>
              <a:t>2022 — the software architecture figure (docs/figs/sw_arch.svg)</a:t>
            </a:r>
            <a:endParaRPr lang="en-US" sz="1100" dirty="0"/>
          </a:p>
        </p:txBody>
      </p:sp>
      <p:sp>
        <p:nvSpPr>
          <p:cNvPr id="13" name="caps:eyebrow"/>
          <p:cNvSpPr txBox="1"/>
          <p:nvPr/>
        </p:nvSpPr>
        <p:spPr>
          <a:xfrm>
            <a:off x="6522415" y="1692064"/>
            <a:ext cx="5212080" cy="365760"/>
          </a:xfrm>
          <a:prstGeom prst="rect">
            <a:avLst/>
          </a:prstGeom>
          <a:noFill/>
          <a:ln/>
        </p:spPr>
        <p:txBody>
          <a:bodyPr wrap="square" lIns="0" tIns="0" rIns="0" bIns="0" rtlCol="0" anchor="t"/>
          <a:lstStyle/>
          <a:p>
            <a:pPr marL="0" indent="0">
              <a:buNone/>
            </a:pPr>
            <a:r>
              <a:rPr lang="en-US" sz="1100" b="1" kern="0" cap="all" spc="120" dirty="0">
                <a:solidFill>
                  <a:srgbClr val="66686A"/>
                </a:solidFill>
                <a:latin typeface="Source Sans 3" pitchFamily="34" charset="0"/>
                <a:ea typeface="Source Sans 3" pitchFamily="34" charset="-122"/>
                <a:cs typeface="Source Sans 3" pitchFamily="34" charset="-120"/>
              </a:rPr>
              <a:t>2026 — one record per dataset → surfaces → readers</a:t>
            </a:r>
            <a:endParaRPr lang="en-US" sz="1100" dirty="0"/>
          </a:p>
        </p:txBody>
      </p:sp>
      <p:pic>
        <p:nvPicPr>
          <p:cNvPr id="14" name="fig-2022|rr2599" descr="/home/claude/work/media/s17_p2_2400x1200_99786336.png"/>
          <p:cNvPicPr>
            <a:picLocks noChangeAspect="1"/>
          </p:cNvPicPr>
          <p:nvPr/>
        </p:nvPicPr>
        <p:blipFill>
          <a:blip r:embed="rId6"/>
          <a:stretch>
            <a:fillRect/>
          </a:stretch>
        </p:blipFill>
        <p:spPr>
          <a:xfrm>
            <a:off x="-8284" y="2093405"/>
            <a:ext cx="5211234" cy="2605617"/>
          </a:xfrm>
          <a:prstGeom prst="roundRect">
            <a:avLst>
              <a:gd name="adj" fmla="val 2599"/>
            </a:avLst>
          </a:prstGeom>
          <a:effectLst>
            <a:outerShdw blurRad="76200" dist="25400" dir="5400000" algn="bl" rotWithShape="0">
              <a:srgbClr val="182B49">
                <a:alpha val="22000"/>
              </a:srgbClr>
            </a:outerShdw>
          </a:effectLst>
        </p:spPr>
      </p:pic>
      <p:pic>
        <p:nvPicPr>
          <p:cNvPr id="15" name="fig-2026|rr2737" descr="/home/claude/work/media/s17_p3_1688x846_5eda602e.png"/>
          <p:cNvPicPr>
            <a:picLocks noChangeAspect="1"/>
          </p:cNvPicPr>
          <p:nvPr/>
        </p:nvPicPr>
        <p:blipFill>
          <a:blip r:embed="rId7"/>
          <a:stretch>
            <a:fillRect/>
          </a:stretch>
        </p:blipFill>
        <p:spPr>
          <a:xfrm>
            <a:off x="5435626" y="1881447"/>
            <a:ext cx="6298870" cy="3156898"/>
          </a:xfrm>
          <a:prstGeom prst="roundRect">
            <a:avLst>
              <a:gd name="adj" fmla="val 2737"/>
            </a:avLst>
          </a:prstGeom>
          <a:effectLst>
            <a:outerShdw blurRad="76200" dist="25400" dir="5400000" algn="bl" rotWithShape="0">
              <a:srgbClr val="182B49">
                <a:alpha val="22000"/>
              </a:srgbClr>
            </a:outerShdw>
          </a:effectLst>
        </p:spPr>
      </p:pic>
      <p:sp>
        <p:nvSpPr>
          <p:cNvPr id="16" name="build:bullets"/>
          <p:cNvSpPr txBox="1"/>
          <p:nvPr/>
        </p:nvSpPr>
        <p:spPr>
          <a:xfrm>
            <a:off x="457200" y="5212080"/>
            <a:ext cx="11277295" cy="10515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450" dirty="0">
                <a:solidFill>
                  <a:srgbClr val="182B49"/>
                </a:solidFill>
                <a:latin typeface="Source Sans 3" pitchFamily="34" charset="0"/>
                <a:ea typeface="Source Sans 3" pitchFamily="34" charset="-122"/>
                <a:cs typeface="Source Sans 3" pitchFamily="34" charset="-120"/>
              </a:rPr>
              <a:t>The '</a:t>
            </a:r>
            <a:r>
              <a:rPr lang="en-US" sz="1450" b="1" dirty="0">
                <a:solidFill>
                  <a:srgbClr val="182B49"/>
                </a:solidFill>
                <a:latin typeface="Source Sans 3" pitchFamily="34" charset="0"/>
                <a:ea typeface="Source Sans 3" pitchFamily="34" charset="-122"/>
                <a:cs typeface="Source Sans 3" pitchFamily="34" charset="-120"/>
              </a:rPr>
              <a:t>publish</a:t>
            </a:r>
            <a:r>
              <a:rPr lang="en-US" sz="1450" dirty="0">
                <a:solidFill>
                  <a:srgbClr val="182B49"/>
                </a:solidFill>
                <a:latin typeface="Source Sans 3" pitchFamily="34" charset="0"/>
                <a:ea typeface="Source Sans 3" pitchFamily="34" charset="-122"/>
                <a:cs typeface="Source Sans 3" pitchFamily="34" charset="-120"/>
              </a:rPr>
              <a:t>' box is now real. Everything a portal sees is </a:t>
            </a:r>
            <a:r>
              <a:rPr lang="en-US" sz="1450" b="1" i="1" dirty="0">
                <a:solidFill>
                  <a:srgbClr val="182B49"/>
                </a:solidFill>
                <a:latin typeface="Source Sans 3" pitchFamily="34" charset="0"/>
                <a:ea typeface="Source Sans 3" pitchFamily="34" charset="-122"/>
                <a:cs typeface="Source Sans 3" pitchFamily="34" charset="-120"/>
              </a:rPr>
              <a:t>generated</a:t>
            </a:r>
            <a:r>
              <a:rPr lang="en-US" sz="1450" dirty="0">
                <a:solidFill>
                  <a:srgbClr val="182B49"/>
                </a:solidFill>
                <a:latin typeface="Source Sans 3" pitchFamily="34" charset="0"/>
                <a:ea typeface="Source Sans 3" pitchFamily="34" charset="-122"/>
                <a:cs typeface="Source Sans 3" pitchFamily="34" charset="-120"/>
              </a:rPr>
              <a:t> from one record per dataset; the dotted boxes are </a:t>
            </a:r>
            <a:r>
              <a:rPr lang="en-US" sz="1450" b="1" dirty="0">
                <a:solidFill>
                  <a:srgbClr val="182B49"/>
                </a:solidFill>
                <a:latin typeface="Source Sans 3" pitchFamily="34" charset="0"/>
                <a:ea typeface="Source Sans 3" pitchFamily="34" charset="-122"/>
                <a:cs typeface="Source Sans 3" pitchFamily="34" charset="-120"/>
              </a:rPr>
              <a:t>portals</a:t>
            </a:r>
            <a:r>
              <a:rPr lang="en-US" sz="1450" dirty="0">
                <a:solidFill>
                  <a:srgbClr val="182B49"/>
                </a:solidFill>
                <a:latin typeface="Source Sans 3" pitchFamily="34" charset="0"/>
                <a:ea typeface="Source Sans 3" pitchFamily="34" charset="-122"/>
                <a:cs typeface="Source Sans 3" pitchFamily="34" charset="-120"/>
              </a:rPr>
              <a:t> run by others, each pointed at a static file we already publish.</a:t>
            </a:r>
            <a:endParaRPr lang="en-US" sz="1450" dirty="0"/>
          </a:p>
          <a:p>
            <a:pPr marL="177800" indent="-177800">
              <a:lnSpc>
                <a:spcPct val="105000"/>
              </a:lnSpc>
              <a:spcAft>
                <a:spcPts val="400"/>
              </a:spcAft>
              <a:buSzPct val="100000"/>
              <a:buChar char="•"/>
            </a:pPr>
            <a:r>
              <a:rPr lang="en-US" sz="1450" dirty="0">
                <a:solidFill>
                  <a:srgbClr val="182B49"/>
                </a:solidFill>
                <a:latin typeface="Source Sans 3" pitchFamily="34" charset="0"/>
                <a:ea typeface="Source Sans 3" pitchFamily="34" charset="-122"/>
                <a:cs typeface="Source Sans 3" pitchFamily="34" charset="-120"/>
              </a:rPr>
              <a:t>Old: </a:t>
            </a:r>
            <a:r>
              <a:rPr lang="en-US" sz="1450" b="1" dirty="0">
                <a:solidFill>
                  <a:srgbClr val="182B49"/>
                </a:solidFill>
                <a:latin typeface="Source Sans 3" pitchFamily="34" charset="0"/>
                <a:ea typeface="Source Sans 3" pitchFamily="34" charset="-122"/>
                <a:cs typeface="Source Sans 3" pitchFamily="34" charset="-120"/>
              </a:rPr>
              <a:t>OBIS</a:t>
            </a:r>
            <a:r>
              <a:rPr lang="en-US" sz="1450" dirty="0">
                <a:solidFill>
                  <a:srgbClr val="182B49"/>
                </a:solidFill>
                <a:latin typeface="Source Sans 3" pitchFamily="34" charset="0"/>
                <a:ea typeface="Source Sans 3" pitchFamily="34" charset="-122"/>
                <a:cs typeface="Source Sans 3" pitchFamily="34" charset="-120"/>
              </a:rPr>
              <a:t>, </a:t>
            </a:r>
            <a:r>
              <a:rPr lang="en-US" sz="1450" b="1" dirty="0">
                <a:solidFill>
                  <a:srgbClr val="182B49"/>
                </a:solidFill>
                <a:latin typeface="Source Sans 3" pitchFamily="34" charset="0"/>
                <a:ea typeface="Source Sans 3" pitchFamily="34" charset="-122"/>
                <a:cs typeface="Source Sans 3" pitchFamily="34" charset="-120"/>
              </a:rPr>
              <a:t>EDI</a:t>
            </a:r>
            <a:r>
              <a:rPr lang="en-US" sz="1450" dirty="0">
                <a:solidFill>
                  <a:srgbClr val="182B49"/>
                </a:solidFill>
                <a:latin typeface="Source Sans 3" pitchFamily="34" charset="0"/>
                <a:ea typeface="Source Sans 3" pitchFamily="34" charset="-122"/>
                <a:cs typeface="Source Sans 3" pitchFamily="34" charset="-120"/>
              </a:rPr>
              <a:t>, </a:t>
            </a:r>
            <a:r>
              <a:rPr lang="en-US" sz="1450" b="1" dirty="0">
                <a:solidFill>
                  <a:srgbClr val="182B49"/>
                </a:solidFill>
                <a:latin typeface="Source Sans 3" pitchFamily="34" charset="0"/>
                <a:ea typeface="Source Sans 3" pitchFamily="34" charset="-122"/>
                <a:cs typeface="Source Sans 3" pitchFamily="34" charset="-120"/>
              </a:rPr>
              <a:t>ERDDAP</a:t>
            </a:r>
            <a:r>
              <a:rPr lang="en-US" sz="1450" dirty="0">
                <a:solidFill>
                  <a:srgbClr val="182B49"/>
                </a:solidFill>
                <a:latin typeface="Source Sans 3" pitchFamily="34" charset="0"/>
                <a:ea typeface="Source Sans 3" pitchFamily="34" charset="-122"/>
                <a:cs typeface="Source Sans 3" pitchFamily="34" charset="-120"/>
              </a:rPr>
              <a:t>, </a:t>
            </a:r>
            <a:r>
              <a:rPr lang="en-US" sz="1450" b="1" dirty="0">
                <a:solidFill>
                  <a:srgbClr val="182B49"/>
                </a:solidFill>
                <a:latin typeface="Source Sans 3" pitchFamily="34" charset="0"/>
                <a:ea typeface="Source Sans 3" pitchFamily="34" charset="-122"/>
                <a:cs typeface="Source Sans 3" pitchFamily="34" charset="-120"/>
              </a:rPr>
              <a:t>NCEI</a:t>
            </a:r>
            <a:r>
              <a:rPr lang="en-US" sz="1450" dirty="0">
                <a:solidFill>
                  <a:srgbClr val="182B49"/>
                </a:solidFill>
                <a:latin typeface="Source Sans 3" pitchFamily="34" charset="0"/>
                <a:ea typeface="Source Sans 3" pitchFamily="34" charset="-122"/>
                <a:cs typeface="Source Sans 3" pitchFamily="34" charset="-120"/>
              </a:rPr>
              <a:t>.  New: </a:t>
            </a:r>
            <a:r>
              <a:rPr lang="en-US" sz="1450" b="1" dirty="0">
                <a:solidFill>
                  <a:srgbClr val="182B49"/>
                </a:solidFill>
                <a:latin typeface="Source Sans 3" pitchFamily="34" charset="0"/>
                <a:ea typeface="Source Sans 3" pitchFamily="34" charset="-122"/>
                <a:cs typeface="Source Sans 3" pitchFamily="34" charset="-120"/>
              </a:rPr>
              <a:t>STAC</a:t>
            </a:r>
            <a:r>
              <a:rPr lang="en-US" sz="1450" dirty="0">
                <a:solidFill>
                  <a:srgbClr val="182B49"/>
                </a:solidFill>
                <a:latin typeface="Source Sans 3" pitchFamily="34" charset="0"/>
                <a:ea typeface="Source Sans 3" pitchFamily="34" charset="-122"/>
                <a:cs typeface="Source Sans 3" pitchFamily="34" charset="-120"/>
              </a:rPr>
              <a:t> (NASA), </a:t>
            </a:r>
            <a:r>
              <a:rPr lang="en-US" sz="1450" b="1" dirty="0" err="1">
                <a:solidFill>
                  <a:srgbClr val="182B49"/>
                </a:solidFill>
                <a:latin typeface="Source Sans 3" pitchFamily="34" charset="0"/>
                <a:ea typeface="Source Sans 3" pitchFamily="34" charset="-122"/>
                <a:cs typeface="Source Sans 3" pitchFamily="34" charset="-120"/>
              </a:rPr>
              <a:t>data.json</a:t>
            </a:r>
            <a:r>
              <a:rPr lang="en-US" sz="1450" b="1" dirty="0">
                <a:solidFill>
                  <a:srgbClr val="182B49"/>
                </a:solidFill>
                <a:latin typeface="Source Sans 3" pitchFamily="34" charset="0"/>
                <a:ea typeface="Source Sans 3" pitchFamily="34" charset="-122"/>
                <a:cs typeface="Source Sans 3" pitchFamily="34" charset="-120"/>
              </a:rPr>
              <a:t> </a:t>
            </a:r>
            <a:r>
              <a:rPr lang="en-US" sz="1450" dirty="0">
                <a:solidFill>
                  <a:srgbClr val="182B49"/>
                </a:solidFill>
                <a:latin typeface="Source Sans 3" pitchFamily="34" charset="0"/>
                <a:ea typeface="Source Sans 3" pitchFamily="34" charset="-122"/>
                <a:cs typeface="Source Sans 3" pitchFamily="34" charset="-120"/>
              </a:rPr>
              <a:t>(</a:t>
            </a:r>
            <a:r>
              <a:rPr lang="en-US" sz="1450" dirty="0" err="1">
                <a:solidFill>
                  <a:srgbClr val="182B49"/>
                </a:solidFill>
                <a:latin typeface="Source Sans 3" pitchFamily="34" charset="0"/>
                <a:ea typeface="Source Sans 3" pitchFamily="34" charset="-122"/>
                <a:cs typeface="Source Sans 3" pitchFamily="34" charset="-120"/>
              </a:rPr>
              <a:t>ioos.us</a:t>
            </a:r>
            <a:r>
              <a:rPr lang="en-US" sz="1450" dirty="0">
                <a:solidFill>
                  <a:srgbClr val="182B49"/>
                </a:solidFill>
                <a:latin typeface="Source Sans 3" pitchFamily="34" charset="0"/>
                <a:ea typeface="Source Sans 3" pitchFamily="34" charset="-122"/>
                <a:cs typeface="Source Sans 3" pitchFamily="34" charset="-120"/>
              </a:rPr>
              <a:t>, </a:t>
            </a:r>
            <a:r>
              <a:rPr lang="en-US" sz="1450" dirty="0" err="1">
                <a:solidFill>
                  <a:srgbClr val="182B49"/>
                </a:solidFill>
                <a:latin typeface="Source Sans 3" pitchFamily="34" charset="0"/>
                <a:ea typeface="Source Sans 3" pitchFamily="34" charset="-122"/>
                <a:cs typeface="Source Sans 3" pitchFamily="34" charset="-120"/>
              </a:rPr>
              <a:t>data.gov</a:t>
            </a:r>
            <a:r>
              <a:rPr lang="en-US" sz="1450" dirty="0">
                <a:solidFill>
                  <a:srgbClr val="182B49"/>
                </a:solidFill>
                <a:latin typeface="Source Sans 3" pitchFamily="34" charset="0"/>
                <a:ea typeface="Source Sans 3" pitchFamily="34" charset="-122"/>
                <a:cs typeface="Source Sans 3" pitchFamily="34" charset="-120"/>
              </a:rPr>
              <a:t>), </a:t>
            </a:r>
            <a:r>
              <a:rPr lang="en-US" sz="1450" b="1" dirty="0">
                <a:solidFill>
                  <a:srgbClr val="182B49"/>
                </a:solidFill>
                <a:latin typeface="Source Sans 3" pitchFamily="34" charset="0"/>
                <a:ea typeface="Source Sans 3" pitchFamily="34" charset="-122"/>
                <a:cs typeface="Source Sans 3" pitchFamily="34" charset="-120"/>
              </a:rPr>
              <a:t>JSON-LD</a:t>
            </a:r>
            <a:r>
              <a:rPr lang="en-US" sz="1450" dirty="0">
                <a:solidFill>
                  <a:srgbClr val="182B49"/>
                </a:solidFill>
                <a:latin typeface="Source Sans 3" pitchFamily="34" charset="0"/>
                <a:ea typeface="Source Sans 3" pitchFamily="34" charset="-122"/>
                <a:cs typeface="Source Sans 3" pitchFamily="34" charset="-120"/>
              </a:rPr>
              <a:t> + </a:t>
            </a:r>
            <a:r>
              <a:rPr lang="en-US" sz="1450" b="1" dirty="0" err="1">
                <a:solidFill>
                  <a:srgbClr val="182B49"/>
                </a:solidFill>
                <a:latin typeface="Source Sans 3" pitchFamily="34" charset="0"/>
                <a:ea typeface="Source Sans 3" pitchFamily="34" charset="-122"/>
                <a:cs typeface="Source Sans 3" pitchFamily="34" charset="-120"/>
              </a:rPr>
              <a:t>sitemap.xml</a:t>
            </a:r>
            <a:r>
              <a:rPr lang="en-US" sz="1450" dirty="0">
                <a:solidFill>
                  <a:srgbClr val="182B49"/>
                </a:solidFill>
                <a:latin typeface="Source Sans 3" pitchFamily="34" charset="0"/>
                <a:ea typeface="Source Sans 3" pitchFamily="34" charset="-122"/>
                <a:cs typeface="Source Sans 3" pitchFamily="34" charset="-120"/>
              </a:rPr>
              <a:t> (Google Dataset Search, ODIS).</a:t>
            </a:r>
            <a:endParaRPr lang="en-US" sz="1450" dirty="0"/>
          </a:p>
          <a:p>
            <a:pPr marL="177800" indent="-177800">
              <a:lnSpc>
                <a:spcPct val="105000"/>
              </a:lnSpc>
              <a:spcAft>
                <a:spcPts val="400"/>
              </a:spcAft>
              <a:buSzPct val="100000"/>
              <a:buChar char="•"/>
            </a:pPr>
            <a:r>
              <a:rPr lang="en-US" sz="1450" dirty="0">
                <a:solidFill>
                  <a:srgbClr val="182B49"/>
                </a:solidFill>
                <a:latin typeface="Source Sans 3" pitchFamily="34" charset="0"/>
                <a:ea typeface="Source Sans 3" pitchFamily="34" charset="-122"/>
                <a:cs typeface="Source Sans 3" pitchFamily="34" charset="-120"/>
              </a:rPr>
              <a:t>The only server-shaped option, </a:t>
            </a:r>
            <a:r>
              <a:rPr lang="en-US" sz="1450" b="1" dirty="0">
                <a:solidFill>
                  <a:srgbClr val="182B49"/>
                </a:solidFill>
                <a:latin typeface="Source Sans 3" pitchFamily="34" charset="0"/>
                <a:ea typeface="Source Sans 3" pitchFamily="34" charset="-122"/>
                <a:cs typeface="Source Sans 3" pitchFamily="34" charset="-120"/>
              </a:rPr>
              <a:t>pycsw</a:t>
            </a:r>
            <a:r>
              <a:rPr lang="en-US" sz="1450" dirty="0">
                <a:solidFill>
                  <a:srgbClr val="182B49"/>
                </a:solidFill>
                <a:latin typeface="Source Sans 3" pitchFamily="34" charset="0"/>
                <a:ea typeface="Source Sans 3" pitchFamily="34" charset="-122"/>
                <a:cs typeface="Source Sans 3" pitchFamily="34" charset="-120"/>
              </a:rPr>
              <a:t>, waits for a partner asking for CSW.</a:t>
            </a:r>
            <a:endParaRPr lang="en-US" sz="1450" dirty="0"/>
          </a:p>
        </p:txBody>
      </p:sp>
      <p:sp>
        <p:nvSpPr>
          <p:cNvPr id="2" name="footer-left">
            <a:hlinkClick r:id="rId8"/>
            <a:extLst>
              <a:ext uri="{FF2B5EF4-FFF2-40B4-BE49-F238E27FC236}">
                <a16:creationId xmlns:a16="http://schemas.microsoft.com/office/drawing/2014/main" id="{C998DC04-4FC0-44D5-D613-3A35592645A0}"/>
              </a:ext>
            </a:extLst>
          </p:cNvPr>
          <p:cNvSpPr txBox="1"/>
          <p:nvPr/>
        </p:nvSpPr>
        <p:spPr>
          <a:xfrm>
            <a:off x="4659591" y="6340405"/>
            <a:ext cx="2147777"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 </a:t>
            </a: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/datasets/sitemap.xml</a:t>
            </a:r>
            <a:endParaRPr lang="en-US" sz="1200" dirty="0"/>
          </a:p>
        </p:txBody>
      </p:sp>
      <p:sp>
        <p:nvSpPr>
          <p:cNvPr id="17" name="footer-left">
            <a:hlinkClick r:id="rId9"/>
            <a:extLst>
              <a:ext uri="{FF2B5EF4-FFF2-40B4-BE49-F238E27FC236}">
                <a16:creationId xmlns:a16="http://schemas.microsoft.com/office/drawing/2014/main" id="{1DF43E98-6BB6-8126-A4AF-0456DD9E24AE}"/>
              </a:ext>
            </a:extLst>
          </p:cNvPr>
          <p:cNvSpPr txBox="1"/>
          <p:nvPr/>
        </p:nvSpPr>
        <p:spPr>
          <a:xfrm>
            <a:off x="3345841" y="6340405"/>
            <a:ext cx="1403498"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 </a:t>
            </a: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a:t>
            </a:r>
            <a:r>
              <a:rPr lang="en-US" sz="1200" dirty="0" err="1">
                <a:solidFill>
                  <a:srgbClr val="00629B"/>
                </a:solidFill>
                <a:latin typeface="Source Sans 3" pitchFamily="34" charset="0"/>
                <a:ea typeface="Source Sans 3" pitchFamily="34" charset="-122"/>
                <a:cs typeface="Source Sans 3" pitchFamily="34" charset="-120"/>
              </a:rPr>
              <a:t>data.json</a:t>
            </a:r>
            <a:r>
              <a:rPr lang="en-US" sz="1200" dirty="0">
                <a:solidFill>
                  <a:srgbClr val="00629B"/>
                </a:solidFill>
                <a:latin typeface="Source Sans 3" pitchFamily="34" charset="0"/>
                <a:ea typeface="Source Sans 3" pitchFamily="34" charset="-122"/>
                <a:cs typeface="Source Sans 3" pitchFamily="34" charset="-120"/>
              </a:rPr>
              <a:t> ·</a:t>
            </a:r>
            <a:endParaRPr lang="en-US" sz="1200" dirty="0"/>
          </a:p>
        </p:txBody>
      </p:sp>
      <p:sp>
        <p:nvSpPr>
          <p:cNvPr id="18" name="footer-left">
            <a:hlinkClick r:id="rId10"/>
            <a:extLst>
              <a:ext uri="{FF2B5EF4-FFF2-40B4-BE49-F238E27FC236}">
                <a16:creationId xmlns:a16="http://schemas.microsoft.com/office/drawing/2014/main" id="{279EC0D7-7D27-EDEC-91CE-82F42460C9C8}"/>
              </a:ext>
            </a:extLst>
          </p:cNvPr>
          <p:cNvSpPr txBox="1"/>
          <p:nvPr/>
        </p:nvSpPr>
        <p:spPr>
          <a:xfrm>
            <a:off x="2296761" y="6340405"/>
            <a:ext cx="104908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 </a:t>
            </a: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/stac/ ·</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2280473"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doi.org/10.5281/zenodo.22514953 ·</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18</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THE RELEASE</a:t>
            </a:r>
            <a:endParaRPr lang="en-US" sz="1200" dirty="0"/>
          </a:p>
        </p:txBody>
      </p:sp>
      <p:pic>
        <p:nvPicPr>
          <p:cNvPr id="9" name="icon ui-link" descr="/home/claude/work/icons/ui-link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Every release has a DOI</a:t>
            </a:r>
            <a:endParaRPr lang="en-US" sz="3400" dirty="0"/>
          </a:p>
        </p:txBody>
      </p:sp>
      <p:sp>
        <p:nvSpPr>
          <p:cNvPr id="11" name="band"/>
          <p:cNvSpPr/>
          <p:nvPr/>
        </p:nvSpPr>
        <p:spPr>
          <a:xfrm>
            <a:off x="0" y="1783080"/>
            <a:ext cx="12191695" cy="3703320"/>
          </a:xfrm>
          <a:prstGeom prst="rect">
            <a:avLst/>
          </a:prstGeom>
          <a:solidFill>
            <a:srgbClr val="F5F0E6"/>
          </a:solidFill>
          <a:ln w="12700">
            <a:solidFill>
              <a:srgbClr val="F5F0E6"/>
            </a:solidFill>
            <a:prstDash val="solid"/>
          </a:ln>
        </p:spPr>
        <p:txBody>
          <a:bodyPr/>
          <a:lstStyle/>
          <a:p>
            <a:endParaRPr lang="en-US"/>
          </a:p>
        </p:txBody>
      </p:sp>
      <p:pic>
        <p:nvPicPr>
          <p:cNvPr id="12" name="zenodo|rr2116" descr="/home/claude/work/media/s18_p2_1280x785_2891f91c.png"/>
          <p:cNvPicPr>
            <a:picLocks noChangeAspect="1"/>
          </p:cNvPicPr>
          <p:nvPr/>
        </p:nvPicPr>
        <p:blipFill>
          <a:blip r:embed="rId6"/>
          <a:stretch>
            <a:fillRect/>
          </a:stretch>
        </p:blipFill>
        <p:spPr>
          <a:xfrm>
            <a:off x="457200" y="1874520"/>
            <a:ext cx="5218487" cy="3200400"/>
          </a:xfrm>
          <a:prstGeom prst="roundRect">
            <a:avLst>
              <a:gd name="adj" fmla="val 2116"/>
            </a:avLst>
          </a:prstGeom>
          <a:effectLst>
            <a:outerShdw blurRad="76200" dist="25400" dir="5400000" algn="bl" rotWithShape="0">
              <a:srgbClr val="182B49">
                <a:alpha val="22000"/>
              </a:srgbClr>
            </a:outerShdw>
          </a:effectLst>
        </p:spPr>
      </p:pic>
      <p:pic>
        <p:nvPicPr>
          <p:cNvPr id="13" name="releases|rr2120" descr="/home/claude/work/media/s18_p3_1280x860_197e93e8.png"/>
          <p:cNvPicPr>
            <a:picLocks noChangeAspect="1"/>
          </p:cNvPicPr>
          <p:nvPr/>
        </p:nvPicPr>
        <p:blipFill>
          <a:blip r:embed="rId7"/>
          <a:stretch>
            <a:fillRect/>
          </a:stretch>
        </p:blipFill>
        <p:spPr>
          <a:xfrm>
            <a:off x="6979615" y="1874520"/>
            <a:ext cx="4754880" cy="3194685"/>
          </a:xfrm>
          <a:prstGeom prst="roundRect">
            <a:avLst>
              <a:gd name="adj" fmla="val 2120"/>
            </a:avLst>
          </a:prstGeom>
          <a:effectLst>
            <a:outerShdw blurRad="76200" dist="25400" dir="5400000" algn="bl" rotWithShape="0">
              <a:srgbClr val="182B49">
                <a:alpha val="22000"/>
              </a:srgbClr>
            </a:outerShdw>
          </a:effectLst>
        </p:spPr>
      </p:pic>
      <p:sp>
        <p:nvSpPr>
          <p:cNvPr id="14" name="caption"/>
          <p:cNvSpPr txBox="1"/>
          <p:nvPr/>
        </p:nvSpPr>
        <p:spPr>
          <a:xfrm>
            <a:off x="457200" y="5138928"/>
            <a:ext cx="5218487"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zenodo.org — the v2026.09.06 record; the concept DOI 10.5281/zenodo.22281994 always resolves to the latest.</a:t>
            </a:r>
            <a:endParaRPr lang="en-US" sz="1150" dirty="0"/>
          </a:p>
        </p:txBody>
      </p:sp>
      <p:sp>
        <p:nvSpPr>
          <p:cNvPr id="15" name="caption"/>
          <p:cNvSpPr txBox="1"/>
          <p:nvPr/>
        </p:nvSpPr>
        <p:spPr>
          <a:xfrm>
            <a:off x="6979615" y="5133213"/>
            <a:ext cx="4754880" cy="384048"/>
          </a:xfrm>
          <a:prstGeom prst="rect">
            <a:avLst/>
          </a:prstGeom>
          <a:noFill/>
          <a:ln/>
        </p:spPr>
        <p:txBody>
          <a:bodyPr wrap="square" lIns="0" tIns="0" rIns="0" bIns="0" rtlCol="0" anchor="t"/>
          <a:lstStyle/>
          <a:p>
            <a:pPr marL="0" indent="0">
              <a:buNone/>
            </a:pPr>
            <a:r>
              <a:rPr lang="en-US" sz="1150" dirty="0">
                <a:solidFill>
                  <a:srgbClr val="66686A"/>
                </a:solidFill>
                <a:latin typeface="Source Sans 3" pitchFamily="34" charset="0"/>
                <a:ea typeface="Source Sans 3" pitchFamily="34" charset="-122"/>
                <a:cs typeface="Source Sans 3" pitchFamily="34" charset="-120"/>
              </a:rPr>
              <a:t>RELEASES.html — what changed and why, per release, with a table of contents.</a:t>
            </a:r>
            <a:endParaRPr lang="en-US" sz="1150" dirty="0"/>
          </a:p>
        </p:txBody>
      </p:sp>
      <p:sp>
        <p:nvSpPr>
          <p:cNvPr id="16" name="build:cite"/>
          <p:cNvSpPr/>
          <p:nvPr/>
        </p:nvSpPr>
        <p:spPr>
          <a:xfrm>
            <a:off x="457200" y="5559552"/>
            <a:ext cx="11277295" cy="658368"/>
          </a:xfrm>
          <a:prstGeom prst="roundRect">
            <a:avLst>
              <a:gd name="adj" fmla="val 12500"/>
            </a:avLst>
          </a:prstGeom>
          <a:solidFill>
            <a:srgbClr val="F5F0E6"/>
          </a:solidFill>
          <a:ln w="12700">
            <a:solidFill>
              <a:srgbClr val="F5F0E6"/>
            </a:solidFill>
            <a:prstDash val="solid"/>
          </a:ln>
        </p:spPr>
        <p:txBody>
          <a:bodyPr/>
          <a:lstStyle/>
          <a:p>
            <a:endParaRPr lang="en-US"/>
          </a:p>
        </p:txBody>
      </p:sp>
      <p:sp>
        <p:nvSpPr>
          <p:cNvPr id="17" name="caps:eyebrow"/>
          <p:cNvSpPr txBox="1"/>
          <p:nvPr/>
        </p:nvSpPr>
        <p:spPr>
          <a:xfrm>
            <a:off x="640080" y="5605272"/>
            <a:ext cx="2743200" cy="201168"/>
          </a:xfrm>
          <a:prstGeom prst="rect">
            <a:avLst/>
          </a:prstGeom>
          <a:noFill/>
          <a:ln/>
        </p:spPr>
        <p:txBody>
          <a:bodyPr wrap="square" lIns="0" tIns="0" rIns="0" bIns="0" rtlCol="0" anchor="t"/>
          <a:lstStyle/>
          <a:p>
            <a:pPr marL="0" indent="0">
              <a:buNone/>
            </a:pPr>
            <a:r>
              <a:rPr lang="en-US" sz="1100" b="1" kern="0" cap="all" spc="120" dirty="0">
                <a:solidFill>
                  <a:srgbClr val="66686A"/>
                </a:solidFill>
                <a:latin typeface="Source Sans 3" pitchFamily="34" charset="0"/>
                <a:ea typeface="Source Sans 3" pitchFamily="34" charset="-122"/>
                <a:cs typeface="Source Sans 3" pitchFamily="34" charset="-120"/>
              </a:rPr>
              <a:t>HOW TO CITE</a:t>
            </a:r>
            <a:endParaRPr lang="en-US" sz="1100" dirty="0"/>
          </a:p>
        </p:txBody>
      </p:sp>
      <p:sp>
        <p:nvSpPr>
          <p:cNvPr id="18" name="text"/>
          <p:cNvSpPr txBox="1"/>
          <p:nvPr/>
        </p:nvSpPr>
        <p:spPr>
          <a:xfrm>
            <a:off x="640080" y="5788152"/>
            <a:ext cx="10911535" cy="402336"/>
          </a:xfrm>
          <a:prstGeom prst="rect">
            <a:avLst/>
          </a:prstGeom>
          <a:noFill/>
          <a:ln/>
        </p:spPr>
        <p:txBody>
          <a:bodyPr wrap="square" lIns="0" tIns="0" rIns="0" bIns="0" rtlCol="0" anchor="t"/>
          <a:lstStyle/>
          <a:p>
            <a:pPr marL="0" indent="0">
              <a:lnSpc>
                <a:spcPct val="100000"/>
              </a:lnSpc>
              <a:buNone/>
            </a:pPr>
            <a:r>
              <a:rPr lang="en-US" sz="1250" dirty="0">
                <a:solidFill>
                  <a:srgbClr val="182B49"/>
                </a:solidFill>
                <a:latin typeface="Source Sans 3" pitchFamily="34" charset="0"/>
                <a:ea typeface="Source Sans 3" pitchFamily="34" charset="-122"/>
                <a:cs typeface="Source Sans 3" pitchFamily="34" charset="-120"/>
              </a:rPr>
              <a:t>CalCOFI (2026). CalCOFI Integrated Database, release v2026.09.06 [Data set]. Scripps Institution of Oceanography, NOAA Fisheries, and California Department of Fish and Wildlife. https://doi.org/10.5281/zenodo.22514953</a:t>
            </a:r>
            <a:endParaRPr lang="en-US" sz="1250" dirty="0"/>
          </a:p>
        </p:txBody>
      </p:sp>
      <p:sp>
        <p:nvSpPr>
          <p:cNvPr id="2" name="footer-left">
            <a:hlinkClick r:id="rId8"/>
            <a:extLst>
              <a:ext uri="{FF2B5EF4-FFF2-40B4-BE49-F238E27FC236}">
                <a16:creationId xmlns:a16="http://schemas.microsoft.com/office/drawing/2014/main" id="{FE26016F-8D48-A3A5-DE37-37D1349DE933}"/>
              </a:ext>
            </a:extLst>
          </p:cNvPr>
          <p:cNvSpPr txBox="1"/>
          <p:nvPr/>
        </p:nvSpPr>
        <p:spPr>
          <a:xfrm>
            <a:off x="2737673" y="6347424"/>
            <a:ext cx="4088431" cy="274320"/>
          </a:xfrm>
          <a:prstGeom prst="rect">
            <a:avLst/>
          </a:prstGeom>
          <a:noFill/>
          <a:ln/>
        </p:spPr>
        <p:txBody>
          <a:bodyPr wrap="square" lIns="0" tIns="0" rIns="0" bIns="0" rtlCol="0" anchor="t"/>
          <a:lstStyle/>
          <a:p>
            <a:pPr marL="0" indent="0">
              <a:buNone/>
            </a:pPr>
            <a:r>
              <a:rPr lang="en-US" sz="1200" dirty="0" err="1">
                <a:solidFill>
                  <a:srgbClr val="00629B"/>
                </a:solidFill>
                <a:latin typeface="Source Sans 3" pitchFamily="34" charset="0"/>
                <a:ea typeface="Source Sans 3" pitchFamily="34" charset="-122"/>
                <a:cs typeface="Source Sans 3" pitchFamily="34" charset="-120"/>
              </a:rPr>
              <a:t>storage.calcofi.io</a:t>
            </a:r>
            <a:r>
              <a:rPr lang="en-US" sz="1200" dirty="0">
                <a:solidFill>
                  <a:srgbClr val="00629B"/>
                </a:solidFill>
                <a:latin typeface="Source Sans 3" pitchFamily="34" charset="0"/>
                <a:ea typeface="Source Sans 3" pitchFamily="34" charset="-122"/>
                <a:cs typeface="Source Sans 3" pitchFamily="34" charset="-120"/>
              </a:rPr>
              <a:t>/calcofi-db/ducklake/releases/RELEASES.html</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1251294"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calcofi.io/calcofi4r ·</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19</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PACKAGES</a:t>
            </a:r>
            <a:endParaRPr lang="en-US" sz="1200" dirty="0"/>
          </a:p>
        </p:txBody>
      </p:sp>
      <p:pic>
        <p:nvPicPr>
          <p:cNvPr id="9" name="icon ui-code" descr="/home/claude/work/icons/ui-code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The same bytes from R, Python and the browser</a:t>
            </a:r>
            <a:endParaRPr lang="en-US" sz="3400" dirty="0"/>
          </a:p>
        </p:txBody>
      </p:sp>
      <p:sp>
        <p:nvSpPr>
          <p:cNvPr id="11" name="code-panel"/>
          <p:cNvSpPr/>
          <p:nvPr/>
        </p:nvSpPr>
        <p:spPr>
          <a:xfrm>
            <a:off x="457200" y="1874520"/>
            <a:ext cx="5486400" cy="2926080"/>
          </a:xfrm>
          <a:prstGeom prst="roundRect">
            <a:avLst>
              <a:gd name="adj" fmla="val 3438"/>
            </a:avLst>
          </a:prstGeom>
          <a:solidFill>
            <a:srgbClr val="F5F0E6"/>
          </a:solidFill>
          <a:ln w="12700">
            <a:solidFill>
              <a:srgbClr val="F5F0E6"/>
            </a:solidFill>
            <a:prstDash val="solid"/>
          </a:ln>
        </p:spPr>
        <p:txBody>
          <a:bodyPr/>
          <a:lstStyle/>
          <a:p>
            <a:endParaRPr lang="en-US"/>
          </a:p>
        </p:txBody>
      </p:sp>
      <p:pic>
        <p:nvPicPr>
          <p:cNvPr id="12" name="icon ui-code" descr="/home/claude/work/icons/ui-code_navy.png"/>
          <p:cNvPicPr>
            <a:picLocks noChangeAspect="1"/>
          </p:cNvPicPr>
          <p:nvPr/>
        </p:nvPicPr>
        <p:blipFill>
          <a:blip r:embed="rId5"/>
          <a:stretch>
            <a:fillRect/>
          </a:stretch>
        </p:blipFill>
        <p:spPr>
          <a:xfrm>
            <a:off x="640080" y="2029968"/>
            <a:ext cx="201168" cy="201168"/>
          </a:xfrm>
          <a:prstGeom prst="rect">
            <a:avLst/>
          </a:prstGeom>
        </p:spPr>
      </p:pic>
      <p:sp>
        <p:nvSpPr>
          <p:cNvPr id="13" name="caps:eyebrow"/>
          <p:cNvSpPr txBox="1"/>
          <p:nvPr/>
        </p:nvSpPr>
        <p:spPr>
          <a:xfrm>
            <a:off x="914400" y="2039112"/>
            <a:ext cx="4846320" cy="201168"/>
          </a:xfrm>
          <a:prstGeom prst="rect">
            <a:avLst/>
          </a:prstGeom>
          <a:noFill/>
          <a:ln/>
        </p:spPr>
        <p:txBody>
          <a:bodyPr wrap="square" lIns="0" tIns="0" rIns="0" bIns="0" rtlCol="0" anchor="t"/>
          <a:lstStyle/>
          <a:p>
            <a:pPr marL="0" indent="0">
              <a:buNone/>
            </a:pPr>
            <a:r>
              <a:rPr lang="en-US" sz="1150" b="1" kern="0" cap="all" spc="120" dirty="0">
                <a:solidFill>
                  <a:srgbClr val="66686A"/>
                </a:solidFill>
                <a:latin typeface="Source Sans 3" pitchFamily="34" charset="0"/>
                <a:ea typeface="Source Sans 3" pitchFamily="34" charset="-122"/>
                <a:cs typeface="Source Sans 3" pitchFamily="34" charset="-120"/>
              </a:rPr>
              <a:t>R · CALCOFI4R 1.22.0</a:t>
            </a:r>
            <a:endParaRPr lang="en-US" sz="1150" dirty="0"/>
          </a:p>
        </p:txBody>
      </p:sp>
      <p:sp>
        <p:nvSpPr>
          <p:cNvPr id="14" name="code"/>
          <p:cNvSpPr txBox="1"/>
          <p:nvPr/>
        </p:nvSpPr>
        <p:spPr>
          <a:xfrm>
            <a:off x="640080" y="2377440"/>
            <a:ext cx="5120640" cy="2331720"/>
          </a:xfrm>
          <a:prstGeom prst="rect">
            <a:avLst/>
          </a:prstGeom>
          <a:noFill/>
          <a:ln/>
        </p:spPr>
        <p:txBody>
          <a:bodyPr wrap="square" lIns="0" tIns="0" rIns="0" bIns="0" rtlCol="0" anchor="t"/>
          <a:lstStyle/>
          <a:p>
            <a:pPr marL="0" indent="0">
              <a:spcAft>
                <a:spcPts val="300"/>
              </a:spcAft>
              <a:buNone/>
            </a:pPr>
            <a:r>
              <a:rPr lang="en-US" sz="1100" dirty="0">
                <a:solidFill>
                  <a:srgbClr val="1E7C74"/>
                </a:solidFill>
                <a:latin typeface="Menlo" pitchFamily="34" charset="0"/>
                <a:ea typeface="Menlo" pitchFamily="34" charset="-122"/>
                <a:cs typeface="Menlo" pitchFamily="34" charset="-120"/>
              </a:rPr>
              <a:t>library</a:t>
            </a:r>
            <a:r>
              <a:rPr lang="en-US" sz="1100" dirty="0">
                <a:solidFill>
                  <a:srgbClr val="182B49"/>
                </a:solidFill>
                <a:latin typeface="Menlo" pitchFamily="34" charset="0"/>
                <a:ea typeface="Menlo" pitchFamily="34" charset="-122"/>
                <a:cs typeface="Menlo" pitchFamily="34" charset="-120"/>
              </a:rPr>
              <a:t>(calcofi4r)</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 &lt;- </a:t>
            </a:r>
            <a:r>
              <a:rPr lang="en-US" sz="1100" dirty="0">
                <a:solidFill>
                  <a:srgbClr val="1E7C74"/>
                </a:solidFill>
                <a:latin typeface="Menlo" pitchFamily="34" charset="0"/>
                <a:ea typeface="Menlo" pitchFamily="34" charset="-122"/>
                <a:cs typeface="Menlo" pitchFamily="34" charset="-120"/>
              </a:rPr>
              <a:t>cc_get_db</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latest release, tables as views</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 &lt;- </a:t>
            </a:r>
            <a:r>
              <a:rPr lang="en-US" sz="1100" dirty="0">
                <a:solidFill>
                  <a:srgbClr val="1E7C74"/>
                </a:solidFill>
                <a:latin typeface="Menlo" pitchFamily="34" charset="0"/>
                <a:ea typeface="Menlo" pitchFamily="34" charset="-122"/>
                <a:cs typeface="Menlo" pitchFamily="34" charset="-120"/>
              </a:rPr>
              <a:t>cc_get_db</a:t>
            </a:r>
            <a:r>
              <a:rPr lang="en-US" sz="1100" dirty="0">
                <a:solidFill>
                  <a:srgbClr val="182B49"/>
                </a:solidFill>
                <a:latin typeface="Menlo" pitchFamily="34" charset="0"/>
                <a:ea typeface="Menlo" pitchFamily="34" charset="-122"/>
                <a:cs typeface="Menlo" pitchFamily="34" charset="-120"/>
              </a:rPr>
              <a:t>(version = </a:t>
            </a:r>
            <a:r>
              <a:rPr lang="en-US" sz="1100" dirty="0">
                <a:solidFill>
                  <a:srgbClr val="A6552E"/>
                </a:solidFill>
                <a:latin typeface="Menlo" pitchFamily="34" charset="0"/>
                <a:ea typeface="Menlo" pitchFamily="34" charset="-122"/>
                <a:cs typeface="Menlo" pitchFamily="34" charset="-120"/>
              </a:rPr>
              <a:t>"v2026.09.06"</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pin a version</a:t>
            </a:r>
            <a:endParaRPr lang="en-US" sz="1100" dirty="0"/>
          </a:p>
          <a:p>
            <a:pPr marL="0" indent="0">
              <a:spcAft>
                <a:spcPts val="300"/>
              </a:spcAft>
              <a:buNone/>
            </a:pPr>
            <a:r>
              <a:rPr lang="en-US" sz="1100" dirty="0">
                <a:solidFill>
                  <a:srgbClr val="1E7C74"/>
                </a:solidFill>
                <a:latin typeface="Menlo" pitchFamily="34" charset="0"/>
                <a:ea typeface="Menlo" pitchFamily="34" charset="-122"/>
                <a:cs typeface="Menlo" pitchFamily="34" charset="-120"/>
              </a:rPr>
              <a:t>cc_query</a:t>
            </a:r>
            <a:r>
              <a:rPr lang="en-US" sz="1100" dirty="0">
                <a:solidFill>
                  <a:srgbClr val="182B49"/>
                </a:solidFill>
                <a:latin typeface="Menlo" pitchFamily="34" charset="0"/>
                <a:ea typeface="Menlo" pitchFamily="34" charset="-122"/>
                <a:cs typeface="Menlo" pitchFamily="34" charset="-120"/>
              </a:rPr>
              <a:t>(</a:t>
            </a:r>
            <a:r>
              <a:rPr lang="en-US" sz="1100" dirty="0">
                <a:solidFill>
                  <a:srgbClr val="A6552E"/>
                </a:solidFill>
                <a:latin typeface="Menlo" pitchFamily="34" charset="0"/>
                <a:ea typeface="Menlo" pitchFamily="34" charset="-122"/>
                <a:cs typeface="Menlo" pitchFamily="34" charset="-120"/>
              </a:rPr>
              <a:t>"SELECT count(*) FROM obs"</a:t>
            </a:r>
            <a:r>
              <a:rPr lang="en-US" sz="1100" dirty="0">
                <a:solidFill>
                  <a:srgbClr val="182B49"/>
                </a:solidFill>
                <a:latin typeface="Menlo" pitchFamily="34" charset="0"/>
                <a:ea typeface="Menlo" pitchFamily="34" charset="-122"/>
                <a:cs typeface="Menlo" pitchFamily="34" charset="-120"/>
              </a:rPr>
              <a:t>)</a:t>
            </a:r>
            <a:endParaRPr lang="en-US" sz="1100" dirty="0"/>
          </a:p>
          <a:p>
            <a:pPr marL="0" indent="0">
              <a:spcAft>
                <a:spcPts val="300"/>
              </a:spcAft>
              <a:buNone/>
            </a:pPr>
            <a:r>
              <a:rPr lang="en-US" sz="1100" dirty="0">
                <a:solidFill>
                  <a:srgbClr val="1E7C74"/>
                </a:solidFill>
                <a:latin typeface="Menlo" pitchFamily="34" charset="0"/>
                <a:ea typeface="Menlo" pitchFamily="34" charset="-122"/>
                <a:cs typeface="Menlo" pitchFamily="34" charset="-120"/>
              </a:rPr>
              <a:t>cc_qual_ok_sql</a:t>
            </a:r>
            <a:r>
              <a:rPr lang="en-US" sz="1100" dirty="0">
                <a:solidFill>
                  <a:srgbClr val="182B49"/>
                </a:solidFill>
                <a:latin typeface="Menlo" pitchFamily="34" charset="0"/>
                <a:ea typeface="Menlo" pitchFamily="34" charset="-122"/>
                <a:cs typeface="Menlo" pitchFamily="34" charset="-120"/>
              </a:rPr>
              <a:t>(</a:t>
            </a:r>
            <a:r>
              <a:rPr lang="en-US" sz="1100" dirty="0">
                <a:solidFill>
                  <a:srgbClr val="A6552E"/>
                </a:solidFill>
                <a:latin typeface="Menlo" pitchFamily="34" charset="0"/>
                <a:ea typeface="Menlo" pitchFamily="34" charset="-122"/>
                <a:cs typeface="Menlo" pitchFamily="34" charset="-120"/>
              </a:rPr>
              <a:t>"o"</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quality flags, one predicate</a:t>
            </a:r>
            <a:endParaRPr lang="en-US" sz="1100" dirty="0"/>
          </a:p>
          <a:p>
            <a:pPr marL="0" indent="0">
              <a:spcAft>
                <a:spcPts val="300"/>
              </a:spcAft>
              <a:buNone/>
            </a:pPr>
            <a:r>
              <a:rPr lang="en-US" sz="1100" dirty="0">
                <a:solidFill>
                  <a:srgbClr val="1E7C74"/>
                </a:solidFill>
                <a:latin typeface="Menlo" pitchFamily="34" charset="0"/>
                <a:ea typeface="Menlo" pitchFamily="34" charset="-122"/>
                <a:cs typeface="Menlo" pitchFamily="34" charset="-120"/>
              </a:rPr>
              <a:t>cc_interpolate</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the Contours surface, cell for cell</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con_pg &lt;- </a:t>
            </a:r>
            <a:r>
              <a:rPr lang="en-US" sz="1100" dirty="0">
                <a:solidFill>
                  <a:srgbClr val="1E7C74"/>
                </a:solidFill>
                <a:latin typeface="Menlo" pitchFamily="34" charset="0"/>
                <a:ea typeface="Menlo" pitchFamily="34" charset="-122"/>
                <a:cs typeface="Menlo" pitchFamily="34" charset="-120"/>
              </a:rPr>
              <a:t>cc_pg_connect</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the CTD team's PostgreSQL</a:t>
            </a:r>
            <a:endParaRPr lang="en-US" sz="1100" dirty="0"/>
          </a:p>
        </p:txBody>
      </p:sp>
      <p:sp>
        <p:nvSpPr>
          <p:cNvPr id="15" name="code-panel"/>
          <p:cNvSpPr/>
          <p:nvPr/>
        </p:nvSpPr>
        <p:spPr>
          <a:xfrm>
            <a:off x="6248095" y="1874520"/>
            <a:ext cx="5486400" cy="2926080"/>
          </a:xfrm>
          <a:prstGeom prst="roundRect">
            <a:avLst>
              <a:gd name="adj" fmla="val 3438"/>
            </a:avLst>
          </a:prstGeom>
          <a:solidFill>
            <a:srgbClr val="F5F0E6"/>
          </a:solidFill>
          <a:ln w="12700">
            <a:solidFill>
              <a:srgbClr val="F5F0E6"/>
            </a:solidFill>
            <a:prstDash val="solid"/>
          </a:ln>
        </p:spPr>
        <p:txBody>
          <a:bodyPr/>
          <a:lstStyle/>
          <a:p>
            <a:endParaRPr lang="en-US"/>
          </a:p>
        </p:txBody>
      </p:sp>
      <p:pic>
        <p:nvPicPr>
          <p:cNvPr id="16" name="icon ui-code" descr="/home/claude/work/icons/ui-code_navy.png"/>
          <p:cNvPicPr>
            <a:picLocks noChangeAspect="1"/>
          </p:cNvPicPr>
          <p:nvPr/>
        </p:nvPicPr>
        <p:blipFill>
          <a:blip r:embed="rId5"/>
          <a:stretch>
            <a:fillRect/>
          </a:stretch>
        </p:blipFill>
        <p:spPr>
          <a:xfrm>
            <a:off x="6430975" y="2029968"/>
            <a:ext cx="201168" cy="201168"/>
          </a:xfrm>
          <a:prstGeom prst="rect">
            <a:avLst/>
          </a:prstGeom>
        </p:spPr>
      </p:pic>
      <p:sp>
        <p:nvSpPr>
          <p:cNvPr id="17" name="caps:eyebrow"/>
          <p:cNvSpPr txBox="1"/>
          <p:nvPr/>
        </p:nvSpPr>
        <p:spPr>
          <a:xfrm>
            <a:off x="6705295" y="2039112"/>
            <a:ext cx="4846320" cy="201168"/>
          </a:xfrm>
          <a:prstGeom prst="rect">
            <a:avLst/>
          </a:prstGeom>
          <a:noFill/>
          <a:ln/>
        </p:spPr>
        <p:txBody>
          <a:bodyPr wrap="square" lIns="0" tIns="0" rIns="0" bIns="0" rtlCol="0" anchor="t"/>
          <a:lstStyle/>
          <a:p>
            <a:pPr marL="0" indent="0">
              <a:buNone/>
            </a:pPr>
            <a:r>
              <a:rPr lang="en-US" sz="1150" b="1" kern="0" cap="all" spc="120" dirty="0">
                <a:solidFill>
                  <a:srgbClr val="66686A"/>
                </a:solidFill>
                <a:latin typeface="Source Sans 3" pitchFamily="34" charset="0"/>
                <a:ea typeface="Source Sans 3" pitchFamily="34" charset="-122"/>
                <a:cs typeface="Source Sans 3" pitchFamily="34" charset="-120"/>
              </a:rPr>
              <a:t>PYTHON · CALCOFI4PY 0.9.0</a:t>
            </a:r>
            <a:endParaRPr lang="en-US" sz="1150" dirty="0"/>
          </a:p>
        </p:txBody>
      </p:sp>
      <p:sp>
        <p:nvSpPr>
          <p:cNvPr id="18" name="code"/>
          <p:cNvSpPr txBox="1"/>
          <p:nvPr/>
        </p:nvSpPr>
        <p:spPr>
          <a:xfrm>
            <a:off x="6430975" y="2377440"/>
            <a:ext cx="5120640" cy="2331720"/>
          </a:xfrm>
          <a:prstGeom prst="rect">
            <a:avLst/>
          </a:prstGeom>
          <a:noFill/>
          <a:ln/>
        </p:spPr>
        <p:txBody>
          <a:bodyPr wrap="square" lIns="0" tIns="0" rIns="0" bIns="0" rtlCol="0" anchor="t"/>
          <a:lstStyle/>
          <a:p>
            <a:pPr marL="0" indent="0">
              <a:spcAft>
                <a:spcPts val="300"/>
              </a:spcAft>
              <a:buNone/>
            </a:pPr>
            <a:r>
              <a:rPr lang="en-US" sz="1100" dirty="0">
                <a:solidFill>
                  <a:srgbClr val="6E4C8C"/>
                </a:solidFill>
                <a:latin typeface="Menlo" pitchFamily="34" charset="0"/>
                <a:ea typeface="Menlo" pitchFamily="34" charset="-122"/>
                <a:cs typeface="Menlo" pitchFamily="34" charset="-120"/>
              </a:rPr>
              <a:t>import</a:t>
            </a:r>
            <a:r>
              <a:rPr lang="en-US" sz="1100" dirty="0">
                <a:solidFill>
                  <a:srgbClr val="182B49"/>
                </a:solidFill>
                <a:latin typeface="Menlo" pitchFamily="34" charset="0"/>
                <a:ea typeface="Menlo" pitchFamily="34" charset="-122"/>
                <a:cs typeface="Menlo" pitchFamily="34" charset="-120"/>
              </a:rPr>
              <a:t> calcofi4py </a:t>
            </a:r>
            <a:r>
              <a:rPr lang="en-US" sz="1100" dirty="0">
                <a:solidFill>
                  <a:srgbClr val="6E4C8C"/>
                </a:solidFill>
                <a:latin typeface="Menlo" pitchFamily="34" charset="0"/>
                <a:ea typeface="Menlo" pitchFamily="34" charset="-122"/>
                <a:cs typeface="Menlo" pitchFamily="34" charset="-120"/>
              </a:rPr>
              <a:t>as</a:t>
            </a:r>
            <a:r>
              <a:rPr lang="en-US" sz="1100" dirty="0">
                <a:solidFill>
                  <a:srgbClr val="182B49"/>
                </a:solidFill>
                <a:latin typeface="Menlo" pitchFamily="34" charset="0"/>
                <a:ea typeface="Menlo" pitchFamily="34" charset="-122"/>
                <a:cs typeface="Menlo" pitchFamily="34" charset="-120"/>
              </a:rPr>
              <a:t> cc</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 = cc.</a:t>
            </a:r>
            <a:r>
              <a:rPr lang="en-US" sz="1100" dirty="0">
                <a:solidFill>
                  <a:srgbClr val="1E7C74"/>
                </a:solidFill>
                <a:latin typeface="Menlo" pitchFamily="34" charset="0"/>
                <a:ea typeface="Menlo" pitchFamily="34" charset="-122"/>
                <a:cs typeface="Menlo" pitchFamily="34" charset="-120"/>
              </a:rPr>
              <a:t>cc_get_db</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latest release, tables as views</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 = cc.</a:t>
            </a:r>
            <a:r>
              <a:rPr lang="en-US" sz="1100" dirty="0">
                <a:solidFill>
                  <a:srgbClr val="1E7C74"/>
                </a:solidFill>
                <a:latin typeface="Menlo" pitchFamily="34" charset="0"/>
                <a:ea typeface="Menlo" pitchFamily="34" charset="-122"/>
                <a:cs typeface="Menlo" pitchFamily="34" charset="-120"/>
              </a:rPr>
              <a:t>cc_get_db</a:t>
            </a:r>
            <a:r>
              <a:rPr lang="en-US" sz="1100" dirty="0">
                <a:solidFill>
                  <a:srgbClr val="182B49"/>
                </a:solidFill>
                <a:latin typeface="Menlo" pitchFamily="34" charset="0"/>
                <a:ea typeface="Menlo" pitchFamily="34" charset="-122"/>
                <a:cs typeface="Menlo" pitchFamily="34" charset="-120"/>
              </a:rPr>
              <a:t>(</a:t>
            </a:r>
            <a:r>
              <a:rPr lang="en-US" sz="1100" dirty="0">
                <a:solidFill>
                  <a:srgbClr val="A6552E"/>
                </a:solidFill>
                <a:latin typeface="Menlo" pitchFamily="34" charset="0"/>
                <a:ea typeface="Menlo" pitchFamily="34" charset="-122"/>
                <a:cs typeface="Menlo" pitchFamily="34" charset="-120"/>
              </a:rPr>
              <a:t>"v2026.09.06"</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pin a version</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cc.</a:t>
            </a:r>
            <a:r>
              <a:rPr lang="en-US" sz="1100" dirty="0">
                <a:solidFill>
                  <a:srgbClr val="1E7C74"/>
                </a:solidFill>
                <a:latin typeface="Menlo" pitchFamily="34" charset="0"/>
                <a:ea typeface="Menlo" pitchFamily="34" charset="-122"/>
                <a:cs typeface="Menlo" pitchFamily="34" charset="-120"/>
              </a:rPr>
              <a:t>cc_query</a:t>
            </a:r>
            <a:r>
              <a:rPr lang="en-US" sz="1100" dirty="0">
                <a:solidFill>
                  <a:srgbClr val="182B49"/>
                </a:solidFill>
                <a:latin typeface="Menlo" pitchFamily="34" charset="0"/>
                <a:ea typeface="Menlo" pitchFamily="34" charset="-122"/>
                <a:cs typeface="Menlo" pitchFamily="34" charset="-120"/>
              </a:rPr>
              <a:t>(</a:t>
            </a:r>
            <a:r>
              <a:rPr lang="en-US" sz="1100" dirty="0">
                <a:solidFill>
                  <a:srgbClr val="A6552E"/>
                </a:solidFill>
                <a:latin typeface="Menlo" pitchFamily="34" charset="0"/>
                <a:ea typeface="Menlo" pitchFamily="34" charset="-122"/>
                <a:cs typeface="Menlo" pitchFamily="34" charset="-120"/>
              </a:rPr>
              <a:t>"SELECT count(*) FROM obs"</a:t>
            </a:r>
            <a:r>
              <a:rPr lang="en-US" sz="1100" dirty="0">
                <a:solidFill>
                  <a:srgbClr val="182B49"/>
                </a:solidFill>
                <a:latin typeface="Menlo" pitchFamily="34" charset="0"/>
                <a:ea typeface="Menlo" pitchFamily="34" charset="-122"/>
                <a:cs typeface="Menlo" pitchFamily="34" charset="-120"/>
              </a:rPr>
              <a:t>).</a:t>
            </a:r>
            <a:r>
              <a:rPr lang="en-US" sz="1100" dirty="0">
                <a:solidFill>
                  <a:srgbClr val="1E7C74"/>
                </a:solidFill>
                <a:latin typeface="Menlo" pitchFamily="34" charset="0"/>
                <a:ea typeface="Menlo" pitchFamily="34" charset="-122"/>
                <a:cs typeface="Menlo" pitchFamily="34" charset="-120"/>
              </a:rPr>
              <a:t>fetchone</a:t>
            </a:r>
            <a:r>
              <a:rPr lang="en-US" sz="1100" dirty="0">
                <a:solidFill>
                  <a:srgbClr val="182B49"/>
                </a:solidFill>
                <a:latin typeface="Menlo" pitchFamily="34" charset="0"/>
                <a:ea typeface="Menlo" pitchFamily="34" charset="-122"/>
                <a:cs typeface="Menlo" pitchFamily="34" charset="-120"/>
              </a:rPr>
              <a:t>()</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cc.</a:t>
            </a:r>
            <a:r>
              <a:rPr lang="en-US" sz="1100" dirty="0">
                <a:solidFill>
                  <a:srgbClr val="1E7C74"/>
                </a:solidFill>
                <a:latin typeface="Menlo" pitchFamily="34" charset="0"/>
                <a:ea typeface="Menlo" pitchFamily="34" charset="-122"/>
                <a:cs typeface="Menlo" pitchFamily="34" charset="-120"/>
              </a:rPr>
              <a:t>qual_ok_sql</a:t>
            </a:r>
            <a:r>
              <a:rPr lang="en-US" sz="1100" dirty="0">
                <a:solidFill>
                  <a:srgbClr val="182B49"/>
                </a:solidFill>
                <a:latin typeface="Menlo" pitchFamily="34" charset="0"/>
                <a:ea typeface="Menlo" pitchFamily="34" charset="-122"/>
                <a:cs typeface="Menlo" pitchFamily="34" charset="-120"/>
              </a:rPr>
              <a:t>(</a:t>
            </a:r>
            <a:r>
              <a:rPr lang="en-US" sz="1100" dirty="0">
                <a:solidFill>
                  <a:srgbClr val="A6552E"/>
                </a:solidFill>
                <a:latin typeface="Menlo" pitchFamily="34" charset="0"/>
                <a:ea typeface="Menlo" pitchFamily="34" charset="-122"/>
                <a:cs typeface="Menlo" pitchFamily="34" charset="-120"/>
              </a:rPr>
              <a:t>"o"</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the same predicate</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cc.</a:t>
            </a:r>
            <a:r>
              <a:rPr lang="en-US" sz="1100" dirty="0">
                <a:solidFill>
                  <a:srgbClr val="1E7C74"/>
                </a:solidFill>
                <a:latin typeface="Menlo" pitchFamily="34" charset="0"/>
                <a:ea typeface="Menlo" pitchFamily="34" charset="-122"/>
                <a:cs typeface="Menlo" pitchFamily="34" charset="-120"/>
              </a:rPr>
              <a:t>interpolate</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 the same surface</a:t>
            </a:r>
            <a:endParaRPr lang="en-US" sz="1100" dirty="0"/>
          </a:p>
          <a:p>
            <a:pPr marL="0" indent="0">
              <a:spcAft>
                <a:spcPts val="300"/>
              </a:spcAft>
              <a:buNone/>
            </a:pPr>
            <a:r>
              <a:rPr lang="en-US" sz="1100" dirty="0">
                <a:solidFill>
                  <a:srgbClr val="182B49"/>
                </a:solidFill>
                <a:latin typeface="Menlo" pitchFamily="34" charset="0"/>
                <a:ea typeface="Menlo" pitchFamily="34" charset="-122"/>
                <a:cs typeface="Menlo" pitchFamily="34" charset="-120"/>
              </a:rPr>
              <a:t>con = cc.</a:t>
            </a:r>
            <a:r>
              <a:rPr lang="en-US" sz="1100" dirty="0">
                <a:solidFill>
                  <a:srgbClr val="1E7C74"/>
                </a:solidFill>
                <a:latin typeface="Menlo" pitchFamily="34" charset="0"/>
                <a:ea typeface="Menlo" pitchFamily="34" charset="-122"/>
                <a:cs typeface="Menlo" pitchFamily="34" charset="-120"/>
              </a:rPr>
              <a:t>cc_pg_connect</a:t>
            </a:r>
            <a:r>
              <a:rPr lang="en-US" sz="1100" dirty="0">
                <a:solidFill>
                  <a:srgbClr val="182B49"/>
                </a:solidFill>
                <a:latin typeface="Menlo" pitchFamily="34" charset="0"/>
                <a:ea typeface="Menlo" pitchFamily="34" charset="-122"/>
                <a:cs typeface="Menlo" pitchFamily="34" charset="-120"/>
              </a:rPr>
              <a:t>(tunnel=</a:t>
            </a:r>
            <a:r>
              <a:rPr lang="en-US" sz="1100" dirty="0">
                <a:solidFill>
                  <a:srgbClr val="6E4C8C"/>
                </a:solidFill>
                <a:latin typeface="Menlo" pitchFamily="34" charset="0"/>
                <a:ea typeface="Menlo" pitchFamily="34" charset="-122"/>
                <a:cs typeface="Menlo" pitchFamily="34" charset="-120"/>
              </a:rPr>
              <a:t>True</a:t>
            </a:r>
            <a:r>
              <a:rPr lang="en-US" sz="1100" dirty="0">
                <a:solidFill>
                  <a:srgbClr val="182B49"/>
                </a:solidFill>
                <a:latin typeface="Menlo" pitchFamily="34" charset="0"/>
                <a:ea typeface="Menlo" pitchFamily="34" charset="-122"/>
                <a:cs typeface="Menlo" pitchFamily="34" charset="-120"/>
              </a:rPr>
              <a:t>)</a:t>
            </a:r>
            <a:r>
              <a:rPr lang="en-US" sz="1100" dirty="0">
                <a:solidFill>
                  <a:srgbClr val="8B8368"/>
                </a:solidFill>
                <a:latin typeface="Menlo" pitchFamily="34" charset="0"/>
                <a:ea typeface="Menlo" pitchFamily="34" charset="-122"/>
                <a:cs typeface="Menlo" pitchFamily="34" charset="-120"/>
              </a:rPr>
              <a:t>  </a:t>
            </a:r>
            <a:br>
              <a:rPr lang="en-US" sz="1100" dirty="0">
                <a:solidFill>
                  <a:srgbClr val="8B8368"/>
                </a:solidFill>
                <a:latin typeface="Menlo" pitchFamily="34" charset="0"/>
                <a:ea typeface="Menlo" pitchFamily="34" charset="-122"/>
                <a:cs typeface="Menlo" pitchFamily="34" charset="-120"/>
              </a:rPr>
            </a:br>
            <a:r>
              <a:rPr lang="en-US" sz="1100" dirty="0">
                <a:solidFill>
                  <a:srgbClr val="8B8368"/>
                </a:solidFill>
                <a:latin typeface="Menlo" pitchFamily="34" charset="0"/>
                <a:ea typeface="Menlo" pitchFamily="34" charset="-122"/>
                <a:cs typeface="Menlo" pitchFamily="34" charset="-120"/>
              </a:rPr>
              <a:t># SSH tunnel + ~/.pgpass; no credentials in code</a:t>
            </a:r>
            <a:endParaRPr lang="en-US" sz="1100" dirty="0"/>
          </a:p>
        </p:txBody>
      </p:sp>
      <p:sp>
        <p:nvSpPr>
          <p:cNvPr id="19" name="build:bullets"/>
          <p:cNvSpPr txBox="1"/>
          <p:nvPr/>
        </p:nvSpPr>
        <p:spPr>
          <a:xfrm>
            <a:off x="457200" y="4983480"/>
            <a:ext cx="11277295" cy="12344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450" b="1" dirty="0">
                <a:solidFill>
                  <a:srgbClr val="182B49"/>
                </a:solidFill>
                <a:latin typeface="Source Sans 3" pitchFamily="34" charset="0"/>
                <a:ea typeface="Source Sans 3" pitchFamily="34" charset="-122"/>
                <a:cs typeface="Source Sans 3" pitchFamily="34" charset="-120"/>
              </a:rPr>
              <a:t>calcofi4py</a:t>
            </a:r>
            <a:r>
              <a:rPr lang="en-US" sz="1450" dirty="0">
                <a:solidFill>
                  <a:srgbClr val="182B49"/>
                </a:solidFill>
                <a:latin typeface="Source Sans 3" pitchFamily="34" charset="0"/>
                <a:ea typeface="Source Sans 3" pitchFamily="34" charset="-122"/>
                <a:cs typeface="Source Sans 3" pitchFamily="34" charset="-120"/>
              </a:rPr>
              <a:t> 0.9.0 for the CTD group: release access plus their PostgreSQL; </a:t>
            </a:r>
            <a:r>
              <a:rPr lang="en-US" sz="1450" b="1" dirty="0">
                <a:solidFill>
                  <a:srgbClr val="182B49"/>
                </a:solidFill>
                <a:latin typeface="Source Sans 3" pitchFamily="34" charset="0"/>
                <a:ea typeface="Source Sans 3" pitchFamily="34" charset="-122"/>
                <a:cs typeface="Source Sans 3" pitchFamily="34" charset="-120"/>
              </a:rPr>
              <a:t>calcofi4r</a:t>
            </a:r>
            <a:r>
              <a:rPr lang="en-US" sz="1450" dirty="0">
                <a:solidFill>
                  <a:srgbClr val="182B49"/>
                </a:solidFill>
                <a:latin typeface="Source Sans 3" pitchFamily="34" charset="0"/>
                <a:ea typeface="Source Sans 3" pitchFamily="34" charset="-122"/>
                <a:cs typeface="Source Sans 3" pitchFamily="34" charset="-120"/>
              </a:rPr>
              <a:t> 1.22.0; </a:t>
            </a:r>
            <a:r>
              <a:rPr lang="en-US" sz="1450" b="1" dirty="0">
                <a:solidFill>
                  <a:srgbClr val="182B49"/>
                </a:solidFill>
                <a:latin typeface="Source Sans 3" pitchFamily="34" charset="0"/>
                <a:ea typeface="Source Sans 3" pitchFamily="34" charset="-122"/>
                <a:cs typeface="Source Sans 3" pitchFamily="34" charset="-120"/>
              </a:rPr>
              <a:t>calcofi4db</a:t>
            </a:r>
            <a:r>
              <a:rPr lang="en-US" sz="1450" dirty="0">
                <a:solidFill>
                  <a:srgbClr val="182B49"/>
                </a:solidFill>
                <a:latin typeface="Source Sans 3" pitchFamily="34" charset="0"/>
                <a:ea typeface="Source Sans 3" pitchFamily="34" charset="-122"/>
                <a:cs typeface="Source Sans 3" pitchFamily="34" charset="-120"/>
              </a:rPr>
              <a:t> 4.7.0 runs the pipeline.</a:t>
            </a:r>
            <a:endParaRPr lang="en-US" sz="1450" dirty="0"/>
          </a:p>
          <a:p>
            <a:pPr marL="177800" indent="-177800">
              <a:lnSpc>
                <a:spcPct val="105000"/>
              </a:lnSpc>
              <a:spcAft>
                <a:spcPts val="400"/>
              </a:spcAft>
              <a:buSzPct val="100000"/>
              <a:buChar char="•"/>
            </a:pPr>
            <a:r>
              <a:rPr lang="en-US" sz="1450" b="1" dirty="0">
                <a:solidFill>
                  <a:srgbClr val="182B49"/>
                </a:solidFill>
                <a:latin typeface="Source Sans 3" pitchFamily="34" charset="0"/>
                <a:ea typeface="Source Sans 3" pitchFamily="34" charset="-122"/>
                <a:cs typeface="Source Sans 3" pitchFamily="34" charset="-120"/>
              </a:rPr>
              <a:t>Quality flags</a:t>
            </a:r>
            <a:r>
              <a:rPr lang="en-US" sz="1450" dirty="0">
                <a:solidFill>
                  <a:srgbClr val="182B49"/>
                </a:solidFill>
                <a:latin typeface="Source Sans 3" pitchFamily="34" charset="0"/>
                <a:ea typeface="Source Sans 3" pitchFamily="34" charset="-122"/>
                <a:cs typeface="Source Sans 3" pitchFamily="34" charset="-120"/>
              </a:rPr>
              <a:t> reach a consumer only if the consumer applies them: one NULL-safe predicate per language, and every app and static consumer uses it.</a:t>
            </a:r>
            <a:endParaRPr lang="en-US" sz="1450" dirty="0"/>
          </a:p>
          <a:p>
            <a:pPr marL="177800" indent="-177800">
              <a:lnSpc>
                <a:spcPct val="105000"/>
              </a:lnSpc>
              <a:spcAft>
                <a:spcPts val="400"/>
              </a:spcAft>
              <a:buSzPct val="100000"/>
              <a:buChar char="•"/>
            </a:pPr>
            <a:r>
              <a:rPr lang="en-US" sz="1450" dirty="0">
                <a:solidFill>
                  <a:srgbClr val="182B49"/>
                </a:solidFill>
                <a:latin typeface="Source Sans 3" pitchFamily="34" charset="0"/>
                <a:ea typeface="Source Sans 3" pitchFamily="34" charset="-122"/>
                <a:cs typeface="Source Sans 3" pitchFamily="34" charset="-120"/>
              </a:rPr>
              <a:t>No credentials in code: the release is public objects; PostgreSQL goes through an </a:t>
            </a:r>
            <a:r>
              <a:rPr lang="en-US" sz="1450" b="1" dirty="0">
                <a:solidFill>
                  <a:srgbClr val="182B49"/>
                </a:solidFill>
                <a:latin typeface="Source Sans 3" pitchFamily="34" charset="0"/>
                <a:ea typeface="Source Sans 3" pitchFamily="34" charset="-122"/>
                <a:cs typeface="Source Sans 3" pitchFamily="34" charset="-120"/>
              </a:rPr>
              <a:t>SSH tunnel</a:t>
            </a:r>
            <a:r>
              <a:rPr lang="en-US" sz="1450" dirty="0">
                <a:solidFill>
                  <a:srgbClr val="182B49"/>
                </a:solidFill>
                <a:latin typeface="Source Sans 3" pitchFamily="34" charset="0"/>
                <a:ea typeface="Source Sans 3" pitchFamily="34" charset="-122"/>
                <a:cs typeface="Source Sans 3" pitchFamily="34" charset="-120"/>
              </a:rPr>
              <a:t> and ~/.pgpass.</a:t>
            </a:r>
            <a:endParaRPr lang="en-US" sz="1450" dirty="0"/>
          </a:p>
        </p:txBody>
      </p:sp>
      <p:sp>
        <p:nvSpPr>
          <p:cNvPr id="2" name="footer-left">
            <a:hlinkClick r:id="rId6"/>
            <a:extLst>
              <a:ext uri="{FF2B5EF4-FFF2-40B4-BE49-F238E27FC236}">
                <a16:creationId xmlns:a16="http://schemas.microsoft.com/office/drawing/2014/main" id="{625353B1-AD83-1D1D-AB06-2622DE966046}"/>
              </a:ext>
            </a:extLst>
          </p:cNvPr>
          <p:cNvSpPr txBox="1"/>
          <p:nvPr/>
        </p:nvSpPr>
        <p:spPr>
          <a:xfrm>
            <a:off x="1708494" y="6345936"/>
            <a:ext cx="1410586"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 </a:t>
            </a:r>
            <a:r>
              <a:rPr lang="en-US" sz="1200" dirty="0" err="1">
                <a:solidFill>
                  <a:srgbClr val="00629B"/>
                </a:solidFill>
                <a:latin typeface="Source Sans 3" pitchFamily="34" charset="0"/>
                <a:ea typeface="Source Sans 3" pitchFamily="34" charset="-122"/>
                <a:cs typeface="Source Sans 3" pitchFamily="34" charset="-120"/>
              </a:rPr>
              <a:t>calcofi.io</a:t>
            </a:r>
            <a:r>
              <a:rPr lang="en-US" sz="1200" dirty="0">
                <a:solidFill>
                  <a:srgbClr val="00629B"/>
                </a:solidFill>
                <a:latin typeface="Source Sans 3" pitchFamily="34" charset="0"/>
                <a:ea typeface="Source Sans 3" pitchFamily="34" charset="-122"/>
                <a:cs typeface="Source Sans 3" pitchFamily="34" charset="-120"/>
              </a:rPr>
              <a:t>/calcofi4py</a:t>
            </a:r>
            <a:endParaRPr lang="en-US" sz="1200" dirty="0"/>
          </a:p>
        </p:txBody>
      </p:sp>
    </p:spTree>
    <p:extLst>
      <p:ext uri="{BB962C8B-B14F-4D97-AF65-F5344CB8AC3E}">
        <p14:creationId xmlns:p14="http://schemas.microsoft.com/office/powerpoint/2010/main" val="3389629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calcofi.io/docs/metadata.html</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20</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METADATA &amp; THE INGEST LOOP</a:t>
            </a:r>
            <a:endParaRPr lang="en-US" sz="1200" dirty="0"/>
          </a:p>
        </p:txBody>
      </p:sp>
      <p:pic>
        <p:nvPicPr>
          <p:cNvPr id="9" name="icon ui-filter" descr="/home/claude/work/icons/ui-filter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Providers edit a Sheet; git keeps the record; the release publishes it</a:t>
            </a:r>
            <a:endParaRPr lang="en-US" sz="3400" dirty="0"/>
          </a:p>
        </p:txBody>
      </p:sp>
      <p:sp>
        <p:nvSpPr>
          <p:cNvPr id="11" name="band"/>
          <p:cNvSpPr/>
          <p:nvPr/>
        </p:nvSpPr>
        <p:spPr>
          <a:xfrm>
            <a:off x="0" y="1783080"/>
            <a:ext cx="12191695" cy="4434840"/>
          </a:xfrm>
          <a:prstGeom prst="rect">
            <a:avLst/>
          </a:prstGeom>
          <a:solidFill>
            <a:srgbClr val="F5F0E6"/>
          </a:solidFill>
          <a:ln w="12700">
            <a:solidFill>
              <a:srgbClr val="F5F0E6"/>
            </a:solidFill>
            <a:prstDash val="solid"/>
          </a:ln>
        </p:spPr>
        <p:txBody>
          <a:bodyPr/>
          <a:lstStyle/>
          <a:p>
            <a:endParaRPr lang="en-US"/>
          </a:p>
        </p:txBody>
      </p:sp>
      <p:pic>
        <p:nvPicPr>
          <p:cNvPr id="12" name="card|rr2151" descr="/home/claude/work/media/s20_p2_1440x757_55e3b03f.png"/>
          <p:cNvPicPr>
            <a:picLocks noChangeAspect="1"/>
          </p:cNvPicPr>
          <p:nvPr/>
        </p:nvPicPr>
        <p:blipFill>
          <a:blip r:embed="rId6"/>
          <a:stretch>
            <a:fillRect/>
          </a:stretch>
        </p:blipFill>
        <p:spPr>
          <a:xfrm>
            <a:off x="457200" y="1874520"/>
            <a:ext cx="5989320" cy="3148552"/>
          </a:xfrm>
          <a:prstGeom prst="roundRect">
            <a:avLst>
              <a:gd name="adj" fmla="val 2151"/>
            </a:avLst>
          </a:prstGeom>
          <a:effectLst>
            <a:outerShdw blurRad="76200" dist="25400" dir="5400000" algn="bl" rotWithShape="0">
              <a:srgbClr val="182B49">
                <a:alpha val="22000"/>
              </a:srgbClr>
            </a:outerShdw>
          </a:effectLst>
        </p:spPr>
      </p:pic>
      <p:sp>
        <p:nvSpPr>
          <p:cNvPr id="13" name="caption"/>
          <p:cNvSpPr txBox="1"/>
          <p:nvPr/>
        </p:nvSpPr>
        <p:spPr>
          <a:xfrm>
            <a:off x="457200" y="5114512"/>
            <a:ext cx="5989320" cy="566928"/>
          </a:xfrm>
          <a:prstGeom prst="rect">
            <a:avLst/>
          </a:prstGeom>
          <a:noFill/>
          <a:ln/>
        </p:spPr>
        <p:txBody>
          <a:bodyPr wrap="square" lIns="0" tIns="0" rIns="0" bIns="0" rtlCol="0" anchor="t"/>
          <a:lstStyle/>
          <a:p>
            <a:pPr marL="0" indent="0">
              <a:buNone/>
            </a:pPr>
            <a:r>
              <a:rPr lang="en-US" sz="1200" dirty="0">
                <a:solidFill>
                  <a:srgbClr val="66686A"/>
                </a:solidFill>
                <a:latin typeface="Source Sans 3" pitchFamily="34" charset="0"/>
                <a:ea typeface="Source Sans 3" pitchFamily="34" charset="-122"/>
                <a:cs typeface="Source Sans 3" pitchFamily="34" charset="-120"/>
              </a:rPr>
              <a:t>The CalCOFI provider Sheet, metadata tab — long form, tiered required → recommended → optional; only value / edited_by / edited_date are editable.</a:t>
            </a:r>
            <a:endParaRPr lang="en-US" sz="1200" dirty="0"/>
          </a:p>
        </p:txBody>
      </p:sp>
      <p:sp>
        <p:nvSpPr>
          <p:cNvPr id="14" name="wire"/>
          <p:cNvSpPr/>
          <p:nvPr/>
        </p:nvSpPr>
        <p:spPr>
          <a:xfrm>
            <a:off x="7004304" y="1920240"/>
            <a:ext cx="0" cy="3127248"/>
          </a:xfrm>
          <a:prstGeom prst="line">
            <a:avLst/>
          </a:prstGeom>
          <a:noFill/>
          <a:ln w="12700">
            <a:solidFill>
              <a:srgbClr val="182B49"/>
            </a:solidFill>
            <a:prstDash val="solid"/>
          </a:ln>
        </p:spPr>
        <p:txBody>
          <a:bodyPr/>
          <a:lstStyle/>
          <a:p>
            <a:endParaRPr lang="en-US"/>
          </a:p>
        </p:txBody>
      </p:sp>
      <p:sp>
        <p:nvSpPr>
          <p:cNvPr id="15" name="bottle"/>
          <p:cNvSpPr/>
          <p:nvPr/>
        </p:nvSpPr>
        <p:spPr>
          <a:xfrm>
            <a:off x="6912864" y="2084832"/>
            <a:ext cx="182880" cy="182880"/>
          </a:xfrm>
          <a:prstGeom prst="ellipse">
            <a:avLst/>
          </a:prstGeom>
          <a:solidFill>
            <a:srgbClr val="182B49"/>
          </a:solidFill>
          <a:ln w="19050">
            <a:solidFill>
              <a:srgbClr val="F5F0E6"/>
            </a:solidFill>
            <a:prstDash val="solid"/>
          </a:ln>
        </p:spPr>
        <p:txBody>
          <a:bodyPr/>
          <a:lstStyle/>
          <a:p>
            <a:endParaRPr lang="en-US"/>
          </a:p>
        </p:txBody>
      </p:sp>
      <p:sp>
        <p:nvSpPr>
          <p:cNvPr id="16" name="stage"/>
          <p:cNvSpPr/>
          <p:nvPr/>
        </p:nvSpPr>
        <p:spPr>
          <a:xfrm>
            <a:off x="7242048" y="1874520"/>
            <a:ext cx="4492447" cy="603504"/>
          </a:xfrm>
          <a:prstGeom prst="roundRect">
            <a:avLst>
              <a:gd name="adj" fmla="val 13636"/>
            </a:avLst>
          </a:prstGeom>
          <a:solidFill>
            <a:srgbClr val="FFFFFF"/>
          </a:solidFill>
          <a:ln w="12700">
            <a:solidFill>
              <a:srgbClr val="FFFFFF"/>
            </a:solidFill>
            <a:prstDash val="solid"/>
          </a:ln>
          <a:effectLst>
            <a:outerShdw blurRad="76200" dist="25400" dir="5400000" algn="bl" rotWithShape="0">
              <a:srgbClr val="182B49">
                <a:alpha val="12000"/>
              </a:srgbClr>
            </a:outerShdw>
          </a:effectLst>
        </p:spPr>
        <p:txBody>
          <a:bodyPr/>
          <a:lstStyle/>
          <a:p>
            <a:endParaRPr lang="en-US"/>
          </a:p>
        </p:txBody>
      </p:sp>
      <p:sp>
        <p:nvSpPr>
          <p:cNvPr id="17" name="text"/>
          <p:cNvSpPr txBox="1"/>
          <p:nvPr/>
        </p:nvSpPr>
        <p:spPr>
          <a:xfrm>
            <a:off x="7370064" y="1929384"/>
            <a:ext cx="4254703" cy="219456"/>
          </a:xfrm>
          <a:prstGeom prst="rect">
            <a:avLst/>
          </a:prstGeom>
          <a:noFill/>
          <a:ln/>
        </p:spPr>
        <p:txBody>
          <a:bodyPr wrap="square" lIns="0" tIns="0" rIns="0" bIns="0" rtlCol="0" anchor="t"/>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Provider Sheet</a:t>
            </a:r>
            <a:endParaRPr lang="en-US" sz="1250" dirty="0"/>
          </a:p>
        </p:txBody>
      </p:sp>
      <p:sp>
        <p:nvSpPr>
          <p:cNvPr id="18" name="text"/>
          <p:cNvSpPr txBox="1"/>
          <p:nvPr/>
        </p:nvSpPr>
        <p:spPr>
          <a:xfrm>
            <a:off x="7370064" y="2139696"/>
            <a:ext cx="4254703" cy="329184"/>
          </a:xfrm>
          <a:prstGeom prst="rect">
            <a:avLst/>
          </a:prstGeom>
          <a:noFill/>
          <a:ln/>
        </p:spPr>
        <p:txBody>
          <a:bodyPr wrap="square" lIns="0" tIns="0" rIns="0" bIns="0" rtlCol="0" anchor="t"/>
          <a:lstStyle/>
          <a:p>
            <a:pPr marL="0" indent="0">
              <a:lnSpc>
                <a:spcPct val="100000"/>
              </a:lnSpc>
              <a:buNone/>
            </a:pPr>
            <a:r>
              <a:rPr lang="en-US" sz="1100" dirty="0">
                <a:solidFill>
                  <a:srgbClr val="66686A"/>
                </a:solidFill>
                <a:latin typeface="Source Sans 3" pitchFamily="34" charset="0"/>
                <a:ea typeface="Source Sans 3" pitchFamily="34" charset="-122"/>
                <a:cs typeface="Source Sans 3" pitchFamily="34" charset="-120"/>
              </a:rPr>
              <a:t>one per provider · tabs: a dataset's questions · metadata · holdings (ours)</a:t>
            </a:r>
            <a:endParaRPr lang="en-US" sz="1100" dirty="0"/>
          </a:p>
        </p:txBody>
      </p:sp>
      <p:sp>
        <p:nvSpPr>
          <p:cNvPr id="19" name="text"/>
          <p:cNvSpPr txBox="1"/>
          <p:nvPr/>
        </p:nvSpPr>
        <p:spPr>
          <a:xfrm>
            <a:off x="7370064" y="2496312"/>
            <a:ext cx="4254703" cy="201168"/>
          </a:xfrm>
          <a:prstGeom prst="rect">
            <a:avLst/>
          </a:prstGeom>
          <a:noFill/>
          <a:ln/>
        </p:spPr>
        <p:txBody>
          <a:bodyPr wrap="square" lIns="0" tIns="0" rIns="0" bIns="0" rtlCol="0" anchor="t"/>
          <a:lstStyle/>
          <a:p>
            <a:pPr marL="0" indent="0">
              <a:buNone/>
            </a:pPr>
            <a:r>
              <a:rPr lang="en-US" sz="1100" dirty="0">
                <a:solidFill>
                  <a:srgbClr val="00629B"/>
                </a:solidFill>
                <a:latin typeface="Source Sans 3" pitchFamily="34" charset="0"/>
                <a:ea typeface="Source Sans 3" pitchFamily="34" charset="-122"/>
                <a:cs typeface="Source Sans 3" pitchFamily="34" charset="-120"/>
              </a:rPr>
              <a:t>⇅  push / pull, only the answer columns</a:t>
            </a:r>
            <a:endParaRPr lang="en-US" sz="1100" dirty="0"/>
          </a:p>
        </p:txBody>
      </p:sp>
      <p:sp>
        <p:nvSpPr>
          <p:cNvPr id="20" name="bottle"/>
          <p:cNvSpPr/>
          <p:nvPr/>
        </p:nvSpPr>
        <p:spPr>
          <a:xfrm>
            <a:off x="6912864" y="2926080"/>
            <a:ext cx="182880" cy="182880"/>
          </a:xfrm>
          <a:prstGeom prst="ellipse">
            <a:avLst/>
          </a:prstGeom>
          <a:solidFill>
            <a:srgbClr val="182B49"/>
          </a:solidFill>
          <a:ln w="19050">
            <a:solidFill>
              <a:srgbClr val="F5F0E6"/>
            </a:solidFill>
            <a:prstDash val="solid"/>
          </a:ln>
        </p:spPr>
        <p:txBody>
          <a:bodyPr/>
          <a:lstStyle/>
          <a:p>
            <a:endParaRPr lang="en-US"/>
          </a:p>
        </p:txBody>
      </p:sp>
      <p:sp>
        <p:nvSpPr>
          <p:cNvPr id="21" name="stage"/>
          <p:cNvSpPr/>
          <p:nvPr/>
        </p:nvSpPr>
        <p:spPr>
          <a:xfrm>
            <a:off x="7242048" y="2715768"/>
            <a:ext cx="4492447" cy="603504"/>
          </a:xfrm>
          <a:prstGeom prst="roundRect">
            <a:avLst>
              <a:gd name="adj" fmla="val 13636"/>
            </a:avLst>
          </a:prstGeom>
          <a:solidFill>
            <a:srgbClr val="FFFFFF"/>
          </a:solidFill>
          <a:ln w="12700">
            <a:solidFill>
              <a:srgbClr val="FFFFFF"/>
            </a:solidFill>
            <a:prstDash val="solid"/>
          </a:ln>
          <a:effectLst>
            <a:outerShdw blurRad="76200" dist="25400" dir="5400000" algn="bl" rotWithShape="0">
              <a:srgbClr val="182B49">
                <a:alpha val="12000"/>
              </a:srgbClr>
            </a:outerShdw>
          </a:effectLst>
        </p:spPr>
        <p:txBody>
          <a:bodyPr/>
          <a:lstStyle/>
          <a:p>
            <a:endParaRPr lang="en-US"/>
          </a:p>
        </p:txBody>
      </p:sp>
      <p:sp>
        <p:nvSpPr>
          <p:cNvPr id="22" name="text"/>
          <p:cNvSpPr txBox="1"/>
          <p:nvPr/>
        </p:nvSpPr>
        <p:spPr>
          <a:xfrm>
            <a:off x="7370064" y="2770632"/>
            <a:ext cx="4254703" cy="219456"/>
          </a:xfrm>
          <a:prstGeom prst="rect">
            <a:avLst/>
          </a:prstGeom>
          <a:noFill/>
          <a:ln/>
        </p:spPr>
        <p:txBody>
          <a:bodyPr wrap="square" lIns="0" tIns="0" rIns="0" bIns="0" rtlCol="0" anchor="t"/>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The record, in git</a:t>
            </a:r>
            <a:endParaRPr lang="en-US" sz="1250" dirty="0"/>
          </a:p>
        </p:txBody>
      </p:sp>
      <p:sp>
        <p:nvSpPr>
          <p:cNvPr id="23" name="text"/>
          <p:cNvSpPr txBox="1"/>
          <p:nvPr/>
        </p:nvSpPr>
        <p:spPr>
          <a:xfrm>
            <a:off x="7370064" y="2980944"/>
            <a:ext cx="4254703" cy="329184"/>
          </a:xfrm>
          <a:prstGeom prst="rect">
            <a:avLst/>
          </a:prstGeom>
          <a:noFill/>
          <a:ln/>
        </p:spPr>
        <p:txBody>
          <a:bodyPr wrap="square" lIns="0" tIns="0" rIns="0" bIns="0" rtlCol="0" anchor="t"/>
          <a:lstStyle/>
          <a:p>
            <a:pPr marL="0" indent="0">
              <a:lnSpc>
                <a:spcPct val="100000"/>
              </a:lnSpc>
              <a:buNone/>
            </a:pPr>
            <a:r>
              <a:rPr lang="en-US" sz="1100" dirty="0">
                <a:solidFill>
                  <a:srgbClr val="66686A"/>
                </a:solidFill>
                <a:latin typeface="Source Sans 3" pitchFamily="34" charset="0"/>
                <a:ea typeface="Source Sans 3" pitchFamily="34" charset="-122"/>
                <a:cs typeface="Source Sans 3" pitchFamily="34" charset="-120"/>
              </a:rPr>
              <a:t>metadata/{provider}/{dataset}/dataset_meta.yml + questions.csv</a:t>
            </a:r>
            <a:endParaRPr lang="en-US" sz="1100" dirty="0"/>
          </a:p>
        </p:txBody>
      </p:sp>
      <p:sp>
        <p:nvSpPr>
          <p:cNvPr id="24" name="text"/>
          <p:cNvSpPr txBox="1"/>
          <p:nvPr/>
        </p:nvSpPr>
        <p:spPr>
          <a:xfrm>
            <a:off x="7370064" y="3337560"/>
            <a:ext cx="4254703" cy="201168"/>
          </a:xfrm>
          <a:prstGeom prst="rect">
            <a:avLst/>
          </a:prstGeom>
          <a:noFill/>
          <a:ln/>
        </p:spPr>
        <p:txBody>
          <a:bodyPr wrap="square" lIns="0" tIns="0" rIns="0" bIns="0" rtlCol="0" anchor="t"/>
          <a:lstStyle/>
          <a:p>
            <a:pPr marL="0" indent="0">
              <a:buNone/>
            </a:pPr>
            <a:r>
              <a:rPr lang="en-US" sz="1100" dirty="0">
                <a:solidFill>
                  <a:srgbClr val="00629B"/>
                </a:solidFill>
                <a:latin typeface="Source Sans 3" pitchFamily="34" charset="0"/>
                <a:ea typeface="Source Sans 3" pitchFamily="34" charset="-122"/>
                <a:cs typeface="Source Sans 3" pitchFamily="34" charset="-120"/>
              </a:rPr>
              <a:t>↓  build</a:t>
            </a:r>
            <a:endParaRPr lang="en-US" sz="1100" dirty="0"/>
          </a:p>
        </p:txBody>
      </p:sp>
      <p:sp>
        <p:nvSpPr>
          <p:cNvPr id="25" name="bottle"/>
          <p:cNvSpPr/>
          <p:nvPr/>
        </p:nvSpPr>
        <p:spPr>
          <a:xfrm>
            <a:off x="6912864" y="3767328"/>
            <a:ext cx="182880" cy="182880"/>
          </a:xfrm>
          <a:prstGeom prst="ellipse">
            <a:avLst/>
          </a:prstGeom>
          <a:solidFill>
            <a:srgbClr val="182B49"/>
          </a:solidFill>
          <a:ln w="19050">
            <a:solidFill>
              <a:srgbClr val="F5F0E6"/>
            </a:solidFill>
            <a:prstDash val="solid"/>
          </a:ln>
        </p:spPr>
        <p:txBody>
          <a:bodyPr/>
          <a:lstStyle/>
          <a:p>
            <a:endParaRPr lang="en-US"/>
          </a:p>
        </p:txBody>
      </p:sp>
      <p:sp>
        <p:nvSpPr>
          <p:cNvPr id="26" name="stage"/>
          <p:cNvSpPr/>
          <p:nvPr/>
        </p:nvSpPr>
        <p:spPr>
          <a:xfrm>
            <a:off x="7242048" y="3557016"/>
            <a:ext cx="4492447" cy="603504"/>
          </a:xfrm>
          <a:prstGeom prst="roundRect">
            <a:avLst>
              <a:gd name="adj" fmla="val 13636"/>
            </a:avLst>
          </a:prstGeom>
          <a:solidFill>
            <a:srgbClr val="FFFFFF"/>
          </a:solidFill>
          <a:ln w="12700">
            <a:solidFill>
              <a:srgbClr val="FFFFFF"/>
            </a:solidFill>
            <a:prstDash val="solid"/>
          </a:ln>
          <a:effectLst>
            <a:outerShdw blurRad="76200" dist="25400" dir="5400000" algn="bl" rotWithShape="0">
              <a:srgbClr val="182B49">
                <a:alpha val="12000"/>
              </a:srgbClr>
            </a:outerShdw>
          </a:effectLst>
        </p:spPr>
        <p:txBody>
          <a:bodyPr/>
          <a:lstStyle/>
          <a:p>
            <a:endParaRPr lang="en-US"/>
          </a:p>
        </p:txBody>
      </p:sp>
      <p:sp>
        <p:nvSpPr>
          <p:cNvPr id="27" name="text"/>
          <p:cNvSpPr txBox="1"/>
          <p:nvPr/>
        </p:nvSpPr>
        <p:spPr>
          <a:xfrm>
            <a:off x="7370064" y="3611880"/>
            <a:ext cx="4254703" cy="219456"/>
          </a:xfrm>
          <a:prstGeom prst="rect">
            <a:avLst/>
          </a:prstGeom>
          <a:noFill/>
          <a:ln/>
        </p:spPr>
        <p:txBody>
          <a:bodyPr wrap="square" lIns="0" tIns="0" rIns="0" bIns="0" rtlCol="0" anchor="t"/>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The release</a:t>
            </a:r>
            <a:endParaRPr lang="en-US" sz="1250" dirty="0"/>
          </a:p>
        </p:txBody>
      </p:sp>
      <p:sp>
        <p:nvSpPr>
          <p:cNvPr id="28" name="text"/>
          <p:cNvSpPr txBox="1"/>
          <p:nvPr/>
        </p:nvSpPr>
        <p:spPr>
          <a:xfrm>
            <a:off x="7370064" y="3822192"/>
            <a:ext cx="4254703" cy="329184"/>
          </a:xfrm>
          <a:prstGeom prst="rect">
            <a:avLst/>
          </a:prstGeom>
          <a:noFill/>
          <a:ln/>
        </p:spPr>
        <p:txBody>
          <a:bodyPr wrap="square" lIns="0" tIns="0" rIns="0" bIns="0" rtlCol="0" anchor="t"/>
          <a:lstStyle/>
          <a:p>
            <a:pPr marL="0" indent="0">
              <a:lnSpc>
                <a:spcPct val="100000"/>
              </a:lnSpc>
              <a:buNone/>
            </a:pPr>
            <a:r>
              <a:rPr lang="en-US" sz="1100" dirty="0">
                <a:solidFill>
                  <a:srgbClr val="66686A"/>
                </a:solidFill>
                <a:latin typeface="Source Sans 3" pitchFamily="34" charset="0"/>
                <a:ea typeface="Source Sans 3" pitchFamily="34" charset="-122"/>
                <a:cs typeface="Source Sans 3" pitchFamily="34" charset="-120"/>
              </a:rPr>
              <a:t>monthly; coverage, counts and access dates measured, never typed</a:t>
            </a:r>
            <a:endParaRPr lang="en-US" sz="1100" dirty="0"/>
          </a:p>
        </p:txBody>
      </p:sp>
      <p:sp>
        <p:nvSpPr>
          <p:cNvPr id="29" name="text"/>
          <p:cNvSpPr txBox="1"/>
          <p:nvPr/>
        </p:nvSpPr>
        <p:spPr>
          <a:xfrm>
            <a:off x="7370064" y="4178808"/>
            <a:ext cx="4254703" cy="201168"/>
          </a:xfrm>
          <a:prstGeom prst="rect">
            <a:avLst/>
          </a:prstGeom>
          <a:noFill/>
          <a:ln/>
        </p:spPr>
        <p:txBody>
          <a:bodyPr wrap="square" lIns="0" tIns="0" rIns="0" bIns="0" rtlCol="0" anchor="t"/>
          <a:lstStyle/>
          <a:p>
            <a:pPr marL="0" indent="0">
              <a:buNone/>
            </a:pPr>
            <a:r>
              <a:rPr lang="en-US" sz="1100" dirty="0">
                <a:solidFill>
                  <a:srgbClr val="00629B"/>
                </a:solidFill>
                <a:latin typeface="Source Sans 3" pitchFamily="34" charset="0"/>
                <a:ea typeface="Source Sans 3" pitchFamily="34" charset="-122"/>
                <a:cs typeface="Source Sans 3" pitchFamily="34" charset="-120"/>
              </a:rPr>
              <a:t>↓  generate</a:t>
            </a:r>
            <a:endParaRPr lang="en-US" sz="1100" dirty="0"/>
          </a:p>
        </p:txBody>
      </p:sp>
      <p:sp>
        <p:nvSpPr>
          <p:cNvPr id="30" name="bottle"/>
          <p:cNvSpPr/>
          <p:nvPr/>
        </p:nvSpPr>
        <p:spPr>
          <a:xfrm>
            <a:off x="6912864" y="4608576"/>
            <a:ext cx="182880" cy="182880"/>
          </a:xfrm>
          <a:prstGeom prst="ellipse">
            <a:avLst/>
          </a:prstGeom>
          <a:solidFill>
            <a:srgbClr val="182B49"/>
          </a:solidFill>
          <a:ln w="19050">
            <a:solidFill>
              <a:srgbClr val="F5F0E6"/>
            </a:solidFill>
            <a:prstDash val="solid"/>
          </a:ln>
        </p:spPr>
        <p:txBody>
          <a:bodyPr/>
          <a:lstStyle/>
          <a:p>
            <a:endParaRPr lang="en-US"/>
          </a:p>
        </p:txBody>
      </p:sp>
      <p:sp>
        <p:nvSpPr>
          <p:cNvPr id="31" name="stage"/>
          <p:cNvSpPr/>
          <p:nvPr/>
        </p:nvSpPr>
        <p:spPr>
          <a:xfrm>
            <a:off x="7242048" y="4398264"/>
            <a:ext cx="4492447" cy="603504"/>
          </a:xfrm>
          <a:prstGeom prst="roundRect">
            <a:avLst>
              <a:gd name="adj" fmla="val 13636"/>
            </a:avLst>
          </a:prstGeom>
          <a:solidFill>
            <a:srgbClr val="FFFFFF"/>
          </a:solidFill>
          <a:ln w="12700">
            <a:solidFill>
              <a:srgbClr val="FFFFFF"/>
            </a:solidFill>
            <a:prstDash val="solid"/>
          </a:ln>
          <a:effectLst>
            <a:outerShdw blurRad="76200" dist="25400" dir="5400000" algn="bl" rotWithShape="0">
              <a:srgbClr val="182B49">
                <a:alpha val="12000"/>
              </a:srgbClr>
            </a:outerShdw>
          </a:effectLst>
        </p:spPr>
        <p:txBody>
          <a:bodyPr/>
          <a:lstStyle/>
          <a:p>
            <a:endParaRPr lang="en-US"/>
          </a:p>
        </p:txBody>
      </p:sp>
      <p:sp>
        <p:nvSpPr>
          <p:cNvPr id="32" name="text"/>
          <p:cNvSpPr txBox="1"/>
          <p:nvPr/>
        </p:nvSpPr>
        <p:spPr>
          <a:xfrm>
            <a:off x="7370064" y="4453128"/>
            <a:ext cx="4254703" cy="219456"/>
          </a:xfrm>
          <a:prstGeom prst="rect">
            <a:avLst/>
          </a:prstGeom>
          <a:noFill/>
          <a:ln/>
        </p:spPr>
        <p:txBody>
          <a:bodyPr wrap="square" lIns="0" tIns="0" rIns="0" bIns="0" rtlCol="0" anchor="t"/>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Public surfaces</a:t>
            </a:r>
            <a:endParaRPr lang="en-US" sz="1250" dirty="0"/>
          </a:p>
        </p:txBody>
      </p:sp>
      <p:sp>
        <p:nvSpPr>
          <p:cNvPr id="33" name="text"/>
          <p:cNvSpPr txBox="1"/>
          <p:nvPr/>
        </p:nvSpPr>
        <p:spPr>
          <a:xfrm>
            <a:off x="7370064" y="4663440"/>
            <a:ext cx="4254703" cy="329184"/>
          </a:xfrm>
          <a:prstGeom prst="rect">
            <a:avLst/>
          </a:prstGeom>
          <a:noFill/>
          <a:ln/>
        </p:spPr>
        <p:txBody>
          <a:bodyPr wrap="square" lIns="0" tIns="0" rIns="0" bIns="0" rtlCol="0" anchor="t"/>
          <a:lstStyle/>
          <a:p>
            <a:pPr marL="0" indent="0">
              <a:lnSpc>
                <a:spcPct val="100000"/>
              </a:lnSpc>
              <a:buNone/>
            </a:pPr>
            <a:r>
              <a:rPr lang="en-US" sz="1100" dirty="0">
                <a:solidFill>
                  <a:srgbClr val="66686A"/>
                </a:solidFill>
                <a:latin typeface="Source Sans 3" pitchFamily="34" charset="0"/>
                <a:ea typeface="Source Sans 3" pitchFamily="34" charset="-122"/>
                <a:cs typeface="Source Sans 3" pitchFamily="34" charset="-120"/>
              </a:rPr>
              <a:t>calcofi.io/datasets · EML · STAC · DCAT · DwC-A · EDI · ERDDAP</a:t>
            </a:r>
            <a:endParaRPr lang="en-US" sz="1100" dirty="0"/>
          </a:p>
        </p:txBody>
      </p:sp>
      <p:sp>
        <p:nvSpPr>
          <p:cNvPr id="34" name="build:bullets"/>
          <p:cNvSpPr txBox="1"/>
          <p:nvPr/>
        </p:nvSpPr>
        <p:spPr>
          <a:xfrm>
            <a:off x="6858000" y="5102352"/>
            <a:ext cx="4876495" cy="1097280"/>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150" dirty="0">
                <a:solidFill>
                  <a:srgbClr val="182B49"/>
                </a:solidFill>
                <a:latin typeface="Source Sans 3" pitchFamily="34" charset="0"/>
                <a:ea typeface="Source Sans 3" pitchFamily="34" charset="-122"/>
                <a:cs typeface="Source Sans 3" pitchFamily="34" charset="-120"/>
              </a:rPr>
              <a:t>7 </a:t>
            </a:r>
            <a:r>
              <a:rPr lang="en-US" sz="1150" b="1" dirty="0">
                <a:solidFill>
                  <a:srgbClr val="182B49"/>
                </a:solidFill>
                <a:latin typeface="Source Sans 3" pitchFamily="34" charset="0"/>
                <a:ea typeface="Source Sans 3" pitchFamily="34" charset="-122"/>
                <a:cs typeface="Source Sans 3" pitchFamily="34" charset="-120"/>
              </a:rPr>
              <a:t>provider </a:t>
            </a:r>
            <a:r>
              <a:rPr lang="en-US" sz="1150" b="1" dirty="0" err="1">
                <a:solidFill>
                  <a:srgbClr val="182B49"/>
                </a:solidFill>
                <a:latin typeface="Source Sans 3" pitchFamily="34" charset="0"/>
                <a:ea typeface="Source Sans 3" pitchFamily="34" charset="-122"/>
                <a:cs typeface="Source Sans 3" pitchFamily="34" charset="-120"/>
              </a:rPr>
              <a:t>Gsheets</a:t>
            </a:r>
            <a:r>
              <a:rPr lang="en-US" sz="1150" dirty="0">
                <a:solidFill>
                  <a:srgbClr val="182B49"/>
                </a:solidFill>
                <a:latin typeface="Source Sans 3" pitchFamily="34" charset="0"/>
                <a:ea typeface="Source Sans 3" pitchFamily="34" charset="-122"/>
                <a:cs typeface="Source Sans 3" pitchFamily="34" charset="-120"/>
              </a:rPr>
              <a:t>, 3 kinds of tab: </a:t>
            </a:r>
            <a:r>
              <a:rPr lang="en-US" sz="1150" b="1" i="1" dirty="0">
                <a:solidFill>
                  <a:srgbClr val="182B49"/>
                </a:solidFill>
                <a:latin typeface="Source Sans 3" pitchFamily="34" charset="0"/>
                <a:ea typeface="Source Sans 3" pitchFamily="34" charset="-122"/>
                <a:cs typeface="Source Sans 3" pitchFamily="34" charset="-120"/>
              </a:rPr>
              <a:t>questions</a:t>
            </a:r>
            <a:r>
              <a:rPr lang="en-US" sz="1150" dirty="0">
                <a:solidFill>
                  <a:srgbClr val="182B49"/>
                </a:solidFill>
                <a:latin typeface="Source Sans 3" pitchFamily="34" charset="0"/>
                <a:ea typeface="Source Sans 3" pitchFamily="34" charset="-122"/>
                <a:cs typeface="Source Sans 3" pitchFamily="34" charset="-120"/>
              </a:rPr>
              <a:t> by dataset tab, </a:t>
            </a:r>
            <a:r>
              <a:rPr lang="en-US" sz="1150" b="1" i="1" dirty="0">
                <a:solidFill>
                  <a:srgbClr val="182B49"/>
                </a:solidFill>
                <a:latin typeface="Source Sans 3" pitchFamily="34" charset="0"/>
                <a:ea typeface="Source Sans 3" pitchFamily="34" charset="-122"/>
                <a:cs typeface="Source Sans 3" pitchFamily="34" charset="-120"/>
              </a:rPr>
              <a:t>metadata</a:t>
            </a:r>
            <a:r>
              <a:rPr lang="en-US" sz="1150" dirty="0">
                <a:solidFill>
                  <a:srgbClr val="182B49"/>
                </a:solidFill>
                <a:latin typeface="Source Sans 3" pitchFamily="34" charset="0"/>
                <a:ea typeface="Source Sans 3" pitchFamily="34" charset="-122"/>
                <a:cs typeface="Source Sans 3" pitchFamily="34" charset="-120"/>
              </a:rPr>
              <a:t> tab with datasets and values by row, and </a:t>
            </a:r>
            <a:r>
              <a:rPr lang="en-US" sz="1150" b="1" i="1" dirty="0">
                <a:solidFill>
                  <a:srgbClr val="182B49"/>
                </a:solidFill>
                <a:latin typeface="Source Sans 3" pitchFamily="34" charset="0"/>
                <a:ea typeface="Source Sans 3" pitchFamily="34" charset="-122"/>
                <a:cs typeface="Source Sans 3" pitchFamily="34" charset="-120"/>
              </a:rPr>
              <a:t>holdings</a:t>
            </a:r>
            <a:r>
              <a:rPr lang="en-US" sz="1150" dirty="0">
                <a:solidFill>
                  <a:srgbClr val="182B49"/>
                </a:solidFill>
                <a:latin typeface="Source Sans 3" pitchFamily="34" charset="0"/>
                <a:ea typeface="Source Sans 3" pitchFamily="34" charset="-122"/>
                <a:cs typeface="Source Sans 3" pitchFamily="34" charset="-120"/>
              </a:rPr>
              <a:t> (not yet ingested, only CalCOFI provider </a:t>
            </a:r>
            <a:r>
              <a:rPr lang="en-US" sz="1150" dirty="0" err="1">
                <a:solidFill>
                  <a:srgbClr val="182B49"/>
                </a:solidFill>
                <a:latin typeface="Source Sans 3" pitchFamily="34" charset="0"/>
                <a:ea typeface="Source Sans 3" pitchFamily="34" charset="-122"/>
                <a:cs typeface="Source Sans 3" pitchFamily="34" charset="-120"/>
              </a:rPr>
              <a:t>Gsheet</a:t>
            </a:r>
            <a:r>
              <a:rPr lang="en-US" sz="1150" dirty="0">
                <a:solidFill>
                  <a:srgbClr val="182B49"/>
                </a:solidFill>
                <a:latin typeface="Source Sans 3" pitchFamily="34" charset="0"/>
                <a:ea typeface="Source Sans 3" pitchFamily="34" charset="-122"/>
                <a:cs typeface="Source Sans 3" pitchFamily="34" charset="-120"/>
              </a:rPr>
              <a:t>); only the answer columns are editable.</a:t>
            </a:r>
            <a:endParaRPr lang="en-US" sz="1150" dirty="0"/>
          </a:p>
          <a:p>
            <a:pPr marL="177800" indent="-177800">
              <a:lnSpc>
                <a:spcPct val="100000"/>
              </a:lnSpc>
              <a:spcAft>
                <a:spcPts val="300"/>
              </a:spcAft>
              <a:buSzPct val="100000"/>
              <a:buChar char="•"/>
            </a:pPr>
            <a:r>
              <a:rPr lang="en-US" sz="1150" dirty="0">
                <a:solidFill>
                  <a:srgbClr val="182B49"/>
                </a:solidFill>
                <a:latin typeface="Source Sans 3" pitchFamily="34" charset="0"/>
                <a:ea typeface="Source Sans 3" pitchFamily="34" charset="-122"/>
                <a:cs typeface="Source Sans 3" pitchFamily="34" charset="-120"/>
              </a:rPr>
              <a:t>Erin: this overlaps with </a:t>
            </a:r>
            <a:r>
              <a:rPr lang="en-US" sz="1150" dirty="0">
                <a:solidFill>
                  <a:srgbClr val="182B49"/>
                </a:solidFill>
                <a:latin typeface="Source Sans 3" pitchFamily="34" charset="0"/>
                <a:ea typeface="Source Sans 3" pitchFamily="34" charset="-122"/>
                <a:cs typeface="Source Sans 3" pitchFamily="34" charset="-120"/>
                <a:hlinkClick r:id="rId7"/>
              </a:rPr>
              <a:t>your attribution sheet</a:t>
            </a:r>
            <a:r>
              <a:rPr lang="en-US" sz="1150" dirty="0">
                <a:solidFill>
                  <a:srgbClr val="182B49"/>
                </a:solidFill>
                <a:latin typeface="Source Sans 3" pitchFamily="34" charset="0"/>
                <a:ea typeface="Source Sans 3" pitchFamily="34" charset="-122"/>
                <a:cs typeface="Source Sans 3" pitchFamily="34" charset="-120"/>
              </a:rPr>
              <a:t> — which one do providers see? (the asks slide)</a:t>
            </a:r>
            <a:endParaRPr lang="en-US" sz="115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3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11" name="band"/>
          <p:cNvSpPr/>
          <p:nvPr/>
        </p:nvSpPr>
        <p:spPr>
          <a:xfrm>
            <a:off x="0" y="1453896"/>
            <a:ext cx="12191695" cy="4764024"/>
          </a:xfrm>
          <a:prstGeom prst="rect">
            <a:avLst/>
          </a:prstGeom>
          <a:solidFill>
            <a:srgbClr val="F5F0E6"/>
          </a:solidFill>
          <a:ln w="12700">
            <a:solidFill>
              <a:srgbClr val="F5F0E6"/>
            </a:solidFill>
            <a:prstDash val="solid"/>
          </a:ln>
        </p:spPr>
        <p:txBody>
          <a:bodyPr/>
          <a:lstStyle/>
          <a:p>
            <a:endParaRPr lang="en-US"/>
          </a:p>
        </p:txBody>
      </p:sp>
      <p:sp>
        <p:nvSpPr>
          <p:cNvPr id="18" name="build:bullets"/>
          <p:cNvSpPr txBox="1"/>
          <p:nvPr/>
        </p:nvSpPr>
        <p:spPr>
          <a:xfrm>
            <a:off x="8412480" y="1874520"/>
            <a:ext cx="3322015" cy="4297680"/>
          </a:xfrm>
          <a:prstGeom prst="rect">
            <a:avLst/>
          </a:prstGeom>
          <a:noFill/>
          <a:ln/>
        </p:spPr>
        <p:txBody>
          <a:bodyPr wrap="square" lIns="0" tIns="0" rIns="0" bIns="0" rtlCol="0" anchor="t"/>
          <a:lstStyle/>
          <a:p>
            <a:pPr marL="177800" indent="-177800">
              <a:lnSpc>
                <a:spcPct val="100000"/>
              </a:lnSpc>
              <a:spcAft>
                <a:spcPts val="5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17 numbered chapters in </a:t>
            </a:r>
            <a:r>
              <a:rPr lang="en-US" sz="1200" b="1" dirty="0">
                <a:solidFill>
                  <a:srgbClr val="182B49"/>
                </a:solidFill>
                <a:latin typeface="Source Sans 3" pitchFamily="34" charset="0"/>
                <a:ea typeface="Source Sans 3" pitchFamily="34" charset="-122"/>
                <a:cs typeface="Source Sans 3" pitchFamily="34" charset="-120"/>
              </a:rPr>
              <a:t>5 parts</a:t>
            </a:r>
            <a:r>
              <a:rPr lang="en-US" sz="1200" dirty="0">
                <a:solidFill>
                  <a:srgbClr val="182B49"/>
                </a:solidFill>
                <a:latin typeface="Source Sans 3" pitchFamily="34" charset="0"/>
                <a:ea typeface="Source Sans 3" pitchFamily="34" charset="-122"/>
                <a:cs typeface="Source Sans 3" pitchFamily="34" charset="-120"/>
              </a:rPr>
              <a:t> along the DMP's phases — </a:t>
            </a:r>
            <a:r>
              <a:rPr lang="en-US" sz="1200" b="1" i="1" dirty="0">
                <a:solidFill>
                  <a:srgbClr val="182B49"/>
                </a:solidFill>
                <a:latin typeface="Source Sans 3" pitchFamily="34" charset="0"/>
                <a:ea typeface="Source Sans 3" pitchFamily="34" charset="-122"/>
                <a:cs typeface="Source Sans 3" pitchFamily="34" charset="-120"/>
              </a:rPr>
              <a:t>Use</a:t>
            </a:r>
            <a:r>
              <a:rPr lang="en-US" sz="1200" dirty="0">
                <a:solidFill>
                  <a:srgbClr val="182B49"/>
                </a:solidFill>
                <a:latin typeface="Source Sans 3" pitchFamily="34" charset="0"/>
                <a:ea typeface="Source Sans 3" pitchFamily="34" charset="-122"/>
                <a:cs typeface="Source Sans 3" pitchFamily="34" charset="-120"/>
              </a:rPr>
              <a:t> the data · </a:t>
            </a:r>
            <a:r>
              <a:rPr lang="en-US" sz="1200" b="1" i="1" dirty="0">
                <a:solidFill>
                  <a:srgbClr val="182B49"/>
                </a:solidFill>
                <a:latin typeface="Source Sans 3" pitchFamily="34" charset="0"/>
                <a:ea typeface="Source Sans 3" pitchFamily="34" charset="-122"/>
                <a:cs typeface="Source Sans 3" pitchFamily="34" charset="-120"/>
              </a:rPr>
              <a:t>Understand</a:t>
            </a:r>
            <a:r>
              <a:rPr lang="en-US" sz="1200" dirty="0">
                <a:solidFill>
                  <a:srgbClr val="182B49"/>
                </a:solidFill>
                <a:latin typeface="Source Sans 3" pitchFamily="34" charset="0"/>
                <a:ea typeface="Source Sans 3" pitchFamily="34" charset="-122"/>
                <a:cs typeface="Source Sans 3" pitchFamily="34" charset="-120"/>
              </a:rPr>
              <a:t> the database · </a:t>
            </a:r>
            <a:r>
              <a:rPr lang="en-US" sz="1200" b="1" i="1" dirty="0">
                <a:solidFill>
                  <a:srgbClr val="182B49"/>
                </a:solidFill>
                <a:latin typeface="Source Sans 3" pitchFamily="34" charset="0"/>
                <a:ea typeface="Source Sans 3" pitchFamily="34" charset="-122"/>
                <a:cs typeface="Source Sans 3" pitchFamily="34" charset="-120"/>
              </a:rPr>
              <a:t>Contribute</a:t>
            </a:r>
            <a:r>
              <a:rPr lang="en-US" sz="1200" dirty="0">
                <a:solidFill>
                  <a:srgbClr val="182B49"/>
                </a:solidFill>
                <a:latin typeface="Source Sans 3" pitchFamily="34" charset="0"/>
                <a:ea typeface="Source Sans 3" pitchFamily="34" charset="-122"/>
                <a:cs typeface="Source Sans 3" pitchFamily="34" charset="-120"/>
              </a:rPr>
              <a:t> data · </a:t>
            </a:r>
            <a:r>
              <a:rPr lang="en-US" sz="1200" b="1" i="1" dirty="0">
                <a:solidFill>
                  <a:srgbClr val="182B49"/>
                </a:solidFill>
                <a:latin typeface="Source Sans 3" pitchFamily="34" charset="0"/>
                <a:ea typeface="Source Sans 3" pitchFamily="34" charset="-122"/>
                <a:cs typeface="Source Sans 3" pitchFamily="34" charset="-120"/>
              </a:rPr>
              <a:t>Work</a:t>
            </a:r>
            <a:r>
              <a:rPr lang="en-US" sz="1200" dirty="0">
                <a:solidFill>
                  <a:srgbClr val="182B49"/>
                </a:solidFill>
                <a:latin typeface="Source Sans 3" pitchFamily="34" charset="0"/>
                <a:ea typeface="Source Sans 3" pitchFamily="34" charset="-122"/>
                <a:cs typeface="Source Sans 3" pitchFamily="34" charset="-120"/>
              </a:rPr>
              <a:t> with the team · The </a:t>
            </a:r>
            <a:r>
              <a:rPr lang="en-US" sz="1200" b="1" i="1" dirty="0">
                <a:solidFill>
                  <a:srgbClr val="182B49"/>
                </a:solidFill>
                <a:latin typeface="Source Sans 3" pitchFamily="34" charset="0"/>
                <a:ea typeface="Source Sans 3" pitchFamily="34" charset="-122"/>
                <a:cs typeface="Source Sans 3" pitchFamily="34" charset="-120"/>
              </a:rPr>
              <a:t>plan</a:t>
            </a:r>
            <a:r>
              <a:rPr lang="en-US" sz="1200" dirty="0">
                <a:solidFill>
                  <a:srgbClr val="182B49"/>
                </a:solidFill>
                <a:latin typeface="Source Sans 3" pitchFamily="34" charset="0"/>
                <a:ea typeface="Source Sans 3" pitchFamily="34" charset="-122"/>
                <a:cs typeface="Source Sans 3" pitchFamily="34" charset="-120"/>
              </a:rPr>
              <a:t> and the record — plus 3 appendices.</a:t>
            </a:r>
            <a:endParaRPr lang="en-US" sz="1200" dirty="0"/>
          </a:p>
          <a:p>
            <a:pPr marL="177800" indent="-177800">
              <a:lnSpc>
                <a:spcPct val="100000"/>
              </a:lnSpc>
              <a:spcAft>
                <a:spcPts val="5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Start here answers "</a:t>
            </a:r>
            <a:r>
              <a:rPr lang="en-US" sz="1200" b="1" dirty="0">
                <a:solidFill>
                  <a:srgbClr val="182B49"/>
                </a:solidFill>
                <a:latin typeface="Source Sans 3" pitchFamily="34" charset="0"/>
                <a:ea typeface="Source Sans 3" pitchFamily="34" charset="-122"/>
                <a:cs typeface="Source Sans 3" pitchFamily="34" charset="-120"/>
              </a:rPr>
              <a:t>which door is yours</a:t>
            </a:r>
            <a:r>
              <a:rPr lang="en-US" sz="1200" dirty="0">
                <a:solidFill>
                  <a:srgbClr val="182B49"/>
                </a:solidFill>
                <a:latin typeface="Source Sans 3" pitchFamily="34" charset="0"/>
                <a:ea typeface="Source Sans 3" pitchFamily="34" charset="-122"/>
                <a:cs typeface="Source Sans 3" pitchFamily="34" charset="-120"/>
              </a:rPr>
              <a:t>": curious or scientist · data scientist · data provider · CTD team · data team and product builders · reporting on the program.</a:t>
            </a:r>
            <a:endParaRPr lang="en-US" sz="1200" dirty="0"/>
          </a:p>
          <a:p>
            <a:pPr marL="177800" indent="-177800">
              <a:lnSpc>
                <a:spcPct val="100000"/>
              </a:lnSpc>
              <a:spcAft>
                <a:spcPts val="5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Prose is authored, facts are </a:t>
            </a:r>
            <a:r>
              <a:rPr lang="en-US" sz="1200" b="1" dirty="0">
                <a:solidFill>
                  <a:srgbClr val="182B49"/>
                </a:solidFill>
                <a:latin typeface="Source Sans 3" pitchFamily="34" charset="0"/>
                <a:ea typeface="Source Sans 3" pitchFamily="34" charset="-122"/>
                <a:cs typeface="Source Sans 3" pitchFamily="34" charset="-120"/>
              </a:rPr>
              <a:t>generated</a:t>
            </a:r>
            <a:r>
              <a:rPr lang="en-US" sz="1200" dirty="0">
                <a:solidFill>
                  <a:srgbClr val="182B49"/>
                </a:solidFill>
                <a:latin typeface="Source Sans 3" pitchFamily="34" charset="0"/>
                <a:ea typeface="Source Sans 3" pitchFamily="34" charset="-122"/>
                <a:cs typeface="Source Sans 3" pitchFamily="34" charset="-120"/>
              </a:rPr>
              <a:t>: 28 numbered </a:t>
            </a:r>
            <a:r>
              <a:rPr lang="en-US" sz="1200" b="1" i="1" dirty="0">
                <a:solidFill>
                  <a:srgbClr val="182B49"/>
                </a:solidFill>
                <a:latin typeface="Source Sans 3" pitchFamily="34" charset="0"/>
                <a:ea typeface="Source Sans 3" pitchFamily="34" charset="-122"/>
                <a:cs typeface="Source Sans 3" pitchFamily="34" charset="-120"/>
              </a:rPr>
              <a:t>figures</a:t>
            </a:r>
            <a:r>
              <a:rPr lang="en-US" sz="1200" dirty="0">
                <a:solidFill>
                  <a:srgbClr val="182B49"/>
                </a:solidFill>
                <a:latin typeface="Source Sans 3" pitchFamily="34" charset="0"/>
                <a:ea typeface="Source Sans 3" pitchFamily="34" charset="-122"/>
                <a:cs typeface="Source Sans 3" pitchFamily="34" charset="-120"/>
              </a:rPr>
              <a:t> and 29 </a:t>
            </a:r>
            <a:r>
              <a:rPr lang="en-US" sz="1200" b="1" i="1" dirty="0">
                <a:solidFill>
                  <a:srgbClr val="182B49"/>
                </a:solidFill>
                <a:latin typeface="Source Sans 3" pitchFamily="34" charset="0"/>
                <a:ea typeface="Source Sans 3" pitchFamily="34" charset="-122"/>
                <a:cs typeface="Source Sans 3" pitchFamily="34" charset="-120"/>
              </a:rPr>
              <a:t>tables</a:t>
            </a:r>
            <a:r>
              <a:rPr lang="en-US" sz="1200" dirty="0">
                <a:solidFill>
                  <a:srgbClr val="182B49"/>
                </a:solidFill>
                <a:latin typeface="Source Sans 3" pitchFamily="34" charset="0"/>
                <a:ea typeface="Source Sans 3" pitchFamily="34" charset="-122"/>
                <a:cs typeface="Source Sans 3" pitchFamily="34" charset="-120"/>
              </a:rPr>
              <a:t>, every count read from the release and the registries at render time.</a:t>
            </a:r>
            <a:endParaRPr lang="en-US" sz="1200" dirty="0"/>
          </a:p>
          <a:p>
            <a:pPr marL="177800" indent="-177800">
              <a:lnSpc>
                <a:spcPct val="100000"/>
              </a:lnSpc>
              <a:spcAft>
                <a:spcPts val="500"/>
              </a:spcAft>
              <a:buSzPct val="100000"/>
              <a:buChar char="•"/>
            </a:pPr>
            <a:r>
              <a:rPr lang="en-US" sz="1200" b="1" dirty="0">
                <a:solidFill>
                  <a:srgbClr val="182B49"/>
                </a:solidFill>
                <a:latin typeface="Source Sans 3" pitchFamily="34" charset="0"/>
                <a:ea typeface="Source Sans 3" pitchFamily="34" charset="-122"/>
                <a:cs typeface="Source Sans 3" pitchFamily="34" charset="-120"/>
              </a:rPr>
              <a:t>Diagrams</a:t>
            </a:r>
            <a:r>
              <a:rPr lang="en-US" sz="1200" dirty="0">
                <a:solidFill>
                  <a:srgbClr val="182B49"/>
                </a:solidFill>
                <a:latin typeface="Source Sans 3" pitchFamily="34" charset="0"/>
                <a:ea typeface="Source Sans 3" pitchFamily="34" charset="-122"/>
                <a:cs typeface="Source Sans 3" pitchFamily="34" charset="-120"/>
              </a:rPr>
              <a:t> that pan, zoom and open full-screen — the system figure here, the core ERD in The database.</a:t>
            </a:r>
            <a:endParaRPr lang="en-US" sz="1200" dirty="0"/>
          </a:p>
          <a:p>
            <a:pPr marL="177800" indent="-177800">
              <a:lnSpc>
                <a:spcPct val="100000"/>
              </a:lnSpc>
              <a:spcAft>
                <a:spcPts val="5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One source, three </a:t>
            </a:r>
            <a:r>
              <a:rPr lang="en-US" sz="1200" b="1" dirty="0">
                <a:solidFill>
                  <a:srgbClr val="182B49"/>
                </a:solidFill>
                <a:latin typeface="Source Sans 3" pitchFamily="34" charset="0"/>
                <a:ea typeface="Source Sans 3" pitchFamily="34" charset="-122"/>
                <a:cs typeface="Source Sans 3" pitchFamily="34" charset="-120"/>
              </a:rPr>
              <a:t>formats</a:t>
            </a:r>
            <a:r>
              <a:rPr lang="en-US" sz="1200" dirty="0">
                <a:solidFill>
                  <a:srgbClr val="182B49"/>
                </a:solidFill>
                <a:latin typeface="Source Sans 3" pitchFamily="34" charset="0"/>
                <a:ea typeface="Source Sans 3" pitchFamily="34" charset="-122"/>
                <a:cs typeface="Source Sans 3" pitchFamily="34" charset="-120"/>
              </a:rPr>
              <a:t>: </a:t>
            </a:r>
            <a:r>
              <a:rPr lang="en-US" sz="1200" b="1" i="1" dirty="0">
                <a:solidFill>
                  <a:srgbClr val="182B49"/>
                </a:solidFill>
                <a:latin typeface="Source Sans 3" pitchFamily="34" charset="0"/>
                <a:ea typeface="Source Sans 3" pitchFamily="34" charset="-122"/>
                <a:cs typeface="Source Sans 3" pitchFamily="34" charset="-120"/>
              </a:rPr>
              <a:t>HTML</a:t>
            </a:r>
            <a:r>
              <a:rPr lang="en-US" sz="1200" dirty="0">
                <a:solidFill>
                  <a:srgbClr val="182B49"/>
                </a:solidFill>
                <a:latin typeface="Source Sans 3" pitchFamily="34" charset="0"/>
                <a:ea typeface="Source Sans 3" pitchFamily="34" charset="-122"/>
                <a:cs typeface="Source Sans 3" pitchFamily="34" charset="-120"/>
              </a:rPr>
              <a:t> light and dark, </a:t>
            </a:r>
            <a:r>
              <a:rPr lang="en-US" sz="1200" b="1" i="1" dirty="0">
                <a:solidFill>
                  <a:srgbClr val="182B49"/>
                </a:solidFill>
                <a:latin typeface="Source Sans 3" pitchFamily="34" charset="0"/>
                <a:ea typeface="Source Sans 3" pitchFamily="34" charset="-122"/>
                <a:cs typeface="Source Sans 3" pitchFamily="34" charset="-120"/>
              </a:rPr>
              <a:t>PDF</a:t>
            </a:r>
            <a:r>
              <a:rPr lang="en-US" sz="1200" dirty="0">
                <a:solidFill>
                  <a:srgbClr val="182B49"/>
                </a:solidFill>
                <a:latin typeface="Source Sans 3" pitchFamily="34" charset="0"/>
                <a:ea typeface="Source Sans 3" pitchFamily="34" charset="-122"/>
                <a:cs typeface="Source Sans 3" pitchFamily="34" charset="-120"/>
              </a:rPr>
              <a:t> and </a:t>
            </a:r>
            <a:r>
              <a:rPr lang="en-US" sz="1200" b="1" i="1" dirty="0">
                <a:solidFill>
                  <a:srgbClr val="182B49"/>
                </a:solidFill>
                <a:latin typeface="Source Sans 3" pitchFamily="34" charset="0"/>
                <a:ea typeface="Source Sans 3" pitchFamily="34" charset="-122"/>
                <a:cs typeface="Source Sans 3" pitchFamily="34" charset="-120"/>
              </a:rPr>
              <a:t>DOCX</a:t>
            </a:r>
            <a:r>
              <a:rPr lang="en-US" sz="1200" dirty="0">
                <a:solidFill>
                  <a:srgbClr val="182B49"/>
                </a:solidFill>
                <a:latin typeface="Source Sans 3" pitchFamily="34" charset="0"/>
                <a:ea typeface="Source Sans 3" pitchFamily="34" charset="-122"/>
                <a:cs typeface="Source Sans 3" pitchFamily="34" charset="-120"/>
              </a:rPr>
              <a:t> from the sidebar.</a:t>
            </a:r>
            <a:endParaRPr lang="en-US" sz="1200" dirty="0"/>
          </a:p>
          <a:p>
            <a:pPr marL="177800" indent="-177800">
              <a:lnSpc>
                <a:spcPct val="100000"/>
              </a:lnSpc>
              <a:spcAft>
                <a:spcPts val="500"/>
              </a:spcAft>
              <a:buSzPct val="100000"/>
              <a:buChar char="•"/>
            </a:pPr>
            <a:r>
              <a:rPr lang="en-US" sz="1200" dirty="0">
                <a:solidFill>
                  <a:srgbClr val="182B49"/>
                </a:solidFill>
                <a:latin typeface="Source Sans 3" pitchFamily="34" charset="0"/>
                <a:ea typeface="Source Sans 3" pitchFamily="34" charset="-122"/>
                <a:cs typeface="Source Sans 3" pitchFamily="34" charset="-120"/>
              </a:rPr>
              <a:t>The same </a:t>
            </a:r>
            <a:r>
              <a:rPr lang="en-US" sz="1200" b="1" dirty="0">
                <a:solidFill>
                  <a:srgbClr val="182B49"/>
                </a:solidFill>
                <a:latin typeface="Source Sans 3" pitchFamily="34" charset="0"/>
                <a:ea typeface="Source Sans 3" pitchFamily="34" charset="-122"/>
                <a:cs typeface="Source Sans 3" pitchFamily="34" charset="-120"/>
              </a:rPr>
              <a:t>feedback</a:t>
            </a:r>
            <a:r>
              <a:rPr lang="en-US" sz="1200" dirty="0">
                <a:solidFill>
                  <a:srgbClr val="182B49"/>
                </a:solidFill>
                <a:latin typeface="Source Sans 3" pitchFamily="34" charset="0"/>
                <a:ea typeface="Source Sans 3" pitchFamily="34" charset="-122"/>
                <a:cs typeface="Source Sans 3" pitchFamily="34" charset="-120"/>
              </a:rPr>
              <a:t> button as the Explorer, on every page.</a:t>
            </a:r>
            <a:endParaRPr lang="en-US" sz="1200" dirty="0"/>
          </a:p>
        </p:txBody>
      </p:sp>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a:hlinkClick r:id="rId4"/>
          </p:cNvPr>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calcofi.io/docs/  ·  explore.html · db.html · metadata.html · dmp.html · status.html</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21</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DOCUMENTATION · CALCOFI.IO/DOCS</a:t>
            </a:r>
            <a:endParaRPr lang="en-US" sz="1200" dirty="0"/>
          </a:p>
        </p:txBody>
      </p:sp>
      <p:pic>
        <p:nvPicPr>
          <p:cNvPr id="9" name="icon ui-about" descr="/home/claude/work/icons/ui-about_navy.png"/>
          <p:cNvPicPr>
            <a:picLocks noChangeAspect="1"/>
          </p:cNvPicPr>
          <p:nvPr/>
        </p:nvPicPr>
        <p:blipFill>
          <a:blip r:embed="rId5"/>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Five parts, and a door for each of us</a:t>
            </a:r>
            <a:endParaRPr lang="en-US" sz="3400" dirty="0"/>
          </a:p>
        </p:txBody>
      </p:sp>
      <p:pic>
        <p:nvPicPr>
          <p:cNvPr id="12" name="docs-index|rr2477" descr="/home/claude/work/media/s21_p2_1984x1364_c190a3c1.png"/>
          <p:cNvPicPr>
            <a:picLocks noChangeAspect="1"/>
          </p:cNvPicPr>
          <p:nvPr/>
        </p:nvPicPr>
        <p:blipFill>
          <a:blip r:embed="rId6"/>
          <a:srcRect l="11495" b="25747"/>
          <a:stretch>
            <a:fillRect/>
          </a:stretch>
        </p:blipFill>
        <p:spPr>
          <a:xfrm>
            <a:off x="259080" y="1599913"/>
            <a:ext cx="3741893" cy="2158270"/>
          </a:xfrm>
          <a:prstGeom prst="roundRect">
            <a:avLst>
              <a:gd name="adj" fmla="val 2477"/>
            </a:avLst>
          </a:prstGeom>
          <a:effectLst>
            <a:outerShdw blurRad="76200" dist="25400" dir="5400000" algn="bl" rotWithShape="0">
              <a:srgbClr val="182B49">
                <a:alpha val="22000"/>
              </a:srgbClr>
            </a:outerShdw>
          </a:effectLst>
        </p:spPr>
      </p:pic>
      <p:sp>
        <p:nvSpPr>
          <p:cNvPr id="13" name="caption"/>
          <p:cNvSpPr txBox="1"/>
          <p:nvPr/>
        </p:nvSpPr>
        <p:spPr>
          <a:xfrm>
            <a:off x="259081" y="3831335"/>
            <a:ext cx="3992880" cy="438913"/>
          </a:xfrm>
          <a:prstGeom prst="rect">
            <a:avLst/>
          </a:prstGeom>
          <a:noFill/>
          <a:ln/>
        </p:spPr>
        <p:txBody>
          <a:bodyPr wrap="square" lIns="0" tIns="0" rIns="0" bIns="0" rtlCol="0" anchor="t"/>
          <a:lstStyle/>
          <a:p>
            <a:pPr marL="0" indent="0">
              <a:buNone/>
            </a:pPr>
            <a:r>
              <a:rPr lang="en-US" sz="1200" dirty="0">
                <a:solidFill>
                  <a:srgbClr val="66686A"/>
                </a:solidFill>
                <a:latin typeface="Source Sans 3" pitchFamily="34" charset="0"/>
                <a:ea typeface="Source Sans 3" pitchFamily="34" charset="-122"/>
                <a:cs typeface="Source Sans 3" pitchFamily="34" charset="-120"/>
              </a:rPr>
              <a:t>calcofi.io/docs — Start here: the </a:t>
            </a:r>
            <a:r>
              <a:rPr lang="en-US" sz="1200" dirty="0" err="1">
                <a:solidFill>
                  <a:srgbClr val="66686A"/>
                </a:solidFill>
                <a:latin typeface="Source Sans 3" pitchFamily="34" charset="0"/>
                <a:ea typeface="Source Sans 3" pitchFamily="34" charset="-122"/>
                <a:cs typeface="Source Sans 3" pitchFamily="34" charset="-120"/>
              </a:rPr>
              <a:t>ToC</a:t>
            </a:r>
            <a:r>
              <a:rPr lang="en-US" sz="1200" dirty="0">
                <a:solidFill>
                  <a:srgbClr val="66686A"/>
                </a:solidFill>
                <a:latin typeface="Source Sans 3" pitchFamily="34" charset="0"/>
                <a:ea typeface="Source Sans 3" pitchFamily="34" charset="-122"/>
                <a:cs typeface="Source Sans 3" pitchFamily="34" charset="-120"/>
              </a:rPr>
              <a:t> 5 parts, and every number on the page read from the release when the book renders.</a:t>
            </a:r>
            <a:endParaRPr lang="en-US" sz="1200" dirty="0"/>
          </a:p>
        </p:txBody>
      </p:sp>
      <p:pic>
        <p:nvPicPr>
          <p:cNvPr id="14" name="doors|rr3017" descr="/home/claude/work/media/s21_p3_1500x982_c20852f4.png"/>
          <p:cNvPicPr>
            <a:picLocks noChangeAspect="1"/>
          </p:cNvPicPr>
          <p:nvPr/>
        </p:nvPicPr>
        <p:blipFill>
          <a:blip r:embed="rId7"/>
          <a:stretch>
            <a:fillRect/>
          </a:stretch>
        </p:blipFill>
        <p:spPr>
          <a:xfrm>
            <a:off x="4709160" y="1594771"/>
            <a:ext cx="3265318" cy="2137695"/>
          </a:xfrm>
          <a:prstGeom prst="roundRect">
            <a:avLst>
              <a:gd name="adj" fmla="val 3017"/>
            </a:avLst>
          </a:prstGeom>
          <a:effectLst>
            <a:outerShdw blurRad="76200" dist="25400" dir="5400000" algn="bl" rotWithShape="0">
              <a:srgbClr val="182B49">
                <a:alpha val="22000"/>
              </a:srgbClr>
            </a:outerShdw>
          </a:effectLst>
        </p:spPr>
      </p:pic>
      <p:sp>
        <p:nvSpPr>
          <p:cNvPr id="15" name="caption"/>
          <p:cNvSpPr txBox="1"/>
          <p:nvPr/>
        </p:nvSpPr>
        <p:spPr>
          <a:xfrm>
            <a:off x="4709160" y="3831336"/>
            <a:ext cx="3429000" cy="384048"/>
          </a:xfrm>
          <a:prstGeom prst="rect">
            <a:avLst/>
          </a:prstGeom>
          <a:noFill/>
          <a:ln/>
        </p:spPr>
        <p:txBody>
          <a:bodyPr wrap="square" lIns="0" tIns="0" rIns="0" bIns="0" rtlCol="0" anchor="t"/>
          <a:lstStyle/>
          <a:p>
            <a:pPr marL="0" indent="0">
              <a:buNone/>
            </a:pPr>
            <a:r>
              <a:rPr lang="en-US" sz="1200" dirty="0">
                <a:solidFill>
                  <a:srgbClr val="66686A"/>
                </a:solidFill>
                <a:latin typeface="Source Sans 3" pitchFamily="34" charset="0"/>
                <a:ea typeface="Source Sans 3" pitchFamily="34" charset="-122"/>
                <a:cs typeface="Source Sans 3" pitchFamily="34" charset="-120"/>
              </a:rPr>
              <a:t>"Which door is yours" — six rows, each naming where to start and what to read next.</a:t>
            </a:r>
            <a:endParaRPr lang="en-US" sz="1200" dirty="0"/>
          </a:p>
        </p:txBody>
      </p:sp>
      <p:pic>
        <p:nvPicPr>
          <p:cNvPr id="16" name="system|rr8731" descr="/home/claude/work/media/s21_p4_2400x543_9424d3a5.png"/>
          <p:cNvPicPr>
            <a:picLocks noChangeAspect="1"/>
          </p:cNvPicPr>
          <p:nvPr/>
        </p:nvPicPr>
        <p:blipFill>
          <a:blip r:embed="rId8"/>
          <a:stretch>
            <a:fillRect/>
          </a:stretch>
        </p:blipFill>
        <p:spPr>
          <a:xfrm>
            <a:off x="259081" y="4389121"/>
            <a:ext cx="7800191" cy="1764793"/>
          </a:xfrm>
          <a:prstGeom prst="roundRect">
            <a:avLst>
              <a:gd name="adj" fmla="val 8731"/>
            </a:avLst>
          </a:prstGeom>
          <a:effectLst>
            <a:outerShdw blurRad="76200" dist="25400" dir="5400000" algn="bl" rotWithShape="0">
              <a:srgbClr val="182B49">
                <a:alpha val="22000"/>
              </a:srgbClr>
            </a:outerShdw>
          </a:effectLst>
        </p:spPr>
      </p:pic>
      <p:sp>
        <p:nvSpPr>
          <p:cNvPr id="17" name="caption"/>
          <p:cNvSpPr txBox="1"/>
          <p:nvPr/>
        </p:nvSpPr>
        <p:spPr>
          <a:xfrm>
            <a:off x="8305495" y="5784753"/>
            <a:ext cx="3429000" cy="384048"/>
          </a:xfrm>
          <a:prstGeom prst="rect">
            <a:avLst/>
          </a:prstGeom>
          <a:noFill/>
          <a:ln/>
        </p:spPr>
        <p:txBody>
          <a:bodyPr wrap="square" lIns="0" tIns="0" rIns="0" bIns="0" rtlCol="0" anchor="t"/>
          <a:lstStyle/>
          <a:p>
            <a:pPr marL="0" indent="0">
              <a:buNone/>
            </a:pPr>
            <a:r>
              <a:rPr lang="en-US" sz="1200" dirty="0">
                <a:solidFill>
                  <a:srgbClr val="66686A"/>
                </a:solidFill>
                <a:latin typeface="Source Sans 3" pitchFamily="34" charset="0"/>
                <a:ea typeface="Source Sans 3" pitchFamily="34" charset="-122"/>
                <a:cs typeface="Source Sans 3" pitchFamily="34" charset="-120"/>
              </a:rPr>
              <a:t>The system, read left to right along the DMP's five phases (docs/diagrams/system.svg).</a:t>
            </a:r>
            <a:endParaRPr lang="en-US" sz="1200"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calcofi.io/docs/metadata.html · calcofi.io/datasets/ · calcofi.io/explore</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22</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DECISIONS AND ASKS</a:t>
            </a:r>
            <a:endParaRPr lang="en-US" sz="1200" dirty="0"/>
          </a:p>
        </p:txBody>
      </p:sp>
      <p:pic>
        <p:nvPicPr>
          <p:cNvPr id="9" name="icon ui-check" descr="/home/claude/work/icons/ui-check_navy.png"/>
          <p:cNvPicPr>
            <a:picLocks noChangeAspect="1"/>
          </p:cNvPicPr>
          <p:nvPr/>
        </p:nvPicPr>
        <p:blipFill>
          <a:blip r:embed="rId4"/>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Decisions and asks, with an owner each</a:t>
            </a:r>
            <a:endParaRPr lang="en-US" sz="3400" dirty="0"/>
          </a:p>
        </p:txBody>
      </p:sp>
      <p:graphicFrame>
        <p:nvGraphicFramePr>
          <p:cNvPr id="11" name="build:table"/>
          <p:cNvGraphicFramePr>
            <a:graphicFrameLocks noGrp="1"/>
          </p:cNvGraphicFramePr>
          <p:nvPr>
            <p:extLst>
              <p:ext uri="{D42A27DB-BD31-4B8C-83A1-F6EECF244321}">
                <p14:modId xmlns:p14="http://schemas.microsoft.com/office/powerpoint/2010/main" val="543017708"/>
              </p:ext>
            </p:extLst>
          </p:nvPr>
        </p:nvGraphicFramePr>
        <p:xfrm>
          <a:off x="457200" y="1828800"/>
          <a:ext cx="11277295" cy="4331208"/>
        </p:xfrm>
        <a:graphic>
          <a:graphicData uri="http://schemas.openxmlformats.org/drawingml/2006/table">
            <a:tbl>
              <a:tblPr/>
              <a:tblGrid>
                <a:gridCol w="3200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065215">
                  <a:extLst>
                    <a:ext uri="{9D8B030D-6E8A-4147-A177-3AD203B41FA5}">
                      <a16:colId xmlns:a16="http://schemas.microsoft.com/office/drawing/2014/main" val="20002"/>
                    </a:ext>
                  </a:extLst>
                </a:gridCol>
              </a:tblGrid>
              <a:tr h="384048">
                <a:tc>
                  <a:txBody>
                    <a:bodyPr/>
                    <a:lstStyle/>
                    <a:p>
                      <a:pPr marL="0" indent="0">
                        <a:buNone/>
                      </a:pPr>
                      <a:r>
                        <a:rPr lang="en-US" sz="1150" b="1" kern="0" spc="60" dirty="0">
                          <a:solidFill>
                            <a:srgbClr val="FFFFFF"/>
                          </a:solidFill>
                          <a:latin typeface="Source Sans 3" pitchFamily="34" charset="0"/>
                          <a:ea typeface="Source Sans 3" pitchFamily="34" charset="-122"/>
                          <a:cs typeface="Source Sans 3" pitchFamily="34" charset="-120"/>
                        </a:rPr>
                        <a:t>Ask</a:t>
                      </a:r>
                      <a:endParaRPr lang="en-US" sz="11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150" b="1" kern="0" spc="60" dirty="0">
                          <a:solidFill>
                            <a:srgbClr val="FFFFFF"/>
                          </a:solidFill>
                          <a:latin typeface="Source Sans 3" pitchFamily="34" charset="0"/>
                          <a:ea typeface="Source Sans 3" pitchFamily="34" charset="-122"/>
                          <a:cs typeface="Source Sans 3" pitchFamily="34" charset="-120"/>
                        </a:rPr>
                        <a:t>Owner</a:t>
                      </a:r>
                      <a:endParaRPr lang="en-US" sz="11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182B49"/>
                    </a:solidFill>
                  </a:tcPr>
                </a:tc>
                <a:tc>
                  <a:txBody>
                    <a:bodyPr/>
                    <a:lstStyle/>
                    <a:p>
                      <a:pPr marL="0" indent="0">
                        <a:buNone/>
                      </a:pPr>
                      <a:r>
                        <a:rPr lang="en-US" sz="1150" b="1" kern="0" spc="60" dirty="0">
                          <a:solidFill>
                            <a:srgbClr val="FFFFFF"/>
                          </a:solidFill>
                          <a:latin typeface="Source Sans 3" pitchFamily="34" charset="0"/>
                          <a:ea typeface="Source Sans 3" pitchFamily="34" charset="-122"/>
                          <a:cs typeface="Source Sans 3" pitchFamily="34" charset="-120"/>
                        </a:rPr>
                        <a:t>Proposed answer already on the table</a:t>
                      </a:r>
                      <a:endParaRPr lang="en-US" sz="11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182B49"/>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Long-term target for data@calcofi.io (forwarding live since 9/7)</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A Google Group calcofi-data@ucsd.edu, or one IT Scripps ticket; the public address never changes</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Which holdings stay public</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Mark</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All 17 are public archives already; visibility: internal hides one from every public surface in one line</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One outreach channel for providers</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Betty, Ben</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Erin's attribution sheet stays the form this round and is imported; from the next round the per-provider Sheets are the one place</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3"/>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Who holds the CalCOFI EDI account</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(recommended)</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Scope EDI, one package per program dataset; CCE-LTER's stay in </a:t>
                      </a:r>
                      <a:r>
                        <a:rPr lang="en-US" sz="1250" dirty="0" err="1">
                          <a:solidFill>
                            <a:srgbClr val="182B49"/>
                          </a:solidFill>
                          <a:latin typeface="Source Sans 3" pitchFamily="34" charset="0"/>
                          <a:ea typeface="Source Sans 3" pitchFamily="34" charset="-122"/>
                          <a:cs typeface="Source Sans 3" pitchFamily="34" charset="-120"/>
                        </a:rPr>
                        <a:t>knb-lter-cce</a:t>
                      </a:r>
                      <a:r>
                        <a:rPr lang="en-US" sz="1250" dirty="0">
                          <a:solidFill>
                            <a:srgbClr val="182B49"/>
                          </a:solidFill>
                          <a:latin typeface="Source Sans 3" pitchFamily="34" charset="0"/>
                          <a:ea typeface="Source Sans 3" pitchFamily="34" charset="-122"/>
                          <a:cs typeface="Source Sans 3" pitchFamily="34" charset="-120"/>
                        </a:rPr>
                        <a:t> — ask Kathy / Mike once</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OBIS: one IPT resource per bio dataset, and a contact per resource</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(contacts), Ben (upload)</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10 archives staged; existing OBIS records checked with their owners first</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5"/>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CalOOS ↔ our ERDDAP</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 Iwen Su</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Does CalOOS harvest erddap.calcofi.io directly; the CoastWatch handoff; propagation to data.ioos.us</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Explorer review</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Betty</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Use the feedback button; 30 minutes each; Betty as second pair of eyes on the code</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7"/>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Crab answers from CDFW</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Betty, Erin</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The ingest already ships examined-only; the remaining questions are in the cdfw Sheet</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calcofi.org ↔ calcofi.io links</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b="1" dirty="0">
                          <a:solidFill>
                            <a:srgbClr val="182B49"/>
                          </a:solidFill>
                          <a:latin typeface="Source Sans 3" pitchFamily="34" charset="0"/>
                          <a:ea typeface="Source Sans 3" pitchFamily="34" charset="-122"/>
                          <a:cs typeface="Source Sans 3" pitchFamily="34" charset="-120"/>
                        </a:rPr>
                        <a:t>Erin, Mark, with the SIO web team</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tc>
                  <a:txBody>
                    <a:bodyPr/>
                    <a:lstStyle/>
                    <a:p>
                      <a:pPr marL="0" indent="0">
                        <a:buNone/>
                      </a:pPr>
                      <a:r>
                        <a:rPr lang="en-US" sz="1250" dirty="0">
                          <a:solidFill>
                            <a:srgbClr val="182B49"/>
                          </a:solidFill>
                          <a:latin typeface="Source Sans 3" pitchFamily="34" charset="0"/>
                          <a:ea typeface="Source Sans 3" pitchFamily="34" charset="-122"/>
                          <a:cs typeface="Source Sans 3" pitchFamily="34" charset="-120"/>
                        </a:rPr>
                        <a:t>The hero's pins already link to calcofi.org's method pages; a link back from calcofi.org/data to calcofi.io/datasets/{key}/ closes the loop</a:t>
                      </a:r>
                      <a:endParaRPr lang="en-US" sz="1250" dirty="0">
                        <a:latin typeface="Source Sans 3" charset="0"/>
                        <a:ea typeface="Source Sans 3" charset="0"/>
                        <a:cs typeface="Source Sans 3" charset="0"/>
                      </a:endParaRPr>
                    </a:p>
                  </a:txBody>
                  <a:tcPr marT="36576" marB="36576" anchor="ctr">
                    <a:lnL w="0" cap="flat" cmpd="sng" algn="ctr">
                      <a:noFill/>
                    </a:lnL>
                    <a:lnR w="0" cap="flat" cmpd="sng" algn="ctr">
                      <a:noFill/>
                    </a:lnR>
                    <a:lnT w="0" cap="flat" cmpd="sng" algn="ctr">
                      <a:noFill/>
                    </a:lnT>
                    <a:lnB w="0" cap="flat" cmpd="sng" algn="ctr">
                      <a:noFill/>
                    </a:lnB>
                    <a:solidFill>
                      <a:srgbClr val="F5F0E6"/>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A2E"/>
        </a:solidFill>
        <a:effectLst/>
      </p:bgPr>
    </p:bg>
    <p:spTree>
      <p:nvGrpSpPr>
        <p:cNvPr id="1" name=""/>
        <p:cNvGrpSpPr/>
        <p:nvPr/>
      </p:nvGrpSpPr>
      <p:grpSpPr>
        <a:xfrm>
          <a:off x="0" y="0"/>
          <a:ext cx="0" cy="0"/>
          <a:chOff x="0" y="0"/>
          <a:chExt cx="0" cy="0"/>
        </a:xfrm>
      </p:grpSpPr>
      <p:pic>
        <p:nvPicPr>
          <p:cNvPr id="3" name="lockup" descr="/home/claude/work/logos/logo_calcofi_h.png"/>
          <p:cNvPicPr>
            <a:picLocks noChangeAspect="1"/>
          </p:cNvPicPr>
          <p:nvPr/>
        </p:nvPicPr>
        <p:blipFill>
          <a:blip r:embed="rId3"/>
          <a:stretch>
            <a:fillRect/>
          </a:stretch>
        </p:blipFill>
        <p:spPr>
          <a:xfrm>
            <a:off x="457200" y="457200"/>
            <a:ext cx="2378719" cy="566928"/>
          </a:xfrm>
          <a:prstGeom prst="rect">
            <a:avLst/>
          </a:prstGeom>
        </p:spPr>
      </p:pic>
      <p:sp>
        <p:nvSpPr>
          <p:cNvPr id="4" name="caps:title"/>
          <p:cNvSpPr txBox="1"/>
          <p:nvPr/>
        </p:nvSpPr>
        <p:spPr>
          <a:xfrm>
            <a:off x="457200" y="1371600"/>
            <a:ext cx="11277295" cy="1645920"/>
          </a:xfrm>
          <a:prstGeom prst="rect">
            <a:avLst/>
          </a:prstGeom>
          <a:noFill/>
          <a:ln/>
        </p:spPr>
        <p:txBody>
          <a:bodyPr wrap="square" lIns="0" tIns="0" rIns="0" bIns="0" rtlCol="0" anchor="t"/>
          <a:lstStyle/>
          <a:p>
            <a:pPr marL="0" indent="0">
              <a:lnSpc>
                <a:spcPct val="90000"/>
              </a:lnSpc>
              <a:buNone/>
            </a:pPr>
            <a:r>
              <a:rPr lang="en-US" sz="6000" kern="0" cap="all" spc="70" dirty="0">
                <a:solidFill>
                  <a:srgbClr val="FFFFFF"/>
                </a:solidFill>
                <a:latin typeface="Teko" pitchFamily="34" charset="0"/>
                <a:ea typeface="Teko" pitchFamily="34" charset="-122"/>
                <a:cs typeface="Teko" pitchFamily="34" charset="-120"/>
              </a:rPr>
              <a:t>Software is no longer the bottleneck.</a:t>
            </a:r>
            <a:endParaRPr lang="en-US" sz="6000" dirty="0"/>
          </a:p>
        </p:txBody>
      </p:sp>
      <p:sp>
        <p:nvSpPr>
          <p:cNvPr id="5" name="build:para"/>
          <p:cNvSpPr txBox="1"/>
          <p:nvPr/>
        </p:nvSpPr>
        <p:spPr>
          <a:xfrm>
            <a:off x="457200" y="3108960"/>
            <a:ext cx="11277295" cy="914400"/>
          </a:xfrm>
          <a:prstGeom prst="rect">
            <a:avLst/>
          </a:prstGeom>
          <a:noFill/>
          <a:ln/>
        </p:spPr>
        <p:txBody>
          <a:bodyPr wrap="square" lIns="0" tIns="0" rIns="0" bIns="0" rtlCol="0" anchor="t"/>
          <a:lstStyle/>
          <a:p>
            <a:pPr marL="0" indent="0">
              <a:lnSpc>
                <a:spcPct val="110000"/>
              </a:lnSpc>
              <a:buNone/>
            </a:pPr>
            <a:r>
              <a:rPr lang="en-US" sz="2000" dirty="0">
                <a:solidFill>
                  <a:srgbClr val="E9EDF3"/>
                </a:solidFill>
                <a:latin typeface="Source Sans 3" pitchFamily="34" charset="0"/>
                <a:ea typeface="Source Sans 3" pitchFamily="34" charset="-122"/>
                <a:cs typeface="Source Sans 3" pitchFamily="34" charset="-120"/>
              </a:rPr>
              <a:t>Building is now fast. Deciding what to build, checking it, and telling people about it are what set the pace. That is where I need you.</a:t>
            </a:r>
            <a:endParaRPr lang="en-US" sz="2000" dirty="0"/>
          </a:p>
        </p:txBody>
      </p:sp>
      <p:sp>
        <p:nvSpPr>
          <p:cNvPr id="6" name="text"/>
          <p:cNvSpPr txBox="1"/>
          <p:nvPr/>
        </p:nvSpPr>
        <p:spPr>
          <a:xfrm>
            <a:off x="457200" y="4041648"/>
            <a:ext cx="11277295" cy="548640"/>
          </a:xfrm>
          <a:prstGeom prst="rect">
            <a:avLst/>
          </a:prstGeom>
          <a:noFill/>
          <a:ln/>
        </p:spPr>
        <p:txBody>
          <a:bodyPr wrap="square" lIns="0" tIns="0" rIns="0" bIns="0" rtlCol="0" anchor="t"/>
          <a:lstStyle/>
          <a:p>
            <a:pPr marL="0" indent="0">
              <a:buNone/>
            </a:pPr>
            <a:r>
              <a:rPr lang="en-US" sz="1500" dirty="0">
                <a:solidFill>
                  <a:srgbClr val="9FB0C8"/>
                </a:solidFill>
                <a:latin typeface="Source Sans 3" pitchFamily="34" charset="0"/>
                <a:ea typeface="Source Sans 3" pitchFamily="34" charset="-122"/>
                <a:cs typeface="Source Sans 3" pitchFamily="34" charset="-120"/>
              </a:rPr>
              <a:t>Proposed cadence: a monthly release · a 20-minute demo in the data meeting when something ships · questions to providers only through the Sheets</a:t>
            </a:r>
            <a:endParaRPr lang="en-US" sz="1500" dirty="0"/>
          </a:p>
        </p:txBody>
      </p:sp>
      <p:sp>
        <p:nvSpPr>
          <p:cNvPr id="7" name="text"/>
          <p:cNvSpPr txBox="1"/>
          <p:nvPr/>
        </p:nvSpPr>
        <p:spPr>
          <a:xfrm>
            <a:off x="457200" y="4626864"/>
            <a:ext cx="11277295" cy="274320"/>
          </a:xfrm>
          <a:prstGeom prst="rect">
            <a:avLst/>
          </a:prstGeom>
          <a:noFill/>
          <a:ln/>
        </p:spPr>
        <p:txBody>
          <a:bodyPr wrap="square" lIns="0" tIns="0" rIns="0" bIns="0" rtlCol="0" anchor="t"/>
          <a:lstStyle/>
          <a:p>
            <a:pPr marL="0" indent="0">
              <a:buNone/>
            </a:pPr>
            <a:r>
              <a:rPr lang="en-US" sz="1250" dirty="0">
                <a:solidFill>
                  <a:srgbClr val="B6B1A9"/>
                </a:solidFill>
                <a:latin typeface="Source Sans 3" pitchFamily="34" charset="0"/>
                <a:ea typeface="Source Sans 3" pitchFamily="34" charset="-122"/>
                <a:cs typeface="Source Sans 3" pitchFamily="34" charset="-120"/>
              </a:rPr>
              <a:t>Ben Best · Ocean Metrics · ben@oceanmetrics.io · data@calcofi.io</a:t>
            </a:r>
            <a:endParaRPr lang="en-US" sz="1250" dirty="0"/>
          </a:p>
        </p:txBody>
      </p:sp>
      <p:pic>
        <p:nvPicPr>
          <p:cNvPr id="8" name="icon cat-phytoplankton" descr="/home/claude/work/icons/cat-phytoplankton_sky.png"/>
          <p:cNvPicPr>
            <a:picLocks noChangeAspect="1"/>
          </p:cNvPicPr>
          <p:nvPr/>
        </p:nvPicPr>
        <p:blipFill>
          <a:blip r:embed="rId4"/>
          <a:stretch>
            <a:fillRect/>
          </a:stretch>
        </p:blipFill>
        <p:spPr>
          <a:xfrm>
            <a:off x="502920" y="5212080"/>
            <a:ext cx="201168" cy="201168"/>
          </a:xfrm>
          <a:prstGeom prst="rect">
            <a:avLst/>
          </a:prstGeom>
        </p:spPr>
      </p:pic>
      <p:pic>
        <p:nvPicPr>
          <p:cNvPr id="9" name="icon cat-picoplankton" descr="/home/claude/work/icons/cat-picoplankton_sky.png"/>
          <p:cNvPicPr>
            <a:picLocks noChangeAspect="1"/>
          </p:cNvPicPr>
          <p:nvPr/>
        </p:nvPicPr>
        <p:blipFill>
          <a:blip r:embed="rId5"/>
          <a:stretch>
            <a:fillRect/>
          </a:stretch>
        </p:blipFill>
        <p:spPr>
          <a:xfrm>
            <a:off x="1014984" y="5193792"/>
            <a:ext cx="219456" cy="219456"/>
          </a:xfrm>
          <a:prstGeom prst="rect">
            <a:avLst/>
          </a:prstGeom>
        </p:spPr>
      </p:pic>
      <p:pic>
        <p:nvPicPr>
          <p:cNvPr id="10" name="icon cat-zooplankton" descr="/home/claude/work/icons/cat-zooplankton_sky.png"/>
          <p:cNvPicPr>
            <a:picLocks noChangeAspect="1"/>
          </p:cNvPicPr>
          <p:nvPr/>
        </p:nvPicPr>
        <p:blipFill>
          <a:blip r:embed="rId6"/>
          <a:stretch>
            <a:fillRect/>
          </a:stretch>
        </p:blipFill>
        <p:spPr>
          <a:xfrm>
            <a:off x="1545336" y="5166360"/>
            <a:ext cx="246888" cy="246888"/>
          </a:xfrm>
          <a:prstGeom prst="rect">
            <a:avLst/>
          </a:prstGeom>
        </p:spPr>
      </p:pic>
      <p:pic>
        <p:nvPicPr>
          <p:cNvPr id="11" name="icon cat-krill" descr="/home/claude/work/icons/cat-krill_sky.png"/>
          <p:cNvPicPr>
            <a:picLocks noChangeAspect="1"/>
          </p:cNvPicPr>
          <p:nvPr/>
        </p:nvPicPr>
        <p:blipFill>
          <a:blip r:embed="rId7"/>
          <a:stretch>
            <a:fillRect/>
          </a:stretch>
        </p:blipFill>
        <p:spPr>
          <a:xfrm>
            <a:off x="2103120" y="5138928"/>
            <a:ext cx="274320" cy="274320"/>
          </a:xfrm>
          <a:prstGeom prst="rect">
            <a:avLst/>
          </a:prstGeom>
        </p:spPr>
      </p:pic>
      <p:pic>
        <p:nvPicPr>
          <p:cNvPr id="12" name="icon cat-ichthyo" descr="/home/claude/work/icons/cat-ichthyo_sky.png"/>
          <p:cNvPicPr>
            <a:picLocks noChangeAspect="1"/>
          </p:cNvPicPr>
          <p:nvPr/>
        </p:nvPicPr>
        <p:blipFill>
          <a:blip r:embed="rId8"/>
          <a:stretch>
            <a:fillRect/>
          </a:stretch>
        </p:blipFill>
        <p:spPr>
          <a:xfrm>
            <a:off x="2688336" y="5120640"/>
            <a:ext cx="292608" cy="292608"/>
          </a:xfrm>
          <a:prstGeom prst="rect">
            <a:avLst/>
          </a:prstGeom>
        </p:spPr>
      </p:pic>
      <p:pic>
        <p:nvPicPr>
          <p:cNvPr id="13" name="icon cat-fish" descr="/home/claude/work/icons/cat-fish_sky.png"/>
          <p:cNvPicPr>
            <a:picLocks noChangeAspect="1"/>
          </p:cNvPicPr>
          <p:nvPr/>
        </p:nvPicPr>
        <p:blipFill>
          <a:blip r:embed="rId9"/>
          <a:stretch>
            <a:fillRect/>
          </a:stretch>
        </p:blipFill>
        <p:spPr>
          <a:xfrm>
            <a:off x="3291840" y="5084064"/>
            <a:ext cx="329184" cy="329184"/>
          </a:xfrm>
          <a:prstGeom prst="rect">
            <a:avLst/>
          </a:prstGeom>
        </p:spPr>
      </p:pic>
      <p:pic>
        <p:nvPicPr>
          <p:cNvPr id="14" name="icon cat-birds-mammals" descr="/home/claude/work/icons/cat-birds-mammals_sky.png"/>
          <p:cNvPicPr>
            <a:picLocks noChangeAspect="1"/>
          </p:cNvPicPr>
          <p:nvPr/>
        </p:nvPicPr>
        <p:blipFill>
          <a:blip r:embed="rId10"/>
          <a:stretch>
            <a:fillRect/>
          </a:stretch>
        </p:blipFill>
        <p:spPr>
          <a:xfrm>
            <a:off x="3931920" y="5047488"/>
            <a:ext cx="365760" cy="365760"/>
          </a:xfrm>
          <a:prstGeom prst="rect">
            <a:avLst/>
          </a:prstGeom>
        </p:spPr>
      </p:pic>
      <p:pic>
        <p:nvPicPr>
          <p:cNvPr id="15" name="icon cat-whale" descr="/home/claude/work/icons/cat-whale_sky.png"/>
          <p:cNvPicPr>
            <a:picLocks noChangeAspect="1"/>
          </p:cNvPicPr>
          <p:nvPr/>
        </p:nvPicPr>
        <p:blipFill>
          <a:blip r:embed="rId11"/>
          <a:stretch>
            <a:fillRect/>
          </a:stretch>
        </p:blipFill>
        <p:spPr>
          <a:xfrm>
            <a:off x="4608576" y="4956048"/>
            <a:ext cx="457200" cy="457200"/>
          </a:xfrm>
          <a:prstGeom prst="rect">
            <a:avLst/>
          </a:prstGeom>
        </p:spPr>
      </p:pic>
      <p:pic>
        <p:nvPicPr>
          <p:cNvPr id="16" name="icon lens-cruises" descr="/home/claude/work/icons/lens-cruises_sky.png"/>
          <p:cNvPicPr>
            <a:picLocks noChangeAspect="1"/>
          </p:cNvPicPr>
          <p:nvPr/>
        </p:nvPicPr>
        <p:blipFill>
          <a:blip r:embed="rId12"/>
          <a:stretch>
            <a:fillRect/>
          </a:stretch>
        </p:blipFill>
        <p:spPr>
          <a:xfrm>
            <a:off x="8595360" y="4983480"/>
            <a:ext cx="384048" cy="384048"/>
          </a:xfrm>
          <a:prstGeom prst="rect">
            <a:avLst/>
          </a:prstGeom>
        </p:spPr>
      </p:pic>
      <p:pic>
        <p:nvPicPr>
          <p:cNvPr id="17" name="seafloor" descr="/home/claude/work/build/img/seafloor_dark.png"/>
          <p:cNvPicPr>
            <a:picLocks noChangeAspect="1"/>
          </p:cNvPicPr>
          <p:nvPr/>
        </p:nvPicPr>
        <p:blipFill>
          <a:blip r:embed="rId13"/>
          <a:stretch>
            <a:fillRect/>
          </a:stretch>
        </p:blipFill>
        <p:spPr>
          <a:xfrm>
            <a:off x="0" y="5440680"/>
            <a:ext cx="12191695" cy="1417320"/>
          </a:xfrm>
          <a:prstGeom prst="rect">
            <a:avLst/>
          </a:prstGeom>
        </p:spPr>
      </p:pic>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3" name="lockup" descr="/home/claude/work/logos/logo_calcofi_h_light.png"/>
          <p:cNvPicPr>
            <a:picLocks noChangeAspect="1"/>
          </p:cNvPicPr>
          <p:nvPr/>
        </p:nvPicPr>
        <p:blipFill>
          <a:blip r:embed="rId3"/>
          <a:stretch>
            <a:fillRect/>
          </a:stretch>
        </p:blipFill>
        <p:spPr>
          <a:xfrm>
            <a:off x="457200" y="173736"/>
            <a:ext cx="1304459" cy="310896"/>
          </a:xfrm>
          <a:prstGeom prst="rect">
            <a:avLst/>
          </a:prstGeom>
        </p:spPr>
      </p:pic>
      <p:sp>
        <p:nvSpPr>
          <p:cNvPr id="4" name="Shape 0"/>
          <p:cNvSpPr/>
          <p:nvPr/>
        </p:nvSpPr>
        <p:spPr>
          <a:xfrm>
            <a:off x="0" y="658368"/>
            <a:ext cx="12191695" cy="0"/>
          </a:xfrm>
          <a:prstGeom prst="line">
            <a:avLst/>
          </a:prstGeom>
          <a:noFill/>
          <a:ln w="9525">
            <a:solidFill>
              <a:srgbClr val="DDDDDD"/>
            </a:solidFill>
            <a:prstDash val="solid"/>
          </a:ln>
        </p:spPr>
        <p:txBody>
          <a:bodyPr/>
          <a:lstStyle/>
          <a:p>
            <a:endParaRPr lang="en-US"/>
          </a:p>
        </p:txBody>
      </p:sp>
      <p:sp>
        <p:nvSpPr>
          <p:cNvPr id="5" name="Shape 1"/>
          <p:cNvSpPr/>
          <p:nvPr/>
        </p:nvSpPr>
        <p:spPr>
          <a:xfrm>
            <a:off x="457200" y="6291072"/>
            <a:ext cx="11277295" cy="0"/>
          </a:xfrm>
          <a:prstGeom prst="line">
            <a:avLst/>
          </a:prstGeom>
          <a:noFill/>
          <a:ln w="9525">
            <a:solidFill>
              <a:srgbClr val="DDDDDD"/>
            </a:solidFill>
            <a:prstDash val="solid"/>
          </a:ln>
        </p:spPr>
        <p:txBody>
          <a:bodyPr/>
          <a:lstStyle/>
          <a:p>
            <a:endParaRPr lang="en-US"/>
          </a:p>
        </p:txBody>
      </p:sp>
      <p:sp>
        <p:nvSpPr>
          <p:cNvPr id="6" name="footer-left"/>
          <p:cNvSpPr txBox="1"/>
          <p:nvPr/>
        </p:nvSpPr>
        <p:spPr>
          <a:xfrm>
            <a:off x="457200" y="6345936"/>
            <a:ext cx="7863840" cy="274320"/>
          </a:xfrm>
          <a:prstGeom prst="rect">
            <a:avLst/>
          </a:prstGeom>
          <a:noFill/>
          <a:ln/>
        </p:spPr>
        <p:txBody>
          <a:bodyPr wrap="square" lIns="0" tIns="0" rIns="0" bIns="0" rtlCol="0" anchor="t"/>
          <a:lstStyle/>
          <a:p>
            <a:pPr marL="0" indent="0">
              <a:buNone/>
            </a:pPr>
            <a:r>
              <a:rPr lang="en-US" sz="1200" dirty="0">
                <a:solidFill>
                  <a:srgbClr val="00629B"/>
                </a:solidFill>
                <a:latin typeface="Source Sans 3" pitchFamily="34" charset="0"/>
                <a:ea typeface="Source Sans 3" pitchFamily="34" charset="-122"/>
                <a:cs typeface="Source Sans 3" pitchFamily="34" charset="-120"/>
              </a:rPr>
              <a:t>calcofi.io</a:t>
            </a:r>
            <a:endParaRPr lang="en-US" sz="1200" dirty="0"/>
          </a:p>
        </p:txBody>
      </p:sp>
      <p:sp>
        <p:nvSpPr>
          <p:cNvPr id="7" name="footer-right"/>
          <p:cNvSpPr txBox="1"/>
          <p:nvPr/>
        </p:nvSpPr>
        <p:spPr>
          <a:xfrm>
            <a:off x="8321040" y="6345936"/>
            <a:ext cx="3413455" cy="274320"/>
          </a:xfrm>
          <a:prstGeom prst="rect">
            <a:avLst/>
          </a:prstGeom>
          <a:noFill/>
          <a:ln/>
        </p:spPr>
        <p:txBody>
          <a:bodyPr wrap="square" lIns="0" tIns="0" rIns="0" bIns="0" rtlCol="0" anchor="t"/>
          <a:lstStyle/>
          <a:p>
            <a:pPr marL="0" indent="0" algn="r">
              <a:buNone/>
            </a:pPr>
            <a:r>
              <a:rPr lang="en-US" sz="1200" dirty="0">
                <a:solidFill>
                  <a:srgbClr val="66686A"/>
                </a:solidFill>
                <a:latin typeface="Source Sans 3" pitchFamily="34" charset="0"/>
                <a:ea typeface="Source Sans 3" pitchFamily="34" charset="-122"/>
                <a:cs typeface="Source Sans 3" pitchFamily="34" charset="-120"/>
              </a:rPr>
              <a:t>CalCOFI data meeting · 2026-09-08 · 24</a:t>
            </a:r>
            <a:endParaRPr lang="en-US" sz="1200" dirty="0"/>
          </a:p>
        </p:txBody>
      </p:sp>
      <p:sp>
        <p:nvSpPr>
          <p:cNvPr id="8" name="caps:eyebrow"/>
          <p:cNvSpPr txBox="1"/>
          <p:nvPr/>
        </p:nvSpPr>
        <p:spPr>
          <a:xfrm>
            <a:off x="457200" y="786384"/>
            <a:ext cx="11277295" cy="201168"/>
          </a:xfrm>
          <a:prstGeom prst="rect">
            <a:avLst/>
          </a:prstGeom>
          <a:noFill/>
          <a:ln/>
        </p:spPr>
        <p:txBody>
          <a:bodyPr wrap="square" lIns="0" tIns="0" rIns="0" bIns="0" rtlCol="0" anchor="t"/>
          <a:lstStyle/>
          <a:p>
            <a:pPr marL="0" indent="0">
              <a:buNone/>
            </a:pPr>
            <a:r>
              <a:rPr lang="en-US" sz="1200" b="1" kern="0" cap="all" spc="120" dirty="0">
                <a:solidFill>
                  <a:srgbClr val="66686A"/>
                </a:solidFill>
                <a:latin typeface="Source Sans 3" pitchFamily="34" charset="0"/>
                <a:ea typeface="Source Sans 3" pitchFamily="34" charset="-122"/>
                <a:cs typeface="Source Sans 3" pitchFamily="34" charset="-120"/>
              </a:rPr>
              <a:t>APPENDIX</a:t>
            </a:r>
            <a:endParaRPr lang="en-US" sz="1200" dirty="0"/>
          </a:p>
        </p:txBody>
      </p:sp>
      <p:pic>
        <p:nvPicPr>
          <p:cNvPr id="9" name="icon ui-link" descr="/home/claude/work/icons/ui-link_navy.png"/>
          <p:cNvPicPr>
            <a:picLocks noChangeAspect="1"/>
          </p:cNvPicPr>
          <p:nvPr/>
        </p:nvPicPr>
        <p:blipFill>
          <a:blip r:embed="rId4"/>
          <a:stretch>
            <a:fillRect/>
          </a:stretch>
        </p:blipFill>
        <p:spPr>
          <a:xfrm>
            <a:off x="457200" y="1005840"/>
            <a:ext cx="329184" cy="329184"/>
          </a:xfrm>
          <a:prstGeom prst="rect">
            <a:avLst/>
          </a:prstGeom>
        </p:spPr>
      </p:pic>
      <p:sp>
        <p:nvSpPr>
          <p:cNvPr id="10" name="caps:title"/>
          <p:cNvSpPr txBox="1"/>
          <p:nvPr/>
        </p:nvSpPr>
        <p:spPr>
          <a:xfrm>
            <a:off x="914400" y="950976"/>
            <a:ext cx="10820095" cy="868680"/>
          </a:xfrm>
          <a:prstGeom prst="rect">
            <a:avLst/>
          </a:prstGeom>
          <a:noFill/>
          <a:ln/>
        </p:spPr>
        <p:txBody>
          <a:bodyPr wrap="square" lIns="0" tIns="0" rIns="0" bIns="0" rtlCol="0" anchor="t"/>
          <a:lstStyle/>
          <a:p>
            <a:pPr marL="0" indent="0">
              <a:lnSpc>
                <a:spcPct val="90000"/>
              </a:lnSpc>
              <a:buNone/>
            </a:pPr>
            <a:r>
              <a:rPr lang="en-US" sz="3400" kern="0" cap="all" spc="70" dirty="0">
                <a:solidFill>
                  <a:srgbClr val="182B49"/>
                </a:solidFill>
                <a:latin typeface="Teko" pitchFamily="34" charset="0"/>
                <a:ea typeface="Teko" pitchFamily="34" charset="-122"/>
                <a:cs typeface="Teko" pitchFamily="34" charset="-120"/>
              </a:rPr>
              <a:t>Every URL shown</a:t>
            </a:r>
            <a:endParaRPr lang="en-US" sz="3400" dirty="0"/>
          </a:p>
        </p:txBody>
      </p:sp>
      <p:graphicFrame>
        <p:nvGraphicFramePr>
          <p:cNvPr id="11" name="build:table"/>
          <p:cNvGraphicFramePr>
            <a:graphicFrameLocks noGrp="1"/>
          </p:cNvGraphicFramePr>
          <p:nvPr>
            <p:extLst>
              <p:ext uri="{D42A27DB-BD31-4B8C-83A1-F6EECF244321}">
                <p14:modId xmlns:p14="http://schemas.microsoft.com/office/powerpoint/2010/main" val="1579011935"/>
              </p:ext>
            </p:extLst>
          </p:nvPr>
        </p:nvGraphicFramePr>
        <p:xfrm>
          <a:off x="457200" y="1847088"/>
          <a:ext cx="11277295" cy="4242816"/>
        </p:xfrm>
        <a:graphic>
          <a:graphicData uri="http://schemas.openxmlformats.org/drawingml/2006/table">
            <a:tbl>
              <a:tblPr/>
              <a:tblGrid>
                <a:gridCol w="2651760">
                  <a:extLst>
                    <a:ext uri="{9D8B030D-6E8A-4147-A177-3AD203B41FA5}">
                      <a16:colId xmlns:a16="http://schemas.microsoft.com/office/drawing/2014/main" val="20000"/>
                    </a:ext>
                  </a:extLst>
                </a:gridCol>
                <a:gridCol w="8625535">
                  <a:extLst>
                    <a:ext uri="{9D8B030D-6E8A-4147-A177-3AD203B41FA5}">
                      <a16:colId xmlns:a16="http://schemas.microsoft.com/office/drawing/2014/main" val="20001"/>
                    </a:ext>
                  </a:extLst>
                </a:gridCol>
              </a:tblGrid>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The front door</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0"/>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The Explorer</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calcofi.io/explore  ·  ?lens=contour&amp;var=temperature  ·  ?modal=sources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Status page</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status.calcofi.io</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Datasets catalog</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calcofi.io/datasets/  ·  calcofi.io/datasets/swfsc_ichthyo/</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Machine surfaces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calcofi.io/stac/  ·  calcofi.io/data.json  ·  calcofi.io/datasets/sitemap.xml</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Publishers (notebooks)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calcofi.io/workflows/publish_to-{obis,edi,erddap,netcdf}.html</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ERDDAP · netCDF</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erddap.calcofi.io/erddap/  ·  storage.calcofi.io/calcofi-files-public/netcdf/</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Release DOI</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doi.org/10.5281/zenodo.22514953  (concept: doi.org/10.5281/zenodo.22281994)</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7"/>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Release notes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storage.calcofi.io/calcofi-db/ducklake/releases/RELEASES.html</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8"/>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Schema</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calcofi.io/db-schema/</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9"/>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Packages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calcofi.io/calcofi4r  ·  calcofi.io/calcofi4py</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0"/>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Brand kit</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calcofi.io/brand/v2/  ·  calcofi.io/brand/v2/icons/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1"/>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Documentation</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calcofi.io/docs/  ·  /explore.html  ·  /cite.html  ·  /dmp.html  ·  /status.html</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2"/>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Metadata &amp; the ingest loop</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calcofi.io/docs/metadata.html  ·  calcofi.io/docs/portals.html</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3"/>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Feedback / issues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the speech bubble in any header  ·  github.com/CalCOFI/{explore,CalCOFI.github.io,docs}/issues</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4"/>
                  </a:ext>
                </a:extLst>
              </a:tr>
              <a:tr h="265176">
                <a:tc>
                  <a:txBody>
                    <a:bodyPr/>
                    <a:lstStyle/>
                    <a:p>
                      <a:pPr marL="0" indent="0" algn="r">
                        <a:buNone/>
                      </a:pPr>
                      <a:r>
                        <a:rPr lang="en-US" sz="1300" b="1" dirty="0">
                          <a:solidFill>
                            <a:srgbClr val="66686A"/>
                          </a:solidFill>
                          <a:latin typeface="Source Sans 3" pitchFamily="34" charset="0"/>
                          <a:ea typeface="Source Sans 3" pitchFamily="34" charset="-122"/>
                          <a:cs typeface="Source Sans 3" pitchFamily="34" charset="-120"/>
                        </a:rPr>
                        <a:t>Contact</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300" dirty="0">
                          <a:solidFill>
                            <a:srgbClr val="00629B"/>
                          </a:solidFill>
                          <a:latin typeface="Source Sans 3" pitchFamily="34" charset="0"/>
                          <a:ea typeface="Source Sans 3" pitchFamily="34" charset="-122"/>
                          <a:cs typeface="Source Sans 3" pitchFamily="34" charset="-120"/>
                        </a:rPr>
                        <a:t>data@calcofi.io</a:t>
                      </a:r>
                      <a:endParaRPr lang="en-US" sz="1300" dirty="0">
                        <a:latin typeface="Source Sans 3" charset="0"/>
                        <a:ea typeface="Source Sans 3" charset="0"/>
                        <a:cs typeface="Source Sans 3" charset="0"/>
                      </a:endParaRPr>
                    </a:p>
                  </a:txBody>
                  <a:tcPr marL="54864" marR="109728" marT="18288" marB="1828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6352B0F-ED8A-5446-983E-67D67D58F712}">
  <we:reference id="wa200010725" version="1.0.0.1" store="en-US" storeType="OMEX"/>
  <we:alternateReferences>
    <we:reference id="WA200010725" version="1.0.0.1" store="" storeType="OMEX"/>
  </we:alternateReferences>
  <we:properties>
    <we:property name="claude.fileId" value="&quot;a3312272-df24-4e4f-84a9-11747240c6b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130</TotalTime>
  <Words>11886</Words>
  <Application>Microsoft Macintosh PowerPoint</Application>
  <PresentationFormat>Widescreen</PresentationFormat>
  <Paragraphs>440</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Source Sans 3</vt:lpstr>
      <vt:lpstr>Menlo</vt:lpstr>
      <vt:lpstr>Courier New</vt:lpstr>
      <vt:lpstr>Teko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CalCOFI.io — what landed since Aug 25, and what we need from each other</dc:title>
  <dc:subject>PptxGenJS Presentation</dc:subject>
  <dc:creator>Ben Best</dc:creator>
  <cp:lastModifiedBy>Ben Best</cp:lastModifiedBy>
  <cp:revision>32</cp:revision>
  <dcterms:created xsi:type="dcterms:W3CDTF">2026-09-08T12:52:12Z</dcterms:created>
  <dcterms:modified xsi:type="dcterms:W3CDTF">2026-09-08T15:13:12Z</dcterms:modified>
</cp:coreProperties>
</file>