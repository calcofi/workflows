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42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ben@oceanmetrics.i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 u="none" strike="noStrike" cap="none" dirty="0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CalCOFI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strike="noStrike" cap="none" dirty="0">
                <a:solidFill>
                  <a:srgbClr val="1B7B7B">
                    <a:alpha val="100000"/>
                  </a:srgbClr>
                </a:solidFill>
                <a:latin typeface="Arial"/>
                <a:cs typeface="Arial"/>
                <a:sym typeface="Arial"/>
              </a:rPr>
              <a:t>Progress Report: December 2025 – June 2026
</a:t>
            </a:r>
            <a:r>
              <a:rPr sz="1600" b="0" i="1" u="none" strike="noStrike" cap="none" dirty="0">
                <a:solidFill>
                  <a:srgbClr val="5A5A5A">
                    <a:alpha val="100000"/>
                  </a:srgbClr>
                </a:solidFill>
                <a:latin typeface="Arial"/>
                <a:cs typeface="Arial"/>
                <a:sym typeface="Arial"/>
              </a:rPr>
              <a:t>Integrating, serving &amp; visualizing America's oldest ocean-ecosystem time series</a:t>
            </a:r>
            <a:br>
              <a:rPr lang="en-US" sz="1600" b="0" i="1" u="none" strike="noStrike" cap="none" dirty="0">
                <a:solidFill>
                  <a:srgbClr val="5A5A5A">
                    <a:alpha val="100000"/>
                  </a:srgbClr>
                </a:solidFill>
                <a:latin typeface="Arial"/>
                <a:cs typeface="Arial"/>
                <a:sym typeface="Arial"/>
              </a:rPr>
            </a:br>
            <a:br>
              <a:rPr lang="en-US" sz="1600" b="0" i="1" u="none" strike="noStrike" cap="none" dirty="0">
                <a:solidFill>
                  <a:srgbClr val="5A5A5A">
                    <a:alpha val="100000"/>
                  </a:srgbClr>
                </a:solidFill>
                <a:latin typeface="Arial"/>
                <a:cs typeface="Arial"/>
                <a:sym typeface="Arial"/>
              </a:rPr>
            </a:br>
            <a:r>
              <a:rPr lang="en-US" sz="1600" b="0" i="1" u="none" strike="noStrike" cap="none" dirty="0">
                <a:solidFill>
                  <a:srgbClr val="5A5A5A">
                    <a:alpha val="100000"/>
                  </a:srgbClr>
                </a:solidFill>
                <a:latin typeface="Arial"/>
                <a:cs typeface="Arial"/>
                <a:sym typeface="Arial"/>
              </a:rPr>
              <a:t>Ben Best (</a:t>
            </a:r>
            <a:r>
              <a:rPr lang="en-US" sz="1600" b="0" i="1" u="none" strike="noStrike" cap="none" dirty="0">
                <a:solidFill>
                  <a:srgbClr val="5A5A5A">
                    <a:alpha val="100000"/>
                  </a:srgbClr>
                </a:solidFill>
                <a:latin typeface="Arial"/>
                <a:cs typeface="Arial"/>
                <a:sym typeface="Arial"/>
                <a:hlinkClick r:id="rId2"/>
              </a:rPr>
              <a:t>ben@oceanmetrics.io</a:t>
            </a:r>
            <a:r>
              <a:rPr lang="en-US" sz="1600" b="0" i="1" u="none" strike="noStrike" cap="none" dirty="0">
                <a:solidFill>
                  <a:srgbClr val="5A5A5A">
                    <a:alpha val="100000"/>
                  </a:srgbClr>
                </a:solidFill>
                <a:latin typeface="Arial"/>
                <a:cs typeface="Arial"/>
                <a:sym typeface="Arial"/>
              </a:rPr>
              <a:t>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rgbClr val="5A5A5A">
                    <a:alpha val="100000"/>
                  </a:srgbClr>
                </a:solidFill>
                <a:latin typeface="Arial"/>
                <a:cs typeface="Arial"/>
                <a:sym typeface="Arial"/>
              </a:rPr>
              <a:t>Ocean Metrics LLC</a:t>
            </a:r>
            <a:endParaRPr sz="1600" b="0" i="1" u="none" strike="noStrike" cap="none" dirty="0">
              <a:solidFill>
                <a:srgbClr val="5A5A5A">
                  <a:alpha val="100000"/>
                </a:srgbClr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486400" y="-2821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The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Maximize the value of CalCOFI data within the SCCOOS / IOOS ocean-observing ecosystem.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1)  Increase accessibility &amp; transparency across CalCOFI data constituents.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2)  Accelerate adoption across California ocean-management entities.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3)  Strengthen integration with the network of CA ocean-observation programs.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Three components of work:  ① INGEST  →  ② VISUALIZE  →  ③ SHARE.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Built on open standards: Parquet + DuckDB + reproducible notebooks — the same stack as GBIF &amp; OBIS.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Pipeline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Source files (CSV/XLSX) curated in Google Drive  →  long-term archive in Google Cloud Storage (rclone).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calcofi4db ingest notebooks (Quarto) normalize each dataset to a shared schema with referential integrity.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Versioned, frozen DuckLake: Parquet on GCS + reproducible recreation from source + a changelog.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One release fans out to portals — ERDDAP, OBIS, EDI — and to apps + an interactive schema site.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Self-tracking, AI-assisted loop: explore → generate-metadata → ingest → validate → publish (Claude Code skills).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Release v2026.06.08 — by the numbers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/>
        </p:nvGraphicFramePr>
        <p:xfrm>
          <a:off x="457200" y="1600200"/>
          <a:ext cx="4607433" cy="2781575"/>
        </p:xfrm>
        <a:graphic>
          <a:graphicData uri="http://schemas.openxmlformats.org/drawingml/2006/table">
            <a:tbl>
              <a:tblPr/>
              <a:tblGrid>
                <a:gridCol w="2361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5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090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Metric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0A3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Value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0A3D6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353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Datasets integrated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10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49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Tables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44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597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Records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133,807,311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967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Frozen size (Parquet/GCS)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3.7 GB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740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ERDDAP datasets served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6 (5 live, CTD syncing)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38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Apps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schema site · ctd-viz · datacheck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341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Workflow commits since Dec 2025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81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① INGEST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cap="none">
                <a:solidFill>
                  <a:srgbClr val="F58518">
                    <a:alpha val="100000"/>
                  </a:srgbClr>
                </a:solidFill>
                <a:latin typeface="Arial"/>
                <a:cs typeface="Arial"/>
                <a:sym typeface="Arial"/>
              </a:rPr>
              <a:t>Component 1 of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Datasets ingested into the integrated database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/>
        </p:nvGraphicFramePr>
        <p:xfrm>
          <a:off x="457200" y="1600200"/>
          <a:ext cx="5451870" cy="3901965"/>
        </p:xfrm>
        <a:graphic>
          <a:graphicData uri="http://schemas.openxmlformats.org/drawingml/2006/table">
            <a:tbl>
              <a:tblPr/>
              <a:tblGrid>
                <a:gridCol w="2191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93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Dataset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0A3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Headline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0A3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SOW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0A3D6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649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Ichthyoplankton (eggs &amp; larvae)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830K+ records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must ✓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694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Bottle (hydro chemistry)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11M+ measurements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must ✓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262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CTD casts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ctd_thin 5.5M (234M source)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must ✓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785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DIC / carbonate chemistry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8.3K measurements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must ✓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579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Krill / euphausiids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10K tows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must ✓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353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Zooplankton tows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99.5K tows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◑ biovol pending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785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Underway CUFES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49.5K samples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✓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398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Lobster phyllosoma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1.9K tows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must ✓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773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Seabird &amp; mammal census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60.7K observations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✓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694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Phytoplankton (Venrick)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159.8K measurements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must ✓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Ingest — engineering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Prescriptive schema: a canonical field dictionary + schema-lint enforce names/types/units across datasets.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UUID-first primary keys minted at sea (stable through QA/QC); natural keys (cruise_key) where appropriate.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Cross-dataset relationships registry — every dataset links to the shared cruise / ship / grid tables.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CTD adaptive thinning (Douglas–Peucker): 15+ GB → 258 MB while preserving every profile inflection.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Hardest ingest — phytoplankton: region-pooled grain (no per-station position), cross-tab Excel, WoRMS taxonomy.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Reusable spatial/temporal match helpers resolve cross-dataset joins (site+datetime, nearest-depth).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A repeatable, self-tracking ingest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Claude Code skills pipeline: explore-dataset → generate-metadata → ingest-new → validate-ingest → publish.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Every workflow records ranked follow-up questions for data providers (per-dataset questions.csv).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A dataset_status tracker + cross-dataset relationship registry make the pipeline auditable.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Each new dataset auto-discovers into the release — no manual wiring.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Result: 81 commits since December turning 11 raw sources into one coherent, documented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② VISUALIZE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cap="none">
                <a:solidFill>
                  <a:srgbClr val="F58518">
                    <a:alpha val="100000"/>
                  </a:srgbClr>
                </a:solidFill>
                <a:latin typeface="Arial"/>
                <a:cs typeface="Arial"/>
                <a:sym typeface="Arial"/>
              </a:rPr>
              <a:t>Component 2 of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Visualize — interactive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Schema site (calcofi.io/schema): interactive ERD, table &amp; column browser, cross-dataset filter — data-driven from GCS sidecars.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ctd-viz app: ODV-style interpolated CTD transects with bathymetry, linked map/table/plot.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datacheck app (NEW): cross-dataset observations for any cruise on a map/table/plot, with deep-linkable URLs for provider questions.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Integrated app (app.calcofi.io/int): H3 hexagon summaries; new cached endpoint serves hexes on-the-fly by map extent &amp; zoom.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Management areas of interest (sanctuaries, MPAs, BOEM wind) — in progress.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One integrated, referentially-intact schema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126480"/>
            <a:ext cx="3657600" cy="27432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strike="noStrike" cap="none">
                <a:solidFill>
                  <a:srgbClr val="5A5A5A">
                    <a:alpha val="100000"/>
                  </a:srgbClr>
                </a:solidFill>
                <a:latin typeface="Arial"/>
                <a:cs typeface="Arial"/>
                <a:sym typeface="Arial"/>
              </a:rPr>
              <a:t>Entity–relationship diagram of release v2026.06.08 (44 tables across 10 datasets)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③ SHARE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cap="none">
                <a:solidFill>
                  <a:srgbClr val="F58518">
                    <a:alpha val="100000"/>
                  </a:srgbClr>
                </a:solidFill>
                <a:latin typeface="Arial"/>
                <a:cs typeface="Arial"/>
                <a:sym typeface="Arial"/>
              </a:rPr>
              <a:t>Component 3 of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Share — publishing to standards portals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/>
        </p:nvGraphicFramePr>
        <p:xfrm>
          <a:off x="457200" y="1600200"/>
          <a:ext cx="6480316" cy="2136635"/>
        </p:xfrm>
        <a:graphic>
          <a:graphicData uri="http://schemas.openxmlformats.org/drawingml/2006/table">
            <a:tbl>
              <a:tblPr/>
              <a:tblGrid>
                <a:gridCol w="1468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621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Portal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7B7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Dataset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7B7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Status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7B7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40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ERDDAP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CTD · Bottle · DIC · Krill · Zooplankton · Phytoplankton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5 live, CTD syncing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649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OBIS (Darwin Core)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Ichthyoplankton (eggs/larvae)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done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875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EDI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Zooplankton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planned (#42)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875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EDI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Phytoplankton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planned (#62)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875"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OBIS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Seabirds &amp; Marine mammals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508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planned (#43/#44)</a:t>
                      </a:r>
                    </a:p>
                  </a:txBody>
                  <a:tcPr marL="0" marR="0" marT="50800" marB="508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Status vs. Statement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✓ ALL must-complete INGESTS delivered: Bottle, Fish eggs &amp; larvae, Krill, CTD, Cephalopods, Phytoplankton, DIC, Phyllosoma.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✓ Must-complete SHARE delivered: CTD &amp; Bottle → ERDDAP, Fish eggs &amp; larvae → OBIS, DIC → ERDDAP.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✓ Integrated database versioned &amp; reproducible (frozen DuckLake, v2026.06.08).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◑ Remaining ingest: ZooDb &amp; ZooScan (blocked on Ohman/DataZoo portal export), PRODO, acoustic mammals.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◑ Remaining share: seabirds/mammals → OBIS, zooplankton/phytoplankton → EDI, underway MET → ERDDAP.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Unblock ZooDb / ZooScan via an Ohman-lab / DataZoo data export (the one external dependency).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Finish the publish side: seabird &amp; mammal → OBIS, zooplankton &amp; phytoplankton → EDI, underway MET → ERDDAP.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Bring calcofi_ctd fully live on ERDDAP (944 MB ctd_wide).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Expand H3 hexagon summaries across the newly ingested datasets in the integrated app.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u="none" strike="noStrike" cap="none">
                <a:solidFill>
                  <a:srgbClr val="222222">
                    <a:alpha val="100000"/>
                  </a:srgbClr>
                </a:solidFill>
                <a:latin typeface="Arial"/>
                <a:cs typeface="Arial"/>
                <a:sym typeface="Arial"/>
              </a:rPr>
              <a:t>Deliver the live, recorded webinar series — a CalCOFI.io product showcase (this deck is the starting point).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strike="noStrike" cap="none">
                <a:solidFill>
                  <a:srgbClr val="0A3D62">
                    <a:alpha val="100000"/>
                  </a:srgbClr>
                </a:solidFill>
                <a:latin typeface="Arial"/>
                <a:cs typeface="Arial"/>
                <a:sym typeface="Arial"/>
              </a:rPr>
              <a:t>From 11 raw sources to one living, versioned, served database.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strike="noStrike" cap="none">
                <a:solidFill>
                  <a:srgbClr val="1B7B7B">
                    <a:alpha val="100000"/>
                  </a:srgbClr>
                </a:solidFill>
                <a:latin typeface="Arial"/>
                <a:cs typeface="Arial"/>
                <a:sym typeface="Arial"/>
              </a:rPr>
              <a:t>Ben Best · Ocean Metrics LLC · ben@oceanmetrics.io · calcofi.io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989</Words>
  <Application>Microsoft Macintosh PowerPoint</Application>
  <PresentationFormat>On-screen Show (4:3)</PresentationFormat>
  <Paragraphs>127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Helvetica</vt:lpstr>
      <vt:lpstr>Office Theme</vt:lpstr>
      <vt:lpstr>CalCOFI Automation</vt:lpstr>
      <vt:lpstr>The Vision</vt:lpstr>
      <vt:lpstr>Pipeline &amp; Architecture</vt:lpstr>
      <vt:lpstr>Release v2026.06.08 — by the numbers</vt:lpstr>
      <vt:lpstr>① INGEST</vt:lpstr>
      <vt:lpstr>Datasets ingested into the integrated database</vt:lpstr>
      <vt:lpstr>Ingest — engineering highlights</vt:lpstr>
      <vt:lpstr>A repeatable, self-tracking ingest loop</vt:lpstr>
      <vt:lpstr>② VISUALIZE</vt:lpstr>
      <vt:lpstr>Visualize — interactive products</vt:lpstr>
      <vt:lpstr>One integrated, referentially-intact schema</vt:lpstr>
      <vt:lpstr>③ SHARE</vt:lpstr>
      <vt:lpstr>Share — publishing to standards portals</vt:lpstr>
      <vt:lpstr>Status vs. Statement of Work</vt:lpstr>
      <vt:lpstr>What's next</vt:lpstr>
      <vt:lpstr>From 11 raw sources to one living, versioned, served database.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Ben Best</cp:lastModifiedBy>
  <cp:revision>4</cp:revision>
  <dcterms:created xsi:type="dcterms:W3CDTF">2017-02-13T16:18:36Z</dcterms:created>
  <dcterms:modified xsi:type="dcterms:W3CDTF">2026-06-08T03:54:38Z</dcterms:modified>
  <cp:category/>
</cp:coreProperties>
</file>