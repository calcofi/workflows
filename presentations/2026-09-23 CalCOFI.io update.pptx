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6913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This is the update since the 8 September data meeting — about two weeks of work, two database releases (v2026.09.10 and v2026.09.11, each with its own Zenodo DOI), and one question behind all of it: can someone recognize what is in the database, where it was taken, and whether to trust it? Everything on the slides reads release v2026.09.11 (2026-09-11): 23 tables, 362 M parquet rows, 1,008 species of 1,506 taxa observed (2,410 species pages with their ancestors), 89 measurements in 94 series from 5 datasets, 325 M measurement values counting the full-resolution CTD and underway tables. DOI 10.5281/zenodo.22714951. Screenshots of calcofi.io are from a local build of CalCOFI.github.io main (1e1ffe0, 2026-09-16) reading the same release, light theme; the ctd-transects shots are the app's own static builds at the commits named on those slides. Sources: the release strip and numbers band of calcofi.io; RELEASES.md § v2026.09.10 and § v2026.09.11; workflows commits d0d2d83 and ebe3f66 (the DOIs).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talk, as a story in four stations. 1 Name: the database had 349 M rows and a list of datasets; now every organism and every measurement has its own page with a face — this is most of the new work and where I most want your reactions (slides 3–16, with two slides of explicit questions at 15–16). 2 Place: the climatology and the sections were keyed on the 218 grid cells, which near shore hold several real stations; they now key on the station, and the coast comes into focus (17–20). 3 Trust: the CTD's sensor averages are rebuilt by the rule Rasmus set, and the quality codes and the EDI plan were settled with Rasmus and Marina (21–23). 4 Next: the two to-dos — one colour language for sections across the Explorer and ctd-transects, and the CTD cast dataset update — then decisions and asks with owners (24–29). Two releases landed: v2026.09.10 (DOI 10.5281/zenodo.22698724) and v2026.09.11 (DOI 10.5281/zenodo.22714951).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on 9/9 what the 349 M rows actually are. Measured on v2026.09.06: 316 M were environmental measurements (obs_env plus the two full-resolution tables, 90.7 %), 1.26 M were organism observations (0.36 %), 26 M were the obs compatibility copy counted twice and 4.8 M everything else. So the band now says what people recognize: 77 years · 842 cruises · 218 stations · 1,008 species · 1.3 M organism observations · 325 M measurements (on v2026.09.11), each with a tooltip that carries the breakdown. The release tile keeps rows because it describes the release object. Species, not taxa: 1,008 taxa at species rank, of 1,506 observed; the Life tile says '1,008 species of 1,506 taxa'. The header is six words (Data · Apps · Access · Build · Docs · News) with submenus; Students folded into Apps; the lockup reads CalCOFI.io and product titles are the product's own name (Explorer, Query, Schema, ERDDAP, Docs) across the fleet since 9/11. The release entry in the ship's log links RELEASES.html#v2026.09.11 — 28 of 30 version headings are anchored. Sources: plan 2026-09-09 'Landing follow-ups' § Rows and § Measured (R1, S0, N1, N2); CalCOFI.github.io commits aa1837a, 1de48dd, 3b0c756, 7a6225a, c3d7ea7.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section is now three tabs — Datasets (16), Species (1,008) and Measurements (89) — each with its own catalog page, and one search box above them queries all three indexes. Typing 'sardine' lists 3 of the 33 datasets and holdings (CUFES fish eggs, and the two Hopkins Monterey Bay datasets whose descriptions mention sardines) and 1 of 2,410 species (Sardinops sagax, Pacific sardine, 62,898 obs in 2 datasets); a result is a row you can open, and on the Species or Measurements tab the query writes a selectable list into the tab itself. Each dataset row now wears a licence chip of its own look: CC BY 4.0 on 3, CC0 or public domain on 1, provider terms on 6, and unstated on 6 — none says 'custom' any more; that unstated six is the licence gap from last meeting, still open. Homed rows show their variables or taxa behind an expander ('26 variables ▸', '37 taxa ▸'). The What's observed tile (right) links both new catalogs. Sources: plan 2026-09-10 'Measurements catalog' D7; plan 2026-09-15 'faces round 2' WS-R4 (D2, D3, D4, D5) and § Measured; CalCOFI.github.io commits 7a6225a, 00571e3.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species catalog in one picture: ten of its pages, their photos exactly as the pages show them (800 px cached thumbnails on the public bucket, never hot-linked), with the credit and licence each page prints. There are 2,410 pages: the 1,506 taxa observed plus the 904 ancestors that roll them up, so Sebastes rolls up its 30 species and Clupeiformes the sardine, anchovy and herrings; 1,008 are at species rank. The licence policy you agreed on 9/11: take CC0, public domain, CC BY, CC BY-SA; take non-commercial (BY-NC, BY-NC-SA) but rank it last and label it; never ND; never Macaulay, FishBase or WoRMS photos without a written yes. One to look at: the Pacific krill page shows a hatching nauplius (100 µm scale bar) rather than an adult — a real Commons photo of the species, but is a life-stage photo what we want? Credits (from taxa_media.json): sardine, harum.koh (iNat 1339276, CC BY-SA 4.0); anchovy, NOAA/NURP (public domain); hake, NOAA Photo Library (public domain); Sebastes, Chad King SIMoN/MBNMS (public domain); market squid, Jackie H (iNat 78557836, CC BY 4.0); krill, Dr. Jaime Gómez-Gutiérrez (CC BY-SA 3.0); spiny lobster, DrKjaergaard assumed (CC BY-SA 2.5); Dungeness crab, Dan Boone (public domain); sooty shearwater, Don Loarie (iNat 157612, CC BY 4.0); humpback whale, Dr. Louis M. Herman (public domain).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/species/ index answers the question you asked on 9/9 — which species are observed in which datasets. The tree (left): kingdom to species, folded by default to the major ranks (kingdom, phylum, class, order, family, genus, species; ?ranks=all shows every WoRMS rank) after your first live review found a species twelve indents deep; either pane expands to the full width; phylum and class silhouettes since 9/11; the two authorities are merged where they name the same rank (birds through ITIS, everything else through WoRMS). The matrix (right, top rows shown): 24 rows — 22 classes by phylum, plus 'identified above class' and dataset-local classes — × 10 datasets, one sequential ramp, the count in each cell; hover names the top three taxa, click filters the tree; dataset colour is never the only cue. Head numbers: 1,008 species · 1,506 taxa observed · 10 datasets · 1,257,902 observations · 2,410 pages. Sources: plan 2026-09-09 'Landing follow-ups' D5, D6, D8 and § Measured (S2, S3, the tree follow-up); CalCOFI.github.io 086801e, 44e3235, 9de15ea.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parts of the species index. The hierarchy: a horizontal partition — kingdom, phylum, class, order, family — sized by observations (the default) or by species, click a band to zoom into a clade and a breadcrumb to climb out; it shows at a glance that Chordata dominates the observations and that diatoms and dinoflagellates come from one dataset. Search: it matches scientific and common names and dataset names as you type, with ?q= in the URL; round 2 (your 9/15 review) added a flat Matches list above the tree — up to 50 rows, sorted by observations, in the same row shape as the front door's results — because in a 2,410-taxon tree it was not discernible which rows were the matches. Machine-readable: each of the 2,410 pages carries schema.org Taxon JSON-LD (checked by check_jsonld.py), has a {slug}.json twin, and /species/sitemap.xml lists 2,411 URLs; the root sitemap is per catalog. Candidate to drop if the pages feel heavy: the icicle — see slide 16. Sources: plan 2026-09-09 'Landing follow-ups' D8.3 and § Measured S2, S3; plan 2026-09-15 finding I2 and WS-R5.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ask on 9/11: the species pages were dry. Every page now has a face: the constant is the PhyloPic silhouette in the page's ink (2,396 of 2,410 pages, 99.4 %; the 14 misses are nameless taxa; 381 stand in from more than two ranks up and say so, as here: drawn from Sardinops melanostictus); the enrichment is a licensed photo in one frame with one radial fade, full colour (2,082 pages, 86.4 %: iNaturalist 1,455, Commons 403, GBIF 224; licences CC BY-NC 4.0 732, CC BY 4.0 623, public domain 334, CC BY-SA 114, NC-SA 90). The size glance puts the taxon's maximum length beside the nearest familiar reference (718 taxa, 29.8 %, lengths from FishBase / SeaLifeBase / WoRMS). The sentence borrows Wikipedia's lead (CC BY-SA, linked to the revision; text on 1,566 pages) and adds the record's own sentence; since round 2 each part carries a small source badge (W, R) instead of coloured underlines and a legend. Observations beside records: n_present (value &gt; 0) vs n_obs (rows), because CUFES, phytoplankton, phyllosoma, crab and ZooDB carry zero counts — sardine 23,969 observations of 62,898 records. A 30-page hand review found five photos that were not the organism (an Alcatraz building for the western gull …) and one wrong silhouette (a water mite for Leach's storm petrel); causes fixed, six overrides in rank_override.csv. Coverage numbers are from the 2026-09-11 media run on v2026.09.10. Sources: plan 2026-09-11 'Species faces' D1–D9 and § Measured (F3, F6, LIVE); RELEASES.md § taxa.json 1.1.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 face, the record. Observed in: one row per dataset — observations, sampling events, years, life stages — ending in the name that dataset uses, with a quiet pill where it is not the accepted name (synonym, sp. → genus, re-keyed, code only), and a years strip, one row per dataset. How big is it: a log ladder 10 µm → 100 m with six sourced references (a human hair, the bongo net mesh, a US quarter, the bongo ring, a person, R/V Reuben Lasker) and the taxon's marks under the axis — for fishes the egg, hatching, flexion and transformation lengths from FishBase — then the silhouette to scale beside the nearest reference ('2 of them, nose to tail, would span the bongo net ring'); no length on record means nothing is drawn, never a typed number. The larval plate: for the 158 fishes the AFSC Ichthyoplankton Information System covers, the plate from Matarese, Kendall, Blood and Vinter 1989 (NOAA Tech. Rep. NMFS 80), public domain; a courtesy email to AFSC was drafted. Ways in: Explorer (prefilled ?taxon=) and db-query (a prefilled SELECT … FROM obs_bio) as buttons, then ERDDAP · R · Python · JSON as a tabset since round 2 — the page as data is {slug}.json. Sources: plan 2026-09-11 'Species faces' D3, D5; plan 2026-09-09 D8.4; plan 2026-09-15 WS-R5 (P1–P3).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ask on 9/10: the environmental analogue of Species. /measurements/ lists everything measured in the water and the air above it: 89 measurements, 94 series, 5 datasets, 30 M values at the release grain (obs_env) and 325 M counting the full-resolution CTD and underway tables, 51 with a NERC P01 concept. The crosswalk rule: two datasets' series share one measurement page only where (i) the NERC P01 concept is identical, (ii) the units match or convert by declaration, (iii) the samples are the same kind (cast profile with cast profile) and (iv) they are not plausibly the same physical samples. So the bottle dataset's temperature and the CTD's temperature_ave are one page, Temperature; the CTD files' own btl_* series stay their own keys (they are probably the same bottles, which would count them twice), and replicates stay apart as questions to providers. Labels live in a registry, metadata/variable.csv, read with read_variable(). The index shows the category × dataset matrix, the datasets list, and the centrepiece timeline — one row per measurement grouped by category, one bar per dataset first to last year, then units, datasets, values, depth — with search and category chips. Picoplankton still appear here as 4 measurements; at the next release they move to Species (obs_bio, 60,802 rows keyed by WoRMS), taking this to 85 keys / 90 series. Sources: plan 2026-09-10 'Measurements catalog' D1–D5 and § Measured; RELEASES.md § measurements.json and # Unreleased; calcofi4db 4.12.0.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ask on 9/11: give measurements a face — what is measured, how, and why it matters for the ocean's health. The face row is three columns. What: by what NERC says the thing is — for a property like temperature, the scale face: the variable's own cmocean ramp (thermal here) over the registry's declared bounds (−2 … 40 °C), the record's 5–95 % window (4.7–18.2 °C for the bottles) and sourced familiar marks (seawater of S 35 freezes at −1.91 °C, computed with gsw; a human body 37 °C). How: one card per series from the method registry (instrument, principle, precision), with a pin that links calcofi.org's method page at a text fragment, like the front door's pins — 81 of the 89 pages carry it since round 2 fixed a column-name bug that meant no page had ever linked calcofi.org. Why: the per-band anomaly against the release's own 1993–2013 climatology, 1984–2021 trend, strong El Niño years from NOAA's ONI shaded; the head's spark is the band with the most values (200–500 m, +0.06 °C per decade), drawn to its own ±0.55 °C. The sentence: CalCOFI's numbers (R badge) plus one cited 'why' (C badge) — Bond et al. 2015 here — with 'other ways to say why · 3' folded. The stats: 1,575,559 values · 575 flagged · 45,019 sampling events · 1949–2026 · 2 datasets · 0–5,351 m · every month. Sources: plan 2026-09-11 'Measurement faces' D1–D7 and § Measured (WS-MF1–MF4); plan 2026-09-15 WS-R2, WS-R3; calcofi4db 4.15.0 (measurements.json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faces and a fallback, chosen by what NERC says the thing is. Structure (26 keys with a concept): the entity reached only by identity, P01 → S27 → ChEBI, ChEBI's molfile drawn by RDKit in the page's ink — no image from Commons or PubChem ('draw ourselves', your 9/11 answer); 53 keys end up with a drawn structure, 56 ChEBI records. Composition (13): salinity as TEOS-10's mass fractions — 34.02 g of ions per kilogram at the record's median salinity, Cl⁻ 55.0 %, Na⁺ 30.7 % —; DIC as CO₂ + HCO₃⁻ + CO₃²⁻ at the record's surface medians (PyCO2SYS 1.8.3). Scale (10): a property's familiar scale — pH on the universal indicator strip, wind on Beaufort cells. Organism (2): picoplankton reach their species face. Of the 38 keys without a P01, 19 borrow the face of what they estimate with a 'stands in' chip and no borrowed ids, 16 show only their scale, and one (uws_flow) shows nothing. Every familiar mark is sourced in measurement_scale.csv; computed ones name their function and inputs and are recomputed at build (gsw.t_freezing, gsw.O2sol, PyCO2SYS). Worth seeing live: dissolved oxygen, −7.26 µmol/kg per decade at 200–500 m since 1984. Polish seen while making this slide: the pH strip's labels crowd ('2020' over 'pure water', the arrow on '14 pH'). Sources: plan 2026-09-11 'Measurement faces' D1–D3, D7, § Measured WS-MF1, WS-MF4; the probe numbers in § Measured.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 face, two columns as concepts since round 2: the measurement (measured in, structure, how, why) and the record (ways in, depth, month, quality, related, cite). Measured in: one row per series — Hydrographic Bottle temperature (884,400 values, 1949–2021, source column t_deg_c, flag column t_qual, 575 flagged) and CTD Cast Files temperature_ave (691,159 values, 1993–2026, source temp_ave, a sensor mean with no flag at this grain because it is rebuilt from the flagged sensors) — plus a years strip. The record's own history: the anomaly per depth band against the 1993–2013 normal, own scale per band by default (a toggle gives one shared scale), trend since 1984 per band, El Niño years shaded, one-cruise years faded. Ways in: Explorer on ?var=, Explorer's depth section vs normal, db-query with the query in the shell, then ERDDAP per series · Parquet through the catalog · R · Python · JSON as a tabset. By depth (eight bands, one bar per dataset), by month, and Range &amp; quality as one chip line — bounds −2 … 40 °C · observed 1.44 … 36.22 °C · flagged 575 · climatology ✓ — with the details folded. Related measurements (Bottle temperature from the CTD files' own bottles, kept apart with the reason) and Cite close the page. Sources: plan 2026-09-15 WS-R3 and § Measured; CalCOFI.github.io 92eb07d.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review on 9/15: the realized faces fell short of the mockup and every page was overwhelming with text. Round 2 is a register of 24 findings over six pages (measurement page, measurement face, species page, species index, datasets, a dataset page) and six idioms applied everywhere: a count or a state is a pill and its explanation opens behind an ⓘ (the four-line heads-up became the flagged stat); parallel alternatives are a tabset (ways in, methods, access); a fact lives in one place and the second place links (What it is and Where in the water column dropped); a figure has a ramp or an axis, labels and a hover (the spark got its band's own scale, 2.20 → 0.55 °C, and year ticks); a licence wears its own chip; and one rule on every page. Result: temperature's page 6,604 → 3,589 px at 1280 wide; front door DATA section 3,117 → 2,948 px. Found on the way: how_rows() read registry columns the record does not carry, so no page had ever linked calcofi.org (now 81 of 89); and the Explorer's defaultRamp() matched sigma_theta to thermal and wind direction to speed (fixed in explore beec8cf, mirrored on the site). Five workstreams ran in parallel branches (ws-r1 … ws-r5, plus explore ws-r6) and merged 9/16 as landing PR #25 and Explorer PR #11. Before shots: the live site on 9/15; after: local build of main on v2026.09.11. Sources: plan 2026-09-15 'faces round 2' findings M1–M14, D1–D5, S1–S2, P1–P3, I1–I2 and § Measured.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two discussion slides — the question you raised: which quotations to use and which to drop. Every measurement page says why it matters in one sentence, the pick, and folds the rest under 'other ways to say why · n' (nitrate, left, has five). The registry, measurement_why.csv, has 422 rows over 88 of 89 keys: 88 rank-1 picks across 29 concepts, all authored (drafted with Claude) and each cited — 22 new BibTeX entries, every DOI resolving and every abstract read; alternatives are 117 more authored lines (an uncited one is labelled 'needs a citation before it can be the pick'), 146 Wikipedia leads (CC BY-SA 4.0, linked to the revision), 69 GOOS questions quoted from the Essential Ocean Variable specification sheets (4 of the 8 sheets carry no scientific question, so those keys link the sheet), and 2 in calcofi.org's own words. The plan set no human review gate — that is question 1. Question 2: Wikipedia — nitrate's 'Upwelling' alternative renders as a bare title with no lead, and on species pages the sardine's lead sentence describes the genus Sardinops (Wikipedia has no species article); keep, flag, or drop? 3: GOOS questions as-is? 4: would calcofi.org's web team write one sentence per method or measurement, so the pick can be CalCOFI's own words? Sources: plan 2026-09-11 'Measurement faces' D5 and § Measured WS-MF2; workflows metadata/measurement_why.csv (counted 2026-09-23).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discussion slide: is it too much or too little, and should there be other searches or styles? Length at 1440 px wide (the local build): the sardine page is about 2,550 px, temperature about 2,920 px (3,589 px at 1280 wide after round 2). Candidates to fold: the How big ladder and the larval plate behind a tab on species pages; the icicle on the species index (the tree and matrix already answer 'which species in which dataset'). Candidates to add: a map, which the pages deliberately left out because the Explorer is one click away. Other ways in, none built: by place ('what was counted or measured at station 90.30', opening the Explorer on that station), by life stage (egg, larva, juvenile, adult) and season, by question (the GOOS / EOV questions as a doorway into measurements), and a compare-two page. Style: photo-first vs silhouette-first; life-stage photos — the Pacific krill page shows a hatching nauplius (a real photo of the species, not an adult). Polish noticed while shooting these slides from a local build of main on v2026.09.11: the pH strip's '2020' label sits over 'pure water' and the arrow over '14 pH'; temperature's familiar mark label truncates to 'seawater fr…'; the wind page's method pin reads 'not found on calcofi.org' (the underway page on calcofi.org is a client-rendered shell); picoplankton are listed as 4 measurements until the next release moves them to obs_bio. Sources: the page lengths are the local build's full-page heights; plan 2026-09-15 § Measured; RELEASES.md # Unreleased.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 while answering Rasmus on 9/9 about the calmer contours. grid_key is a point-in-polygon into the 218 cells of the CalCOFI grid, and the inshore cells of the core lines are ~2,350 km² boxes that hold two to five real stations, all occupied every cruise since 2004 — st30-ln90 holds 90.30, 90.28, 90.27.7 (a SCCOOS station) and 88.5/30.1. ctd-transects did QUALIFY row_number() OVER (PARTITION BY cruise_key, grid_key) = 1, keeping whichever station the ship reached first: 1,595 of 9,637 CTD occupations (16.6 %) never drew, 26.1 % on line 90 since 2004 (23.8 % line 83.3, 17.8 % line 86.7, 16.7 % line 93.3), almost all within 30 km of the coast. Meanwhile the Explorer's Sections lens averaged the casts in a cell and build_climatology() pooled them into one baseline cell — three products, three different answers exactly where the gradient is steepest. Rasmus's reply: 'A SCCOOS station is very different from a deep water station like 90-30' — keep them separate. Also closed on the way: the earlier climatology non-determinism was fixed in calcofi4db 4.1.1 and shipped in v2026.09.06. Sources: plan 2026-09-09 'Next two weeks' § The coast (measured on v2026.09.06); RELEASES.md v2026.09.10 § The climatology and the sections key on the station; the 'Next Two Weeks Tasks' thread (9/9); CalCOFI/workflows#86.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to key sections and the climatology on the real station and keep the grid cell for maps and hexagons. site_key has one spelling everywhere — printf('%05.1f %05.1f', line, station), e.g. '090.0 028.0' — applied to every ingest's sample arm by append_sample() and gated at release by check_site_key_format(); v2026.09.06 had shipped 28 CTD casts carrying the source's own Sta_ID forms beside the canonical one. The climatology table (computed once per release, shared by the Explorer, ctd-transects and the R/Python packages) is now grained on dataset × site_key × calendar month × 10 m bin × measurement type, with grid_key kept as the station's modal cell; a cell-level reader pools rows by grid_key weighted by clim_n and gets exactly the old value. Rasmus's review raised the floor to at least 5 distinct cruises per cell (577,113 of 768,880 cells survive, 75 %; 87 % of CTD temperature cells; the METS cells drop out) and asked to show how many cruises made the baseline — clim_n and n_cruises stay on every row. Measurement faces then carried the climatology to the bottom: 500 → 720 m, purely additive. Consumers moved in the same release: ctd-transects PR #3 and Explorer PR #10 (branches site-key) and calcofi4r 1.23.0 cc_climatology(); calcofi4db 4.10.0 (site_key) and 4.15.0 (to the bottom). Inshore anomalies move by up to about 1 °C at the surface. Sources: RELEASES.md v2026.09.10 (both sections) and # Unreleased § The climatology goes to the bottom; plan 2026-09-10 'Measurement faces' § Measured WS-MF3; calcofi4db dfb8d37a; docs eb6b591, 33f990d.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hero of the talk: the same section drawn by ctd-transects before and after — line 90, cruise 2024-08 (Sally Ride, preliminary CTD &amp; bottle), average temperature as an anomaly against the release's 1993–2013 climatology, zoomed with Plotly to 0–72 km offshore and 0–210 m, station labels redrawn larger. Before (the app's committed build of 2026-09-07, release v2026.09.06): the cruise showed 11 of 19 stations on line 90; the inshore grid cell kept one cast, drawn as station 30 at 0 km, against a baseline pooled over the cell at ≥ 3 cruises. After (the bot's refresh of 2026-09-12 on origin/main, release v2026.09.11): 14 of 22 stations; 28 and 27.7 (SCCOOS) draw as their own columns, station 30 sits at 16.7 km, each against its own station's normal at ≥ 5 cruises — and the upwelling-cold core right at the coast (−2 to −2.5 °C at 5–20 m) appears. Read the two x-axes carefully: distance is measured from the innermost station drawn, so 0 km is station 30 on the left and 27.7 on the right. Two things changed at once — the station key and the baseline (its grain and its 5-cruise floor) — which is why I say 'comes into focus' rather than attributing each degree. Shots: both apps served locally from their own committed public/ folders (commits 2c99d0f3 and f9529d82), 1440 px at 2×; the map panel is left out because it needs a CDN file. Link: the live app with this cruise.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Rasmus asked on 9/8 for more data streams on the transect plotter, then answered the three questions on 9/9: recompute the sensor mean ourselves with the flag rule (yes); chlorophyll and nitrate from the corrected sensor estimates, at both station- and cruise-corrected levels, oxygen likewise, not the discrete bottles; sensor-only preliminary cruises stay temperature-only because a drifting or uncalibrated sensor reads badly in an anomaly. The ingest side shipped in v2026.09.10 (ten corrected CTD series became canonical). Betty's side is PR #4 (branch ctd-1-sensor-pair), waiting for my review: variables gated per processing tier, the station- and cruise-corrected variants, the EstNO3 pair, the climatology minimum up from 3 to 5 cruises, a per-cell tooltip and a header badge for how many cruises made the baseline (Rasmus's 'show the n'), and fixed station-label crowding. Shot: the PR's committed build (release v2026.09.11), line 90, 2024-08, anomaly, served locally; the Where-this-is map is cropped out. Next, from Rasmus's 9/22 email: SigThetaTS1 and TS2 averaged unless one is flagged; spice (gsw_spiciness0) and relative geostrophic flow (dynamic height with a 500 dbar reference, velocities between station pairs, no anomalies because it is relative) — he sent an R sketch with the Gibbs SeaWater package; later a monthly vs seasonal normal toggle and a bottle-database baseline at observed depths. In the 9/16 meeting he said he wants to keep this simpler plotter alongside the Explorer for quick looks and the public during the developing El Niño. Also from 9/22: on 2607 some offshore stations drop out — Kelsey's corrected files should fix that once they are in the Drive folder. Sources: 'Next Two Weeks Tasks' thread (9/8, 9/9, 9/22, Betty 9/22); Tactiq '2026-09-16 CTD data on EDI discussion'.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CTD's canonical temperature, salinity and oxygen are averages of a sensor pair, and the files ship that average pre-computed. Since v2026.09.11 the ingest rebuilds every average (temperature_ave, salinity_ave_corr, oxygen_ml_l_ave_sta_corr, oxygen_umol_kg_ave_sta_corr) with the rule Rasmus set on 9/9, implemented once as calcofi4db::combine_sensor_pair() (4.11.0) with an SQL twin: a sensor flagged 8 (questionable) or 9 (bad) is left out; a 1 or 2 selects the primary or secondary; otherwise the mean; one sensor alone when the other is missing; the CTD team's accepted flags are applied to the sensors first. Until then the averages were repaired by physical bounds alone, which let a flagged sensor into the mean whenever its value was possible (1,425 temperature and 6,001 salinity averages in v2026.09.10) and could not see failures with no flag: on 1998-07-32NM and 2024-01-33UD SaltAve_Corr was exactly half of sensor 1 (≈ 17 PSU down to 1,041 m) and TempAve wrong by up to 10 °C; on 17 casts of 2003-04-31JD TempAve read 35–40 °C at 1–2 m beside a sensor at 12–14 °C. Predicted against v2026.09.10 by a dry run: temperature 34,923 changed, 238 filled, 1,434 removed; salinity 39,276 / 811 / 1,141; oxygen ml/L 2,656,233 changed and 1,135,319 filled; µmol/kg 3,529,141 filled. The corrected sensor series now carry their own flag in measurement_qual so any consumer can apply the same rule. What remains is single-sensor faults with no flag — the CTD team's to flag. Physical bounds declared at ingest since v2026.09.10: the 9,895 °C sea surface, the −99 flow, negative depths, 45.6 PSU and PAR fills (METS/CTD), and bottle nitrate −1…60 µmol/L. Sources: RELEASES.md v2026.09.11 § CTD averages rebuilt, § Bottle; v2026.09.10 § Six underway and CTD series declare their physical bounds.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Settled in the 9/16 'CTD data on EDI' meeting (Rasmus, Marina, Erin, Betty, me) and in Rasmus's answers in the CalCOFI questions Sheet on 9/17–18. Data stages: sample.data_stage carries three values, most advanced first — final (Final 1 m-binned), preliminary_with_bottle, preliminary_without_bottle — derived from the file name and verified against content; Rasmus confirmed the labels and that sensor-only preliminary data are fine on calcofi.io and calcofi.org but should not go to EDI (as of v2026.09.06: 113 final cruises 1993–2021, 16 with bottle 2021–2025, 5 sensor-only 2025–2026). EDI: follow the current CTD profile CSV (hydrography plus chlorophyll-a), add the unique identifier so users can link back to the portal database, CC BY 4.0 as used for the hydrographic data so far (Erin to check NOAA constraints), several tables in one package split by decade so an update replaces only the latest, quarterly or when a cruise reaches 'preliminary with bottle', handed to Marina for DataZoo, which generates the EML and uploads to EDI; she asked that column types stay stable between updates. Quality codes: 0 good, 1 and 2 which sensor was used, 3 observed (for PRODO, dark-bottle cruise average), 4 zeroed below detection, 5 and 6 depend on the column, 7 interpolated to a standard depth (not an observation); codes above 9 are impossible — S_qual on 2104 has 253 values from a spreadsheet drag — so turn any &gt; 9 into blank, meaning good for now, as a general rule. Out-of-range: absent, −99 filtered before averaging, unrealistic pH excluded (the new QC will look for it). Serve both the bottle's analytical value and the bottle-corrected sensor reading. Still open: which copy is authoritative for the 66 cruises that both the archive and calcofi.org publish (datetime is part of the de-duplication key) — a question for Jim Wilkinson, cc Rasmus, Kelsey and Ben G.; and the derived station-corrected oxygens that exceed bounds (up to 2.30e9 ml/L on some casts) — which cruises? DBcoeff files: yes, ingest first. Sources: Tactiq summary and transcript of the 9/16 meeting; Google Sheet comment notifications of 9/17 and 9/18.</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 Gire's update on 9/21–22: he and Kelsey are finishing the first cruise processed with the new software to a 'preliminary' stage this week. At Rasmus's request he shared the new format of what he calls the cruise_station_correction.csv files: 1 m bin-averaged CTD data, bottle data, and cruise- and station-corrected CTD data for every up and down cast. They added a quality-code column for every parameter the Cast Plotter draws, so any point can be flagged bad or questionable — the 27 on this slide (average temperature; both sensors' corrected and average salinity; both sensors' cruise- and station-corrected oxygen in ml/L and µmol/kg and their averages; estimated chlorophyll and nitrate at both correction levels; beam attenuation; potential temperatures; dynamic height; specific volume anomaly; oxygen saturation) — and every other column name is unchanged. His note: the attached example's values are a coding exercise and NOT QA-controlled. Rasmus said on 9/16 they will generate these going back at least to 2019, and asked that the EDI files account for the new columns. For the ingest: map each Q column to measurement_qual on its own series (the corrected series already carry their sensor's flag since v2026.09.11), apply the &gt; 9 → blank rule, and the sensor-pair rule and every consumer (Explorer, ctd-transects, calcofi4r/py qual_ok) pick the flags up with no change. Also asked of me: the PostgreSQL profile database — Rasmus wants to dive into it before the next meeting (9/22 email). Sources: 'CTD profile work updates?' thread (Erin 9/21, Ben G. 9/21 and 9/23, Rasmus 9/22); Tactiq 9/16 transcript.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1, from your list: harmonize the Explorer with ctd-transects so the same section paints the same picture. Today they disagree by design. The Explorer (src/ramps.ts, 2026-09-07 onward) borrows cmocean by variable, and since round 2's WS-R6 (explore 36f0022, beec8cf) every lens — map, contours, 2-D and 3-D sections, cruise calendar — resolves through one rule, lensRamp()/defaultRamp(): temperature thermal, salinity haline, oxygen ice, chlorophyll algae, σθ dense, nutrients tempo, PAR solar, biology viridis, and balance for any section anomaly. ctd-transects (public/app.js) chose two ramps by what a value is: a 5-stop blue–neutral–red diverging ramp for temperature (because 'blue = cold, red = warm is so deeply held') and for every anomaly with zero pinned, and one blue sequential ramp for salinity, density, oxygen and fluorescence. WS-R6 flagged it: the section anomaly ramp no longer byte-matches ctd-transects' RAMP_DIV. Proposal: ctd-transects reads the Explorer's ramp registry — the same stops through rampPlotly(), which already feeds the Explorer's Plotly section heatmap — so both apps paint a line, cruise and variable identically, and the choice lives in one file. The one real decision is Rasmus's: temperature values in thermal (the cmocean convention) or in blue–red as his readers expect; anomalies in balance either way. The bars on the slide are drawn from the two files' own stops. Sources: explore/src/ramps.ts; ctd-transects/public/app.js (RAMP_DIV_LIGHT, RAMP_SEQ, scaleFor); plan 2026-09-15 § Measured WS-R6 and Integrator follow-ups.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2: update the CTD cast dataset and its use to match the latest emails and the 9/16 conversation with Rasmus and Marina. In order: (1) ingest Ben Gire's new 1 m cruise_station_correction files, mapping the 27 Q columns to each series' flag — waits on his first preliminary cruise, expected this week; (2) add Rasmus's general rule that any quality code above 9 becomes blank (good for now) — the out-of-range-as-absent and −99-before-averaging rules are already in the ingest; (3) refresh cruise 2607 from Kelsey's corrected Prelim files — she could not replace them in the Google Drive folder and asked for access (email of 9/14) — then recheck the offshore stations Rasmus saw dropping in the plotter and the line 93 nearshore ones in the Explorer; (4) confirm how the integrated database composes a unique CTD record id (cast sequence, datetime, depth) and carry it into the EDI tables, as Rasmus asked on 9/16; (5) the first EDI package — final and preliminary-with-bottle only, split by decade into tables of one package, CC BY 4.0, handed to Marina via DataZoo, which needs PI, role, contact and methods metadata; (6) the DBcoeff family, which Rasmus said yes to first (135 files, 15,703 rows, one 43-column header; preliminary data have none yet); (7) write Jim Wilkinson about the archive vs calcofi.org copies (cc Rasmus, Kelsey, Ben G.); (8) a derived-products dataset once Rasmus sends the equations — mixed-layer depth, spice, relative geostrophic flow, σθ averages, depth of the chlorophyll-a maximum, integrated chlorophyll — he hoped for about two months, with the El Niño developing; (9) review and merge PR #4. Erin asked on 9/21 to have this moving before the next cruise leaves. Owners are my proposal. Sources: 'CTD profile work updates?', 'Next Two Weeks Tasks', 'Google Drive Access' threads; Sheet comments 9/17–18; Tactiq 9/16.</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Explorer changes since 9/8, mostly from your reviews on 9/9 and 9/10. The coast is a land mask: CARTO's water sinks under the sea floor and the data, and OpenStreetMap's land polygons draw over them, so the data are clipped at the real coast (built as a PMTiles reference layer by ingest_spatial.qmd; land is always on and no longer a row of the Layers card). The GEBCO gazetteer's undersea feature names are on from the start, above the data and out of the legend; island names come from CARTO's tiles, which carry them from zoom 8; both label families were toned down, each with its own opacity dial, and basemap=nolabels gives a data-only figure. The 3-D section curtain gained a camera column (rotate, tilt, compass), keyboard control, vertical exaggeration as a Layers row, the station grid drawn at the surface, and cam= in the URL so a view can be shared. The Sections lens keys stations on site_key (PR #10) and, since WS-R6, every lens takes the variable's cmocean ramp from one rule. The shot is the development capture of 2026-09-10 (explore/shots/tour/sections_3d.png) and shows the older 'CalCOFI' lockup, since changed to 'CalCOFI.io'. Sources: explore commits 4446e06, 14e5452, 761d2bf, 1c3f417, 047d693, 0b0a5f9, 7df3456, 9873f0e, aee0e8a, 16a9083, 36f0022; plan 2026-09-09 'Explorer reference layers'.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in one breath. Releases: v2026.09.10 (DOI 10.5281/zenodo.22698724: stations not cells, reference layers, measured keys, the taxa and measurements catalog records, publisher idempotence, dataset colours re-spread) and v2026.09.11 (DOI 10.5281/zenodo.22714951: CTD averages by the flag rule, bottle bounds, ammonium and METS categories, taxa.json 1.1); the deprecated obs parquet objects are being retired — v2026.09.10 announced it, seven readers were measured to break and are listed for fixing first, and obs stays the catalog view over obs_bio + obs_env. Publishers: a re-run over a frozen release is a hash comparison, only what changed is rebuilt, publish_status lists which portal is behind; on 9/12 EDI, OBIS and netCDF were rebuilt, ERDDAP redeployed and netCDF published on v2026.09.11. A weekly observer records what the portals say and regenerates the sitemap (9/14, 9/21). Server: ERDDAP refuses tabledap/griddap data requests with an empty query (the 9/8 outage), fail2ban is installed and version-controlled, and ERDDAP has CORS so DuckDB-WASM clients can read it (9/15). Packages: calcofi4r 1.24.2, calcofi4py 0.9.3, calcofi4db 4.15.0; the README examples of both client packages are now tests that gate a release. Team: about 75 old issues closed with a note on what superseded each, the old Management board closed, project board 5 'CalCOFI.io' with Betty's issues; the 16 dataset_meta proposals were reviewed against the record (#79), and ZooDB question Q05 answered (pooling regions are boundaries). Sources: RELEASES.md; workflows d0d2d83, ebe3f66, 4a3ce8f, 8f33e0b, 282ff48, d76c492, ff5ac10, c2b9ef6; server 0965ce1, ca368b0, 205a126; package NEWS.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lines, each with a proposed owner and a proposed answer on the table — the owners and answers are mine to propose and yours to change. 1 Quotations: a review pass on the 'why' picks by whoever owns each category, with Wikipedia kept as an alternative and never the pick. 2 Species photos and lead sentences: extend the 30-page hand review to the most observed taxa per class; an override is one row of rank_override.csv. 3 Scope: pick two of the options on slide 16; each becomes one pull request. 4 Ramp: both apps read the Explorer's ramps.ts; Rasmus chooses thermal or blue–red for temperature values. 5 The CTD's first EDI package, per the 9/16 meeting. 6 Archive vs calcofi.org copies: I write Jim Wilkinson, cc Rasmus, Kelsey and Ben G.; until he answers the ingest keeps preferring calcofi.org, which changes nothing for the 66 overlapping cruises. 7 Derived hydrographic products: once Rasmus sends the equations, a derived dataset beside the CTD casts so it can be downloaded and picked in the Explorer. 8 PR #4: I review and merge this week. Everything is on the GitHub board 'CalCOFI.io' (project 5).</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Said once, evenly: name it, place it, trust it. Every organism and every measurement has a page; every station is itself; every CTD average follows the provider's rule. Next is the CTD to EDI and one colour language across the apps — and your calls on slides 14 and 15 decide what the pages fold, drop or add. Then stop and listen.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shown in the deck, clickable, for the PDF. The calcofi.io pages were shot from a local build of CalCOFI.github.io main (1e1ffe0, 2026-09-16) on release v2026.09.11; the live site builds from the same commit. RELEASES.html anchors each version heading (#v2026.09.11, #v2026.09.10).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hyperlink" Target="https://calcofi.io/"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calcofi.io/" TargetMode="External"/><Relationship Id="rId5" Type="http://schemas.openxmlformats.org/officeDocument/2006/relationships/image" Target="../media/image17.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calcofi.io/#dataset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11.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hyperlink" Target="https://calcofi.io/species/" TargetMode="External"/><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calcofi.io/species/" TargetMode="External"/><Relationship Id="rId5" Type="http://schemas.openxmlformats.org/officeDocument/2006/relationships/image" Target="../media/image3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calcofi.io/species/?q=sardin"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calcofi.io/species/worms-217452/" TargetMode="External"/><Relationship Id="rId5" Type="http://schemas.openxmlformats.org/officeDocument/2006/relationships/image" Target="../media/image35.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hyperlink" Target="https://calcofi.io/species/worms-217452/" TargetMode="External"/><Relationship Id="rId3" Type="http://schemas.openxmlformats.org/officeDocument/2006/relationships/image" Target="../media/image11.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calcofi.io/measurement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calcofi.io/measurements/temperature/" TargetMode="External"/><Relationship Id="rId5" Type="http://schemas.openxmlformats.org/officeDocument/2006/relationships/image" Target="../media/image43.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hyperlink" Target="https://calcofi.io/measurements/nitrate/" TargetMode="External"/><Relationship Id="rId3" Type="http://schemas.openxmlformats.org/officeDocument/2006/relationships/image" Target="../media/image11.png"/><Relationship Id="rId7"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1.png"/><Relationship Id="rId7"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hyperlink" Target="https://calcofi.io/measurements/temperature/"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1.png"/><Relationship Id="rId7"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hyperlink" Target="https://calcofi.io/measurements/temperatur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calcofi.io/measurements/nitrate/" TargetMode="External"/><Relationship Id="rId5" Type="http://schemas.openxmlformats.org/officeDocument/2006/relationships/image" Target="../media/image59.png"/><Relationship Id="rId4" Type="http://schemas.openxmlformats.org/officeDocument/2006/relationships/image" Target="../media/image58.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calcofi.io/specie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github.com/CalCOFI/workflows/issues/86" TargetMode="External"/><Relationship Id="rId4" Type="http://schemas.openxmlformats.org/officeDocument/2006/relationships/image" Target="../media/image6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calcofi.io/docs/db.html" TargetMode="External"/><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calcofi.io/ctd-transects/?line=90&amp;cruise=2024-08-33P4&amp;var=temperature_ave&amp;mode=anomaly"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github.com/CalCOFI/ctd-transects/pull/4" TargetMode="External"/><Relationship Id="rId5" Type="http://schemas.openxmlformats.org/officeDocument/2006/relationships/image" Target="../media/image66.png"/><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storage.calcofi.io/calcofi-db/ducklake/releases/RELEASES.html#v2026.09.11" TargetMode="Externa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calcofi.io/datasets/calcofi_ctd-cast/" TargetMode="External"/><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calcofi.io/workflows/ingest_calcofi_ctd-cast.html" TargetMode="Externa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1.png"/><Relationship Id="rId7" Type="http://schemas.openxmlformats.org/officeDocument/2006/relationships/image" Target="../media/image71.png"/><Relationship Id="rId12" Type="http://schemas.openxmlformats.org/officeDocument/2006/relationships/hyperlink" Target="https://github.com/CalCOFI/explore/blob/main/src/ramps.ts"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hyperlink" Target="https://calcofi.io/datasets/calcofi_ctd-cast/" TargetMode="External"/><Relationship Id="rId4" Type="http://schemas.openxmlformats.org/officeDocument/2006/relationships/image" Target="../media/image67.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hyperlink" Target="https://calcofi.io/explore/?lens=section&amp;var=temperature&amp;line=90&amp;view=3d" TargetMode="External"/><Relationship Id="rId5" Type="http://schemas.openxmlformats.org/officeDocument/2006/relationships/image" Target="../media/image76.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11.png"/><Relationship Id="rId7"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hyperlink" Target="https://storage.calcofi.io/calcofi-db/ducklake/releases/RELEASES.html" TargetMode="External"/><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36.png"/><Relationship Id="rId9" Type="http://schemas.openxmlformats.org/officeDocument/2006/relationships/image" Target="../media/image81.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hyperlink" Target="https://github.com/orgs/CalCOFI/projects/5" TargetMode="External"/><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hyperlink" Target="https://calcofi.io/" TargetMode="External"/><Relationship Id="rId4"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68" b="-68"/>
          <a:stretch/>
        </p:blipFill>
        <p:spPr>
          <a:xfrm>
            <a:off x="0" y="5397500"/>
            <a:ext cx="12192000" cy="1460500"/>
          </a:xfrm>
          <a:prstGeom prst="rect">
            <a:avLst/>
          </a:prstGeom>
        </p:spPr>
      </p:pic>
      <p:pic>
        <p:nvPicPr>
          <p:cNvPr id="3" name="Image 1" descr="CalCOFI.io"/>
          <p:cNvPicPr>
            <a:picLocks noChangeAspect="1"/>
          </p:cNvPicPr>
          <p:nvPr/>
        </p:nvPicPr>
        <p:blipFill>
          <a:blip r:embed="rId4"/>
          <a:srcRect l="-78" r="-78"/>
          <a:stretch/>
        </p:blipFill>
        <p:spPr>
          <a:xfrm>
            <a:off x="812800" y="558800"/>
            <a:ext cx="2032000" cy="381000"/>
          </a:xfrm>
          <a:prstGeom prst="rect">
            <a:avLst/>
          </a:prstGeom>
        </p:spPr>
      </p:pic>
      <p:sp>
        <p:nvSpPr>
          <p:cNvPr id="4" name="Text 0"/>
          <p:cNvSpPr/>
          <p:nvPr/>
        </p:nvSpPr>
        <p:spPr>
          <a:xfrm>
            <a:off x="812800" y="12446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9FB0C8"/>
                </a:solidFill>
                <a:latin typeface="Source Sans 3" pitchFamily="34" charset="0"/>
                <a:ea typeface="Source Sans 3" pitchFamily="34" charset="-122"/>
                <a:cs typeface="Source Sans 3" pitchFamily="34" charset="-120"/>
              </a:rPr>
              <a:t>AN UPDATE SINCE THE 8 SEPTEMBER DATA MEETING · 2026-09-23</a:t>
            </a:r>
            <a:endParaRPr lang="en-US" sz="1300" dirty="0"/>
          </a:p>
        </p:txBody>
      </p:sp>
      <p:sp>
        <p:nvSpPr>
          <p:cNvPr id="5" name="Text 1"/>
          <p:cNvSpPr/>
          <p:nvPr/>
        </p:nvSpPr>
        <p:spPr>
          <a:xfrm>
            <a:off x="812800" y="1498600"/>
            <a:ext cx="10883392" cy="1569641"/>
          </a:xfrm>
          <a:prstGeom prst="rect">
            <a:avLst/>
          </a:prstGeom>
          <a:noFill/>
          <a:ln/>
        </p:spPr>
        <p:txBody>
          <a:bodyPr wrap="square" lIns="0" tIns="0" rIns="0" bIns="0" rtlCol="0" anchor="t">
            <a:normAutofit/>
          </a:bodyPr>
          <a:lstStyle/>
          <a:p>
            <a:pPr marL="0" indent="0" algn="l">
              <a:lnSpc>
                <a:spcPts val="6080"/>
              </a:lnSpc>
              <a:buNone/>
            </a:pPr>
            <a:r>
              <a:rPr lang="en-US" sz="6400" kern="0" spc="50" dirty="0">
                <a:solidFill>
                  <a:srgbClr val="E9EDF3"/>
                </a:solidFill>
                <a:latin typeface="Teko" pitchFamily="34" charset="0"/>
                <a:ea typeface="Teko" pitchFamily="34" charset="-122"/>
                <a:cs typeface="Teko" pitchFamily="34" charset="-120"/>
              </a:rPr>
              <a:t>CALCOFI.IO — WHAT LANDED</a:t>
            </a:r>
            <a:endParaRPr lang="en-US" sz="6400" dirty="0"/>
          </a:p>
          <a:p>
            <a:pPr marL="0" indent="0" algn="l">
              <a:lnSpc>
                <a:spcPts val="6080"/>
              </a:lnSpc>
              <a:buNone/>
            </a:pPr>
            <a:r>
              <a:rPr lang="en-US" sz="6400" kern="0" spc="50" dirty="0">
                <a:solidFill>
                  <a:srgbClr val="E9EDF3"/>
                </a:solidFill>
                <a:latin typeface="Teko" pitchFamily="34" charset="0"/>
                <a:ea typeface="Teko" pitchFamily="34" charset="-122"/>
                <a:cs typeface="Teko" pitchFamily="34" charset="-120"/>
              </a:rPr>
              <a:t>SINCE SEPT 8</a:t>
            </a:r>
            <a:endParaRPr lang="en-US" sz="6400" dirty="0"/>
          </a:p>
        </p:txBody>
      </p:sp>
      <p:sp>
        <p:nvSpPr>
          <p:cNvPr id="6" name="Text 2"/>
          <p:cNvSpPr/>
          <p:nvPr/>
        </p:nvSpPr>
        <p:spPr>
          <a:xfrm>
            <a:off x="812800" y="3175000"/>
            <a:ext cx="9810750" cy="60831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E9EDF3"/>
                </a:solidFill>
                <a:latin typeface="Source Sans 3" pitchFamily="34" charset="0"/>
                <a:ea typeface="Source Sans 3" pitchFamily="34" charset="-122"/>
                <a:cs typeface="Source Sans 3" pitchFamily="34" charset="-120"/>
              </a:rPr>
              <a:t>Every organism and every measurement gets a page · stations, not grid cells · CTD averages by the provider’s rules — and what we decide next.</a:t>
            </a:r>
            <a:endParaRPr lang="en-US" sz="1700" dirty="0"/>
          </a:p>
        </p:txBody>
      </p:sp>
      <p:sp>
        <p:nvSpPr>
          <p:cNvPr id="7" name="Shape 3"/>
          <p:cNvSpPr/>
          <p:nvPr/>
        </p:nvSpPr>
        <p:spPr>
          <a:xfrm>
            <a:off x="812800" y="4000500"/>
            <a:ext cx="10566400" cy="1231900"/>
          </a:xfrm>
          <a:prstGeom prst="roundRect">
            <a:avLst>
              <a:gd name="adj" fmla="val 6186"/>
            </a:avLst>
          </a:prstGeom>
          <a:solidFill>
            <a:srgbClr val="182B49"/>
          </a:solidFill>
          <a:ln/>
        </p:spPr>
        <p:txBody>
          <a:bodyPr/>
          <a:lstStyle/>
          <a:p>
            <a:endParaRPr lang="en-US"/>
          </a:p>
        </p:txBody>
      </p:sp>
      <p:sp>
        <p:nvSpPr>
          <p:cNvPr id="8" name="Shape 4"/>
          <p:cNvSpPr/>
          <p:nvPr/>
        </p:nvSpPr>
        <p:spPr>
          <a:xfrm>
            <a:off x="815975" y="4191000"/>
            <a:ext cx="0" cy="850900"/>
          </a:xfrm>
          <a:prstGeom prst="line">
            <a:avLst/>
          </a:prstGeom>
          <a:noFill/>
          <a:ln w="6350">
            <a:solidFill>
              <a:srgbClr val="34486B"/>
            </a:solidFill>
            <a:prstDash val="solid"/>
          </a:ln>
        </p:spPr>
        <p:txBody>
          <a:bodyPr/>
          <a:lstStyle/>
          <a:p>
            <a:endParaRPr lang="en-US"/>
          </a:p>
        </p:txBody>
      </p:sp>
      <p:sp>
        <p:nvSpPr>
          <p:cNvPr id="9" name="Text 5"/>
          <p:cNvSpPr/>
          <p:nvPr/>
        </p:nvSpPr>
        <p:spPr>
          <a:xfrm>
            <a:off x="996950" y="4191000"/>
            <a:ext cx="2328418" cy="457200"/>
          </a:xfrm>
          <a:prstGeom prst="rect">
            <a:avLst/>
          </a:prstGeom>
          <a:noFill/>
          <a:ln/>
        </p:spPr>
        <p:txBody>
          <a:bodyPr wrap="square" lIns="0" tIns="0" rIns="0" bIns="0" rtlCol="0" anchor="t">
            <a:normAutofit/>
          </a:bodyPr>
          <a:lstStyle/>
          <a:p>
            <a:pPr marL="0" indent="0" algn="l">
              <a:lnSpc>
                <a:spcPts val="3400"/>
              </a:lnSpc>
              <a:buNone/>
            </a:pPr>
            <a:r>
              <a:rPr lang="en-US" sz="3400" dirty="0">
                <a:solidFill>
                  <a:srgbClr val="FFCD00"/>
                </a:solidFill>
                <a:latin typeface="Teko" pitchFamily="34" charset="0"/>
                <a:ea typeface="Teko" pitchFamily="34" charset="-122"/>
                <a:cs typeface="Teko" pitchFamily="34" charset="-120"/>
              </a:rPr>
              <a:t>v2026.09.11</a:t>
            </a:r>
            <a:endParaRPr lang="en-US" sz="3400" dirty="0"/>
          </a:p>
        </p:txBody>
      </p:sp>
      <p:sp>
        <p:nvSpPr>
          <p:cNvPr id="10" name="Text 6"/>
          <p:cNvSpPr/>
          <p:nvPr/>
        </p:nvSpPr>
        <p:spPr>
          <a:xfrm>
            <a:off x="996950" y="4660900"/>
            <a:ext cx="2328418" cy="406400"/>
          </a:xfrm>
          <a:prstGeom prst="rect">
            <a:avLst/>
          </a:prstGeom>
          <a:noFill/>
          <a:ln/>
        </p:spPr>
        <p:txBody>
          <a:bodyPr wrap="square" lIns="0" tIns="0" rIns="0" bIns="0" rtlCol="0" anchor="t">
            <a:normAutofit/>
          </a:bodyPr>
          <a:lstStyle/>
          <a:p>
            <a:pPr marL="0" indent="0" algn="l">
              <a:lnSpc>
                <a:spcPts val="1500"/>
              </a:lnSpc>
              <a:buNone/>
            </a:pPr>
            <a:r>
              <a:rPr lang="en-US" sz="1200" kern="0" spc="50" dirty="0">
                <a:solidFill>
                  <a:srgbClr val="9FB0C8"/>
                </a:solidFill>
                <a:latin typeface="Source Sans 3" pitchFamily="34" charset="0"/>
                <a:ea typeface="Source Sans 3" pitchFamily="34" charset="-122"/>
                <a:cs typeface="Source Sans 3" pitchFamily="34" charset="-120"/>
              </a:rPr>
              <a:t>RELEASE · 23 TABLES · 362 M ROWS</a:t>
            </a:r>
            <a:endParaRPr lang="en-US" sz="1200" dirty="0"/>
          </a:p>
        </p:txBody>
      </p:sp>
      <p:sp>
        <p:nvSpPr>
          <p:cNvPr id="11" name="Shape 7"/>
          <p:cNvSpPr/>
          <p:nvPr/>
        </p:nvSpPr>
        <p:spPr>
          <a:xfrm>
            <a:off x="3438525" y="4191000"/>
            <a:ext cx="0" cy="850900"/>
          </a:xfrm>
          <a:prstGeom prst="line">
            <a:avLst/>
          </a:prstGeom>
          <a:noFill/>
          <a:ln w="6350">
            <a:solidFill>
              <a:srgbClr val="34486B"/>
            </a:solidFill>
            <a:prstDash val="solid"/>
          </a:ln>
        </p:spPr>
        <p:txBody>
          <a:bodyPr/>
          <a:lstStyle/>
          <a:p>
            <a:endParaRPr lang="en-US"/>
          </a:p>
        </p:txBody>
      </p:sp>
      <p:sp>
        <p:nvSpPr>
          <p:cNvPr id="12" name="Text 8"/>
          <p:cNvSpPr/>
          <p:nvPr/>
        </p:nvSpPr>
        <p:spPr>
          <a:xfrm>
            <a:off x="3619500" y="4191000"/>
            <a:ext cx="2328418" cy="457200"/>
          </a:xfrm>
          <a:prstGeom prst="rect">
            <a:avLst/>
          </a:prstGeom>
          <a:noFill/>
          <a:ln/>
        </p:spPr>
        <p:txBody>
          <a:bodyPr wrap="square" lIns="0" tIns="0" rIns="0" bIns="0" rtlCol="0" anchor="t">
            <a:normAutofit/>
          </a:bodyPr>
          <a:lstStyle/>
          <a:p>
            <a:pPr marL="0" indent="0" algn="l">
              <a:lnSpc>
                <a:spcPts val="3400"/>
              </a:lnSpc>
              <a:buNone/>
            </a:pPr>
            <a:r>
              <a:rPr lang="en-US" sz="3400" dirty="0">
                <a:solidFill>
                  <a:srgbClr val="FFCD00"/>
                </a:solidFill>
                <a:latin typeface="Teko" pitchFamily="34" charset="0"/>
                <a:ea typeface="Teko" pitchFamily="34" charset="-122"/>
                <a:cs typeface="Teko" pitchFamily="34" charset="-120"/>
              </a:rPr>
              <a:t>1,008</a:t>
            </a:r>
            <a:endParaRPr lang="en-US" sz="3400" dirty="0"/>
          </a:p>
        </p:txBody>
      </p:sp>
      <p:sp>
        <p:nvSpPr>
          <p:cNvPr id="13" name="Text 9"/>
          <p:cNvSpPr/>
          <p:nvPr/>
        </p:nvSpPr>
        <p:spPr>
          <a:xfrm>
            <a:off x="3619500" y="4660900"/>
            <a:ext cx="2328418" cy="406400"/>
          </a:xfrm>
          <a:prstGeom prst="rect">
            <a:avLst/>
          </a:prstGeom>
          <a:noFill/>
          <a:ln/>
        </p:spPr>
        <p:txBody>
          <a:bodyPr wrap="square" lIns="0" tIns="0" rIns="0" bIns="0" rtlCol="0" anchor="t">
            <a:normAutofit/>
          </a:bodyPr>
          <a:lstStyle/>
          <a:p>
            <a:pPr marL="0" indent="0" algn="l">
              <a:lnSpc>
                <a:spcPts val="1500"/>
              </a:lnSpc>
              <a:buNone/>
            </a:pPr>
            <a:r>
              <a:rPr lang="en-US" sz="1200" kern="0" spc="50" dirty="0">
                <a:solidFill>
                  <a:srgbClr val="9FB0C8"/>
                </a:solidFill>
                <a:latin typeface="Source Sans 3" pitchFamily="34" charset="0"/>
                <a:ea typeface="Source Sans 3" pitchFamily="34" charset="-122"/>
                <a:cs typeface="Source Sans 3" pitchFamily="34" charset="-120"/>
              </a:rPr>
              <a:t>SPECIES · OF 1,506 TAXA · 2,410 PAGES</a:t>
            </a:r>
            <a:endParaRPr lang="en-US" sz="1200" dirty="0"/>
          </a:p>
        </p:txBody>
      </p:sp>
      <p:sp>
        <p:nvSpPr>
          <p:cNvPr id="14" name="Shape 10"/>
          <p:cNvSpPr/>
          <p:nvPr/>
        </p:nvSpPr>
        <p:spPr>
          <a:xfrm>
            <a:off x="6061075" y="4191000"/>
            <a:ext cx="0" cy="850900"/>
          </a:xfrm>
          <a:prstGeom prst="line">
            <a:avLst/>
          </a:prstGeom>
          <a:noFill/>
          <a:ln w="6350">
            <a:solidFill>
              <a:srgbClr val="34486B"/>
            </a:solidFill>
            <a:prstDash val="solid"/>
          </a:ln>
        </p:spPr>
        <p:txBody>
          <a:bodyPr/>
          <a:lstStyle/>
          <a:p>
            <a:endParaRPr lang="en-US"/>
          </a:p>
        </p:txBody>
      </p:sp>
      <p:sp>
        <p:nvSpPr>
          <p:cNvPr id="15" name="Text 11"/>
          <p:cNvSpPr/>
          <p:nvPr/>
        </p:nvSpPr>
        <p:spPr>
          <a:xfrm>
            <a:off x="6242050" y="4191000"/>
            <a:ext cx="2328418" cy="457200"/>
          </a:xfrm>
          <a:prstGeom prst="rect">
            <a:avLst/>
          </a:prstGeom>
          <a:noFill/>
          <a:ln/>
        </p:spPr>
        <p:txBody>
          <a:bodyPr wrap="square" lIns="0" tIns="0" rIns="0" bIns="0" rtlCol="0" anchor="t">
            <a:normAutofit/>
          </a:bodyPr>
          <a:lstStyle/>
          <a:p>
            <a:pPr marL="0" indent="0" algn="l">
              <a:lnSpc>
                <a:spcPts val="3400"/>
              </a:lnSpc>
              <a:buNone/>
            </a:pPr>
            <a:r>
              <a:rPr lang="en-US" sz="3400" dirty="0">
                <a:solidFill>
                  <a:srgbClr val="FFCD00"/>
                </a:solidFill>
                <a:latin typeface="Teko" pitchFamily="34" charset="0"/>
                <a:ea typeface="Teko" pitchFamily="34" charset="-122"/>
                <a:cs typeface="Teko" pitchFamily="34" charset="-120"/>
              </a:rPr>
              <a:t>89</a:t>
            </a:r>
            <a:endParaRPr lang="en-US" sz="3400" dirty="0"/>
          </a:p>
        </p:txBody>
      </p:sp>
      <p:sp>
        <p:nvSpPr>
          <p:cNvPr id="16" name="Text 12"/>
          <p:cNvSpPr/>
          <p:nvPr/>
        </p:nvSpPr>
        <p:spPr>
          <a:xfrm>
            <a:off x="6242050" y="4660900"/>
            <a:ext cx="2328418" cy="406400"/>
          </a:xfrm>
          <a:prstGeom prst="rect">
            <a:avLst/>
          </a:prstGeom>
          <a:noFill/>
          <a:ln/>
        </p:spPr>
        <p:txBody>
          <a:bodyPr wrap="square" lIns="0" tIns="0" rIns="0" bIns="0" rtlCol="0" anchor="t">
            <a:normAutofit/>
          </a:bodyPr>
          <a:lstStyle/>
          <a:p>
            <a:pPr marL="0" indent="0" algn="l">
              <a:lnSpc>
                <a:spcPts val="1500"/>
              </a:lnSpc>
              <a:buNone/>
            </a:pPr>
            <a:r>
              <a:rPr lang="en-US" sz="1200" kern="0" spc="50" dirty="0">
                <a:solidFill>
                  <a:srgbClr val="9FB0C8"/>
                </a:solidFill>
                <a:latin typeface="Source Sans 3" pitchFamily="34" charset="0"/>
                <a:ea typeface="Source Sans 3" pitchFamily="34" charset="-122"/>
                <a:cs typeface="Source Sans 3" pitchFamily="34" charset="-120"/>
              </a:rPr>
              <a:t>MEASUREMENTS · 94 SERIES · 5 DATASETS</a:t>
            </a:r>
            <a:endParaRPr lang="en-US" sz="1200" dirty="0"/>
          </a:p>
        </p:txBody>
      </p:sp>
      <p:sp>
        <p:nvSpPr>
          <p:cNvPr id="17" name="Shape 13"/>
          <p:cNvSpPr/>
          <p:nvPr/>
        </p:nvSpPr>
        <p:spPr>
          <a:xfrm>
            <a:off x="8683625" y="4191000"/>
            <a:ext cx="0" cy="850900"/>
          </a:xfrm>
          <a:prstGeom prst="line">
            <a:avLst/>
          </a:prstGeom>
          <a:noFill/>
          <a:ln w="6350">
            <a:solidFill>
              <a:srgbClr val="34486B"/>
            </a:solidFill>
            <a:prstDash val="solid"/>
          </a:ln>
        </p:spPr>
        <p:txBody>
          <a:bodyPr/>
          <a:lstStyle/>
          <a:p>
            <a:endParaRPr lang="en-US"/>
          </a:p>
        </p:txBody>
      </p:sp>
      <p:sp>
        <p:nvSpPr>
          <p:cNvPr id="18" name="Text 14"/>
          <p:cNvSpPr/>
          <p:nvPr/>
        </p:nvSpPr>
        <p:spPr>
          <a:xfrm>
            <a:off x="8864600" y="4191000"/>
            <a:ext cx="2328418" cy="457200"/>
          </a:xfrm>
          <a:prstGeom prst="rect">
            <a:avLst/>
          </a:prstGeom>
          <a:noFill/>
          <a:ln/>
        </p:spPr>
        <p:txBody>
          <a:bodyPr wrap="square" lIns="0" tIns="0" rIns="0" bIns="0" rtlCol="0" anchor="t">
            <a:normAutofit/>
          </a:bodyPr>
          <a:lstStyle/>
          <a:p>
            <a:pPr marL="0" indent="0" algn="l">
              <a:lnSpc>
                <a:spcPts val="3400"/>
              </a:lnSpc>
              <a:buNone/>
            </a:pPr>
            <a:r>
              <a:rPr lang="en-US" sz="3400" dirty="0">
                <a:solidFill>
                  <a:srgbClr val="FFCD00"/>
                </a:solidFill>
                <a:latin typeface="Teko" pitchFamily="34" charset="0"/>
                <a:ea typeface="Teko" pitchFamily="34" charset="-122"/>
                <a:cs typeface="Teko" pitchFamily="34" charset="-120"/>
              </a:rPr>
              <a:t>325 M</a:t>
            </a:r>
            <a:endParaRPr lang="en-US" sz="3400" dirty="0"/>
          </a:p>
        </p:txBody>
      </p:sp>
      <p:sp>
        <p:nvSpPr>
          <p:cNvPr id="19" name="Text 15"/>
          <p:cNvSpPr/>
          <p:nvPr/>
        </p:nvSpPr>
        <p:spPr>
          <a:xfrm>
            <a:off x="8864600" y="4660900"/>
            <a:ext cx="2328418" cy="406400"/>
          </a:xfrm>
          <a:prstGeom prst="rect">
            <a:avLst/>
          </a:prstGeom>
          <a:noFill/>
          <a:ln/>
        </p:spPr>
        <p:txBody>
          <a:bodyPr wrap="square" lIns="0" tIns="0" rIns="0" bIns="0" rtlCol="0" anchor="t">
            <a:normAutofit/>
          </a:bodyPr>
          <a:lstStyle/>
          <a:p>
            <a:pPr marL="0" indent="0" algn="l">
              <a:lnSpc>
                <a:spcPts val="1500"/>
              </a:lnSpc>
              <a:buNone/>
            </a:pPr>
            <a:r>
              <a:rPr lang="en-US" sz="1200" kern="0" spc="50" dirty="0">
                <a:solidFill>
                  <a:srgbClr val="9FB0C8"/>
                </a:solidFill>
                <a:latin typeface="Source Sans 3" pitchFamily="34" charset="0"/>
                <a:ea typeface="Source Sans 3" pitchFamily="34" charset="-122"/>
                <a:cs typeface="Source Sans 3" pitchFamily="34" charset="-120"/>
              </a:rPr>
              <a:t>MEASUREMENT VALUES · 1.3 M ORGANISM OBS.</a:t>
            </a:r>
            <a:endParaRPr lang="en-US" sz="1200" dirty="0"/>
          </a:p>
        </p:txBody>
      </p:sp>
      <p:sp>
        <p:nvSpPr>
          <p:cNvPr id="20" name="Text 16"/>
          <p:cNvSpPr/>
          <p:nvPr/>
        </p:nvSpPr>
        <p:spPr>
          <a:xfrm>
            <a:off x="812800" y="5308600"/>
            <a:ext cx="719455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FB0C8"/>
                </a:solidFill>
                <a:latin typeface="Source Sans 3" pitchFamily="34" charset="0"/>
                <a:ea typeface="Source Sans 3" pitchFamily="34" charset="-122"/>
                <a:cs typeface="Source Sans 3" pitchFamily="34" charset="-120"/>
              </a:rPr>
              <a:t>Ben Best · Ocean Metrics · ben@oceanmetrics.io · data@calcofi.io · DOI 10.5281/zenodo.22714951</a:t>
            </a:r>
            <a:endParaRPr lang="en-US" sz="1300" dirty="0"/>
          </a:p>
        </p:txBody>
      </p:sp>
      <p:pic>
        <p:nvPicPr>
          <p:cNvPr id="21" name="Image 2" descr="preencoded.png"/>
          <p:cNvPicPr>
            <a:picLocks noChangeAspect="1"/>
          </p:cNvPicPr>
          <p:nvPr/>
        </p:nvPicPr>
        <p:blipFill>
          <a:blip r:embed="rId5"/>
          <a:srcRect/>
          <a:stretch/>
        </p:blipFill>
        <p:spPr>
          <a:xfrm>
            <a:off x="812800" y="5715000"/>
            <a:ext cx="279400" cy="279400"/>
          </a:xfrm>
          <a:prstGeom prst="rect">
            <a:avLst/>
          </a:prstGeom>
        </p:spPr>
      </p:pic>
      <p:pic>
        <p:nvPicPr>
          <p:cNvPr id="22" name="Image 3" descr="preencoded.png"/>
          <p:cNvPicPr>
            <a:picLocks noChangeAspect="1"/>
          </p:cNvPicPr>
          <p:nvPr/>
        </p:nvPicPr>
        <p:blipFill>
          <a:blip r:embed="rId6"/>
          <a:srcRect/>
          <a:stretch/>
        </p:blipFill>
        <p:spPr>
          <a:xfrm>
            <a:off x="1219200" y="5715000"/>
            <a:ext cx="279400" cy="279400"/>
          </a:xfrm>
          <a:prstGeom prst="rect">
            <a:avLst/>
          </a:prstGeom>
        </p:spPr>
      </p:pic>
      <p:pic>
        <p:nvPicPr>
          <p:cNvPr id="23" name="Image 4" descr="preencoded.png"/>
          <p:cNvPicPr>
            <a:picLocks noChangeAspect="1"/>
          </p:cNvPicPr>
          <p:nvPr/>
        </p:nvPicPr>
        <p:blipFill>
          <a:blip r:embed="rId7"/>
          <a:srcRect/>
          <a:stretch/>
        </p:blipFill>
        <p:spPr>
          <a:xfrm>
            <a:off x="1625600" y="5715000"/>
            <a:ext cx="279400" cy="279400"/>
          </a:xfrm>
          <a:prstGeom prst="rect">
            <a:avLst/>
          </a:prstGeom>
        </p:spPr>
      </p:pic>
      <p:pic>
        <p:nvPicPr>
          <p:cNvPr id="24" name="Image 5" descr="preencoded.png"/>
          <p:cNvPicPr>
            <a:picLocks noChangeAspect="1"/>
          </p:cNvPicPr>
          <p:nvPr/>
        </p:nvPicPr>
        <p:blipFill>
          <a:blip r:embed="rId8"/>
          <a:srcRect/>
          <a:stretch/>
        </p:blipFill>
        <p:spPr>
          <a:xfrm>
            <a:off x="2032000" y="5715000"/>
            <a:ext cx="279400" cy="279400"/>
          </a:xfrm>
          <a:prstGeom prst="rect">
            <a:avLst/>
          </a:prstGeom>
        </p:spPr>
      </p:pic>
      <p:pic>
        <p:nvPicPr>
          <p:cNvPr id="25" name="Image 6" descr="preencoded.png"/>
          <p:cNvPicPr>
            <a:picLocks noChangeAspect="1"/>
          </p:cNvPicPr>
          <p:nvPr/>
        </p:nvPicPr>
        <p:blipFill>
          <a:blip r:embed="rId9"/>
          <a:srcRect/>
          <a:stretch/>
        </p:blipFill>
        <p:spPr>
          <a:xfrm>
            <a:off x="2438400" y="5715000"/>
            <a:ext cx="279400" cy="279400"/>
          </a:xfrm>
          <a:prstGeom prst="rect">
            <a:avLst/>
          </a:prstGeom>
        </p:spPr>
      </p:pic>
      <p:pic>
        <p:nvPicPr>
          <p:cNvPr id="26" name="Image 7" descr="preencoded.png"/>
          <p:cNvPicPr>
            <a:picLocks noChangeAspect="1"/>
          </p:cNvPicPr>
          <p:nvPr/>
        </p:nvPicPr>
        <p:blipFill>
          <a:blip r:embed="rId10"/>
          <a:srcRect/>
          <a:stretch/>
        </p:blipFill>
        <p:spPr>
          <a:xfrm>
            <a:off x="2844800" y="5715000"/>
            <a:ext cx="279400" cy="279400"/>
          </a:xfrm>
          <a:prstGeom prst="rect">
            <a:avLst/>
          </a:prstGeom>
        </p:spPr>
      </p:pic>
      <p:pic>
        <p:nvPicPr>
          <p:cNvPr id="27" name="Image 8" descr="preencoded.png"/>
          <p:cNvPicPr>
            <a:picLocks noChangeAspect="1"/>
          </p:cNvPicPr>
          <p:nvPr/>
        </p:nvPicPr>
        <p:blipFill>
          <a:blip r:embed="rId11"/>
          <a:srcRect/>
          <a:stretch/>
        </p:blipFill>
        <p:spPr>
          <a:xfrm>
            <a:off x="3251200" y="5715000"/>
            <a:ext cx="279400" cy="279400"/>
          </a:xfrm>
          <a:prstGeom prst="rect">
            <a:avLst/>
          </a:prstGeom>
        </p:spPr>
      </p:pic>
      <p:pic>
        <p:nvPicPr>
          <p:cNvPr id="28" name="Image 9" descr="preencoded.png"/>
          <p:cNvPicPr>
            <a:picLocks noChangeAspect="1"/>
          </p:cNvPicPr>
          <p:nvPr/>
        </p:nvPicPr>
        <p:blipFill>
          <a:blip r:embed="rId12"/>
          <a:srcRect/>
          <a:stretch/>
        </p:blipFill>
        <p:spPr>
          <a:xfrm>
            <a:off x="3657600" y="5715000"/>
            <a:ext cx="279400" cy="279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THE ARC OF THIS UPDATE</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NAME IT, PLACE IT, TRUST IT — THEN DECIDE</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Shape 5"/>
          <p:cNvSpPr/>
          <p:nvPr/>
        </p:nvSpPr>
        <p:spPr>
          <a:xfrm>
            <a:off x="812800" y="2070100"/>
            <a:ext cx="2508250" cy="3003947"/>
          </a:xfrm>
          <a:prstGeom prst="roundRect">
            <a:avLst>
              <a:gd name="adj" fmla="val 3038"/>
            </a:avLst>
          </a:prstGeom>
          <a:solidFill>
            <a:srgbClr val="FFFFFF"/>
          </a:solidFill>
          <a:ln/>
        </p:spPr>
        <p:txBody>
          <a:bodyPr/>
          <a:lstStyle/>
          <a:p>
            <a:endParaRPr lang="en-US"/>
          </a:p>
        </p:txBody>
      </p:sp>
      <p:pic>
        <p:nvPicPr>
          <p:cNvPr id="10" name="Image 2" descr="preencoded.png"/>
          <p:cNvPicPr>
            <a:picLocks noChangeAspect="1"/>
          </p:cNvPicPr>
          <p:nvPr/>
        </p:nvPicPr>
        <p:blipFill>
          <a:blip r:embed="rId5"/>
          <a:srcRect/>
          <a:stretch/>
        </p:blipFill>
        <p:spPr>
          <a:xfrm>
            <a:off x="990600" y="2260600"/>
            <a:ext cx="330200" cy="330200"/>
          </a:xfrm>
          <a:prstGeom prst="rect">
            <a:avLst/>
          </a:prstGeom>
        </p:spPr>
      </p:pic>
      <p:sp>
        <p:nvSpPr>
          <p:cNvPr id="11" name="Text 6"/>
          <p:cNvSpPr/>
          <p:nvPr/>
        </p:nvSpPr>
        <p:spPr>
          <a:xfrm>
            <a:off x="1422400" y="2247900"/>
            <a:ext cx="991691"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82B49"/>
                </a:solidFill>
                <a:latin typeface="Teko" pitchFamily="34" charset="0"/>
                <a:ea typeface="Teko" pitchFamily="34" charset="-122"/>
                <a:cs typeface="Teko" pitchFamily="34" charset="-120"/>
              </a:rPr>
              <a:t>1 · Name</a:t>
            </a:r>
            <a:endParaRPr lang="en-US" sz="2800" dirty="0"/>
          </a:p>
        </p:txBody>
      </p:sp>
      <p:sp>
        <p:nvSpPr>
          <p:cNvPr id="12" name="Text 7"/>
          <p:cNvSpPr/>
          <p:nvPr/>
        </p:nvSpPr>
        <p:spPr>
          <a:xfrm>
            <a:off x="990600" y="2692400"/>
            <a:ext cx="2217230" cy="7112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A page for every organism and every measurement</a:t>
            </a:r>
            <a:endParaRPr lang="en-US" sz="1500" dirty="0"/>
          </a:p>
        </p:txBody>
      </p:sp>
      <p:sp>
        <p:nvSpPr>
          <p:cNvPr id="13" name="Text 8"/>
          <p:cNvSpPr/>
          <p:nvPr/>
        </p:nvSpPr>
        <p:spPr>
          <a:xfrm>
            <a:off x="990600" y="3467100"/>
            <a:ext cx="2217230" cy="1139627"/>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The Species and Measurements catalogs, each page with a </a:t>
            </a:r>
            <a:r>
              <a:rPr lang="en-US" sz="1300" b="1" dirty="0">
                <a:solidFill>
                  <a:srgbClr val="182B49"/>
                </a:solidFill>
                <a:latin typeface="Source Sans 3" pitchFamily="34" charset="0"/>
                <a:ea typeface="Source Sans 3" pitchFamily="34" charset="-122"/>
                <a:cs typeface="Source Sans 3" pitchFamily="34" charset="-120"/>
              </a:rPr>
              <a:t>face</a:t>
            </a:r>
            <a:r>
              <a:rPr lang="en-US" sz="1300" dirty="0">
                <a:solidFill>
                  <a:srgbClr val="182B49"/>
                </a:solidFill>
                <a:latin typeface="Source Sans 3" pitchFamily="34" charset="0"/>
                <a:ea typeface="Source Sans 3" pitchFamily="34" charset="-122"/>
                <a:cs typeface="Source Sans 3" pitchFamily="34" charset="-120"/>
              </a:rPr>
              <a:t>: what it is, how it is measured, why it matters.</a:t>
            </a:r>
            <a:endParaRPr lang="en-US" sz="1300" dirty="0"/>
          </a:p>
        </p:txBody>
      </p:sp>
      <p:sp>
        <p:nvSpPr>
          <p:cNvPr id="14" name="Text 9"/>
          <p:cNvSpPr/>
          <p:nvPr/>
        </p:nvSpPr>
        <p:spPr>
          <a:xfrm>
            <a:off x="990600" y="4670227"/>
            <a:ext cx="2217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slides 3–16</a:t>
            </a:r>
            <a:endParaRPr lang="en-US" sz="1200" dirty="0"/>
          </a:p>
        </p:txBody>
      </p:sp>
      <p:sp>
        <p:nvSpPr>
          <p:cNvPr id="15" name="Shape 10"/>
          <p:cNvSpPr/>
          <p:nvPr/>
        </p:nvSpPr>
        <p:spPr>
          <a:xfrm>
            <a:off x="3498850" y="2070100"/>
            <a:ext cx="2508250" cy="3003947"/>
          </a:xfrm>
          <a:prstGeom prst="roundRect">
            <a:avLst>
              <a:gd name="adj" fmla="val 3038"/>
            </a:avLst>
          </a:prstGeom>
          <a:solidFill>
            <a:srgbClr val="FFFFFF"/>
          </a:solidFill>
          <a:ln/>
        </p:spPr>
        <p:txBody>
          <a:bodyPr/>
          <a:lstStyle/>
          <a:p>
            <a:endParaRPr lang="en-US"/>
          </a:p>
        </p:txBody>
      </p:sp>
      <p:pic>
        <p:nvPicPr>
          <p:cNvPr id="16" name="Image 3" descr="preencoded.png"/>
          <p:cNvPicPr>
            <a:picLocks noChangeAspect="1"/>
          </p:cNvPicPr>
          <p:nvPr/>
        </p:nvPicPr>
        <p:blipFill>
          <a:blip r:embed="rId6"/>
          <a:srcRect/>
          <a:stretch/>
        </p:blipFill>
        <p:spPr>
          <a:xfrm>
            <a:off x="3676650" y="2260600"/>
            <a:ext cx="330200" cy="330200"/>
          </a:xfrm>
          <a:prstGeom prst="rect">
            <a:avLst/>
          </a:prstGeom>
        </p:spPr>
      </p:pic>
      <p:sp>
        <p:nvSpPr>
          <p:cNvPr id="17" name="Text 11"/>
          <p:cNvSpPr/>
          <p:nvPr/>
        </p:nvSpPr>
        <p:spPr>
          <a:xfrm>
            <a:off x="4108450" y="2247900"/>
            <a:ext cx="1012329"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82B49"/>
                </a:solidFill>
                <a:latin typeface="Teko" pitchFamily="34" charset="0"/>
                <a:ea typeface="Teko" pitchFamily="34" charset="-122"/>
                <a:cs typeface="Teko" pitchFamily="34" charset="-120"/>
              </a:rPr>
              <a:t>2 · Place</a:t>
            </a:r>
            <a:endParaRPr lang="en-US" sz="2800" dirty="0"/>
          </a:p>
        </p:txBody>
      </p:sp>
      <p:sp>
        <p:nvSpPr>
          <p:cNvPr id="18" name="Text 12"/>
          <p:cNvSpPr/>
          <p:nvPr/>
        </p:nvSpPr>
        <p:spPr>
          <a:xfrm>
            <a:off x="3676650" y="2692400"/>
            <a:ext cx="22172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Stations, not grid cells</a:t>
            </a:r>
            <a:endParaRPr lang="en-US" sz="1500" dirty="0"/>
          </a:p>
        </p:txBody>
      </p:sp>
      <p:sp>
        <p:nvSpPr>
          <p:cNvPr id="19" name="Text 13"/>
          <p:cNvSpPr/>
          <p:nvPr/>
        </p:nvSpPr>
        <p:spPr>
          <a:xfrm>
            <a:off x="3676650" y="3009900"/>
            <a:ext cx="2217230"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The climatology and the sections key on </a:t>
            </a:r>
            <a:r>
              <a:rPr lang="en-US" sz="1300" b="1" dirty="0">
                <a:solidFill>
                  <a:srgbClr val="182B49"/>
                </a:solidFill>
                <a:latin typeface="Source Sans 3" pitchFamily="34" charset="0"/>
                <a:ea typeface="Source Sans 3" pitchFamily="34" charset="-122"/>
                <a:cs typeface="Source Sans 3" pitchFamily="34" charset="-120"/>
              </a:rPr>
              <a:t>site_key</a:t>
            </a:r>
            <a:r>
              <a:rPr lang="en-US" sz="1300" dirty="0">
                <a:solidFill>
                  <a:srgbClr val="182B49"/>
                </a:solidFill>
                <a:latin typeface="Source Sans 3" pitchFamily="34" charset="0"/>
                <a:ea typeface="Source Sans 3" pitchFamily="34" charset="-122"/>
                <a:cs typeface="Source Sans 3" pitchFamily="34" charset="-120"/>
              </a:rPr>
              <a:t>; the coast comes into focus in </a:t>
            </a:r>
            <a:r>
              <a:rPr lang="en-US" sz="1300" b="1" dirty="0">
                <a:solidFill>
                  <a:srgbClr val="182B49"/>
                </a:solidFill>
                <a:latin typeface="Source Sans 3" pitchFamily="34" charset="0"/>
                <a:ea typeface="Source Sans 3" pitchFamily="34" charset="-122"/>
                <a:cs typeface="Source Sans 3" pitchFamily="34" charset="-120"/>
              </a:rPr>
              <a:t>ctd-transects</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20" name="Text 14"/>
          <p:cNvSpPr/>
          <p:nvPr/>
        </p:nvSpPr>
        <p:spPr>
          <a:xfrm>
            <a:off x="3676650" y="3990181"/>
            <a:ext cx="2217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slides 17–20</a:t>
            </a:r>
            <a:endParaRPr lang="en-US" sz="1200" dirty="0"/>
          </a:p>
        </p:txBody>
      </p:sp>
      <p:sp>
        <p:nvSpPr>
          <p:cNvPr id="21" name="Shape 15"/>
          <p:cNvSpPr/>
          <p:nvPr/>
        </p:nvSpPr>
        <p:spPr>
          <a:xfrm>
            <a:off x="6184900" y="2070100"/>
            <a:ext cx="2508250" cy="3003947"/>
          </a:xfrm>
          <a:prstGeom prst="roundRect">
            <a:avLst>
              <a:gd name="adj" fmla="val 3038"/>
            </a:avLst>
          </a:prstGeom>
          <a:solidFill>
            <a:srgbClr val="FFFFFF"/>
          </a:solidFill>
          <a:ln/>
        </p:spPr>
        <p:txBody>
          <a:bodyPr/>
          <a:lstStyle/>
          <a:p>
            <a:endParaRPr lang="en-US"/>
          </a:p>
        </p:txBody>
      </p:sp>
      <p:pic>
        <p:nvPicPr>
          <p:cNvPr id="22" name="Image 4" descr="preencoded.png"/>
          <p:cNvPicPr>
            <a:picLocks noChangeAspect="1"/>
          </p:cNvPicPr>
          <p:nvPr/>
        </p:nvPicPr>
        <p:blipFill>
          <a:blip r:embed="rId7"/>
          <a:srcRect/>
          <a:stretch/>
        </p:blipFill>
        <p:spPr>
          <a:xfrm>
            <a:off x="6362700" y="2260600"/>
            <a:ext cx="330200" cy="330200"/>
          </a:xfrm>
          <a:prstGeom prst="rect">
            <a:avLst/>
          </a:prstGeom>
        </p:spPr>
      </p:pic>
      <p:sp>
        <p:nvSpPr>
          <p:cNvPr id="23" name="Text 16"/>
          <p:cNvSpPr/>
          <p:nvPr/>
        </p:nvSpPr>
        <p:spPr>
          <a:xfrm>
            <a:off x="6794500" y="2247900"/>
            <a:ext cx="96167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82B49"/>
                </a:solidFill>
                <a:latin typeface="Teko" pitchFamily="34" charset="0"/>
                <a:ea typeface="Teko" pitchFamily="34" charset="-122"/>
                <a:cs typeface="Teko" pitchFamily="34" charset="-120"/>
              </a:rPr>
              <a:t>3 · Trust</a:t>
            </a:r>
            <a:endParaRPr lang="en-US" sz="2800" dirty="0"/>
          </a:p>
        </p:txBody>
      </p:sp>
      <p:sp>
        <p:nvSpPr>
          <p:cNvPr id="24" name="Text 17"/>
          <p:cNvSpPr/>
          <p:nvPr/>
        </p:nvSpPr>
        <p:spPr>
          <a:xfrm>
            <a:off x="6362700" y="2692400"/>
            <a:ext cx="221723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The CTD by the provider’s rules</a:t>
            </a:r>
            <a:endParaRPr lang="en-US" sz="1500" dirty="0"/>
          </a:p>
        </p:txBody>
      </p:sp>
      <p:sp>
        <p:nvSpPr>
          <p:cNvPr id="25" name="Text 18"/>
          <p:cNvSpPr/>
          <p:nvPr/>
        </p:nvSpPr>
        <p:spPr>
          <a:xfrm>
            <a:off x="6362700" y="3238500"/>
            <a:ext cx="221723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Sensor averages rebuilt from </a:t>
            </a:r>
            <a:r>
              <a:rPr lang="en-US" sz="1300" b="1" dirty="0">
                <a:solidFill>
                  <a:srgbClr val="182B49"/>
                </a:solidFill>
                <a:latin typeface="Source Sans 3" pitchFamily="34" charset="0"/>
                <a:ea typeface="Source Sans 3" pitchFamily="34" charset="-122"/>
                <a:cs typeface="Source Sans 3" pitchFamily="34" charset="-120"/>
              </a:rPr>
              <a:t>Rasmus’s flag rule</a:t>
            </a:r>
            <a:r>
              <a:rPr lang="en-US" sz="1300" dirty="0">
                <a:solidFill>
                  <a:srgbClr val="182B49"/>
                </a:solidFill>
                <a:latin typeface="Source Sans 3" pitchFamily="34" charset="0"/>
                <a:ea typeface="Source Sans 3" pitchFamily="34" charset="-122"/>
                <a:cs typeface="Source Sans 3" pitchFamily="34" charset="-120"/>
              </a:rPr>
              <a:t>; quality codes and the </a:t>
            </a:r>
            <a:r>
              <a:rPr lang="en-US" sz="1300" b="1" dirty="0">
                <a:solidFill>
                  <a:srgbClr val="182B49"/>
                </a:solidFill>
                <a:latin typeface="Source Sans 3" pitchFamily="34" charset="0"/>
                <a:ea typeface="Source Sans 3" pitchFamily="34" charset="-122"/>
                <a:cs typeface="Source Sans 3" pitchFamily="34" charset="-120"/>
              </a:rPr>
              <a:t>EDI</a:t>
            </a:r>
            <a:r>
              <a:rPr lang="en-US" sz="1300" dirty="0">
                <a:solidFill>
                  <a:srgbClr val="182B49"/>
                </a:solidFill>
                <a:latin typeface="Source Sans 3" pitchFamily="34" charset="0"/>
                <a:ea typeface="Source Sans 3" pitchFamily="34" charset="-122"/>
                <a:cs typeface="Source Sans 3" pitchFamily="34" charset="-120"/>
              </a:rPr>
              <a:t> plan agreed.</a:t>
            </a:r>
            <a:endParaRPr lang="en-US" sz="1300" dirty="0"/>
          </a:p>
        </p:txBody>
      </p:sp>
      <p:sp>
        <p:nvSpPr>
          <p:cNvPr id="26" name="Text 19"/>
          <p:cNvSpPr/>
          <p:nvPr/>
        </p:nvSpPr>
        <p:spPr>
          <a:xfrm>
            <a:off x="6362700" y="3995936"/>
            <a:ext cx="2217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slides 21–23</a:t>
            </a:r>
            <a:endParaRPr lang="en-US" sz="1200" dirty="0"/>
          </a:p>
        </p:txBody>
      </p:sp>
      <p:sp>
        <p:nvSpPr>
          <p:cNvPr id="27" name="Shape 20"/>
          <p:cNvSpPr/>
          <p:nvPr/>
        </p:nvSpPr>
        <p:spPr>
          <a:xfrm>
            <a:off x="8870950" y="2070100"/>
            <a:ext cx="2508250" cy="3003947"/>
          </a:xfrm>
          <a:prstGeom prst="roundRect">
            <a:avLst>
              <a:gd name="adj" fmla="val 3038"/>
            </a:avLst>
          </a:prstGeom>
          <a:solidFill>
            <a:srgbClr val="FFFFFF"/>
          </a:solidFill>
          <a:ln/>
        </p:spPr>
        <p:txBody>
          <a:bodyPr/>
          <a:lstStyle/>
          <a:p>
            <a:endParaRPr lang="en-US"/>
          </a:p>
        </p:txBody>
      </p:sp>
      <p:pic>
        <p:nvPicPr>
          <p:cNvPr id="28" name="Image 5" descr="preencoded.png"/>
          <p:cNvPicPr>
            <a:picLocks noChangeAspect="1"/>
          </p:cNvPicPr>
          <p:nvPr/>
        </p:nvPicPr>
        <p:blipFill>
          <a:blip r:embed="rId8"/>
          <a:srcRect/>
          <a:stretch/>
        </p:blipFill>
        <p:spPr>
          <a:xfrm>
            <a:off x="9048750" y="2260600"/>
            <a:ext cx="330200" cy="330200"/>
          </a:xfrm>
          <a:prstGeom prst="rect">
            <a:avLst/>
          </a:prstGeom>
        </p:spPr>
      </p:pic>
      <p:sp>
        <p:nvSpPr>
          <p:cNvPr id="29" name="Text 21"/>
          <p:cNvSpPr/>
          <p:nvPr/>
        </p:nvSpPr>
        <p:spPr>
          <a:xfrm>
            <a:off x="9480550" y="2247900"/>
            <a:ext cx="908943"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82B49"/>
                </a:solidFill>
                <a:latin typeface="Teko" pitchFamily="34" charset="0"/>
                <a:ea typeface="Teko" pitchFamily="34" charset="-122"/>
                <a:cs typeface="Teko" pitchFamily="34" charset="-120"/>
              </a:rPr>
              <a:t>4 · Next</a:t>
            </a:r>
            <a:endParaRPr lang="en-US" sz="2800" dirty="0"/>
          </a:p>
        </p:txBody>
      </p:sp>
      <p:sp>
        <p:nvSpPr>
          <p:cNvPr id="30" name="Text 22"/>
          <p:cNvSpPr/>
          <p:nvPr/>
        </p:nvSpPr>
        <p:spPr>
          <a:xfrm>
            <a:off x="9048750" y="2692400"/>
            <a:ext cx="22172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Decide and harmonize</a:t>
            </a:r>
            <a:endParaRPr lang="en-US" sz="1500" dirty="0"/>
          </a:p>
        </p:txBody>
      </p:sp>
      <p:sp>
        <p:nvSpPr>
          <p:cNvPr id="31" name="Text 23"/>
          <p:cNvSpPr/>
          <p:nvPr/>
        </p:nvSpPr>
        <p:spPr>
          <a:xfrm>
            <a:off x="9048750" y="3009900"/>
            <a:ext cx="2217230"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One </a:t>
            </a:r>
            <a:r>
              <a:rPr lang="en-US" sz="1300" b="1" dirty="0">
                <a:solidFill>
                  <a:srgbClr val="182B49"/>
                </a:solidFill>
                <a:latin typeface="Source Sans 3" pitchFamily="34" charset="0"/>
                <a:ea typeface="Source Sans 3" pitchFamily="34" charset="-122"/>
                <a:cs typeface="Source Sans 3" pitchFamily="34" charset="-120"/>
              </a:rPr>
              <a:t>colour ramp</a:t>
            </a:r>
            <a:r>
              <a:rPr lang="en-US" sz="1300" dirty="0">
                <a:solidFill>
                  <a:srgbClr val="182B49"/>
                </a:solidFill>
                <a:latin typeface="Source Sans 3" pitchFamily="34" charset="0"/>
                <a:ea typeface="Source Sans 3" pitchFamily="34" charset="-122"/>
                <a:cs typeface="Source Sans 3" pitchFamily="34" charset="-120"/>
              </a:rPr>
              <a:t> for sections in both apps; the </a:t>
            </a:r>
            <a:r>
              <a:rPr lang="en-US" sz="1300" b="1" dirty="0">
                <a:solidFill>
                  <a:srgbClr val="182B49"/>
                </a:solidFill>
                <a:latin typeface="Source Sans 3" pitchFamily="34" charset="0"/>
                <a:ea typeface="Source Sans 3" pitchFamily="34" charset="-122"/>
                <a:cs typeface="Source Sans 3" pitchFamily="34" charset="-120"/>
              </a:rPr>
              <a:t>CTD cast dataset</a:t>
            </a:r>
            <a:r>
              <a:rPr lang="en-US" sz="1300" dirty="0">
                <a:solidFill>
                  <a:srgbClr val="182B49"/>
                </a:solidFill>
                <a:latin typeface="Source Sans 3" pitchFamily="34" charset="0"/>
                <a:ea typeface="Source Sans 3" pitchFamily="34" charset="-122"/>
                <a:cs typeface="Source Sans 3" pitchFamily="34" charset="-120"/>
              </a:rPr>
              <a:t> updated; your calls on quotes and scope.</a:t>
            </a:r>
            <a:endParaRPr lang="en-US" sz="1300" dirty="0"/>
          </a:p>
        </p:txBody>
      </p:sp>
      <p:sp>
        <p:nvSpPr>
          <p:cNvPr id="32" name="Text 24"/>
          <p:cNvSpPr/>
          <p:nvPr/>
        </p:nvSpPr>
        <p:spPr>
          <a:xfrm>
            <a:off x="9048750" y="3990181"/>
            <a:ext cx="2217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slides 24–29</a:t>
            </a:r>
            <a:endParaRPr lang="en-US" sz="1200" dirty="0"/>
          </a:p>
        </p:txBody>
      </p:sp>
      <p:sp>
        <p:nvSpPr>
          <p:cNvPr id="33" name="Text 25"/>
          <p:cNvSpPr/>
          <p:nvPr/>
        </p:nvSpPr>
        <p:spPr>
          <a:xfrm>
            <a:off x="812800" y="5251847"/>
            <a:ext cx="1088339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82B49"/>
                </a:solidFill>
                <a:latin typeface="Source Sans 3" pitchFamily="34" charset="0"/>
                <a:ea typeface="Source Sans 3" pitchFamily="34" charset="-122"/>
                <a:cs typeface="Source Sans 3" pitchFamily="34" charset="-120"/>
              </a:rPr>
              <a:t>Two releases since Sept 8 — </a:t>
            </a:r>
            <a:r>
              <a:rPr lang="en-US" sz="1400" b="1" dirty="0">
                <a:solidFill>
                  <a:srgbClr val="182B49"/>
                </a:solidFill>
                <a:latin typeface="Source Sans 3" pitchFamily="34" charset="0"/>
                <a:ea typeface="Source Sans 3" pitchFamily="34" charset="-122"/>
                <a:cs typeface="Source Sans 3" pitchFamily="34" charset="-120"/>
              </a:rPr>
              <a:t>v2026.09.10</a:t>
            </a:r>
            <a:r>
              <a:rPr lang="en-US" sz="1400" dirty="0">
                <a:solidFill>
                  <a:srgbClr val="182B49"/>
                </a:solidFill>
                <a:latin typeface="Source Sans 3" pitchFamily="34" charset="0"/>
                <a:ea typeface="Source Sans 3" pitchFamily="34" charset="-122"/>
                <a:cs typeface="Source Sans 3" pitchFamily="34" charset="-120"/>
              </a:rPr>
              <a:t> and </a:t>
            </a:r>
            <a:r>
              <a:rPr lang="en-US" sz="1400" b="1" dirty="0">
                <a:solidFill>
                  <a:srgbClr val="182B49"/>
                </a:solidFill>
                <a:latin typeface="Source Sans 3" pitchFamily="34" charset="0"/>
                <a:ea typeface="Source Sans 3" pitchFamily="34" charset="-122"/>
                <a:cs typeface="Source Sans 3" pitchFamily="34" charset="-120"/>
              </a:rPr>
              <a:t>v2026.09.11</a:t>
            </a:r>
            <a:r>
              <a:rPr lang="en-US" sz="1400" dirty="0">
                <a:solidFill>
                  <a:srgbClr val="182B49"/>
                </a:solidFill>
                <a:latin typeface="Source Sans 3" pitchFamily="34" charset="0"/>
                <a:ea typeface="Source Sans 3" pitchFamily="34" charset="-122"/>
                <a:cs typeface="Source Sans 3" pitchFamily="34" charset="-120"/>
              </a:rPr>
              <a:t>, each with its own DOI — and every number on these slides is read from them, never typed.</a:t>
            </a:r>
            <a:endParaRPr lang="en-US" sz="1400" dirty="0"/>
          </a:p>
        </p:txBody>
      </p:sp>
      <p:sp>
        <p:nvSpPr>
          <p:cNvPr id="34" name="Text 26"/>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9">
                  <a:extLst>
                    <a:ext uri="{A12FA001-AC4F-418D-AE19-62706E023703}">
                      <ahyp:hlinkClr xmlns:ahyp="http://schemas.microsoft.com/office/drawing/2018/hyperlinkcolor" val="tx"/>
                    </a:ext>
                  </a:extLst>
                </a:hlinkClick>
              </a:rPr>
              <a:t>calcofi.io</a:t>
            </a:r>
            <a:endParaRPr lang="en-US" sz="1200" dirty="0"/>
          </a:p>
        </p:txBody>
      </p:sp>
      <p:sp>
        <p:nvSpPr>
          <p:cNvPr id="35" name="Text 27"/>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THE FRONT DOOR · CALCOFI.IO</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THE FRONT DOOR COUNTS WHAT PEOPLE RECOGNIZE</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calcofi.io front door: the Line 90 section hero and the numbers band"/>
          <p:cNvPicPr>
            <a:picLocks noChangeAspect="1"/>
          </p:cNvPicPr>
          <p:nvPr/>
        </p:nvPicPr>
        <p:blipFill>
          <a:blip r:embed="rId5"/>
          <a:srcRect l="-65" r="-65"/>
          <a:stretch/>
        </p:blipFill>
        <p:spPr>
          <a:xfrm>
            <a:off x="819150" y="2076450"/>
            <a:ext cx="6083300" cy="2997200"/>
          </a:xfrm>
          <a:prstGeom prst="roundRect">
            <a:avLst>
              <a:gd name="adj" fmla="val 2331"/>
            </a:avLst>
          </a:prstGeom>
        </p:spPr>
      </p:pic>
      <p:sp>
        <p:nvSpPr>
          <p:cNvPr id="10" name="Shape 5"/>
          <p:cNvSpPr/>
          <p:nvPr/>
        </p:nvSpPr>
        <p:spPr>
          <a:xfrm>
            <a:off x="815975" y="2073275"/>
            <a:ext cx="6089650" cy="3003550"/>
          </a:xfrm>
          <a:prstGeom prst="roundRect">
            <a:avLst>
              <a:gd name="adj" fmla="val 2431"/>
            </a:avLst>
          </a:prstGeom>
          <a:noFill/>
          <a:ln w="6350">
            <a:solidFill>
              <a:srgbClr val="DDDDDD"/>
            </a:solidFill>
            <a:prstDash val="solid"/>
          </a:ln>
        </p:spPr>
        <p:txBody>
          <a:bodyPr/>
          <a:lstStyle/>
          <a:p>
            <a:endParaRPr lang="en-US"/>
          </a:p>
        </p:txBody>
      </p:sp>
      <p:sp>
        <p:nvSpPr>
          <p:cNvPr id="11" name="Text 6"/>
          <p:cNvSpPr/>
          <p:nvPr/>
        </p:nvSpPr>
        <p:spPr>
          <a:xfrm>
            <a:off x="812800" y="5156200"/>
            <a:ext cx="627888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calcofi.io — the hero and the numbers band, release v2026.09.11, light theme.</a:t>
            </a:r>
            <a:endParaRPr lang="en-US" sz="1200" dirty="0"/>
          </a:p>
        </p:txBody>
      </p:sp>
      <p:sp>
        <p:nvSpPr>
          <p:cNvPr id="12" name="Shape 7"/>
          <p:cNvSpPr/>
          <p:nvPr/>
        </p:nvSpPr>
        <p:spPr>
          <a:xfrm>
            <a:off x="7277100" y="2070100"/>
            <a:ext cx="0" cy="714623"/>
          </a:xfrm>
          <a:prstGeom prst="line">
            <a:avLst/>
          </a:prstGeom>
          <a:noFill/>
          <a:ln w="25400">
            <a:solidFill>
              <a:srgbClr val="00629B"/>
            </a:solidFill>
            <a:prstDash val="solid"/>
          </a:ln>
        </p:spPr>
        <p:txBody>
          <a:bodyPr/>
          <a:lstStyle/>
          <a:p>
            <a:endParaRPr lang="en-US"/>
          </a:p>
        </p:txBody>
      </p:sp>
      <p:sp>
        <p:nvSpPr>
          <p:cNvPr id="13" name="Text 8"/>
          <p:cNvSpPr/>
          <p:nvPr/>
        </p:nvSpPr>
        <p:spPr>
          <a:xfrm>
            <a:off x="7416800" y="2082800"/>
            <a:ext cx="4081272" cy="714623"/>
          </a:xfrm>
          <a:prstGeom prst="rect">
            <a:avLst/>
          </a:prstGeom>
          <a:noFill/>
          <a:ln/>
        </p:spPr>
        <p:txBody>
          <a:bodyPr wrap="square" lIns="0" tIns="0" rIns="0" bIns="0" rtlCol="0" anchor="t">
            <a:normAutofit/>
          </a:bodyPr>
          <a:lstStyle/>
          <a:p>
            <a:pPr marL="0" indent="0" algn="l">
              <a:lnSpc>
                <a:spcPts val="1809"/>
              </a:lnSpc>
              <a:buNone/>
            </a:pPr>
            <a:r>
              <a:rPr lang="en-US" sz="1350" dirty="0">
                <a:solidFill>
                  <a:srgbClr val="182B49"/>
                </a:solidFill>
                <a:latin typeface="Source Sans 3" pitchFamily="34" charset="0"/>
                <a:ea typeface="Source Sans 3" pitchFamily="34" charset="-122"/>
                <a:cs typeface="Source Sans 3" pitchFamily="34" charset="-120"/>
              </a:rPr>
              <a:t>The band no longer says “349 M rows”: it says </a:t>
            </a:r>
            <a:r>
              <a:rPr lang="en-US" sz="1350" b="1" dirty="0">
                <a:solidFill>
                  <a:srgbClr val="182B49"/>
                </a:solidFill>
                <a:latin typeface="Source Sans 3" pitchFamily="34" charset="0"/>
                <a:ea typeface="Source Sans 3" pitchFamily="34" charset="-122"/>
                <a:cs typeface="Source Sans 3" pitchFamily="34" charset="-120"/>
              </a:rPr>
              <a:t>1,008 species</a:t>
            </a:r>
            <a:r>
              <a:rPr lang="en-US" sz="1350" dirty="0">
                <a:solidFill>
                  <a:srgbClr val="182B49"/>
                </a:solidFill>
                <a:latin typeface="Source Sans 3" pitchFamily="34" charset="0"/>
                <a:ea typeface="Source Sans 3" pitchFamily="34" charset="-122"/>
                <a:cs typeface="Source Sans 3" pitchFamily="34" charset="-120"/>
              </a:rPr>
              <a:t>, </a:t>
            </a:r>
            <a:r>
              <a:rPr lang="en-US" sz="1350" b="1" dirty="0">
                <a:solidFill>
                  <a:srgbClr val="182B49"/>
                </a:solidFill>
                <a:latin typeface="Source Sans 3" pitchFamily="34" charset="0"/>
                <a:ea typeface="Source Sans 3" pitchFamily="34" charset="-122"/>
                <a:cs typeface="Source Sans 3" pitchFamily="34" charset="-120"/>
              </a:rPr>
              <a:t>1.3 M organism observations</a:t>
            </a:r>
            <a:r>
              <a:rPr lang="en-US" sz="1350" dirty="0">
                <a:solidFill>
                  <a:srgbClr val="182B49"/>
                </a:solidFill>
                <a:latin typeface="Source Sans 3" pitchFamily="34" charset="0"/>
                <a:ea typeface="Source Sans 3" pitchFamily="34" charset="-122"/>
                <a:cs typeface="Source Sans 3" pitchFamily="34" charset="-120"/>
              </a:rPr>
              <a:t> and </a:t>
            </a:r>
            <a:r>
              <a:rPr lang="en-US" sz="1350" b="1" dirty="0">
                <a:solidFill>
                  <a:srgbClr val="182B49"/>
                </a:solidFill>
                <a:latin typeface="Source Sans 3" pitchFamily="34" charset="0"/>
                <a:ea typeface="Source Sans 3" pitchFamily="34" charset="-122"/>
                <a:cs typeface="Source Sans 3" pitchFamily="34" charset="-120"/>
              </a:rPr>
              <a:t>325 M measurements</a:t>
            </a:r>
            <a:r>
              <a:rPr lang="en-US" sz="1350" dirty="0">
                <a:solidFill>
                  <a:srgbClr val="182B49"/>
                </a:solidFill>
                <a:latin typeface="Source Sans 3" pitchFamily="34" charset="0"/>
                <a:ea typeface="Source Sans 3" pitchFamily="34" charset="-122"/>
                <a:cs typeface="Source Sans 3" pitchFamily="34" charset="-120"/>
              </a:rPr>
              <a:t>.</a:t>
            </a:r>
            <a:endParaRPr lang="en-US" sz="1350" dirty="0"/>
          </a:p>
        </p:txBody>
      </p:sp>
      <p:sp>
        <p:nvSpPr>
          <p:cNvPr id="14" name="Shape 9"/>
          <p:cNvSpPr/>
          <p:nvPr/>
        </p:nvSpPr>
        <p:spPr>
          <a:xfrm>
            <a:off x="7277100" y="2886323"/>
            <a:ext cx="0" cy="714623"/>
          </a:xfrm>
          <a:prstGeom prst="line">
            <a:avLst/>
          </a:prstGeom>
          <a:noFill/>
          <a:ln w="25400">
            <a:solidFill>
              <a:srgbClr val="00629B"/>
            </a:solidFill>
            <a:prstDash val="solid"/>
          </a:ln>
        </p:spPr>
        <p:txBody>
          <a:bodyPr/>
          <a:lstStyle/>
          <a:p>
            <a:endParaRPr lang="en-US"/>
          </a:p>
        </p:txBody>
      </p:sp>
      <p:sp>
        <p:nvSpPr>
          <p:cNvPr id="15" name="Text 10"/>
          <p:cNvSpPr/>
          <p:nvPr/>
        </p:nvSpPr>
        <p:spPr>
          <a:xfrm>
            <a:off x="7416800" y="2899023"/>
            <a:ext cx="4081272" cy="714623"/>
          </a:xfrm>
          <a:prstGeom prst="rect">
            <a:avLst/>
          </a:prstGeom>
          <a:noFill/>
          <a:ln/>
        </p:spPr>
        <p:txBody>
          <a:bodyPr wrap="square" lIns="0" tIns="0" rIns="0" bIns="0" rtlCol="0" anchor="t">
            <a:normAutofit/>
          </a:bodyPr>
          <a:lstStyle/>
          <a:p>
            <a:pPr marL="0" indent="0" algn="l">
              <a:lnSpc>
                <a:spcPts val="1809"/>
              </a:lnSpc>
              <a:buNone/>
            </a:pPr>
            <a:r>
              <a:rPr lang="en-US" sz="1350" b="1" dirty="0">
                <a:solidFill>
                  <a:srgbClr val="182B49"/>
                </a:solidFill>
                <a:latin typeface="Source Sans 3" pitchFamily="34" charset="0"/>
                <a:ea typeface="Source Sans 3" pitchFamily="34" charset="-122"/>
                <a:cs typeface="Source Sans 3" pitchFamily="34" charset="-120"/>
              </a:rPr>
              <a:t>Species, not taxa</a:t>
            </a:r>
            <a:r>
              <a:rPr lang="en-US" sz="1350" dirty="0">
                <a:solidFill>
                  <a:srgbClr val="182B49"/>
                </a:solidFill>
                <a:latin typeface="Source Sans 3" pitchFamily="34" charset="0"/>
                <a:ea typeface="Source Sans 3" pitchFamily="34" charset="-122"/>
                <a:cs typeface="Source Sans 3" pitchFamily="34" charset="-120"/>
              </a:rPr>
              <a:t>: the common word, kept honest — 1,008 at species rank of 1,506 taxa, keyed to WoRMS (ITIS for birds).</a:t>
            </a:r>
            <a:endParaRPr lang="en-US" sz="1350" dirty="0"/>
          </a:p>
        </p:txBody>
      </p:sp>
      <p:sp>
        <p:nvSpPr>
          <p:cNvPr id="16" name="Shape 11"/>
          <p:cNvSpPr/>
          <p:nvPr/>
        </p:nvSpPr>
        <p:spPr>
          <a:xfrm>
            <a:off x="7277100" y="3702546"/>
            <a:ext cx="0" cy="714623"/>
          </a:xfrm>
          <a:prstGeom prst="line">
            <a:avLst/>
          </a:prstGeom>
          <a:noFill/>
          <a:ln w="25400">
            <a:solidFill>
              <a:srgbClr val="00629B"/>
            </a:solidFill>
            <a:prstDash val="solid"/>
          </a:ln>
        </p:spPr>
        <p:txBody>
          <a:bodyPr/>
          <a:lstStyle/>
          <a:p>
            <a:endParaRPr lang="en-US"/>
          </a:p>
        </p:txBody>
      </p:sp>
      <p:sp>
        <p:nvSpPr>
          <p:cNvPr id="17" name="Text 12"/>
          <p:cNvSpPr/>
          <p:nvPr/>
        </p:nvSpPr>
        <p:spPr>
          <a:xfrm>
            <a:off x="7416800" y="3715246"/>
            <a:ext cx="4081272" cy="714623"/>
          </a:xfrm>
          <a:prstGeom prst="rect">
            <a:avLst/>
          </a:prstGeom>
          <a:noFill/>
          <a:ln/>
        </p:spPr>
        <p:txBody>
          <a:bodyPr wrap="square" lIns="0" tIns="0" rIns="0" bIns="0" rtlCol="0" anchor="t">
            <a:normAutofit/>
          </a:bodyPr>
          <a:lstStyle/>
          <a:p>
            <a:pPr marL="0" indent="0" algn="l">
              <a:lnSpc>
                <a:spcPts val="1809"/>
              </a:lnSpc>
              <a:buNone/>
            </a:pPr>
            <a:r>
              <a:rPr lang="en-US" sz="1350" dirty="0">
                <a:solidFill>
                  <a:srgbClr val="182B49"/>
                </a:solidFill>
                <a:latin typeface="Source Sans 3" pitchFamily="34" charset="0"/>
                <a:ea typeface="Source Sans 3" pitchFamily="34" charset="-122"/>
                <a:cs typeface="Source Sans 3" pitchFamily="34" charset="-120"/>
              </a:rPr>
              <a:t>Six words in the header — </a:t>
            </a:r>
            <a:r>
              <a:rPr lang="en-US" sz="1350" b="1" dirty="0">
                <a:solidFill>
                  <a:srgbClr val="182B49"/>
                </a:solidFill>
                <a:latin typeface="Source Sans 3" pitchFamily="34" charset="0"/>
                <a:ea typeface="Source Sans 3" pitchFamily="34" charset="-122"/>
                <a:cs typeface="Source Sans 3" pitchFamily="34" charset="-120"/>
              </a:rPr>
              <a:t>Data · Apps · Access · Build · Docs · News</a:t>
            </a:r>
            <a:r>
              <a:rPr lang="en-US" sz="1350" dirty="0">
                <a:solidFill>
                  <a:srgbClr val="182B49"/>
                </a:solidFill>
                <a:latin typeface="Source Sans 3" pitchFamily="34" charset="0"/>
                <a:ea typeface="Source Sans 3" pitchFamily="34" charset="-122"/>
                <a:cs typeface="Source Sans 3" pitchFamily="34" charset="-120"/>
              </a:rPr>
              <a:t> — and the lockup reads </a:t>
            </a:r>
            <a:r>
              <a:rPr lang="en-US" sz="1350" b="1" dirty="0">
                <a:solidFill>
                  <a:srgbClr val="182B49"/>
                </a:solidFill>
                <a:latin typeface="Source Sans 3" pitchFamily="34" charset="0"/>
                <a:ea typeface="Source Sans 3" pitchFamily="34" charset="-122"/>
                <a:cs typeface="Source Sans 3" pitchFamily="34" charset="-120"/>
              </a:rPr>
              <a:t>CalCOFI.io</a:t>
            </a:r>
            <a:r>
              <a:rPr lang="en-US" sz="1350" dirty="0">
                <a:solidFill>
                  <a:srgbClr val="182B49"/>
                </a:solidFill>
                <a:latin typeface="Source Sans 3" pitchFamily="34" charset="0"/>
                <a:ea typeface="Source Sans 3" pitchFamily="34" charset="-122"/>
                <a:cs typeface="Source Sans 3" pitchFamily="34" charset="-120"/>
              </a:rPr>
              <a:t> on every product.</a:t>
            </a:r>
            <a:endParaRPr lang="en-US" sz="1350" dirty="0"/>
          </a:p>
        </p:txBody>
      </p:sp>
      <p:sp>
        <p:nvSpPr>
          <p:cNvPr id="18" name="Shape 13"/>
          <p:cNvSpPr/>
          <p:nvPr/>
        </p:nvSpPr>
        <p:spPr>
          <a:xfrm>
            <a:off x="7277100" y="4518769"/>
            <a:ext cx="0" cy="484882"/>
          </a:xfrm>
          <a:prstGeom prst="line">
            <a:avLst/>
          </a:prstGeom>
          <a:noFill/>
          <a:ln w="25400">
            <a:solidFill>
              <a:srgbClr val="00629B"/>
            </a:solidFill>
            <a:prstDash val="solid"/>
          </a:ln>
        </p:spPr>
        <p:txBody>
          <a:bodyPr/>
          <a:lstStyle/>
          <a:p>
            <a:endParaRPr lang="en-US"/>
          </a:p>
        </p:txBody>
      </p:sp>
      <p:sp>
        <p:nvSpPr>
          <p:cNvPr id="19" name="Text 14"/>
          <p:cNvSpPr/>
          <p:nvPr/>
        </p:nvSpPr>
        <p:spPr>
          <a:xfrm>
            <a:off x="7416800" y="4531469"/>
            <a:ext cx="4081272" cy="484882"/>
          </a:xfrm>
          <a:prstGeom prst="rect">
            <a:avLst/>
          </a:prstGeom>
          <a:noFill/>
          <a:ln/>
        </p:spPr>
        <p:txBody>
          <a:bodyPr wrap="square" lIns="0" tIns="0" rIns="0" bIns="0" rtlCol="0" anchor="t">
            <a:normAutofit/>
          </a:bodyPr>
          <a:lstStyle/>
          <a:p>
            <a:pPr marL="0" indent="0" algn="l">
              <a:lnSpc>
                <a:spcPts val="1809"/>
              </a:lnSpc>
              <a:buNone/>
            </a:pPr>
            <a:r>
              <a:rPr lang="en-US" sz="1350" dirty="0">
                <a:solidFill>
                  <a:srgbClr val="182B49"/>
                </a:solidFill>
                <a:latin typeface="Source Sans 3" pitchFamily="34" charset="0"/>
                <a:ea typeface="Source Sans 3" pitchFamily="34" charset="-122"/>
                <a:cs typeface="Source Sans 3" pitchFamily="34" charset="-120"/>
              </a:rPr>
              <a:t>The ship’s log opens each release </a:t>
            </a:r>
            <a:r>
              <a:rPr lang="en-US" sz="1350" b="1" dirty="0">
                <a:solidFill>
                  <a:srgbClr val="182B49"/>
                </a:solidFill>
                <a:latin typeface="Source Sans 3" pitchFamily="34" charset="0"/>
                <a:ea typeface="Source Sans 3" pitchFamily="34" charset="-122"/>
                <a:cs typeface="Source Sans 3" pitchFamily="34" charset="-120"/>
              </a:rPr>
              <a:t>at its own heading</a:t>
            </a:r>
            <a:r>
              <a:rPr lang="en-US" sz="1350" dirty="0">
                <a:solidFill>
                  <a:srgbClr val="182B49"/>
                </a:solidFill>
                <a:latin typeface="Source Sans 3" pitchFamily="34" charset="0"/>
                <a:ea typeface="Source Sans 3" pitchFamily="34" charset="-122"/>
                <a:cs typeface="Source Sans 3" pitchFamily="34" charset="-120"/>
              </a:rPr>
              <a:t> in RELEASES.html.</a:t>
            </a:r>
            <a:endParaRPr lang="en-US" sz="1350" dirty="0"/>
          </a:p>
        </p:txBody>
      </p:sp>
      <p:sp>
        <p:nvSpPr>
          <p:cNvPr id="20" name="Text 1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6">
                  <a:extLst>
                    <a:ext uri="{A12FA001-AC4F-418D-AE19-62706E023703}">
                      <ahyp:hlinkClr xmlns:ahyp="http://schemas.microsoft.com/office/drawing/2018/hyperlinkcolor" val="tx"/>
                    </a:ext>
                  </a:extLst>
                </a:hlinkClick>
              </a:rPr>
              <a:t>calcofi.io</a:t>
            </a:r>
            <a:endParaRPr lang="en-US" sz="1200" dirty="0"/>
          </a:p>
        </p:txBody>
      </p:sp>
      <p:sp>
        <p:nvSpPr>
          <p:cNvPr id="21" name="Text 1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THE FRONT DOOR · DATA</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ONE SEARCH BOX OVER THREE CATALOGS</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The Data section with the search box: typing sardine lists datasets and species"/>
          <p:cNvPicPr>
            <a:picLocks noChangeAspect="1"/>
          </p:cNvPicPr>
          <p:nvPr/>
        </p:nvPicPr>
        <p:blipFill>
          <a:blip r:embed="rId5"/>
          <a:srcRect l="-118" r="-118"/>
          <a:stretch/>
        </p:blipFill>
        <p:spPr>
          <a:xfrm>
            <a:off x="819150" y="2076450"/>
            <a:ext cx="6337300" cy="2730500"/>
          </a:xfrm>
          <a:prstGeom prst="roundRect">
            <a:avLst>
              <a:gd name="adj" fmla="val 2558"/>
            </a:avLst>
          </a:prstGeom>
        </p:spPr>
      </p:pic>
      <p:sp>
        <p:nvSpPr>
          <p:cNvPr id="10" name="Shape 5"/>
          <p:cNvSpPr/>
          <p:nvPr/>
        </p:nvSpPr>
        <p:spPr>
          <a:xfrm>
            <a:off x="815975" y="2073275"/>
            <a:ext cx="6343650" cy="2736850"/>
          </a:xfrm>
          <a:prstGeom prst="roundRect">
            <a:avLst>
              <a:gd name="adj" fmla="val 2668"/>
            </a:avLst>
          </a:prstGeom>
          <a:noFill/>
          <a:ln w="6350">
            <a:solidFill>
              <a:srgbClr val="DDDDDD"/>
            </a:solidFill>
            <a:prstDash val="solid"/>
          </a:ln>
        </p:spPr>
        <p:txBody>
          <a:bodyPr/>
          <a:lstStyle/>
          <a:p>
            <a:endParaRPr lang="en-US"/>
          </a:p>
        </p:txBody>
      </p:sp>
      <p:sp>
        <p:nvSpPr>
          <p:cNvPr id="11" name="Text 6"/>
          <p:cNvSpPr/>
          <p:nvPr/>
        </p:nvSpPr>
        <p:spPr>
          <a:xfrm>
            <a:off x="812800" y="4889500"/>
            <a:ext cx="654050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calcofi.io → Data, with “sardine” typed: datasets and species as rows you can open.</a:t>
            </a:r>
            <a:endParaRPr lang="en-US" sz="1200" dirty="0"/>
          </a:p>
        </p:txBody>
      </p:sp>
      <p:pic>
        <p:nvPicPr>
          <p:cNvPr id="12" name="Image 3" descr="The What’s observed tile: 1,008 species of 1,506 taxa, 89 measurements in 94 series"/>
          <p:cNvPicPr>
            <a:picLocks noChangeAspect="1"/>
          </p:cNvPicPr>
          <p:nvPr/>
        </p:nvPicPr>
        <p:blipFill>
          <a:blip r:embed="rId6"/>
          <a:srcRect l="-358" r="-358"/>
          <a:stretch/>
        </p:blipFill>
        <p:spPr>
          <a:xfrm>
            <a:off x="7524750" y="2076450"/>
            <a:ext cx="3543300" cy="1454150"/>
          </a:xfrm>
          <a:prstGeom prst="roundRect">
            <a:avLst>
              <a:gd name="adj" fmla="val 4803"/>
            </a:avLst>
          </a:prstGeom>
        </p:spPr>
      </p:pic>
      <p:sp>
        <p:nvSpPr>
          <p:cNvPr id="13" name="Shape 7"/>
          <p:cNvSpPr/>
          <p:nvPr/>
        </p:nvSpPr>
        <p:spPr>
          <a:xfrm>
            <a:off x="7521575" y="2073275"/>
            <a:ext cx="3549650" cy="1460500"/>
          </a:xfrm>
          <a:prstGeom prst="roundRect">
            <a:avLst>
              <a:gd name="adj" fmla="val 5000"/>
            </a:avLst>
          </a:prstGeom>
          <a:noFill/>
          <a:ln w="6350">
            <a:solidFill>
              <a:srgbClr val="DDDDDD"/>
            </a:solidFill>
            <a:prstDash val="solid"/>
          </a:ln>
        </p:spPr>
        <p:txBody>
          <a:bodyPr/>
          <a:lstStyle/>
          <a:p>
            <a:endParaRPr lang="en-US"/>
          </a:p>
        </p:txBody>
      </p:sp>
      <p:sp>
        <p:nvSpPr>
          <p:cNvPr id="14" name="Shape 8"/>
          <p:cNvSpPr/>
          <p:nvPr/>
        </p:nvSpPr>
        <p:spPr>
          <a:xfrm>
            <a:off x="7531100" y="3676650"/>
            <a:ext cx="0" cy="467816"/>
          </a:xfrm>
          <a:prstGeom prst="line">
            <a:avLst/>
          </a:prstGeom>
          <a:noFill/>
          <a:ln w="25400">
            <a:solidFill>
              <a:srgbClr val="00629B"/>
            </a:solidFill>
            <a:prstDash val="solid"/>
          </a:ln>
        </p:spPr>
        <p:txBody>
          <a:bodyPr/>
          <a:lstStyle/>
          <a:p>
            <a:endParaRPr lang="en-US"/>
          </a:p>
        </p:txBody>
      </p:sp>
      <p:sp>
        <p:nvSpPr>
          <p:cNvPr id="15" name="Text 9"/>
          <p:cNvSpPr/>
          <p:nvPr/>
        </p:nvSpPr>
        <p:spPr>
          <a:xfrm>
            <a:off x="7670800" y="3689350"/>
            <a:ext cx="381965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Data</a:t>
            </a:r>
            <a:r>
              <a:rPr lang="en-US" sz="1300" dirty="0">
                <a:solidFill>
                  <a:srgbClr val="182B49"/>
                </a:solidFill>
                <a:latin typeface="Source Sans 3" pitchFamily="34" charset="0"/>
                <a:ea typeface="Source Sans 3" pitchFamily="34" charset="-122"/>
                <a:cs typeface="Source Sans 3" pitchFamily="34" charset="-120"/>
              </a:rPr>
              <a:t> is three tabs: </a:t>
            </a:r>
            <a:r>
              <a:rPr lang="en-US" sz="1300" b="1" dirty="0">
                <a:solidFill>
                  <a:srgbClr val="182B49"/>
                </a:solidFill>
                <a:latin typeface="Source Sans 3" pitchFamily="34" charset="0"/>
                <a:ea typeface="Source Sans 3" pitchFamily="34" charset="-122"/>
                <a:cs typeface="Source Sans 3" pitchFamily="34" charset="-120"/>
              </a:rPr>
              <a:t>Datasets 16 · Species 1,008 · Measurements 89</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16" name="Shape 10"/>
          <p:cNvSpPr/>
          <p:nvPr/>
        </p:nvSpPr>
        <p:spPr>
          <a:xfrm>
            <a:off x="7531100" y="4233366"/>
            <a:ext cx="0" cy="467816"/>
          </a:xfrm>
          <a:prstGeom prst="line">
            <a:avLst/>
          </a:prstGeom>
          <a:noFill/>
          <a:ln w="25400">
            <a:solidFill>
              <a:srgbClr val="00629B"/>
            </a:solidFill>
            <a:prstDash val="solid"/>
          </a:ln>
        </p:spPr>
        <p:txBody>
          <a:bodyPr/>
          <a:lstStyle/>
          <a:p>
            <a:endParaRPr lang="en-US"/>
          </a:p>
        </p:txBody>
      </p:sp>
      <p:sp>
        <p:nvSpPr>
          <p:cNvPr id="17" name="Text 11"/>
          <p:cNvSpPr/>
          <p:nvPr/>
        </p:nvSpPr>
        <p:spPr>
          <a:xfrm>
            <a:off x="7670800" y="4246066"/>
            <a:ext cx="381965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One search</a:t>
            </a:r>
            <a:r>
              <a:rPr lang="en-US" sz="1300" dirty="0">
                <a:solidFill>
                  <a:srgbClr val="182B49"/>
                </a:solidFill>
                <a:latin typeface="Source Sans 3" pitchFamily="34" charset="0"/>
                <a:ea typeface="Source Sans 3" pitchFamily="34" charset="-122"/>
                <a:cs typeface="Source Sans 3" pitchFamily="34" charset="-120"/>
              </a:rPr>
              <a:t> over all three: “sardine” finds 3 of 33 datasets and 1 of 2,410 species.</a:t>
            </a:r>
            <a:endParaRPr lang="en-US" sz="1300" dirty="0"/>
          </a:p>
        </p:txBody>
      </p:sp>
      <p:sp>
        <p:nvSpPr>
          <p:cNvPr id="18" name="Shape 12"/>
          <p:cNvSpPr/>
          <p:nvPr/>
        </p:nvSpPr>
        <p:spPr>
          <a:xfrm>
            <a:off x="7531100" y="4790083"/>
            <a:ext cx="0" cy="467816"/>
          </a:xfrm>
          <a:prstGeom prst="line">
            <a:avLst/>
          </a:prstGeom>
          <a:noFill/>
          <a:ln w="25400">
            <a:solidFill>
              <a:srgbClr val="00629B"/>
            </a:solidFill>
            <a:prstDash val="solid"/>
          </a:ln>
        </p:spPr>
        <p:txBody>
          <a:bodyPr/>
          <a:lstStyle/>
          <a:p>
            <a:endParaRPr lang="en-US"/>
          </a:p>
        </p:txBody>
      </p:sp>
      <p:sp>
        <p:nvSpPr>
          <p:cNvPr id="19" name="Text 13"/>
          <p:cNvSpPr/>
          <p:nvPr/>
        </p:nvSpPr>
        <p:spPr>
          <a:xfrm>
            <a:off x="7670800" y="4802783"/>
            <a:ext cx="381965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A </a:t>
            </a:r>
            <a:r>
              <a:rPr lang="en-US" sz="1300" b="1" dirty="0">
                <a:solidFill>
                  <a:srgbClr val="182B49"/>
                </a:solidFill>
                <a:latin typeface="Source Sans 3" pitchFamily="34" charset="0"/>
                <a:ea typeface="Source Sans 3" pitchFamily="34" charset="-122"/>
                <a:cs typeface="Source Sans 3" pitchFamily="34" charset="-120"/>
              </a:rPr>
              <a:t>licence chip</a:t>
            </a:r>
            <a:r>
              <a:rPr lang="en-US" sz="1300" dirty="0">
                <a:solidFill>
                  <a:srgbClr val="182B49"/>
                </a:solidFill>
                <a:latin typeface="Source Sans 3" pitchFamily="34" charset="0"/>
                <a:ea typeface="Source Sans 3" pitchFamily="34" charset="-122"/>
                <a:cs typeface="Source Sans 3" pitchFamily="34" charset="-120"/>
              </a:rPr>
              <a:t> on every dataset row — and </a:t>
            </a:r>
            <a:r>
              <a:rPr lang="en-US" sz="1300" b="1" dirty="0">
                <a:solidFill>
                  <a:srgbClr val="182B49"/>
                </a:solidFill>
                <a:latin typeface="Source Sans 3" pitchFamily="34" charset="0"/>
                <a:ea typeface="Source Sans 3" pitchFamily="34" charset="-122"/>
                <a:cs typeface="Source Sans 3" pitchFamily="34" charset="-120"/>
              </a:rPr>
              <a:t>6 of 16 unstated</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20" name="Text 14"/>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7">
                  <a:extLst>
                    <a:ext uri="{A12FA001-AC4F-418D-AE19-62706E023703}">
                      <ahyp:hlinkClr xmlns:ahyp="http://schemas.microsoft.com/office/drawing/2018/hyperlinkcolor" val="tx"/>
                    </a:ext>
                  </a:extLst>
                </a:hlinkClick>
              </a:rPr>
              <a:t>calcofi.io/#datasets</a:t>
            </a:r>
            <a:endParaRPr lang="en-US" sz="1200" dirty="0"/>
          </a:p>
        </p:txBody>
      </p:sp>
      <p:sp>
        <p:nvSpPr>
          <p:cNvPr id="21" name="Text 15"/>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SPECIES · CALCOFI.IO/SPECIES</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A PAGE FOR EVERY ORGANISM CALCOFI HAS COUNTED</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Pacific sardine"/>
          <p:cNvPicPr>
            <a:picLocks noChangeAspect="1"/>
          </p:cNvPicPr>
          <p:nvPr/>
        </p:nvPicPr>
        <p:blipFill>
          <a:blip r:embed="rId5"/>
          <a:srcRect t="8663" b="8663"/>
          <a:stretch/>
        </p:blipFill>
        <p:spPr>
          <a:xfrm>
            <a:off x="812800" y="2006600"/>
            <a:ext cx="1936750" cy="1066800"/>
          </a:xfrm>
          <a:prstGeom prst="roundRect">
            <a:avLst>
              <a:gd name="adj" fmla="val 4762"/>
            </a:avLst>
          </a:prstGeom>
        </p:spPr>
      </p:pic>
      <p:sp>
        <p:nvSpPr>
          <p:cNvPr id="10" name="Text 5"/>
          <p:cNvSpPr/>
          <p:nvPr/>
        </p:nvSpPr>
        <p:spPr>
          <a:xfrm>
            <a:off x="812800" y="3111500"/>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Pacific sardine</a:t>
            </a:r>
            <a:endParaRPr lang="en-US" sz="1300" dirty="0"/>
          </a:p>
        </p:txBody>
      </p:sp>
      <p:sp>
        <p:nvSpPr>
          <p:cNvPr id="11" name="Text 6"/>
          <p:cNvSpPr/>
          <p:nvPr/>
        </p:nvSpPr>
        <p:spPr>
          <a:xfrm>
            <a:off x="812800" y="3339455"/>
            <a:ext cx="2176658"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harum.koh · iNaturalist · CC BY-SA 4.0</a:t>
            </a:r>
            <a:endParaRPr lang="en-US" sz="1200" dirty="0"/>
          </a:p>
        </p:txBody>
      </p:sp>
      <p:pic>
        <p:nvPicPr>
          <p:cNvPr id="12" name="Image 3" descr="Northern anchovy"/>
          <p:cNvPicPr>
            <a:picLocks noChangeAspect="1"/>
          </p:cNvPicPr>
          <p:nvPr/>
        </p:nvPicPr>
        <p:blipFill>
          <a:blip r:embed="rId6"/>
          <a:srcRect t="7711" b="7711"/>
          <a:stretch/>
        </p:blipFill>
        <p:spPr>
          <a:xfrm>
            <a:off x="2926060" y="2006600"/>
            <a:ext cx="1936750" cy="1066800"/>
          </a:xfrm>
          <a:prstGeom prst="roundRect">
            <a:avLst>
              <a:gd name="adj" fmla="val 4762"/>
            </a:avLst>
          </a:prstGeom>
        </p:spPr>
      </p:pic>
      <p:sp>
        <p:nvSpPr>
          <p:cNvPr id="13" name="Text 7"/>
          <p:cNvSpPr/>
          <p:nvPr/>
        </p:nvSpPr>
        <p:spPr>
          <a:xfrm>
            <a:off x="2926060" y="3111500"/>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Northern anchovy</a:t>
            </a:r>
            <a:endParaRPr lang="en-US" sz="1300" dirty="0"/>
          </a:p>
        </p:txBody>
      </p:sp>
      <p:sp>
        <p:nvSpPr>
          <p:cNvPr id="14" name="Text 8"/>
          <p:cNvSpPr/>
          <p:nvPr/>
        </p:nvSpPr>
        <p:spPr>
          <a:xfrm>
            <a:off x="2926060" y="3339455"/>
            <a:ext cx="2176658"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NOAA NURP · Commons · public domain</a:t>
            </a:r>
            <a:endParaRPr lang="en-US" sz="1200" dirty="0"/>
          </a:p>
        </p:txBody>
      </p:sp>
      <p:pic>
        <p:nvPicPr>
          <p:cNvPr id="15" name="Image 4" descr="Pacific hake"/>
          <p:cNvPicPr>
            <a:picLocks noChangeAspect="1"/>
          </p:cNvPicPr>
          <p:nvPr/>
        </p:nvPicPr>
        <p:blipFill>
          <a:blip r:embed="rId7"/>
          <a:srcRect t="13279" b="13279"/>
          <a:stretch/>
        </p:blipFill>
        <p:spPr>
          <a:xfrm>
            <a:off x="5039320" y="2006600"/>
            <a:ext cx="1936750" cy="1066800"/>
          </a:xfrm>
          <a:prstGeom prst="roundRect">
            <a:avLst>
              <a:gd name="adj" fmla="val 4762"/>
            </a:avLst>
          </a:prstGeom>
        </p:spPr>
      </p:pic>
      <p:sp>
        <p:nvSpPr>
          <p:cNvPr id="16" name="Text 9"/>
          <p:cNvSpPr/>
          <p:nvPr/>
        </p:nvSpPr>
        <p:spPr>
          <a:xfrm>
            <a:off x="5039320" y="3111500"/>
            <a:ext cx="2176709"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Pacific hake</a:t>
            </a:r>
            <a:endParaRPr lang="en-US" sz="1300" dirty="0"/>
          </a:p>
        </p:txBody>
      </p:sp>
      <p:sp>
        <p:nvSpPr>
          <p:cNvPr id="17" name="Text 10"/>
          <p:cNvSpPr/>
          <p:nvPr/>
        </p:nvSpPr>
        <p:spPr>
          <a:xfrm>
            <a:off x="5039320" y="3339455"/>
            <a:ext cx="2176709"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NOAA Photo Library · public domain</a:t>
            </a:r>
            <a:endParaRPr lang="en-US" sz="1200" dirty="0"/>
          </a:p>
        </p:txBody>
      </p:sp>
      <p:pic>
        <p:nvPicPr>
          <p:cNvPr id="18" name="Image 5" descr="Rockfishes (Sebastes)"/>
          <p:cNvPicPr>
            <a:picLocks noChangeAspect="1"/>
          </p:cNvPicPr>
          <p:nvPr/>
        </p:nvPicPr>
        <p:blipFill>
          <a:blip r:embed="rId8"/>
          <a:srcRect t="8740" b="8740"/>
          <a:stretch/>
        </p:blipFill>
        <p:spPr>
          <a:xfrm>
            <a:off x="7152630" y="2006600"/>
            <a:ext cx="1936750" cy="1066800"/>
          </a:xfrm>
          <a:prstGeom prst="roundRect">
            <a:avLst>
              <a:gd name="adj" fmla="val 4762"/>
            </a:avLst>
          </a:prstGeom>
        </p:spPr>
      </p:pic>
      <p:sp>
        <p:nvSpPr>
          <p:cNvPr id="19" name="Text 11"/>
          <p:cNvSpPr/>
          <p:nvPr/>
        </p:nvSpPr>
        <p:spPr>
          <a:xfrm>
            <a:off x="7152630" y="3111500"/>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Rockfishes (Sebastes)</a:t>
            </a:r>
            <a:endParaRPr lang="en-US" sz="1300" dirty="0"/>
          </a:p>
        </p:txBody>
      </p:sp>
      <p:sp>
        <p:nvSpPr>
          <p:cNvPr id="20" name="Text 12"/>
          <p:cNvSpPr/>
          <p:nvPr/>
        </p:nvSpPr>
        <p:spPr>
          <a:xfrm>
            <a:off x="7152630" y="3339455"/>
            <a:ext cx="2176658"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Chad King, SIMoN / MBNMS · public domain</a:t>
            </a:r>
            <a:endParaRPr lang="en-US" sz="1200" dirty="0"/>
          </a:p>
        </p:txBody>
      </p:sp>
      <p:pic>
        <p:nvPicPr>
          <p:cNvPr id="21" name="Image 6" descr="Market squid"/>
          <p:cNvPicPr>
            <a:picLocks noChangeAspect="1"/>
          </p:cNvPicPr>
          <p:nvPr/>
        </p:nvPicPr>
        <p:blipFill>
          <a:blip r:embed="rId9"/>
          <a:srcRect t="13279" b="13279"/>
          <a:stretch/>
        </p:blipFill>
        <p:spPr>
          <a:xfrm>
            <a:off x="9265890" y="2006600"/>
            <a:ext cx="1936750" cy="1066800"/>
          </a:xfrm>
          <a:prstGeom prst="roundRect">
            <a:avLst>
              <a:gd name="adj" fmla="val 4762"/>
            </a:avLst>
          </a:prstGeom>
        </p:spPr>
      </p:pic>
      <p:sp>
        <p:nvSpPr>
          <p:cNvPr id="22" name="Text 13"/>
          <p:cNvSpPr/>
          <p:nvPr/>
        </p:nvSpPr>
        <p:spPr>
          <a:xfrm>
            <a:off x="9265890" y="3111500"/>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Market squid</a:t>
            </a:r>
            <a:endParaRPr lang="en-US" sz="1300" dirty="0"/>
          </a:p>
        </p:txBody>
      </p:sp>
      <p:sp>
        <p:nvSpPr>
          <p:cNvPr id="23" name="Text 14"/>
          <p:cNvSpPr/>
          <p:nvPr/>
        </p:nvSpPr>
        <p:spPr>
          <a:xfrm>
            <a:off x="9265890" y="3339455"/>
            <a:ext cx="2176658"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Jackie H · iNaturalist · CC BY 4.0</a:t>
            </a:r>
            <a:endParaRPr lang="en-US" sz="1200" dirty="0"/>
          </a:p>
        </p:txBody>
      </p:sp>
      <p:pic>
        <p:nvPicPr>
          <p:cNvPr id="24" name="Image 7" descr="Pacific krill"/>
          <p:cNvPicPr>
            <a:picLocks noChangeAspect="1"/>
          </p:cNvPicPr>
          <p:nvPr/>
        </p:nvPicPr>
        <p:blipFill>
          <a:blip r:embed="rId10"/>
          <a:srcRect t="12273" b="12273"/>
          <a:stretch/>
        </p:blipFill>
        <p:spPr>
          <a:xfrm>
            <a:off x="812800" y="3705175"/>
            <a:ext cx="1936750" cy="1066800"/>
          </a:xfrm>
          <a:prstGeom prst="roundRect">
            <a:avLst>
              <a:gd name="adj" fmla="val 4762"/>
            </a:avLst>
          </a:prstGeom>
        </p:spPr>
      </p:pic>
      <p:sp>
        <p:nvSpPr>
          <p:cNvPr id="25" name="Text 15"/>
          <p:cNvSpPr/>
          <p:nvPr/>
        </p:nvSpPr>
        <p:spPr>
          <a:xfrm>
            <a:off x="812800" y="4810075"/>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Pacific krill</a:t>
            </a:r>
            <a:endParaRPr lang="en-US" sz="1300" dirty="0"/>
          </a:p>
        </p:txBody>
      </p:sp>
      <p:sp>
        <p:nvSpPr>
          <p:cNvPr id="26" name="Text 16"/>
          <p:cNvSpPr/>
          <p:nvPr/>
        </p:nvSpPr>
        <p:spPr>
          <a:xfrm>
            <a:off x="812800" y="5038030"/>
            <a:ext cx="2176658"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Jaime Gómez-Gutiérrez · Commons · CC BY-SA 3.0</a:t>
            </a:r>
            <a:endParaRPr lang="en-US" sz="1200" dirty="0"/>
          </a:p>
        </p:txBody>
      </p:sp>
      <p:pic>
        <p:nvPicPr>
          <p:cNvPr id="27" name="Image 8" descr="California spiny lobster"/>
          <p:cNvPicPr>
            <a:picLocks noChangeAspect="1"/>
          </p:cNvPicPr>
          <p:nvPr/>
        </p:nvPicPr>
        <p:blipFill>
          <a:blip r:embed="rId11"/>
          <a:srcRect t="13279" b="13279"/>
          <a:stretch/>
        </p:blipFill>
        <p:spPr>
          <a:xfrm>
            <a:off x="2926060" y="3705175"/>
            <a:ext cx="1936750" cy="1066800"/>
          </a:xfrm>
          <a:prstGeom prst="roundRect">
            <a:avLst>
              <a:gd name="adj" fmla="val 4762"/>
            </a:avLst>
          </a:prstGeom>
        </p:spPr>
      </p:pic>
      <p:sp>
        <p:nvSpPr>
          <p:cNvPr id="28" name="Text 17"/>
          <p:cNvSpPr/>
          <p:nvPr/>
        </p:nvSpPr>
        <p:spPr>
          <a:xfrm>
            <a:off x="2926060" y="4810075"/>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California spiny lobster</a:t>
            </a:r>
            <a:endParaRPr lang="en-US" sz="1300" dirty="0"/>
          </a:p>
        </p:txBody>
      </p:sp>
      <p:sp>
        <p:nvSpPr>
          <p:cNvPr id="29" name="Text 18"/>
          <p:cNvSpPr/>
          <p:nvPr/>
        </p:nvSpPr>
        <p:spPr>
          <a:xfrm>
            <a:off x="2926060" y="5038030"/>
            <a:ext cx="2176658"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DrKjaergaard (assumed) · CC BY-SA 2.5</a:t>
            </a:r>
            <a:endParaRPr lang="en-US" sz="1200" dirty="0"/>
          </a:p>
        </p:txBody>
      </p:sp>
      <p:pic>
        <p:nvPicPr>
          <p:cNvPr id="30" name="Image 9" descr="Dungeness crab"/>
          <p:cNvPicPr>
            <a:picLocks noChangeAspect="1"/>
          </p:cNvPicPr>
          <p:nvPr/>
        </p:nvPicPr>
        <p:blipFill>
          <a:blip r:embed="rId12"/>
          <a:srcRect t="8585" b="8585"/>
          <a:stretch/>
        </p:blipFill>
        <p:spPr>
          <a:xfrm>
            <a:off x="5039320" y="3705175"/>
            <a:ext cx="1936750" cy="1066800"/>
          </a:xfrm>
          <a:prstGeom prst="roundRect">
            <a:avLst>
              <a:gd name="adj" fmla="val 4762"/>
            </a:avLst>
          </a:prstGeom>
        </p:spPr>
      </p:pic>
      <p:sp>
        <p:nvSpPr>
          <p:cNvPr id="31" name="Text 19"/>
          <p:cNvSpPr/>
          <p:nvPr/>
        </p:nvSpPr>
        <p:spPr>
          <a:xfrm>
            <a:off x="5039320" y="4810075"/>
            <a:ext cx="2176709"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Dungeness crab</a:t>
            </a:r>
            <a:endParaRPr lang="en-US" sz="1300" dirty="0"/>
          </a:p>
        </p:txBody>
      </p:sp>
      <p:sp>
        <p:nvSpPr>
          <p:cNvPr id="32" name="Text 20"/>
          <p:cNvSpPr/>
          <p:nvPr/>
        </p:nvSpPr>
        <p:spPr>
          <a:xfrm>
            <a:off x="5039320" y="5038030"/>
            <a:ext cx="2176709"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Dan Boone · Commons · public domain</a:t>
            </a:r>
            <a:endParaRPr lang="en-US" sz="1200" dirty="0"/>
          </a:p>
        </p:txBody>
      </p:sp>
      <p:pic>
        <p:nvPicPr>
          <p:cNvPr id="33" name="Image 10" descr="Sooty shearwater"/>
          <p:cNvPicPr>
            <a:picLocks noChangeAspect="1"/>
          </p:cNvPicPr>
          <p:nvPr/>
        </p:nvPicPr>
        <p:blipFill>
          <a:blip r:embed="rId13"/>
          <a:srcRect t="11073" b="11073"/>
          <a:stretch/>
        </p:blipFill>
        <p:spPr>
          <a:xfrm>
            <a:off x="7152630" y="3705175"/>
            <a:ext cx="1936750" cy="1066800"/>
          </a:xfrm>
          <a:prstGeom prst="roundRect">
            <a:avLst>
              <a:gd name="adj" fmla="val 4762"/>
            </a:avLst>
          </a:prstGeom>
        </p:spPr>
      </p:pic>
      <p:sp>
        <p:nvSpPr>
          <p:cNvPr id="34" name="Text 21"/>
          <p:cNvSpPr/>
          <p:nvPr/>
        </p:nvSpPr>
        <p:spPr>
          <a:xfrm>
            <a:off x="7152630" y="4810075"/>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Sooty shearwater</a:t>
            </a:r>
            <a:endParaRPr lang="en-US" sz="1300" dirty="0"/>
          </a:p>
        </p:txBody>
      </p:sp>
      <p:sp>
        <p:nvSpPr>
          <p:cNvPr id="35" name="Text 22"/>
          <p:cNvSpPr/>
          <p:nvPr/>
        </p:nvSpPr>
        <p:spPr>
          <a:xfrm>
            <a:off x="7152630" y="5038030"/>
            <a:ext cx="2176658"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Don Loarie · iNaturalist · CC BY 4.0</a:t>
            </a:r>
            <a:endParaRPr lang="en-US" sz="1200" dirty="0"/>
          </a:p>
        </p:txBody>
      </p:sp>
      <p:pic>
        <p:nvPicPr>
          <p:cNvPr id="36" name="Image 11" descr="Humpback whale"/>
          <p:cNvPicPr>
            <a:picLocks noChangeAspect="1"/>
          </p:cNvPicPr>
          <p:nvPr/>
        </p:nvPicPr>
        <p:blipFill>
          <a:blip r:embed="rId14"/>
          <a:srcRect t="9199" b="9199"/>
          <a:stretch/>
        </p:blipFill>
        <p:spPr>
          <a:xfrm>
            <a:off x="9265890" y="3705175"/>
            <a:ext cx="1936750" cy="1066800"/>
          </a:xfrm>
          <a:prstGeom prst="roundRect">
            <a:avLst>
              <a:gd name="adj" fmla="val 4762"/>
            </a:avLst>
          </a:prstGeom>
        </p:spPr>
      </p:pic>
      <p:sp>
        <p:nvSpPr>
          <p:cNvPr id="37" name="Text 23"/>
          <p:cNvSpPr/>
          <p:nvPr/>
        </p:nvSpPr>
        <p:spPr>
          <a:xfrm>
            <a:off x="9265890" y="4810075"/>
            <a:ext cx="2176658" cy="21525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82B49"/>
                </a:solidFill>
                <a:latin typeface="Source Sans 3" pitchFamily="34" charset="0"/>
                <a:ea typeface="Source Sans 3" pitchFamily="34" charset="-122"/>
                <a:cs typeface="Source Sans 3" pitchFamily="34" charset="-120"/>
              </a:rPr>
              <a:t>Humpback whale</a:t>
            </a:r>
            <a:endParaRPr lang="en-US" sz="1300" dirty="0"/>
          </a:p>
        </p:txBody>
      </p:sp>
      <p:sp>
        <p:nvSpPr>
          <p:cNvPr id="38" name="Text 24"/>
          <p:cNvSpPr/>
          <p:nvPr/>
        </p:nvSpPr>
        <p:spPr>
          <a:xfrm>
            <a:off x="9265890" y="5038030"/>
            <a:ext cx="2176658"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66686A"/>
                </a:solidFill>
                <a:latin typeface="Source Sans 3" pitchFamily="34" charset="0"/>
                <a:ea typeface="Source Sans 3" pitchFamily="34" charset="-122"/>
                <a:cs typeface="Source Sans 3" pitchFamily="34" charset="-120"/>
              </a:rPr>
              <a:t>Louis M. Herman · Commons · public domain</a:t>
            </a:r>
            <a:endParaRPr lang="en-US" sz="1200" dirty="0"/>
          </a:p>
        </p:txBody>
      </p:sp>
      <p:sp>
        <p:nvSpPr>
          <p:cNvPr id="39" name="Text 2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15">
                  <a:extLst>
                    <a:ext uri="{A12FA001-AC4F-418D-AE19-62706E023703}">
                      <ahyp:hlinkClr xmlns:ahyp="http://schemas.microsoft.com/office/drawing/2018/hyperlinkcolor" val="tx"/>
                    </a:ext>
                  </a:extLst>
                </a:hlinkClick>
              </a:rPr>
              <a:t>calcofi.io/species/</a:t>
            </a:r>
            <a:endParaRPr lang="en-US" sz="1200" dirty="0"/>
          </a:p>
        </p:txBody>
      </p:sp>
      <p:sp>
        <p:nvSpPr>
          <p:cNvPr id="40" name="Text 2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SPECIES · THE OVERVIEW</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WALK THE TREE, SEE WHO COUNTED WHAT</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The species index: the search box, the taxonomic tree and the class by dataset matrix"/>
          <p:cNvPicPr>
            <a:picLocks noChangeAspect="1"/>
          </p:cNvPicPr>
          <p:nvPr/>
        </p:nvPicPr>
        <p:blipFill>
          <a:blip r:embed="rId5"/>
          <a:srcRect l="-65" r="-65"/>
          <a:stretch/>
        </p:blipFill>
        <p:spPr>
          <a:xfrm>
            <a:off x="819150" y="1949450"/>
            <a:ext cx="6718300" cy="4013200"/>
          </a:xfrm>
          <a:prstGeom prst="roundRect">
            <a:avLst>
              <a:gd name="adj" fmla="val 1741"/>
            </a:avLst>
          </a:prstGeom>
        </p:spPr>
      </p:pic>
      <p:sp>
        <p:nvSpPr>
          <p:cNvPr id="10" name="Shape 5"/>
          <p:cNvSpPr/>
          <p:nvPr/>
        </p:nvSpPr>
        <p:spPr>
          <a:xfrm>
            <a:off x="815975" y="1946275"/>
            <a:ext cx="6724650" cy="4019550"/>
          </a:xfrm>
          <a:prstGeom prst="roundRect">
            <a:avLst>
              <a:gd name="adj" fmla="val 1817"/>
            </a:avLst>
          </a:prstGeom>
          <a:noFill/>
          <a:ln w="6350">
            <a:solidFill>
              <a:srgbClr val="DDDDDD"/>
            </a:solidFill>
            <a:prstDash val="solid"/>
          </a:ln>
        </p:spPr>
        <p:txBody>
          <a:bodyPr/>
          <a:lstStyle/>
          <a:p>
            <a:endParaRPr lang="en-US"/>
          </a:p>
        </p:txBody>
      </p:sp>
      <p:sp>
        <p:nvSpPr>
          <p:cNvPr id="11" name="Shape 6"/>
          <p:cNvSpPr/>
          <p:nvPr/>
        </p:nvSpPr>
        <p:spPr>
          <a:xfrm>
            <a:off x="7912100" y="1943100"/>
            <a:ext cx="0" cy="689025"/>
          </a:xfrm>
          <a:prstGeom prst="line">
            <a:avLst/>
          </a:prstGeom>
          <a:noFill/>
          <a:ln w="25400">
            <a:solidFill>
              <a:srgbClr val="00629B"/>
            </a:solidFill>
            <a:prstDash val="solid"/>
          </a:ln>
        </p:spPr>
        <p:txBody>
          <a:bodyPr/>
          <a:lstStyle/>
          <a:p>
            <a:endParaRPr lang="en-US"/>
          </a:p>
        </p:txBody>
      </p:sp>
      <p:sp>
        <p:nvSpPr>
          <p:cNvPr id="12" name="Text 7"/>
          <p:cNvSpPr/>
          <p:nvPr/>
        </p:nvSpPr>
        <p:spPr>
          <a:xfrm>
            <a:off x="8051800" y="1955800"/>
            <a:ext cx="342722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2,410 pages</a:t>
            </a:r>
            <a:r>
              <a:rPr lang="en-US" sz="1300" dirty="0">
                <a:solidFill>
                  <a:srgbClr val="182B49"/>
                </a:solidFill>
                <a:latin typeface="Source Sans 3" pitchFamily="34" charset="0"/>
                <a:ea typeface="Source Sans 3" pitchFamily="34" charset="-122"/>
                <a:cs typeface="Source Sans 3" pitchFamily="34" charset="-120"/>
              </a:rPr>
              <a:t>: the 1,506 taxa observed plus their 904 ancestors — </a:t>
            </a:r>
            <a:r>
              <a:rPr lang="en-US" sz="1300" b="1" dirty="0">
                <a:solidFill>
                  <a:srgbClr val="182B49"/>
                </a:solidFill>
                <a:latin typeface="Source Sans 3" pitchFamily="34" charset="0"/>
                <a:ea typeface="Source Sans 3" pitchFamily="34" charset="-122"/>
                <a:cs typeface="Source Sans 3" pitchFamily="34" charset="-120"/>
              </a:rPr>
              <a:t>1,008 species</a:t>
            </a:r>
            <a:r>
              <a:rPr lang="en-US" sz="1300" dirty="0">
                <a:solidFill>
                  <a:srgbClr val="182B49"/>
                </a:solidFill>
                <a:latin typeface="Source Sans 3" pitchFamily="34" charset="0"/>
                <a:ea typeface="Source Sans 3" pitchFamily="34" charset="-122"/>
                <a:cs typeface="Source Sans 3" pitchFamily="34" charset="-120"/>
              </a:rPr>
              <a:t>, 10 datasets, 1,257,902 observations.</a:t>
            </a:r>
            <a:endParaRPr lang="en-US" sz="1300" dirty="0"/>
          </a:p>
        </p:txBody>
      </p:sp>
      <p:sp>
        <p:nvSpPr>
          <p:cNvPr id="13" name="Shape 8"/>
          <p:cNvSpPr/>
          <p:nvPr/>
        </p:nvSpPr>
        <p:spPr>
          <a:xfrm>
            <a:off x="7912100" y="2733725"/>
            <a:ext cx="0" cy="689025"/>
          </a:xfrm>
          <a:prstGeom prst="line">
            <a:avLst/>
          </a:prstGeom>
          <a:noFill/>
          <a:ln w="25400">
            <a:solidFill>
              <a:srgbClr val="00629B"/>
            </a:solidFill>
            <a:prstDash val="solid"/>
          </a:ln>
        </p:spPr>
        <p:txBody>
          <a:bodyPr/>
          <a:lstStyle/>
          <a:p>
            <a:endParaRPr lang="en-US"/>
          </a:p>
        </p:txBody>
      </p:sp>
      <p:sp>
        <p:nvSpPr>
          <p:cNvPr id="14" name="Text 9"/>
          <p:cNvSpPr/>
          <p:nvPr/>
        </p:nvSpPr>
        <p:spPr>
          <a:xfrm>
            <a:off x="8051800" y="2746425"/>
            <a:ext cx="342722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The tree</a:t>
            </a:r>
            <a:r>
              <a:rPr lang="en-US" sz="1300" dirty="0">
                <a:solidFill>
                  <a:srgbClr val="182B49"/>
                </a:solidFill>
                <a:latin typeface="Source Sans 3" pitchFamily="34" charset="0"/>
                <a:ea typeface="Source Sans 3" pitchFamily="34" charset="-122"/>
                <a:cs typeface="Source Sans 3" pitchFamily="34" charset="-120"/>
              </a:rPr>
              <a:t>, kingdom → species, folded to the major ranks; phylum and class </a:t>
            </a:r>
            <a:r>
              <a:rPr lang="en-US" sz="1300" b="1" dirty="0">
                <a:solidFill>
                  <a:srgbClr val="182B49"/>
                </a:solidFill>
                <a:latin typeface="Source Sans 3" pitchFamily="34" charset="0"/>
                <a:ea typeface="Source Sans 3" pitchFamily="34" charset="-122"/>
                <a:cs typeface="Source Sans 3" pitchFamily="34" charset="-120"/>
              </a:rPr>
              <a:t>silhouettes</a:t>
            </a:r>
            <a:r>
              <a:rPr lang="en-US" sz="1300" dirty="0">
                <a:solidFill>
                  <a:srgbClr val="182B49"/>
                </a:solidFill>
                <a:latin typeface="Source Sans 3" pitchFamily="34" charset="0"/>
                <a:ea typeface="Source Sans 3" pitchFamily="34" charset="-122"/>
                <a:cs typeface="Source Sans 3" pitchFamily="34" charset="-120"/>
              </a:rPr>
              <a:t>; counts and dataset dots on each node.</a:t>
            </a:r>
            <a:endParaRPr lang="en-US" sz="1300" dirty="0"/>
          </a:p>
        </p:txBody>
      </p:sp>
      <p:sp>
        <p:nvSpPr>
          <p:cNvPr id="15" name="Shape 10"/>
          <p:cNvSpPr/>
          <p:nvPr/>
        </p:nvSpPr>
        <p:spPr>
          <a:xfrm>
            <a:off x="7912100" y="3524349"/>
            <a:ext cx="0" cy="689025"/>
          </a:xfrm>
          <a:prstGeom prst="line">
            <a:avLst/>
          </a:prstGeom>
          <a:noFill/>
          <a:ln w="25400">
            <a:solidFill>
              <a:srgbClr val="00629B"/>
            </a:solidFill>
            <a:prstDash val="solid"/>
          </a:ln>
        </p:spPr>
        <p:txBody>
          <a:bodyPr/>
          <a:lstStyle/>
          <a:p>
            <a:endParaRPr lang="en-US"/>
          </a:p>
        </p:txBody>
      </p:sp>
      <p:sp>
        <p:nvSpPr>
          <p:cNvPr id="16" name="Text 11"/>
          <p:cNvSpPr/>
          <p:nvPr/>
        </p:nvSpPr>
        <p:spPr>
          <a:xfrm>
            <a:off x="8051800" y="3537049"/>
            <a:ext cx="342722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Which species, in which datasets</a:t>
            </a:r>
            <a:r>
              <a:rPr lang="en-US" sz="1300" dirty="0">
                <a:solidFill>
                  <a:srgbClr val="182B49"/>
                </a:solidFill>
                <a:latin typeface="Source Sans 3" pitchFamily="34" charset="0"/>
                <a:ea typeface="Source Sans 3" pitchFamily="34" charset="-122"/>
                <a:cs typeface="Source Sans 3" pitchFamily="34" charset="-120"/>
              </a:rPr>
              <a:t>: a class × dataset matrix — hover for the top three, click to open that class in the tree.</a:t>
            </a:r>
            <a:endParaRPr lang="en-US" sz="1300" dirty="0"/>
          </a:p>
        </p:txBody>
      </p:sp>
      <p:sp>
        <p:nvSpPr>
          <p:cNvPr id="17" name="Text 12"/>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6">
                  <a:extLst>
                    <a:ext uri="{A12FA001-AC4F-418D-AE19-62706E023703}">
                      <ahyp:hlinkClr xmlns:ahyp="http://schemas.microsoft.com/office/drawing/2018/hyperlinkcolor" val="tx"/>
                    </a:ext>
                  </a:extLst>
                </a:hlinkClick>
              </a:rPr>
              <a:t>calcofi.io/species/</a:t>
            </a:r>
            <a:endParaRPr lang="en-US" sz="1200" dirty="0"/>
          </a:p>
        </p:txBody>
      </p:sp>
      <p:sp>
        <p:nvSpPr>
          <p:cNvPr id="18" name="Text 13"/>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SPECIES · THE OVERVIEW, CONTINUED</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THE HIERARCHY, AND A LIST OF MATCHES</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The hierarchy: an icicle from kingdom to family, sized by observations"/>
          <p:cNvPicPr>
            <a:picLocks noChangeAspect="1"/>
          </p:cNvPicPr>
          <p:nvPr/>
        </p:nvPicPr>
        <p:blipFill>
          <a:blip r:embed="rId5"/>
          <a:srcRect l="-148" r="-148"/>
          <a:stretch/>
        </p:blipFill>
        <p:spPr>
          <a:xfrm>
            <a:off x="819150" y="2076450"/>
            <a:ext cx="6337300" cy="3105150"/>
          </a:xfrm>
          <a:prstGeom prst="roundRect">
            <a:avLst>
              <a:gd name="adj" fmla="val 2249"/>
            </a:avLst>
          </a:prstGeom>
        </p:spPr>
      </p:pic>
      <p:sp>
        <p:nvSpPr>
          <p:cNvPr id="10" name="Shape 5"/>
          <p:cNvSpPr/>
          <p:nvPr/>
        </p:nvSpPr>
        <p:spPr>
          <a:xfrm>
            <a:off x="815975" y="2073275"/>
            <a:ext cx="6343650" cy="3111500"/>
          </a:xfrm>
          <a:prstGeom prst="roundRect">
            <a:avLst>
              <a:gd name="adj" fmla="val 2347"/>
            </a:avLst>
          </a:prstGeom>
          <a:noFill/>
          <a:ln w="6350">
            <a:solidFill>
              <a:srgbClr val="DDDDDD"/>
            </a:solidFill>
            <a:prstDash val="solid"/>
          </a:ln>
        </p:spPr>
        <p:txBody>
          <a:bodyPr/>
          <a:lstStyle/>
          <a:p>
            <a:endParaRPr lang="en-US"/>
          </a:p>
        </p:txBody>
      </p:sp>
      <p:sp>
        <p:nvSpPr>
          <p:cNvPr id="11" name="Text 6"/>
          <p:cNvSpPr/>
          <p:nvPr/>
        </p:nvSpPr>
        <p:spPr>
          <a:xfrm>
            <a:off x="812800" y="5264150"/>
            <a:ext cx="654050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The hierarchy: kingdom → phylum → class → order → family, sized by observations (or by species).</a:t>
            </a:r>
            <a:endParaRPr lang="en-US" sz="1200" dirty="0"/>
          </a:p>
        </p:txBody>
      </p:sp>
      <p:pic>
        <p:nvPicPr>
          <p:cNvPr id="12" name="Image 3" descr="Search matches for sardin: Sardinops and Sardinops sagax"/>
          <p:cNvPicPr>
            <a:picLocks noChangeAspect="1"/>
          </p:cNvPicPr>
          <p:nvPr/>
        </p:nvPicPr>
        <p:blipFill>
          <a:blip r:embed="rId6"/>
          <a:stretch>
            <a:fillRect/>
          </a:stretch>
        </p:blipFill>
        <p:spPr>
          <a:xfrm>
            <a:off x="7602415" y="2076450"/>
            <a:ext cx="3692769" cy="342900"/>
          </a:xfrm>
          <a:prstGeom prst="rect">
            <a:avLst/>
          </a:prstGeom>
        </p:spPr>
      </p:pic>
      <p:sp>
        <p:nvSpPr>
          <p:cNvPr id="13" name="Shape 7"/>
          <p:cNvSpPr/>
          <p:nvPr/>
        </p:nvSpPr>
        <p:spPr>
          <a:xfrm>
            <a:off x="7521575" y="2073275"/>
            <a:ext cx="3854450" cy="349250"/>
          </a:xfrm>
          <a:prstGeom prst="roundRect">
            <a:avLst>
              <a:gd name="adj" fmla="val 20909"/>
            </a:avLst>
          </a:prstGeom>
          <a:noFill/>
          <a:ln w="6350">
            <a:solidFill>
              <a:srgbClr val="DDDDDD"/>
            </a:solidFill>
            <a:prstDash val="solid"/>
          </a:ln>
        </p:spPr>
        <p:txBody>
          <a:bodyPr/>
          <a:lstStyle/>
          <a:p>
            <a:endParaRPr lang="en-US"/>
          </a:p>
        </p:txBody>
      </p:sp>
      <p:sp>
        <p:nvSpPr>
          <p:cNvPr id="14" name="Text 8"/>
          <p:cNvSpPr/>
          <p:nvPr/>
        </p:nvSpPr>
        <p:spPr>
          <a:xfrm>
            <a:off x="7518400" y="2514600"/>
            <a:ext cx="3976624"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/species/?q=sardin → the Matches list.</a:t>
            </a:r>
            <a:endParaRPr lang="en-US" sz="1200" dirty="0"/>
          </a:p>
        </p:txBody>
      </p:sp>
      <p:sp>
        <p:nvSpPr>
          <p:cNvPr id="15" name="Shape 9"/>
          <p:cNvSpPr/>
          <p:nvPr/>
        </p:nvSpPr>
        <p:spPr>
          <a:xfrm>
            <a:off x="7531100" y="2801590"/>
            <a:ext cx="0" cy="467816"/>
          </a:xfrm>
          <a:prstGeom prst="line">
            <a:avLst/>
          </a:prstGeom>
          <a:noFill/>
          <a:ln w="25400">
            <a:solidFill>
              <a:srgbClr val="00629B"/>
            </a:solidFill>
            <a:prstDash val="solid"/>
          </a:ln>
        </p:spPr>
        <p:txBody>
          <a:bodyPr/>
          <a:lstStyle/>
          <a:p>
            <a:endParaRPr lang="en-US"/>
          </a:p>
        </p:txBody>
      </p:sp>
      <p:sp>
        <p:nvSpPr>
          <p:cNvPr id="16" name="Text 10"/>
          <p:cNvSpPr/>
          <p:nvPr/>
        </p:nvSpPr>
        <p:spPr>
          <a:xfrm>
            <a:off x="7670800" y="2814290"/>
            <a:ext cx="381965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The hierarchy</a:t>
            </a:r>
            <a:r>
              <a:rPr lang="en-US" sz="1300" dirty="0">
                <a:solidFill>
                  <a:srgbClr val="182B49"/>
                </a:solidFill>
                <a:latin typeface="Source Sans 3" pitchFamily="34" charset="0"/>
                <a:ea typeface="Source Sans 3" pitchFamily="34" charset="-122"/>
                <a:cs typeface="Source Sans 3" pitchFamily="34" charset="-120"/>
              </a:rPr>
              <a:t>: click a band to zoom into a clade; a breadcrumb climbs back out.</a:t>
            </a:r>
            <a:endParaRPr lang="en-US" sz="1300" dirty="0"/>
          </a:p>
        </p:txBody>
      </p:sp>
      <p:sp>
        <p:nvSpPr>
          <p:cNvPr id="17" name="Shape 11"/>
          <p:cNvSpPr/>
          <p:nvPr/>
        </p:nvSpPr>
        <p:spPr>
          <a:xfrm>
            <a:off x="7531100" y="3358307"/>
            <a:ext cx="0" cy="689025"/>
          </a:xfrm>
          <a:prstGeom prst="line">
            <a:avLst/>
          </a:prstGeom>
          <a:noFill/>
          <a:ln w="25400">
            <a:solidFill>
              <a:srgbClr val="00629B"/>
            </a:solidFill>
            <a:prstDash val="solid"/>
          </a:ln>
        </p:spPr>
        <p:txBody>
          <a:bodyPr/>
          <a:lstStyle/>
          <a:p>
            <a:endParaRPr lang="en-US"/>
          </a:p>
        </p:txBody>
      </p:sp>
      <p:sp>
        <p:nvSpPr>
          <p:cNvPr id="18" name="Text 12"/>
          <p:cNvSpPr/>
          <p:nvPr/>
        </p:nvSpPr>
        <p:spPr>
          <a:xfrm>
            <a:off x="7670800" y="3371007"/>
            <a:ext cx="381965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Matches</a:t>
            </a:r>
            <a:r>
              <a:rPr lang="en-US" sz="1300" dirty="0">
                <a:solidFill>
                  <a:srgbClr val="182B49"/>
                </a:solidFill>
                <a:latin typeface="Source Sans 3" pitchFamily="34" charset="0"/>
                <a:ea typeface="Source Sans 3" pitchFamily="34" charset="-122"/>
                <a:cs typeface="Source Sans 3" pitchFamily="34" charset="-120"/>
              </a:rPr>
              <a:t> (round 2): a query fills a flat list above the tree — most observed first — instead of only unfolding 2,410 nodes.</a:t>
            </a:r>
            <a:endParaRPr lang="en-US" sz="1300" dirty="0"/>
          </a:p>
        </p:txBody>
      </p:sp>
      <p:sp>
        <p:nvSpPr>
          <p:cNvPr id="19" name="Shape 13"/>
          <p:cNvSpPr/>
          <p:nvPr/>
        </p:nvSpPr>
        <p:spPr>
          <a:xfrm>
            <a:off x="7531100" y="4136231"/>
            <a:ext cx="0" cy="467816"/>
          </a:xfrm>
          <a:prstGeom prst="line">
            <a:avLst/>
          </a:prstGeom>
          <a:noFill/>
          <a:ln w="25400">
            <a:solidFill>
              <a:srgbClr val="00629B"/>
            </a:solidFill>
            <a:prstDash val="solid"/>
          </a:ln>
        </p:spPr>
        <p:txBody>
          <a:bodyPr/>
          <a:lstStyle/>
          <a:p>
            <a:endParaRPr lang="en-US"/>
          </a:p>
        </p:txBody>
      </p:sp>
      <p:sp>
        <p:nvSpPr>
          <p:cNvPr id="20" name="Text 14"/>
          <p:cNvSpPr/>
          <p:nvPr/>
        </p:nvSpPr>
        <p:spPr>
          <a:xfrm>
            <a:off x="7670800" y="4148931"/>
            <a:ext cx="381965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Every page is also </a:t>
            </a:r>
            <a:r>
              <a:rPr lang="en-US" sz="1300" b="1" dirty="0">
                <a:solidFill>
                  <a:srgbClr val="182B49"/>
                </a:solidFill>
                <a:latin typeface="Source Sans 3" pitchFamily="34" charset="0"/>
                <a:ea typeface="Source Sans 3" pitchFamily="34" charset="-122"/>
                <a:cs typeface="Source Sans 3" pitchFamily="34" charset="-120"/>
              </a:rPr>
              <a:t>data</a:t>
            </a:r>
            <a:r>
              <a:rPr lang="en-US" sz="1300" dirty="0">
                <a:solidFill>
                  <a:srgbClr val="182B49"/>
                </a:solidFill>
                <a:latin typeface="Source Sans 3" pitchFamily="34" charset="0"/>
                <a:ea typeface="Source Sans 3" pitchFamily="34" charset="-122"/>
                <a:cs typeface="Source Sans 3" pitchFamily="34" charset="-120"/>
              </a:rPr>
              <a:t>: schema.org Taxon JSON-LD, a {slug}.json and its own sitemap (2,411 URLs).</a:t>
            </a:r>
            <a:endParaRPr lang="en-US" sz="1300" dirty="0"/>
          </a:p>
        </p:txBody>
      </p:sp>
      <p:sp>
        <p:nvSpPr>
          <p:cNvPr id="21" name="Text 1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7">
                  <a:extLst>
                    <a:ext uri="{A12FA001-AC4F-418D-AE19-62706E023703}">
                      <ahyp:hlinkClr xmlns:ahyp="http://schemas.microsoft.com/office/drawing/2018/hyperlinkcolor" val="tx"/>
                    </a:ext>
                  </a:extLst>
                </a:hlinkClick>
              </a:rPr>
              <a:t>calcofi.io/species/?q=sardin</a:t>
            </a:r>
            <a:endParaRPr lang="en-US" sz="1200" dirty="0"/>
          </a:p>
        </p:txBody>
      </p:sp>
      <p:sp>
        <p:nvSpPr>
          <p:cNvPr id="22" name="Text 1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SPECIES · ONE PAGE</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EVERY SPECIES PAGE NOW HAS A FACE</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The Pacific sardine page head: silhouette, photo, size glance, sentence and counts"/>
          <p:cNvPicPr>
            <a:picLocks noChangeAspect="1"/>
          </p:cNvPicPr>
          <p:nvPr/>
        </p:nvPicPr>
        <p:blipFill>
          <a:blip r:embed="rId5"/>
          <a:srcRect l="-67" r="-67"/>
          <a:stretch/>
        </p:blipFill>
        <p:spPr>
          <a:xfrm>
            <a:off x="819150" y="2101850"/>
            <a:ext cx="4889500" cy="3619500"/>
          </a:xfrm>
          <a:prstGeom prst="roundRect">
            <a:avLst>
              <a:gd name="adj" fmla="val 1930"/>
            </a:avLst>
          </a:prstGeom>
        </p:spPr>
      </p:pic>
      <p:sp>
        <p:nvSpPr>
          <p:cNvPr id="10" name="Shape 5"/>
          <p:cNvSpPr/>
          <p:nvPr/>
        </p:nvSpPr>
        <p:spPr>
          <a:xfrm>
            <a:off x="815975" y="2098675"/>
            <a:ext cx="4895850" cy="3625850"/>
          </a:xfrm>
          <a:prstGeom prst="roundRect">
            <a:avLst>
              <a:gd name="adj" fmla="val 2014"/>
            </a:avLst>
          </a:prstGeom>
          <a:noFill/>
          <a:ln w="6350">
            <a:solidFill>
              <a:srgbClr val="DDDDDD"/>
            </a:solidFill>
            <a:prstDash val="solid"/>
          </a:ln>
        </p:spPr>
        <p:txBody>
          <a:bodyPr/>
          <a:lstStyle/>
          <a:p>
            <a:endParaRPr lang="en-US"/>
          </a:p>
        </p:txBody>
      </p:sp>
      <p:sp>
        <p:nvSpPr>
          <p:cNvPr id="11" name="Shape 6"/>
          <p:cNvSpPr/>
          <p:nvPr/>
        </p:nvSpPr>
        <p:spPr>
          <a:xfrm>
            <a:off x="6083300" y="2095500"/>
            <a:ext cx="0" cy="467816"/>
          </a:xfrm>
          <a:prstGeom prst="line">
            <a:avLst/>
          </a:prstGeom>
          <a:noFill/>
          <a:ln w="25400">
            <a:solidFill>
              <a:srgbClr val="00629B"/>
            </a:solidFill>
            <a:prstDash val="solid"/>
          </a:ln>
        </p:spPr>
        <p:txBody>
          <a:bodyPr/>
          <a:lstStyle/>
          <a:p>
            <a:endParaRPr lang="en-US"/>
          </a:p>
        </p:txBody>
      </p:sp>
      <p:sp>
        <p:nvSpPr>
          <p:cNvPr id="12" name="Text 7"/>
          <p:cNvSpPr/>
          <p:nvPr/>
        </p:nvSpPr>
        <p:spPr>
          <a:xfrm>
            <a:off x="6223000" y="2108200"/>
            <a:ext cx="5310886"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Silhouette</a:t>
            </a:r>
            <a:r>
              <a:rPr lang="en-US" sz="1300" dirty="0">
                <a:solidFill>
                  <a:srgbClr val="182B49"/>
                </a:solidFill>
                <a:latin typeface="Source Sans 3" pitchFamily="34" charset="0"/>
                <a:ea typeface="Source Sans 3" pitchFamily="34" charset="-122"/>
                <a:cs typeface="Source Sans 3" pitchFamily="34" charset="-120"/>
              </a:rPr>
              <a:t> on every page (PhyloPic, in the page’s ink): 2,396 of 2,410, noted when drawn from a relative.</a:t>
            </a:r>
            <a:endParaRPr lang="en-US" sz="1300" dirty="0"/>
          </a:p>
        </p:txBody>
      </p:sp>
      <p:sp>
        <p:nvSpPr>
          <p:cNvPr id="13" name="Shape 8"/>
          <p:cNvSpPr/>
          <p:nvPr/>
        </p:nvSpPr>
        <p:spPr>
          <a:xfrm>
            <a:off x="6083300" y="2652216"/>
            <a:ext cx="0" cy="467816"/>
          </a:xfrm>
          <a:prstGeom prst="line">
            <a:avLst/>
          </a:prstGeom>
          <a:noFill/>
          <a:ln w="25400">
            <a:solidFill>
              <a:srgbClr val="00629B"/>
            </a:solidFill>
            <a:prstDash val="solid"/>
          </a:ln>
        </p:spPr>
        <p:txBody>
          <a:bodyPr/>
          <a:lstStyle/>
          <a:p>
            <a:endParaRPr lang="en-US"/>
          </a:p>
        </p:txBody>
      </p:sp>
      <p:sp>
        <p:nvSpPr>
          <p:cNvPr id="14" name="Text 9"/>
          <p:cNvSpPr/>
          <p:nvPr/>
        </p:nvSpPr>
        <p:spPr>
          <a:xfrm>
            <a:off x="6223000" y="2664916"/>
            <a:ext cx="5310886"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Photo</a:t>
            </a:r>
            <a:r>
              <a:rPr lang="en-US" sz="1300" dirty="0">
                <a:solidFill>
                  <a:srgbClr val="182B49"/>
                </a:solidFill>
                <a:latin typeface="Source Sans 3" pitchFamily="34" charset="0"/>
                <a:ea typeface="Source Sans 3" pitchFamily="34" charset="-122"/>
                <a:cs typeface="Source Sans 3" pitchFamily="34" charset="-120"/>
              </a:rPr>
              <a:t> where the licence allows: 2,082 pages (86 %) from iNaturalist, Commons and GBIF — cached and credited.</a:t>
            </a:r>
            <a:endParaRPr lang="en-US" sz="1300" dirty="0"/>
          </a:p>
        </p:txBody>
      </p:sp>
      <p:sp>
        <p:nvSpPr>
          <p:cNvPr id="15" name="Shape 10"/>
          <p:cNvSpPr/>
          <p:nvPr/>
        </p:nvSpPr>
        <p:spPr>
          <a:xfrm>
            <a:off x="6083300" y="3208933"/>
            <a:ext cx="0" cy="467816"/>
          </a:xfrm>
          <a:prstGeom prst="line">
            <a:avLst/>
          </a:prstGeom>
          <a:noFill/>
          <a:ln w="25400">
            <a:solidFill>
              <a:srgbClr val="00629B"/>
            </a:solidFill>
            <a:prstDash val="solid"/>
          </a:ln>
        </p:spPr>
        <p:txBody>
          <a:bodyPr/>
          <a:lstStyle/>
          <a:p>
            <a:endParaRPr lang="en-US"/>
          </a:p>
        </p:txBody>
      </p:sp>
      <p:sp>
        <p:nvSpPr>
          <p:cNvPr id="16" name="Text 11"/>
          <p:cNvSpPr/>
          <p:nvPr/>
        </p:nvSpPr>
        <p:spPr>
          <a:xfrm>
            <a:off x="6223000" y="3221633"/>
            <a:ext cx="5310886"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Size glance</a:t>
            </a:r>
            <a:r>
              <a:rPr lang="en-US" sz="1300" dirty="0">
                <a:solidFill>
                  <a:srgbClr val="182B49"/>
                </a:solidFill>
                <a:latin typeface="Source Sans 3" pitchFamily="34" charset="0"/>
                <a:ea typeface="Source Sans 3" pitchFamily="34" charset="-122"/>
                <a:cs typeface="Source Sans 3" pitchFamily="34" charset="-120"/>
              </a:rPr>
              <a:t>: its maximum length beside the nearest familiar thing — here the bongo net ring; 718 taxa have a length.</a:t>
            </a:r>
            <a:endParaRPr lang="en-US" sz="1300" dirty="0"/>
          </a:p>
        </p:txBody>
      </p:sp>
      <p:sp>
        <p:nvSpPr>
          <p:cNvPr id="17" name="Shape 12"/>
          <p:cNvSpPr/>
          <p:nvPr/>
        </p:nvSpPr>
        <p:spPr>
          <a:xfrm>
            <a:off x="6083300" y="3765649"/>
            <a:ext cx="0" cy="467816"/>
          </a:xfrm>
          <a:prstGeom prst="line">
            <a:avLst/>
          </a:prstGeom>
          <a:noFill/>
          <a:ln w="25400">
            <a:solidFill>
              <a:srgbClr val="00629B"/>
            </a:solidFill>
            <a:prstDash val="solid"/>
          </a:ln>
        </p:spPr>
        <p:txBody>
          <a:bodyPr/>
          <a:lstStyle/>
          <a:p>
            <a:endParaRPr lang="en-US"/>
          </a:p>
        </p:txBody>
      </p:sp>
      <p:sp>
        <p:nvSpPr>
          <p:cNvPr id="18" name="Text 13"/>
          <p:cNvSpPr/>
          <p:nvPr/>
        </p:nvSpPr>
        <p:spPr>
          <a:xfrm>
            <a:off x="6223000" y="3778349"/>
            <a:ext cx="5310886"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The sentence</a:t>
            </a:r>
            <a:r>
              <a:rPr lang="en-US" sz="1300" dirty="0">
                <a:solidFill>
                  <a:srgbClr val="182B49"/>
                </a:solidFill>
                <a:latin typeface="Source Sans 3" pitchFamily="34" charset="0"/>
                <a:ea typeface="Source Sans 3" pitchFamily="34" charset="-122"/>
                <a:cs typeface="Source Sans 3" pitchFamily="34" charset="-120"/>
              </a:rPr>
              <a:t>: Wikipedia’s lead + CalCOFI’s own numbers, each part badged </a:t>
            </a:r>
            <a:r>
              <a:rPr lang="en-US" sz="1300" b="1" dirty="0">
                <a:solidFill>
                  <a:srgbClr val="182B49"/>
                </a:solidFill>
                <a:latin typeface="Source Sans 3" pitchFamily="34" charset="0"/>
                <a:ea typeface="Source Sans 3" pitchFamily="34" charset="-122"/>
                <a:cs typeface="Source Sans 3" pitchFamily="34" charset="-120"/>
              </a:rPr>
              <a:t>W</a:t>
            </a:r>
            <a:r>
              <a:rPr lang="en-US" sz="1300" dirty="0">
                <a:solidFill>
                  <a:srgbClr val="182B49"/>
                </a:solidFill>
                <a:latin typeface="Source Sans 3" pitchFamily="34" charset="0"/>
                <a:ea typeface="Source Sans 3" pitchFamily="34" charset="-122"/>
                <a:cs typeface="Source Sans 3" pitchFamily="34" charset="-120"/>
              </a:rPr>
              <a:t> or </a:t>
            </a:r>
            <a:r>
              <a:rPr lang="en-US" sz="1300" b="1" dirty="0">
                <a:solidFill>
                  <a:srgbClr val="182B49"/>
                </a:solidFill>
                <a:latin typeface="Source Sans 3" pitchFamily="34" charset="0"/>
                <a:ea typeface="Source Sans 3" pitchFamily="34" charset="-122"/>
                <a:cs typeface="Source Sans 3" pitchFamily="34" charset="-120"/>
              </a:rPr>
              <a:t>R</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19" name="Shape 14"/>
          <p:cNvSpPr/>
          <p:nvPr/>
        </p:nvSpPr>
        <p:spPr>
          <a:xfrm>
            <a:off x="6083300" y="4322366"/>
            <a:ext cx="0" cy="246608"/>
          </a:xfrm>
          <a:prstGeom prst="line">
            <a:avLst/>
          </a:prstGeom>
          <a:noFill/>
          <a:ln w="25400">
            <a:solidFill>
              <a:srgbClr val="00629B"/>
            </a:solidFill>
            <a:prstDash val="solid"/>
          </a:ln>
        </p:spPr>
        <p:txBody>
          <a:bodyPr/>
          <a:lstStyle/>
          <a:p>
            <a:endParaRPr lang="en-US"/>
          </a:p>
        </p:txBody>
      </p:sp>
      <p:sp>
        <p:nvSpPr>
          <p:cNvPr id="20" name="Text 15"/>
          <p:cNvSpPr/>
          <p:nvPr/>
        </p:nvSpPr>
        <p:spPr>
          <a:xfrm>
            <a:off x="6223000" y="4335066"/>
            <a:ext cx="5310886" cy="246608"/>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Observations</a:t>
            </a:r>
            <a:r>
              <a:rPr lang="en-US" sz="1300" dirty="0">
                <a:solidFill>
                  <a:srgbClr val="182B49"/>
                </a:solidFill>
                <a:latin typeface="Source Sans 3" pitchFamily="34" charset="0"/>
                <a:ea typeface="Source Sans 3" pitchFamily="34" charset="-122"/>
                <a:cs typeface="Source Sans 3" pitchFamily="34" charset="-120"/>
              </a:rPr>
              <a:t> (non-zero) beside </a:t>
            </a:r>
            <a:r>
              <a:rPr lang="en-US" sz="1300" b="1" dirty="0">
                <a:solidFill>
                  <a:srgbClr val="182B49"/>
                </a:solidFill>
                <a:latin typeface="Source Sans 3" pitchFamily="34" charset="0"/>
                <a:ea typeface="Source Sans 3" pitchFamily="34" charset="-122"/>
                <a:cs typeface="Source Sans 3" pitchFamily="34" charset="-120"/>
              </a:rPr>
              <a:t>records</a:t>
            </a:r>
            <a:r>
              <a:rPr lang="en-US" sz="1300" dirty="0">
                <a:solidFill>
                  <a:srgbClr val="182B49"/>
                </a:solidFill>
                <a:latin typeface="Source Sans 3" pitchFamily="34" charset="0"/>
                <a:ea typeface="Source Sans 3" pitchFamily="34" charset="-122"/>
                <a:cs typeface="Source Sans 3" pitchFamily="34" charset="-120"/>
              </a:rPr>
              <a:t>: 23,969 of 62,898 for the sardine.</a:t>
            </a:r>
            <a:endParaRPr lang="en-US" sz="1300" dirty="0"/>
          </a:p>
        </p:txBody>
      </p:sp>
      <p:sp>
        <p:nvSpPr>
          <p:cNvPr id="21" name="Text 16"/>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6">
                  <a:extLst>
                    <a:ext uri="{A12FA001-AC4F-418D-AE19-62706E023703}">
                      <ahyp:hlinkClr xmlns:ahyp="http://schemas.microsoft.com/office/drawing/2018/hyperlinkcolor" val="tx"/>
                    </a:ext>
                  </a:extLst>
                </a:hlinkClick>
              </a:rPr>
              <a:t>calcofi.io/species/worms-217452/</a:t>
            </a:r>
            <a:endParaRPr lang="en-US" sz="1200" dirty="0"/>
          </a:p>
        </p:txBody>
      </p:sp>
      <p:sp>
        <p:nvSpPr>
          <p:cNvPr id="22" name="Text 17"/>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SPECIES · ONE PAGE, BELOW THE FACE</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WHERE IT WAS COUNTED, HOW BIG, HOW TO GET IT</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Observed in, with the name each dataset uses, a years strip, and the Ways in tabs"/>
          <p:cNvPicPr>
            <a:picLocks noChangeAspect="1"/>
          </p:cNvPicPr>
          <p:nvPr/>
        </p:nvPicPr>
        <p:blipFill>
          <a:blip r:embed="rId5"/>
          <a:srcRect l="-255" r="-255"/>
          <a:stretch/>
        </p:blipFill>
        <p:spPr>
          <a:xfrm>
            <a:off x="819150" y="2051050"/>
            <a:ext cx="6210300" cy="1517650"/>
          </a:xfrm>
          <a:prstGeom prst="roundRect">
            <a:avLst>
              <a:gd name="adj" fmla="val 4603"/>
            </a:avLst>
          </a:prstGeom>
        </p:spPr>
      </p:pic>
      <p:sp>
        <p:nvSpPr>
          <p:cNvPr id="10" name="Shape 5"/>
          <p:cNvSpPr/>
          <p:nvPr/>
        </p:nvSpPr>
        <p:spPr>
          <a:xfrm>
            <a:off x="815975" y="2047875"/>
            <a:ext cx="6216650" cy="1524000"/>
          </a:xfrm>
          <a:prstGeom prst="roundRect">
            <a:avLst>
              <a:gd name="adj" fmla="val 4792"/>
            </a:avLst>
          </a:prstGeom>
          <a:noFill/>
          <a:ln w="6350">
            <a:solidFill>
              <a:srgbClr val="DDDDDD"/>
            </a:solidFill>
            <a:prstDash val="solid"/>
          </a:ln>
        </p:spPr>
        <p:txBody>
          <a:bodyPr/>
          <a:lstStyle/>
          <a:p>
            <a:endParaRPr lang="en-US"/>
          </a:p>
        </p:txBody>
      </p:sp>
      <p:pic>
        <p:nvPicPr>
          <p:cNvPr id="11" name="Image 3" descr="How big is it: a log ladder from a human hair to a research vessel, with the sardine’s life-stage lengths"/>
          <p:cNvPicPr>
            <a:picLocks noChangeAspect="1"/>
          </p:cNvPicPr>
          <p:nvPr/>
        </p:nvPicPr>
        <p:blipFill>
          <a:blip r:embed="rId6"/>
          <a:srcRect l="-134" r="-134"/>
          <a:stretch/>
        </p:blipFill>
        <p:spPr>
          <a:xfrm>
            <a:off x="819150" y="3683000"/>
            <a:ext cx="3035300" cy="2108200"/>
          </a:xfrm>
          <a:prstGeom prst="roundRect">
            <a:avLst>
              <a:gd name="adj" fmla="val 3313"/>
            </a:avLst>
          </a:prstGeom>
        </p:spPr>
      </p:pic>
      <p:sp>
        <p:nvSpPr>
          <p:cNvPr id="12" name="Shape 6"/>
          <p:cNvSpPr/>
          <p:nvPr/>
        </p:nvSpPr>
        <p:spPr>
          <a:xfrm>
            <a:off x="815975" y="3679825"/>
            <a:ext cx="3041650" cy="2114550"/>
          </a:xfrm>
          <a:prstGeom prst="roundRect">
            <a:avLst>
              <a:gd name="adj" fmla="val 3453"/>
            </a:avLst>
          </a:prstGeom>
          <a:noFill/>
          <a:ln w="6350">
            <a:solidFill>
              <a:srgbClr val="DDDDDD"/>
            </a:solidFill>
            <a:prstDash val="solid"/>
          </a:ln>
        </p:spPr>
        <p:txBody>
          <a:bodyPr/>
          <a:lstStyle/>
          <a:p>
            <a:endParaRPr lang="en-US"/>
          </a:p>
        </p:txBody>
      </p:sp>
      <p:pic>
        <p:nvPicPr>
          <p:cNvPr id="13" name="Image 4" descr="The larval plate for the Pacific sardine from NOAA AFSC"/>
          <p:cNvPicPr>
            <a:picLocks noChangeAspect="1"/>
          </p:cNvPicPr>
          <p:nvPr/>
        </p:nvPicPr>
        <p:blipFill>
          <a:blip r:embed="rId7"/>
          <a:srcRect l="-102" r="-102"/>
          <a:stretch/>
        </p:blipFill>
        <p:spPr>
          <a:xfrm>
            <a:off x="3994150" y="3683000"/>
            <a:ext cx="2628900" cy="2108200"/>
          </a:xfrm>
          <a:prstGeom prst="roundRect">
            <a:avLst>
              <a:gd name="adj" fmla="val 3313"/>
            </a:avLst>
          </a:prstGeom>
        </p:spPr>
      </p:pic>
      <p:sp>
        <p:nvSpPr>
          <p:cNvPr id="14" name="Shape 7"/>
          <p:cNvSpPr/>
          <p:nvPr/>
        </p:nvSpPr>
        <p:spPr>
          <a:xfrm>
            <a:off x="3990975" y="3679825"/>
            <a:ext cx="2635250" cy="2114550"/>
          </a:xfrm>
          <a:prstGeom prst="roundRect">
            <a:avLst>
              <a:gd name="adj" fmla="val 3453"/>
            </a:avLst>
          </a:prstGeom>
          <a:noFill/>
          <a:ln w="6350">
            <a:solidFill>
              <a:srgbClr val="DDDDDD"/>
            </a:solidFill>
            <a:prstDash val="solid"/>
          </a:ln>
        </p:spPr>
        <p:txBody>
          <a:bodyPr/>
          <a:lstStyle/>
          <a:p>
            <a:endParaRPr lang="en-US"/>
          </a:p>
        </p:txBody>
      </p:sp>
      <p:sp>
        <p:nvSpPr>
          <p:cNvPr id="15" name="Shape 8"/>
          <p:cNvSpPr/>
          <p:nvPr/>
        </p:nvSpPr>
        <p:spPr>
          <a:xfrm>
            <a:off x="7404100" y="2044700"/>
            <a:ext cx="0" cy="689025"/>
          </a:xfrm>
          <a:prstGeom prst="line">
            <a:avLst/>
          </a:prstGeom>
          <a:noFill/>
          <a:ln w="25400">
            <a:solidFill>
              <a:srgbClr val="00629B"/>
            </a:solidFill>
            <a:prstDash val="solid"/>
          </a:ln>
        </p:spPr>
        <p:txBody>
          <a:bodyPr/>
          <a:lstStyle/>
          <a:p>
            <a:endParaRPr lang="en-US"/>
          </a:p>
        </p:txBody>
      </p:sp>
      <p:sp>
        <p:nvSpPr>
          <p:cNvPr id="16" name="Text 9"/>
          <p:cNvSpPr/>
          <p:nvPr/>
        </p:nvSpPr>
        <p:spPr>
          <a:xfrm>
            <a:off x="7543800" y="2057400"/>
            <a:ext cx="395046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Observed in</a:t>
            </a:r>
            <a:r>
              <a:rPr lang="en-US" sz="1300" dirty="0">
                <a:solidFill>
                  <a:srgbClr val="182B49"/>
                </a:solidFill>
                <a:latin typeface="Source Sans 3" pitchFamily="34" charset="0"/>
                <a:ea typeface="Source Sans 3" pitchFamily="34" charset="-122"/>
                <a:cs typeface="Source Sans 3" pitchFamily="34" charset="-120"/>
              </a:rPr>
              <a:t>: one row per dataset, with the name that dataset uses (code 19, sardinops_sagax) and a years strip.</a:t>
            </a:r>
            <a:endParaRPr lang="en-US" sz="1300" dirty="0"/>
          </a:p>
        </p:txBody>
      </p:sp>
      <p:sp>
        <p:nvSpPr>
          <p:cNvPr id="17" name="Shape 10"/>
          <p:cNvSpPr/>
          <p:nvPr/>
        </p:nvSpPr>
        <p:spPr>
          <a:xfrm>
            <a:off x="7404100" y="2822625"/>
            <a:ext cx="0" cy="689025"/>
          </a:xfrm>
          <a:prstGeom prst="line">
            <a:avLst/>
          </a:prstGeom>
          <a:noFill/>
          <a:ln w="25400">
            <a:solidFill>
              <a:srgbClr val="00629B"/>
            </a:solidFill>
            <a:prstDash val="solid"/>
          </a:ln>
        </p:spPr>
        <p:txBody>
          <a:bodyPr/>
          <a:lstStyle/>
          <a:p>
            <a:endParaRPr lang="en-US"/>
          </a:p>
        </p:txBody>
      </p:sp>
      <p:sp>
        <p:nvSpPr>
          <p:cNvPr id="18" name="Text 11"/>
          <p:cNvSpPr/>
          <p:nvPr/>
        </p:nvSpPr>
        <p:spPr>
          <a:xfrm>
            <a:off x="7543800" y="2835325"/>
            <a:ext cx="395046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How big is it</a:t>
            </a:r>
            <a:r>
              <a:rPr lang="en-US" sz="1300" dirty="0">
                <a:solidFill>
                  <a:srgbClr val="182B49"/>
                </a:solidFill>
                <a:latin typeface="Source Sans 3" pitchFamily="34" charset="0"/>
                <a:ea typeface="Source Sans 3" pitchFamily="34" charset="-122"/>
                <a:cs typeface="Source Sans 3" pitchFamily="34" charset="-120"/>
              </a:rPr>
              <a:t>: a log ladder from a human hair to R/V Reuben Lasker, with egg, hatching, flexion, transformation and adult.</a:t>
            </a:r>
            <a:endParaRPr lang="en-US" sz="1300" dirty="0"/>
          </a:p>
        </p:txBody>
      </p:sp>
      <p:sp>
        <p:nvSpPr>
          <p:cNvPr id="19" name="Shape 12"/>
          <p:cNvSpPr/>
          <p:nvPr/>
        </p:nvSpPr>
        <p:spPr>
          <a:xfrm>
            <a:off x="7404100" y="3600549"/>
            <a:ext cx="0" cy="467816"/>
          </a:xfrm>
          <a:prstGeom prst="line">
            <a:avLst/>
          </a:prstGeom>
          <a:noFill/>
          <a:ln w="25400">
            <a:solidFill>
              <a:srgbClr val="00629B"/>
            </a:solidFill>
            <a:prstDash val="solid"/>
          </a:ln>
        </p:spPr>
        <p:txBody>
          <a:bodyPr/>
          <a:lstStyle/>
          <a:p>
            <a:endParaRPr lang="en-US"/>
          </a:p>
        </p:txBody>
      </p:sp>
      <p:sp>
        <p:nvSpPr>
          <p:cNvPr id="20" name="Text 13"/>
          <p:cNvSpPr/>
          <p:nvPr/>
        </p:nvSpPr>
        <p:spPr>
          <a:xfrm>
            <a:off x="7543800" y="3613249"/>
            <a:ext cx="395046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Larval plate</a:t>
            </a:r>
            <a:r>
              <a:rPr lang="en-US" sz="1300" dirty="0">
                <a:solidFill>
                  <a:srgbClr val="182B49"/>
                </a:solidFill>
                <a:latin typeface="Source Sans 3" pitchFamily="34" charset="0"/>
                <a:ea typeface="Source Sans 3" pitchFamily="34" charset="-122"/>
                <a:cs typeface="Source Sans 3" pitchFamily="34" charset="-120"/>
              </a:rPr>
              <a:t> for 158 fishes: Matarese et al. 1989, via NOAA AFSC — public domain.</a:t>
            </a:r>
            <a:endParaRPr lang="en-US" sz="1300" dirty="0"/>
          </a:p>
        </p:txBody>
      </p:sp>
      <p:sp>
        <p:nvSpPr>
          <p:cNvPr id="21" name="Shape 14"/>
          <p:cNvSpPr/>
          <p:nvPr/>
        </p:nvSpPr>
        <p:spPr>
          <a:xfrm>
            <a:off x="7404100" y="4157266"/>
            <a:ext cx="0" cy="467816"/>
          </a:xfrm>
          <a:prstGeom prst="line">
            <a:avLst/>
          </a:prstGeom>
          <a:noFill/>
          <a:ln w="25400">
            <a:solidFill>
              <a:srgbClr val="00629B"/>
            </a:solidFill>
            <a:prstDash val="solid"/>
          </a:ln>
        </p:spPr>
        <p:txBody>
          <a:bodyPr/>
          <a:lstStyle/>
          <a:p>
            <a:endParaRPr lang="en-US"/>
          </a:p>
        </p:txBody>
      </p:sp>
      <p:sp>
        <p:nvSpPr>
          <p:cNvPr id="22" name="Text 15"/>
          <p:cNvSpPr/>
          <p:nvPr/>
        </p:nvSpPr>
        <p:spPr>
          <a:xfrm>
            <a:off x="7543800" y="4169966"/>
            <a:ext cx="395046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Ways in</a:t>
            </a:r>
            <a:r>
              <a:rPr lang="en-US" sz="1300" dirty="0">
                <a:solidFill>
                  <a:srgbClr val="182B49"/>
                </a:solidFill>
                <a:latin typeface="Source Sans 3" pitchFamily="34" charset="0"/>
                <a:ea typeface="Source Sans 3" pitchFamily="34" charset="-122"/>
                <a:cs typeface="Source Sans 3" pitchFamily="34" charset="-120"/>
              </a:rPr>
              <a:t>: Explorer and db-query buttons; ERDDAP · R · Python · JSON as tabs.</a:t>
            </a:r>
            <a:endParaRPr lang="en-US" sz="1300" dirty="0"/>
          </a:p>
        </p:txBody>
      </p:sp>
      <p:sp>
        <p:nvSpPr>
          <p:cNvPr id="23" name="Text 16"/>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8">
                  <a:extLst>
                    <a:ext uri="{A12FA001-AC4F-418D-AE19-62706E023703}">
                      <ahyp:hlinkClr xmlns:ahyp="http://schemas.microsoft.com/office/drawing/2018/hyperlinkcolor" val="tx"/>
                    </a:ext>
                  </a:extLst>
                </a:hlinkClick>
              </a:rPr>
              <a:t>calcofi.io/species/worms-217452/</a:t>
            </a:r>
            <a:endParaRPr lang="en-US" sz="1200" dirty="0"/>
          </a:p>
        </p:txBody>
      </p:sp>
      <p:sp>
        <p:nvSpPr>
          <p:cNvPr id="24" name="Text 17"/>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MEASUREMENTS · CALCOFI.IO/MEASUREMENTS</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MEASUREMENTS: ONE NAME PER QUANTITY</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Which measurements, in which datasets, in which years: one bar per dataset per measurement, 1949 to 2026"/>
          <p:cNvPicPr>
            <a:picLocks noChangeAspect="1"/>
          </p:cNvPicPr>
          <p:nvPr/>
        </p:nvPicPr>
        <p:blipFill>
          <a:blip r:embed="rId5"/>
          <a:srcRect l="-126" r="-126"/>
          <a:stretch/>
        </p:blipFill>
        <p:spPr>
          <a:xfrm>
            <a:off x="819150" y="2051050"/>
            <a:ext cx="6337300" cy="3270250"/>
          </a:xfrm>
          <a:prstGeom prst="roundRect">
            <a:avLst>
              <a:gd name="adj" fmla="val 2136"/>
            </a:avLst>
          </a:prstGeom>
        </p:spPr>
      </p:pic>
      <p:sp>
        <p:nvSpPr>
          <p:cNvPr id="10" name="Shape 5"/>
          <p:cNvSpPr/>
          <p:nvPr/>
        </p:nvSpPr>
        <p:spPr>
          <a:xfrm>
            <a:off x="815975" y="2047875"/>
            <a:ext cx="6343650" cy="3276600"/>
          </a:xfrm>
          <a:prstGeom prst="roundRect">
            <a:avLst>
              <a:gd name="adj" fmla="val 2229"/>
            </a:avLst>
          </a:prstGeom>
          <a:noFill/>
          <a:ln w="6350">
            <a:solidFill>
              <a:srgbClr val="DDDDDD"/>
            </a:solidFill>
            <a:prstDash val="solid"/>
          </a:ln>
        </p:spPr>
        <p:txBody>
          <a:bodyPr/>
          <a:lstStyle/>
          <a:p>
            <a:endParaRPr lang="en-US"/>
          </a:p>
        </p:txBody>
      </p:sp>
      <p:sp>
        <p:nvSpPr>
          <p:cNvPr id="11" name="Text 6"/>
          <p:cNvSpPr/>
          <p:nvPr/>
        </p:nvSpPr>
        <p:spPr>
          <a:xfrm>
            <a:off x="812800" y="5391150"/>
            <a:ext cx="654050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The timeline table: one bar per dataset, 1949 → 2026; hover for series, flag and NERC id.</a:t>
            </a:r>
            <a:endParaRPr lang="en-US" sz="1200" dirty="0"/>
          </a:p>
        </p:txBody>
      </p:sp>
      <p:pic>
        <p:nvPicPr>
          <p:cNvPr id="12" name="Image 3" descr="Category by dataset matrix and the list of the five datasets"/>
          <p:cNvPicPr>
            <a:picLocks noChangeAspect="1"/>
          </p:cNvPicPr>
          <p:nvPr/>
        </p:nvPicPr>
        <p:blipFill>
          <a:blip r:embed="rId6"/>
          <a:srcRect l="-126" r="-126"/>
          <a:stretch/>
        </p:blipFill>
        <p:spPr>
          <a:xfrm>
            <a:off x="7524750" y="2051050"/>
            <a:ext cx="3848100" cy="1885950"/>
          </a:xfrm>
          <a:prstGeom prst="roundRect">
            <a:avLst>
              <a:gd name="adj" fmla="val 3704"/>
            </a:avLst>
          </a:prstGeom>
        </p:spPr>
      </p:pic>
      <p:sp>
        <p:nvSpPr>
          <p:cNvPr id="13" name="Shape 7"/>
          <p:cNvSpPr/>
          <p:nvPr/>
        </p:nvSpPr>
        <p:spPr>
          <a:xfrm>
            <a:off x="7521575" y="2047875"/>
            <a:ext cx="3854450" cy="1892300"/>
          </a:xfrm>
          <a:prstGeom prst="roundRect">
            <a:avLst>
              <a:gd name="adj" fmla="val 3859"/>
            </a:avLst>
          </a:prstGeom>
          <a:noFill/>
          <a:ln w="6350">
            <a:solidFill>
              <a:srgbClr val="DDDDDD"/>
            </a:solidFill>
            <a:prstDash val="solid"/>
          </a:ln>
        </p:spPr>
        <p:txBody>
          <a:bodyPr/>
          <a:lstStyle/>
          <a:p>
            <a:endParaRPr lang="en-US"/>
          </a:p>
        </p:txBody>
      </p:sp>
      <p:sp>
        <p:nvSpPr>
          <p:cNvPr id="14" name="Shape 8"/>
          <p:cNvSpPr/>
          <p:nvPr/>
        </p:nvSpPr>
        <p:spPr>
          <a:xfrm>
            <a:off x="7531100" y="4057650"/>
            <a:ext cx="0" cy="689025"/>
          </a:xfrm>
          <a:prstGeom prst="line">
            <a:avLst/>
          </a:prstGeom>
          <a:noFill/>
          <a:ln w="25400">
            <a:solidFill>
              <a:srgbClr val="00629B"/>
            </a:solidFill>
            <a:prstDash val="solid"/>
          </a:ln>
        </p:spPr>
        <p:txBody>
          <a:bodyPr/>
          <a:lstStyle/>
          <a:p>
            <a:endParaRPr lang="en-US"/>
          </a:p>
        </p:txBody>
      </p:sp>
      <p:sp>
        <p:nvSpPr>
          <p:cNvPr id="15" name="Text 9"/>
          <p:cNvSpPr/>
          <p:nvPr/>
        </p:nvSpPr>
        <p:spPr>
          <a:xfrm>
            <a:off x="7670800" y="4070350"/>
            <a:ext cx="381965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89 measurements · 94 series · 5 datasets</a:t>
            </a:r>
            <a:r>
              <a:rPr lang="en-US" sz="1300" dirty="0">
                <a:solidFill>
                  <a:srgbClr val="182B49"/>
                </a:solidFill>
                <a:latin typeface="Source Sans 3" pitchFamily="34" charset="0"/>
                <a:ea typeface="Source Sans 3" pitchFamily="34" charset="-122"/>
                <a:cs typeface="Source Sans 3" pitchFamily="34" charset="-120"/>
              </a:rPr>
              <a:t>; 30 M values at release grain, 325 M at full resolution; 51 with a NERC concept.</a:t>
            </a:r>
            <a:endParaRPr lang="en-US" sz="1300" dirty="0"/>
          </a:p>
        </p:txBody>
      </p:sp>
      <p:sp>
        <p:nvSpPr>
          <p:cNvPr id="16" name="Shape 10"/>
          <p:cNvSpPr/>
          <p:nvPr/>
        </p:nvSpPr>
        <p:spPr>
          <a:xfrm>
            <a:off x="7531100" y="4835575"/>
            <a:ext cx="0" cy="689025"/>
          </a:xfrm>
          <a:prstGeom prst="line">
            <a:avLst/>
          </a:prstGeom>
          <a:noFill/>
          <a:ln w="25400">
            <a:solidFill>
              <a:srgbClr val="00629B"/>
            </a:solidFill>
            <a:prstDash val="solid"/>
          </a:ln>
        </p:spPr>
        <p:txBody>
          <a:bodyPr/>
          <a:lstStyle/>
          <a:p>
            <a:endParaRPr lang="en-US"/>
          </a:p>
        </p:txBody>
      </p:sp>
      <p:sp>
        <p:nvSpPr>
          <p:cNvPr id="17" name="Text 11"/>
          <p:cNvSpPr/>
          <p:nvPr/>
        </p:nvSpPr>
        <p:spPr>
          <a:xfrm>
            <a:off x="7670800" y="4848275"/>
            <a:ext cx="3819652"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One name</a:t>
            </a:r>
            <a:r>
              <a:rPr lang="en-US" sz="1300" dirty="0">
                <a:solidFill>
                  <a:srgbClr val="182B49"/>
                </a:solidFill>
                <a:latin typeface="Source Sans 3" pitchFamily="34" charset="0"/>
                <a:ea typeface="Source Sans 3" pitchFamily="34" charset="-122"/>
                <a:cs typeface="Source Sans 3" pitchFamily="34" charset="-120"/>
              </a:rPr>
              <a:t> only where concept, units and kind of sample match and they are not the same bottles: bottle temperature + CTD average = </a:t>
            </a:r>
            <a:r>
              <a:rPr lang="en-US" sz="1300" b="1" dirty="0">
                <a:solidFill>
                  <a:srgbClr val="182B49"/>
                </a:solidFill>
                <a:latin typeface="Source Sans 3" pitchFamily="34" charset="0"/>
                <a:ea typeface="Source Sans 3" pitchFamily="34" charset="-122"/>
                <a:cs typeface="Source Sans 3" pitchFamily="34" charset="-120"/>
              </a:rPr>
              <a:t>Temperature</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18" name="Text 12"/>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7">
                  <a:extLst>
                    <a:ext uri="{A12FA001-AC4F-418D-AE19-62706E023703}">
                      <ahyp:hlinkClr xmlns:ahyp="http://schemas.microsoft.com/office/drawing/2018/hyperlinkcolor" val="tx"/>
                    </a:ext>
                  </a:extLst>
                </a:hlinkClick>
              </a:rPr>
              <a:t>calcofi.io/measurements/</a:t>
            </a:r>
            <a:endParaRPr lang="en-US" sz="1200" dirty="0"/>
          </a:p>
        </p:txBody>
      </p:sp>
      <p:sp>
        <p:nvSpPr>
          <p:cNvPr id="19" name="Text 13"/>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MEASUREMENTS · ONE PAGE</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EVERY MEASUREMENT: WHAT, HOW, WHY</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The Temperature page head: counts, the What, How and Why faces, and the sentence"/>
          <p:cNvPicPr>
            <a:picLocks noChangeAspect="1"/>
          </p:cNvPicPr>
          <p:nvPr/>
        </p:nvPicPr>
        <p:blipFill>
          <a:blip r:embed="rId5"/>
          <a:srcRect l="-83" r="-83"/>
          <a:stretch/>
        </p:blipFill>
        <p:spPr>
          <a:xfrm>
            <a:off x="819150" y="2101850"/>
            <a:ext cx="5842000" cy="3619500"/>
          </a:xfrm>
          <a:prstGeom prst="roundRect">
            <a:avLst>
              <a:gd name="adj" fmla="val 1930"/>
            </a:avLst>
          </a:prstGeom>
        </p:spPr>
      </p:pic>
      <p:sp>
        <p:nvSpPr>
          <p:cNvPr id="10" name="Shape 5"/>
          <p:cNvSpPr/>
          <p:nvPr/>
        </p:nvSpPr>
        <p:spPr>
          <a:xfrm>
            <a:off x="815975" y="2098675"/>
            <a:ext cx="5848350" cy="3625850"/>
          </a:xfrm>
          <a:prstGeom prst="roundRect">
            <a:avLst>
              <a:gd name="adj" fmla="val 2014"/>
            </a:avLst>
          </a:prstGeom>
          <a:noFill/>
          <a:ln w="6350">
            <a:solidFill>
              <a:srgbClr val="DDDDDD"/>
            </a:solidFill>
            <a:prstDash val="solid"/>
          </a:ln>
        </p:spPr>
        <p:txBody>
          <a:bodyPr/>
          <a:lstStyle/>
          <a:p>
            <a:endParaRPr lang="en-US"/>
          </a:p>
        </p:txBody>
      </p:sp>
      <p:sp>
        <p:nvSpPr>
          <p:cNvPr id="11" name="Shape 6"/>
          <p:cNvSpPr/>
          <p:nvPr/>
        </p:nvSpPr>
        <p:spPr>
          <a:xfrm>
            <a:off x="7035800" y="2095500"/>
            <a:ext cx="0" cy="689025"/>
          </a:xfrm>
          <a:prstGeom prst="line">
            <a:avLst/>
          </a:prstGeom>
          <a:noFill/>
          <a:ln w="25400">
            <a:solidFill>
              <a:srgbClr val="00629B"/>
            </a:solidFill>
            <a:prstDash val="solid"/>
          </a:ln>
        </p:spPr>
        <p:txBody>
          <a:bodyPr/>
          <a:lstStyle/>
          <a:p>
            <a:endParaRPr lang="en-US"/>
          </a:p>
        </p:txBody>
      </p:sp>
      <p:sp>
        <p:nvSpPr>
          <p:cNvPr id="12" name="Text 7"/>
          <p:cNvSpPr/>
          <p:nvPr/>
        </p:nvSpPr>
        <p:spPr>
          <a:xfrm>
            <a:off x="7175500" y="2108200"/>
            <a:ext cx="4329811"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What</a:t>
            </a:r>
            <a:r>
              <a:rPr lang="en-US" sz="1300" dirty="0">
                <a:solidFill>
                  <a:srgbClr val="182B49"/>
                </a:solidFill>
                <a:latin typeface="Source Sans 3" pitchFamily="34" charset="0"/>
                <a:ea typeface="Source Sans 3" pitchFamily="34" charset="-122"/>
                <a:cs typeface="Source Sans 3" pitchFamily="34" charset="-120"/>
              </a:rPr>
              <a:t>: the variable’s own colour ramp over its declared bounds, the record’s 5–95 % window, and familiar marks — seawater freezes · a human body.</a:t>
            </a:r>
            <a:endParaRPr lang="en-US" sz="1300" dirty="0"/>
          </a:p>
        </p:txBody>
      </p:sp>
      <p:sp>
        <p:nvSpPr>
          <p:cNvPr id="13" name="Shape 8"/>
          <p:cNvSpPr/>
          <p:nvPr/>
        </p:nvSpPr>
        <p:spPr>
          <a:xfrm>
            <a:off x="7035800" y="2886125"/>
            <a:ext cx="0" cy="467816"/>
          </a:xfrm>
          <a:prstGeom prst="line">
            <a:avLst/>
          </a:prstGeom>
          <a:noFill/>
          <a:ln w="25400">
            <a:solidFill>
              <a:srgbClr val="00629B"/>
            </a:solidFill>
            <a:prstDash val="solid"/>
          </a:ln>
        </p:spPr>
        <p:txBody>
          <a:bodyPr/>
          <a:lstStyle/>
          <a:p>
            <a:endParaRPr lang="en-US"/>
          </a:p>
        </p:txBody>
      </p:sp>
      <p:sp>
        <p:nvSpPr>
          <p:cNvPr id="14" name="Text 9"/>
          <p:cNvSpPr/>
          <p:nvPr/>
        </p:nvSpPr>
        <p:spPr>
          <a:xfrm>
            <a:off x="7175500" y="2898825"/>
            <a:ext cx="4329811"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How</a:t>
            </a:r>
            <a:r>
              <a:rPr lang="en-US" sz="1300" dirty="0">
                <a:solidFill>
                  <a:srgbClr val="182B49"/>
                </a:solidFill>
                <a:latin typeface="Source Sans 3" pitchFamily="34" charset="0"/>
                <a:ea typeface="Source Sans 3" pitchFamily="34" charset="-122"/>
                <a:cs typeface="Source Sans 3" pitchFamily="34" charset="-120"/>
              </a:rPr>
              <a:t>: the method card, linked to its page on </a:t>
            </a:r>
            <a:r>
              <a:rPr lang="en-US" sz="1300" b="1" dirty="0">
                <a:solidFill>
                  <a:srgbClr val="182B49"/>
                </a:solidFill>
                <a:latin typeface="Source Sans 3" pitchFamily="34" charset="0"/>
                <a:ea typeface="Source Sans 3" pitchFamily="34" charset="-122"/>
                <a:cs typeface="Source Sans 3" pitchFamily="34" charset="-120"/>
              </a:rPr>
              <a:t>calcofi.org</a:t>
            </a:r>
            <a:r>
              <a:rPr lang="en-US" sz="1300" dirty="0">
                <a:solidFill>
                  <a:srgbClr val="182B49"/>
                </a:solidFill>
                <a:latin typeface="Source Sans 3" pitchFamily="34" charset="0"/>
                <a:ea typeface="Source Sans 3" pitchFamily="34" charset="-122"/>
                <a:cs typeface="Source Sans 3" pitchFamily="34" charset="-120"/>
              </a:rPr>
              <a:t> — 81 of 89 pages; none linked before round 2.</a:t>
            </a:r>
            <a:endParaRPr lang="en-US" sz="1300" dirty="0"/>
          </a:p>
        </p:txBody>
      </p:sp>
      <p:sp>
        <p:nvSpPr>
          <p:cNvPr id="15" name="Shape 10"/>
          <p:cNvSpPr/>
          <p:nvPr/>
        </p:nvSpPr>
        <p:spPr>
          <a:xfrm>
            <a:off x="7035800" y="3455541"/>
            <a:ext cx="0" cy="689025"/>
          </a:xfrm>
          <a:prstGeom prst="line">
            <a:avLst/>
          </a:prstGeom>
          <a:noFill/>
          <a:ln w="25400">
            <a:solidFill>
              <a:srgbClr val="00629B"/>
            </a:solidFill>
            <a:prstDash val="solid"/>
          </a:ln>
        </p:spPr>
        <p:txBody>
          <a:bodyPr/>
          <a:lstStyle/>
          <a:p>
            <a:endParaRPr lang="en-US"/>
          </a:p>
        </p:txBody>
      </p:sp>
      <p:sp>
        <p:nvSpPr>
          <p:cNvPr id="16" name="Text 11"/>
          <p:cNvSpPr/>
          <p:nvPr/>
        </p:nvSpPr>
        <p:spPr>
          <a:xfrm>
            <a:off x="7175500" y="3468241"/>
            <a:ext cx="4329811" cy="689025"/>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Why</a:t>
            </a:r>
            <a:r>
              <a:rPr lang="en-US" sz="1300" dirty="0">
                <a:solidFill>
                  <a:srgbClr val="182B49"/>
                </a:solidFill>
                <a:latin typeface="Source Sans 3" pitchFamily="34" charset="0"/>
                <a:ea typeface="Source Sans 3" pitchFamily="34" charset="-122"/>
                <a:cs typeface="Source Sans 3" pitchFamily="34" charset="-120"/>
              </a:rPr>
              <a:t>: the anomaly by depth band against the 1993–2013 normal, El Niño years shaded — +0.06 °C per decade at 200–500 m since 1984.</a:t>
            </a:r>
            <a:endParaRPr lang="en-US" sz="1300" dirty="0"/>
          </a:p>
        </p:txBody>
      </p:sp>
      <p:sp>
        <p:nvSpPr>
          <p:cNvPr id="17" name="Shape 12"/>
          <p:cNvSpPr/>
          <p:nvPr/>
        </p:nvSpPr>
        <p:spPr>
          <a:xfrm>
            <a:off x="7035800" y="4246166"/>
            <a:ext cx="0" cy="467816"/>
          </a:xfrm>
          <a:prstGeom prst="line">
            <a:avLst/>
          </a:prstGeom>
          <a:noFill/>
          <a:ln w="25400">
            <a:solidFill>
              <a:srgbClr val="00629B"/>
            </a:solidFill>
            <a:prstDash val="solid"/>
          </a:ln>
        </p:spPr>
        <p:txBody>
          <a:bodyPr/>
          <a:lstStyle/>
          <a:p>
            <a:endParaRPr lang="en-US"/>
          </a:p>
        </p:txBody>
      </p:sp>
      <p:sp>
        <p:nvSpPr>
          <p:cNvPr id="18" name="Text 13"/>
          <p:cNvSpPr/>
          <p:nvPr/>
        </p:nvSpPr>
        <p:spPr>
          <a:xfrm>
            <a:off x="7175500" y="4258866"/>
            <a:ext cx="4329811"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575 flagged</a:t>
            </a:r>
            <a:r>
              <a:rPr lang="en-US" sz="1300" dirty="0">
                <a:solidFill>
                  <a:srgbClr val="182B49"/>
                </a:solidFill>
                <a:latin typeface="Source Sans 3" pitchFamily="34" charset="0"/>
                <a:ea typeface="Source Sans 3" pitchFamily="34" charset="-122"/>
                <a:cs typeface="Source Sans 3" pitchFamily="34" charset="-120"/>
              </a:rPr>
              <a:t> is a pill; its ⓘ says what the Explorer and your code leave out.</a:t>
            </a:r>
            <a:endParaRPr lang="en-US" sz="1300" dirty="0"/>
          </a:p>
        </p:txBody>
      </p:sp>
      <p:sp>
        <p:nvSpPr>
          <p:cNvPr id="19" name="Text 14"/>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6">
                  <a:extLst>
                    <a:ext uri="{A12FA001-AC4F-418D-AE19-62706E023703}">
                      <ahyp:hlinkClr xmlns:ahyp="http://schemas.microsoft.com/office/drawing/2018/hyperlinkcolor" val="tx"/>
                    </a:ext>
                  </a:extLst>
                </a:hlinkClick>
              </a:rPr>
              <a:t>calcofi.io/measurements/temperature/</a:t>
            </a:r>
            <a:endParaRPr lang="en-US" sz="1200" dirty="0"/>
          </a:p>
        </p:txBody>
      </p:sp>
      <p:sp>
        <p:nvSpPr>
          <p:cNvPr id="20" name="Text 15"/>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MEASUREMENTS · THE FACES</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A FACE DRAWN FROM WHAT THE THING IS</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Nitrate face: the NO3 minus ion drawn from ChEBI"/>
          <p:cNvPicPr>
            <a:picLocks noChangeAspect="1"/>
          </p:cNvPicPr>
          <p:nvPr/>
        </p:nvPicPr>
        <p:blipFill>
          <a:blip r:embed="rId5"/>
          <a:srcRect l="-104" r="-104"/>
          <a:stretch/>
        </p:blipFill>
        <p:spPr>
          <a:xfrm>
            <a:off x="819150" y="2076450"/>
            <a:ext cx="3289300" cy="2133600"/>
          </a:xfrm>
          <a:prstGeom prst="roundRect">
            <a:avLst>
              <a:gd name="adj" fmla="val 3274"/>
            </a:avLst>
          </a:prstGeom>
        </p:spPr>
      </p:pic>
      <p:sp>
        <p:nvSpPr>
          <p:cNvPr id="10" name="Shape 5"/>
          <p:cNvSpPr/>
          <p:nvPr/>
        </p:nvSpPr>
        <p:spPr>
          <a:xfrm>
            <a:off x="815975" y="2073275"/>
            <a:ext cx="3295650" cy="2139950"/>
          </a:xfrm>
          <a:prstGeom prst="roundRect">
            <a:avLst>
              <a:gd name="adj" fmla="val 3412"/>
            </a:avLst>
          </a:prstGeom>
          <a:noFill/>
          <a:ln w="6350">
            <a:solidFill>
              <a:srgbClr val="DDDDDD"/>
            </a:solidFill>
            <a:prstDash val="solid"/>
          </a:ln>
        </p:spPr>
        <p:txBody>
          <a:bodyPr/>
          <a:lstStyle/>
          <a:p>
            <a:endParaRPr lang="en-US"/>
          </a:p>
        </p:txBody>
      </p:sp>
      <p:sp>
        <p:nvSpPr>
          <p:cNvPr id="11" name="Text 6"/>
          <p:cNvSpPr/>
          <p:nvPr/>
        </p:nvSpPr>
        <p:spPr>
          <a:xfrm>
            <a:off x="812800" y="4292600"/>
            <a:ext cx="3401060" cy="4215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82B49"/>
                </a:solidFill>
                <a:latin typeface="Source Sans 3" pitchFamily="34" charset="0"/>
                <a:ea typeface="Source Sans 3" pitchFamily="34" charset="-122"/>
                <a:cs typeface="Source Sans 3" pitchFamily="34" charset="-120"/>
              </a:rPr>
              <a:t>Structure</a:t>
            </a:r>
            <a:r>
              <a:rPr lang="en-US" sz="1200" dirty="0">
                <a:solidFill>
                  <a:srgbClr val="182B49"/>
                </a:solidFill>
                <a:latin typeface="Source Sans 3" pitchFamily="34" charset="0"/>
                <a:ea typeface="Source Sans 3" pitchFamily="34" charset="-122"/>
                <a:cs typeface="Source Sans 3" pitchFamily="34" charset="-120"/>
              </a:rPr>
              <a:t> — NO₃⁻ from ChEBI’s molfile, drawn by RDKit in the page’s own ink.</a:t>
            </a:r>
            <a:endParaRPr lang="en-US" sz="1200" dirty="0"/>
          </a:p>
        </p:txBody>
      </p:sp>
      <p:pic>
        <p:nvPicPr>
          <p:cNvPr id="12" name="Image 3" descr="Salinity face: the ions in a kilogram of seawater at the record’s median"/>
          <p:cNvPicPr>
            <a:picLocks noChangeAspect="1"/>
          </p:cNvPicPr>
          <p:nvPr/>
        </p:nvPicPr>
        <p:blipFill>
          <a:blip r:embed="rId6"/>
          <a:stretch>
            <a:fillRect/>
          </a:stretch>
        </p:blipFill>
        <p:spPr>
          <a:xfrm>
            <a:off x="4629471" y="2076450"/>
            <a:ext cx="2729859" cy="2133600"/>
          </a:xfrm>
          <a:prstGeom prst="rect">
            <a:avLst/>
          </a:prstGeom>
        </p:spPr>
      </p:pic>
      <p:sp>
        <p:nvSpPr>
          <p:cNvPr id="13" name="Shape 7"/>
          <p:cNvSpPr/>
          <p:nvPr/>
        </p:nvSpPr>
        <p:spPr>
          <a:xfrm>
            <a:off x="4346575" y="2073275"/>
            <a:ext cx="3295650" cy="2139950"/>
          </a:xfrm>
          <a:prstGeom prst="roundRect">
            <a:avLst>
              <a:gd name="adj" fmla="val 3412"/>
            </a:avLst>
          </a:prstGeom>
          <a:noFill/>
          <a:ln w="6350">
            <a:solidFill>
              <a:srgbClr val="DDDDDD"/>
            </a:solidFill>
            <a:prstDash val="solid"/>
          </a:ln>
        </p:spPr>
        <p:txBody>
          <a:bodyPr/>
          <a:lstStyle/>
          <a:p>
            <a:endParaRPr lang="en-US"/>
          </a:p>
        </p:txBody>
      </p:sp>
      <p:sp>
        <p:nvSpPr>
          <p:cNvPr id="14" name="Text 8"/>
          <p:cNvSpPr/>
          <p:nvPr/>
        </p:nvSpPr>
        <p:spPr>
          <a:xfrm>
            <a:off x="4343400" y="4292600"/>
            <a:ext cx="3401060" cy="4215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82B49"/>
                </a:solidFill>
                <a:latin typeface="Source Sans 3" pitchFamily="34" charset="0"/>
                <a:ea typeface="Source Sans 3" pitchFamily="34" charset="-122"/>
                <a:cs typeface="Source Sans 3" pitchFamily="34" charset="-120"/>
              </a:rPr>
              <a:t>Composition</a:t>
            </a:r>
            <a:r>
              <a:rPr lang="en-US" sz="1200" dirty="0">
                <a:solidFill>
                  <a:srgbClr val="182B49"/>
                </a:solidFill>
                <a:latin typeface="Source Sans 3" pitchFamily="34" charset="0"/>
                <a:ea typeface="Source Sans 3" pitchFamily="34" charset="-122"/>
                <a:cs typeface="Source Sans 3" pitchFamily="34" charset="-120"/>
              </a:rPr>
              <a:t> — 34.02 g of ions in a kilogram of seawater at the record’s median salinity.</a:t>
            </a:r>
            <a:endParaRPr lang="en-US" sz="1200" dirty="0"/>
          </a:p>
        </p:txBody>
      </p:sp>
      <p:pic>
        <p:nvPicPr>
          <p:cNvPr id="15" name="Image 4" descr="pH face: the universal indicator strip with vinegar, pure water and bleach"/>
          <p:cNvPicPr>
            <a:picLocks noChangeAspect="1"/>
          </p:cNvPicPr>
          <p:nvPr/>
        </p:nvPicPr>
        <p:blipFill>
          <a:blip r:embed="rId7"/>
          <a:srcRect l="-1321" r="-1321"/>
          <a:stretch/>
        </p:blipFill>
        <p:spPr>
          <a:xfrm>
            <a:off x="7880350" y="2076450"/>
            <a:ext cx="3289300" cy="2133600"/>
          </a:xfrm>
          <a:prstGeom prst="roundRect">
            <a:avLst>
              <a:gd name="adj" fmla="val 3274"/>
            </a:avLst>
          </a:prstGeom>
        </p:spPr>
      </p:pic>
      <p:sp>
        <p:nvSpPr>
          <p:cNvPr id="16" name="Shape 9"/>
          <p:cNvSpPr/>
          <p:nvPr/>
        </p:nvSpPr>
        <p:spPr>
          <a:xfrm>
            <a:off x="7877175" y="2073275"/>
            <a:ext cx="3295650" cy="2139950"/>
          </a:xfrm>
          <a:prstGeom prst="roundRect">
            <a:avLst>
              <a:gd name="adj" fmla="val 3412"/>
            </a:avLst>
          </a:prstGeom>
          <a:noFill/>
          <a:ln w="6350">
            <a:solidFill>
              <a:srgbClr val="DDDDDD"/>
            </a:solidFill>
            <a:prstDash val="solid"/>
          </a:ln>
        </p:spPr>
        <p:txBody>
          <a:bodyPr/>
          <a:lstStyle/>
          <a:p>
            <a:endParaRPr lang="en-US"/>
          </a:p>
        </p:txBody>
      </p:sp>
      <p:sp>
        <p:nvSpPr>
          <p:cNvPr id="17" name="Text 10"/>
          <p:cNvSpPr/>
          <p:nvPr/>
        </p:nvSpPr>
        <p:spPr>
          <a:xfrm>
            <a:off x="7874000" y="4292600"/>
            <a:ext cx="3401060" cy="4215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82B49"/>
                </a:solidFill>
                <a:latin typeface="Source Sans 3" pitchFamily="34" charset="0"/>
                <a:ea typeface="Source Sans 3" pitchFamily="34" charset="-122"/>
                <a:cs typeface="Source Sans 3" pitchFamily="34" charset="-120"/>
              </a:rPr>
              <a:t>Scale</a:t>
            </a:r>
            <a:r>
              <a:rPr lang="en-US" sz="1200" dirty="0">
                <a:solidFill>
                  <a:srgbClr val="182B49"/>
                </a:solidFill>
                <a:latin typeface="Source Sans 3" pitchFamily="34" charset="0"/>
                <a:ea typeface="Source Sans 3" pitchFamily="34" charset="-122"/>
                <a:cs typeface="Source Sans 3" pitchFamily="34" charset="-120"/>
              </a:rPr>
              <a:t> — pH on the indicator strip; wind on the Beaufort cells.</a:t>
            </a:r>
            <a:endParaRPr lang="en-US" sz="1200" dirty="0"/>
          </a:p>
        </p:txBody>
      </p:sp>
      <p:sp>
        <p:nvSpPr>
          <p:cNvPr id="18" name="Text 11"/>
          <p:cNvSpPr/>
          <p:nvPr/>
        </p:nvSpPr>
        <p:spPr>
          <a:xfrm>
            <a:off x="812800" y="4828480"/>
            <a:ext cx="10883392" cy="488255"/>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182B49"/>
                </a:solidFill>
                <a:latin typeface="Source Sans 3" pitchFamily="34" charset="0"/>
                <a:ea typeface="Source Sans 3" pitchFamily="34" charset="-122"/>
                <a:cs typeface="Source Sans 3" pitchFamily="34" charset="-120"/>
              </a:rPr>
              <a:t>51</a:t>
            </a:r>
            <a:r>
              <a:rPr lang="en-US" sz="1350" dirty="0">
                <a:solidFill>
                  <a:srgbClr val="182B49"/>
                </a:solidFill>
                <a:latin typeface="Source Sans 3" pitchFamily="34" charset="0"/>
                <a:ea typeface="Source Sans 3" pitchFamily="34" charset="-122"/>
                <a:cs typeface="Source Sans 3" pitchFamily="34" charset="-120"/>
              </a:rPr>
              <a:t> keys have a NERC concept — 26 structures, 13 compositions, 10 scales, 2 organisms. The rest </a:t>
            </a:r>
            <a:r>
              <a:rPr lang="en-US" sz="1350" b="1" dirty="0">
                <a:solidFill>
                  <a:srgbClr val="182B49"/>
                </a:solidFill>
                <a:latin typeface="Source Sans 3" pitchFamily="34" charset="0"/>
                <a:ea typeface="Source Sans 3" pitchFamily="34" charset="-122"/>
                <a:cs typeface="Source Sans 3" pitchFamily="34" charset="-120"/>
              </a:rPr>
              <a:t>stand in</a:t>
            </a:r>
            <a:r>
              <a:rPr lang="en-US" sz="1350" dirty="0">
                <a:solidFill>
                  <a:srgbClr val="182B49"/>
                </a:solidFill>
                <a:latin typeface="Source Sans 3" pitchFamily="34" charset="0"/>
                <a:ea typeface="Source Sans 3" pitchFamily="34" charset="-122"/>
                <a:cs typeface="Source Sans 3" pitchFamily="34" charset="-120"/>
              </a:rPr>
              <a:t> for what they estimate (19; an ISUS voltage wears nitrate’s face) or show their scale alone (16). Every mark is sourced or </a:t>
            </a:r>
            <a:r>
              <a:rPr lang="en-US" sz="1350" b="1" dirty="0">
                <a:solidFill>
                  <a:srgbClr val="182B49"/>
                </a:solidFill>
                <a:latin typeface="Source Sans 3" pitchFamily="34" charset="0"/>
                <a:ea typeface="Source Sans 3" pitchFamily="34" charset="-122"/>
                <a:cs typeface="Source Sans 3" pitchFamily="34" charset="-120"/>
              </a:rPr>
              <a:t>recomputed</a:t>
            </a:r>
            <a:r>
              <a:rPr lang="en-US" sz="1350" dirty="0">
                <a:solidFill>
                  <a:srgbClr val="182B49"/>
                </a:solidFill>
                <a:latin typeface="Source Sans 3" pitchFamily="34" charset="0"/>
                <a:ea typeface="Source Sans 3" pitchFamily="34" charset="-122"/>
                <a:cs typeface="Source Sans 3" pitchFamily="34" charset="-120"/>
              </a:rPr>
              <a:t> at build (gsw, PyCO2SYS).</a:t>
            </a:r>
            <a:endParaRPr lang="en-US" sz="1350" dirty="0"/>
          </a:p>
        </p:txBody>
      </p:sp>
      <p:sp>
        <p:nvSpPr>
          <p:cNvPr id="19" name="Text 12"/>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8">
                  <a:extLst>
                    <a:ext uri="{A12FA001-AC4F-418D-AE19-62706E023703}">
                      <ahyp:hlinkClr xmlns:ahyp="http://schemas.microsoft.com/office/drawing/2018/hyperlinkcolor" val="tx"/>
                    </a:ext>
                  </a:extLst>
                </a:hlinkClick>
              </a:rPr>
              <a:t>calcofi.io/measurements/nitrate/</a:t>
            </a:r>
            <a:endParaRPr lang="en-US" sz="1200" dirty="0"/>
          </a:p>
        </p:txBody>
      </p:sp>
      <p:sp>
        <p:nvSpPr>
          <p:cNvPr id="20" name="Text 13"/>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MEASUREMENTS · ONE PAGE, BELOW THE FACE</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THE RECORD, ITS HISTORY, AND EVERY WAY IN</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Measured in: the two series with their source and flag columns"/>
          <p:cNvPicPr>
            <a:picLocks noChangeAspect="1"/>
          </p:cNvPicPr>
          <p:nvPr/>
        </p:nvPicPr>
        <p:blipFill>
          <a:blip r:embed="rId5"/>
          <a:srcRect l="-80" r="-80"/>
          <a:stretch/>
        </p:blipFill>
        <p:spPr>
          <a:xfrm>
            <a:off x="819150" y="2076450"/>
            <a:ext cx="2438400" cy="1695450"/>
          </a:xfrm>
          <a:prstGeom prst="roundRect">
            <a:avLst>
              <a:gd name="adj" fmla="val 4120"/>
            </a:avLst>
          </a:prstGeom>
        </p:spPr>
      </p:pic>
      <p:sp>
        <p:nvSpPr>
          <p:cNvPr id="10" name="Shape 5"/>
          <p:cNvSpPr/>
          <p:nvPr/>
        </p:nvSpPr>
        <p:spPr>
          <a:xfrm>
            <a:off x="815975" y="2073275"/>
            <a:ext cx="2444750" cy="1701800"/>
          </a:xfrm>
          <a:prstGeom prst="roundRect">
            <a:avLst>
              <a:gd name="adj" fmla="val 4291"/>
            </a:avLst>
          </a:prstGeom>
          <a:noFill/>
          <a:ln w="6350">
            <a:solidFill>
              <a:srgbClr val="DDDDDD"/>
            </a:solidFill>
            <a:prstDash val="solid"/>
          </a:ln>
        </p:spPr>
        <p:txBody>
          <a:bodyPr/>
          <a:lstStyle/>
          <a:p>
            <a:endParaRPr lang="en-US"/>
          </a:p>
        </p:txBody>
      </p:sp>
      <p:sp>
        <p:nvSpPr>
          <p:cNvPr id="11" name="Text 6"/>
          <p:cNvSpPr/>
          <p:nvPr/>
        </p:nvSpPr>
        <p:spPr>
          <a:xfrm>
            <a:off x="812800" y="3854450"/>
            <a:ext cx="2524633" cy="61967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82B49"/>
                </a:solidFill>
                <a:latin typeface="Source Sans 3" pitchFamily="34" charset="0"/>
                <a:ea typeface="Source Sans 3" pitchFamily="34" charset="-122"/>
                <a:cs typeface="Source Sans 3" pitchFamily="34" charset="-120"/>
              </a:rPr>
              <a:t>Measured in</a:t>
            </a:r>
            <a:r>
              <a:rPr lang="en-US" sz="1200" dirty="0">
                <a:solidFill>
                  <a:srgbClr val="182B49"/>
                </a:solidFill>
                <a:latin typeface="Source Sans 3" pitchFamily="34" charset="0"/>
                <a:ea typeface="Source Sans 3" pitchFamily="34" charset="-122"/>
                <a:cs typeface="Source Sans 3" pitchFamily="34" charset="-120"/>
              </a:rPr>
              <a:t>: each series with its source column, flag column and pills (sensor mean, no flag at this grain).</a:t>
            </a:r>
            <a:endParaRPr lang="en-US" sz="1200" dirty="0"/>
          </a:p>
        </p:txBody>
      </p:sp>
      <p:pic>
        <p:nvPicPr>
          <p:cNvPr id="12" name="Image 3" descr="The record’s own history: anomaly bars by depth band with trends and El Niño shading"/>
          <p:cNvPicPr>
            <a:picLocks noChangeAspect="1"/>
          </p:cNvPicPr>
          <p:nvPr/>
        </p:nvPicPr>
        <p:blipFill>
          <a:blip r:embed="rId6"/>
          <a:srcRect l="-48" r="-48"/>
          <a:stretch/>
        </p:blipFill>
        <p:spPr>
          <a:xfrm>
            <a:off x="3524250" y="2076450"/>
            <a:ext cx="2438400" cy="1892300"/>
          </a:xfrm>
          <a:prstGeom prst="roundRect">
            <a:avLst>
              <a:gd name="adj" fmla="val 3691"/>
            </a:avLst>
          </a:prstGeom>
        </p:spPr>
      </p:pic>
      <p:sp>
        <p:nvSpPr>
          <p:cNvPr id="13" name="Shape 7"/>
          <p:cNvSpPr/>
          <p:nvPr/>
        </p:nvSpPr>
        <p:spPr>
          <a:xfrm>
            <a:off x="3521075" y="2073275"/>
            <a:ext cx="2444750" cy="1898650"/>
          </a:xfrm>
          <a:prstGeom prst="roundRect">
            <a:avLst>
              <a:gd name="adj" fmla="val 3846"/>
            </a:avLst>
          </a:prstGeom>
          <a:noFill/>
          <a:ln w="6350">
            <a:solidFill>
              <a:srgbClr val="DDDDDD"/>
            </a:solidFill>
            <a:prstDash val="solid"/>
          </a:ln>
        </p:spPr>
        <p:txBody>
          <a:bodyPr/>
          <a:lstStyle/>
          <a:p>
            <a:endParaRPr lang="en-US"/>
          </a:p>
        </p:txBody>
      </p:sp>
      <p:sp>
        <p:nvSpPr>
          <p:cNvPr id="14" name="Text 8"/>
          <p:cNvSpPr/>
          <p:nvPr/>
        </p:nvSpPr>
        <p:spPr>
          <a:xfrm>
            <a:off x="3517900" y="4051300"/>
            <a:ext cx="2524633" cy="61967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82B49"/>
                </a:solidFill>
                <a:latin typeface="Source Sans 3" pitchFamily="34" charset="0"/>
                <a:ea typeface="Source Sans 3" pitchFamily="34" charset="-122"/>
                <a:cs typeface="Source Sans 3" pitchFamily="34" charset="-120"/>
              </a:rPr>
              <a:t>The record’s own history</a:t>
            </a:r>
            <a:r>
              <a:rPr lang="en-US" sz="1200" dirty="0">
                <a:solidFill>
                  <a:srgbClr val="182B49"/>
                </a:solidFill>
                <a:latin typeface="Source Sans 3" pitchFamily="34" charset="0"/>
                <a:ea typeface="Source Sans 3" pitchFamily="34" charset="-122"/>
                <a:cs typeface="Source Sans 3" pitchFamily="34" charset="-120"/>
              </a:rPr>
              <a:t>: anomaly per depth band, each on its own scale, trend since 1984.</a:t>
            </a:r>
            <a:endParaRPr lang="en-US" sz="1200" dirty="0"/>
          </a:p>
        </p:txBody>
      </p:sp>
      <p:pic>
        <p:nvPicPr>
          <p:cNvPr id="15" name="Image 4" descr="Ways in: Explorer buttons, db-query and tabs for ERDDAP, Parquet, R, Python and JSON"/>
          <p:cNvPicPr>
            <a:picLocks noChangeAspect="1"/>
          </p:cNvPicPr>
          <p:nvPr/>
        </p:nvPicPr>
        <p:blipFill>
          <a:blip r:embed="rId7"/>
          <a:srcRect l="-93" r="-93"/>
          <a:stretch/>
        </p:blipFill>
        <p:spPr>
          <a:xfrm>
            <a:off x="6229350" y="2076450"/>
            <a:ext cx="2438400" cy="1955800"/>
          </a:xfrm>
          <a:prstGeom prst="roundRect">
            <a:avLst>
              <a:gd name="adj" fmla="val 3571"/>
            </a:avLst>
          </a:prstGeom>
        </p:spPr>
      </p:pic>
      <p:sp>
        <p:nvSpPr>
          <p:cNvPr id="16" name="Shape 9"/>
          <p:cNvSpPr/>
          <p:nvPr/>
        </p:nvSpPr>
        <p:spPr>
          <a:xfrm>
            <a:off x="6226175" y="2073275"/>
            <a:ext cx="2444750" cy="1962150"/>
          </a:xfrm>
          <a:prstGeom prst="roundRect">
            <a:avLst>
              <a:gd name="adj" fmla="val 3722"/>
            </a:avLst>
          </a:prstGeom>
          <a:noFill/>
          <a:ln w="6350">
            <a:solidFill>
              <a:srgbClr val="DDDDDD"/>
            </a:solidFill>
            <a:prstDash val="solid"/>
          </a:ln>
        </p:spPr>
        <p:txBody>
          <a:bodyPr/>
          <a:lstStyle/>
          <a:p>
            <a:endParaRPr lang="en-US"/>
          </a:p>
        </p:txBody>
      </p:sp>
      <p:sp>
        <p:nvSpPr>
          <p:cNvPr id="17" name="Text 10"/>
          <p:cNvSpPr/>
          <p:nvPr/>
        </p:nvSpPr>
        <p:spPr>
          <a:xfrm>
            <a:off x="6223000" y="4114800"/>
            <a:ext cx="2524633" cy="61967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82B49"/>
                </a:solidFill>
                <a:latin typeface="Source Sans 3" pitchFamily="34" charset="0"/>
                <a:ea typeface="Source Sans 3" pitchFamily="34" charset="-122"/>
                <a:cs typeface="Source Sans 3" pitchFamily="34" charset="-120"/>
              </a:rPr>
              <a:t>Ways in</a:t>
            </a:r>
            <a:r>
              <a:rPr lang="en-US" sz="1200" dirty="0">
                <a:solidFill>
                  <a:srgbClr val="182B49"/>
                </a:solidFill>
                <a:latin typeface="Source Sans 3" pitchFamily="34" charset="0"/>
                <a:ea typeface="Source Sans 3" pitchFamily="34" charset="-122"/>
                <a:cs typeface="Source Sans 3" pitchFamily="34" charset="-120"/>
              </a:rPr>
              <a:t>: Explorer (or a depth section vs normal), db-query; ERDDAP · Parquet · R · Python · JSON as tabs.</a:t>
            </a:r>
            <a:endParaRPr lang="en-US" sz="1200" dirty="0"/>
          </a:p>
        </p:txBody>
      </p:sp>
      <p:pic>
        <p:nvPicPr>
          <p:cNvPr id="18" name="Image 5" descr="By depth, by month, and range and quality as one chip line"/>
          <p:cNvPicPr>
            <a:picLocks noChangeAspect="1"/>
          </p:cNvPicPr>
          <p:nvPr/>
        </p:nvPicPr>
        <p:blipFill>
          <a:blip r:embed="rId8"/>
          <a:srcRect t="-60" b="-60"/>
          <a:stretch/>
        </p:blipFill>
        <p:spPr>
          <a:xfrm>
            <a:off x="8934450" y="2076450"/>
            <a:ext cx="2438400" cy="2266950"/>
          </a:xfrm>
          <a:prstGeom prst="roundRect">
            <a:avLst>
              <a:gd name="adj" fmla="val 3081"/>
            </a:avLst>
          </a:prstGeom>
        </p:spPr>
      </p:pic>
      <p:sp>
        <p:nvSpPr>
          <p:cNvPr id="19" name="Shape 11"/>
          <p:cNvSpPr/>
          <p:nvPr/>
        </p:nvSpPr>
        <p:spPr>
          <a:xfrm>
            <a:off x="8931275" y="2073275"/>
            <a:ext cx="2444750" cy="2273300"/>
          </a:xfrm>
          <a:prstGeom prst="roundRect">
            <a:avLst>
              <a:gd name="adj" fmla="val 3212"/>
            </a:avLst>
          </a:prstGeom>
          <a:noFill/>
          <a:ln w="6350">
            <a:solidFill>
              <a:srgbClr val="DDDDDD"/>
            </a:solidFill>
            <a:prstDash val="solid"/>
          </a:ln>
        </p:spPr>
        <p:txBody>
          <a:bodyPr/>
          <a:lstStyle/>
          <a:p>
            <a:endParaRPr lang="en-US"/>
          </a:p>
        </p:txBody>
      </p:sp>
      <p:sp>
        <p:nvSpPr>
          <p:cNvPr id="20" name="Text 12"/>
          <p:cNvSpPr/>
          <p:nvPr/>
        </p:nvSpPr>
        <p:spPr>
          <a:xfrm>
            <a:off x="8928100" y="4425950"/>
            <a:ext cx="2524633" cy="61967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82B49"/>
                </a:solidFill>
                <a:latin typeface="Source Sans 3" pitchFamily="34" charset="0"/>
                <a:ea typeface="Source Sans 3" pitchFamily="34" charset="-122"/>
                <a:cs typeface="Source Sans 3" pitchFamily="34" charset="-120"/>
              </a:rPr>
              <a:t>By depth · by month · range &amp; quality</a:t>
            </a:r>
            <a:r>
              <a:rPr lang="en-US" sz="1200" dirty="0">
                <a:solidFill>
                  <a:srgbClr val="182B49"/>
                </a:solidFill>
                <a:latin typeface="Source Sans 3" pitchFamily="34" charset="0"/>
                <a:ea typeface="Source Sans 3" pitchFamily="34" charset="-122"/>
                <a:cs typeface="Source Sans 3" pitchFamily="34" charset="-120"/>
              </a:rPr>
              <a:t>: bounds, observed, flagged and baseline in one line.</a:t>
            </a:r>
            <a:endParaRPr lang="en-US" sz="1200" dirty="0"/>
          </a:p>
        </p:txBody>
      </p:sp>
      <p:sp>
        <p:nvSpPr>
          <p:cNvPr id="21" name="Text 13"/>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9">
                  <a:extLst>
                    <a:ext uri="{A12FA001-AC4F-418D-AE19-62706E023703}">
                      <ahyp:hlinkClr xmlns:ahyp="http://schemas.microsoft.com/office/drawing/2018/hyperlinkcolor" val="tx"/>
                    </a:ext>
                  </a:extLst>
                </a:hlinkClick>
              </a:rPr>
              <a:t>calcofi.io/measurements/temperature/</a:t>
            </a:r>
            <a:endParaRPr lang="en-US" sz="1200" dirty="0"/>
          </a:p>
        </p:txBody>
      </p:sp>
      <p:sp>
        <p:nvSpPr>
          <p:cNvPr id="22" name="Text 14"/>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SPECIES &amp; MEASUREMENTS · ROUND 2</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LESS TEXT, MORE FIGURE</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Text 5"/>
          <p:cNvSpPr/>
          <p:nvPr/>
        </p:nvSpPr>
        <p:spPr>
          <a:xfrm>
            <a:off x="812800" y="2044700"/>
            <a:ext cx="51015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6500"/>
                </a:solidFill>
                <a:latin typeface="Source Sans 3" pitchFamily="34" charset="0"/>
                <a:ea typeface="Source Sans 3" pitchFamily="34" charset="-122"/>
                <a:cs typeface="Source Sans 3" pitchFamily="34" charset="-120"/>
              </a:rPr>
              <a:t>BEFORE · 9/15</a:t>
            </a:r>
            <a:endParaRPr lang="en-US" sz="1200" dirty="0"/>
          </a:p>
        </p:txBody>
      </p:sp>
      <p:pic>
        <p:nvPicPr>
          <p:cNvPr id="10" name="Image 2" descr="Before: a four-line heads-up paragraph about flagged values"/>
          <p:cNvPicPr>
            <a:picLocks noChangeAspect="1"/>
          </p:cNvPicPr>
          <p:nvPr/>
        </p:nvPicPr>
        <p:blipFill>
          <a:blip r:embed="rId5"/>
          <a:srcRect l="-1031" r="-1031"/>
          <a:stretch/>
        </p:blipFill>
        <p:spPr>
          <a:xfrm>
            <a:off x="819150" y="2327870"/>
            <a:ext cx="4940300" cy="584200"/>
          </a:xfrm>
          <a:prstGeom prst="roundRect">
            <a:avLst>
              <a:gd name="adj" fmla="val 11957"/>
            </a:avLst>
          </a:prstGeom>
        </p:spPr>
      </p:pic>
      <p:sp>
        <p:nvSpPr>
          <p:cNvPr id="11" name="Shape 6"/>
          <p:cNvSpPr/>
          <p:nvPr/>
        </p:nvSpPr>
        <p:spPr>
          <a:xfrm>
            <a:off x="815975" y="2324695"/>
            <a:ext cx="4946650" cy="590550"/>
          </a:xfrm>
          <a:prstGeom prst="roundRect">
            <a:avLst>
              <a:gd name="adj" fmla="val 12366"/>
            </a:avLst>
          </a:prstGeom>
          <a:noFill/>
          <a:ln w="6350">
            <a:solidFill>
              <a:srgbClr val="DDDDDD"/>
            </a:solidFill>
            <a:prstDash val="solid"/>
          </a:ln>
        </p:spPr>
        <p:txBody>
          <a:bodyPr/>
          <a:lstStyle/>
          <a:p>
            <a:endParaRPr lang="en-US"/>
          </a:p>
        </p:txBody>
      </p:sp>
      <p:sp>
        <p:nvSpPr>
          <p:cNvPr id="12" name="Text 7"/>
          <p:cNvSpPr/>
          <p:nvPr/>
        </p:nvSpPr>
        <p:spPr>
          <a:xfrm>
            <a:off x="812800" y="2981920"/>
            <a:ext cx="51015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57A1C"/>
                </a:solidFill>
                <a:latin typeface="Source Sans 3" pitchFamily="34" charset="0"/>
                <a:ea typeface="Source Sans 3" pitchFamily="34" charset="-122"/>
                <a:cs typeface="Source Sans 3" pitchFamily="34" charset="-120"/>
              </a:rPr>
              <a:t>AFTER · 9/16</a:t>
            </a:r>
            <a:endParaRPr lang="en-US" sz="1200" dirty="0"/>
          </a:p>
        </p:txBody>
      </p:sp>
      <p:pic>
        <p:nvPicPr>
          <p:cNvPr id="13" name="Image 3" descr="After: the flagged count as a pill in the stats band"/>
          <p:cNvPicPr>
            <a:picLocks noChangeAspect="1"/>
          </p:cNvPicPr>
          <p:nvPr/>
        </p:nvPicPr>
        <p:blipFill>
          <a:blip r:embed="rId6"/>
          <a:stretch>
            <a:fillRect/>
          </a:stretch>
        </p:blipFill>
        <p:spPr>
          <a:xfrm>
            <a:off x="901266" y="3265091"/>
            <a:ext cx="4776068" cy="349250"/>
          </a:xfrm>
          <a:prstGeom prst="rect">
            <a:avLst/>
          </a:prstGeom>
        </p:spPr>
      </p:pic>
      <p:sp>
        <p:nvSpPr>
          <p:cNvPr id="14" name="Shape 8"/>
          <p:cNvSpPr/>
          <p:nvPr/>
        </p:nvSpPr>
        <p:spPr>
          <a:xfrm>
            <a:off x="815975" y="3261916"/>
            <a:ext cx="4946650" cy="355600"/>
          </a:xfrm>
          <a:prstGeom prst="roundRect">
            <a:avLst>
              <a:gd name="adj" fmla="val 20536"/>
            </a:avLst>
          </a:prstGeom>
          <a:noFill/>
          <a:ln w="6350">
            <a:solidFill>
              <a:srgbClr val="DDDDDD"/>
            </a:solidFill>
            <a:prstDash val="solid"/>
          </a:ln>
        </p:spPr>
        <p:txBody>
          <a:bodyPr/>
          <a:lstStyle/>
          <a:p>
            <a:endParaRPr lang="en-US"/>
          </a:p>
        </p:txBody>
      </p:sp>
      <p:sp>
        <p:nvSpPr>
          <p:cNvPr id="15" name="Text 9"/>
          <p:cNvSpPr/>
          <p:nvPr/>
        </p:nvSpPr>
        <p:spPr>
          <a:xfrm>
            <a:off x="812800" y="3684191"/>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6500"/>
                </a:solidFill>
                <a:latin typeface="Source Sans 3" pitchFamily="34" charset="0"/>
                <a:ea typeface="Source Sans 3" pitchFamily="34" charset="-122"/>
                <a:cs typeface="Source Sans 3" pitchFamily="34" charset="-120"/>
              </a:rPr>
              <a:t>BEFORE</a:t>
            </a:r>
            <a:endParaRPr lang="en-US" sz="1200" dirty="0"/>
          </a:p>
        </p:txBody>
      </p:sp>
      <p:pic>
        <p:nvPicPr>
          <p:cNvPr id="16" name="Image 4" descr="Before: Range and quality as four paragraphs"/>
          <p:cNvPicPr>
            <a:picLocks noChangeAspect="1"/>
          </p:cNvPicPr>
          <p:nvPr/>
        </p:nvPicPr>
        <p:blipFill>
          <a:blip r:embed="rId7"/>
          <a:srcRect l="-151" r="-151"/>
          <a:stretch/>
        </p:blipFill>
        <p:spPr>
          <a:xfrm>
            <a:off x="819150" y="3954661"/>
            <a:ext cx="2273300" cy="1524000"/>
          </a:xfrm>
          <a:prstGeom prst="roundRect">
            <a:avLst>
              <a:gd name="adj" fmla="val 4583"/>
            </a:avLst>
          </a:prstGeom>
        </p:spPr>
      </p:pic>
      <p:sp>
        <p:nvSpPr>
          <p:cNvPr id="17" name="Shape 10"/>
          <p:cNvSpPr/>
          <p:nvPr/>
        </p:nvSpPr>
        <p:spPr>
          <a:xfrm>
            <a:off x="815975" y="3951486"/>
            <a:ext cx="2279650" cy="1530350"/>
          </a:xfrm>
          <a:prstGeom prst="roundRect">
            <a:avLst>
              <a:gd name="adj" fmla="val 4772"/>
            </a:avLst>
          </a:prstGeom>
          <a:noFill/>
          <a:ln w="6350">
            <a:solidFill>
              <a:srgbClr val="DDDDDD"/>
            </a:solidFill>
            <a:prstDash val="solid"/>
          </a:ln>
        </p:spPr>
        <p:txBody>
          <a:bodyPr/>
          <a:lstStyle/>
          <a:p>
            <a:endParaRPr lang="en-US"/>
          </a:p>
        </p:txBody>
      </p:sp>
      <p:sp>
        <p:nvSpPr>
          <p:cNvPr id="18" name="Text 11"/>
          <p:cNvSpPr/>
          <p:nvPr/>
        </p:nvSpPr>
        <p:spPr>
          <a:xfrm>
            <a:off x="3251200" y="3684191"/>
            <a:ext cx="259003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57A1C"/>
                </a:solidFill>
                <a:latin typeface="Source Sans 3" pitchFamily="34" charset="0"/>
                <a:ea typeface="Source Sans 3" pitchFamily="34" charset="-122"/>
                <a:cs typeface="Source Sans 3" pitchFamily="34" charset="-120"/>
              </a:rPr>
              <a:t>AFTER</a:t>
            </a:r>
            <a:endParaRPr lang="en-US" sz="1200" dirty="0"/>
          </a:p>
        </p:txBody>
      </p:sp>
      <p:pic>
        <p:nvPicPr>
          <p:cNvPr id="19" name="Image 5" descr="After: Range and quality as one chip line"/>
          <p:cNvPicPr>
            <a:picLocks noChangeAspect="1"/>
          </p:cNvPicPr>
          <p:nvPr/>
        </p:nvPicPr>
        <p:blipFill>
          <a:blip r:embed="rId8"/>
          <a:srcRect l="-813" r="-813"/>
          <a:stretch/>
        </p:blipFill>
        <p:spPr>
          <a:xfrm>
            <a:off x="3257550" y="3954661"/>
            <a:ext cx="2501900" cy="571500"/>
          </a:xfrm>
          <a:prstGeom prst="roundRect">
            <a:avLst>
              <a:gd name="adj" fmla="val 12222"/>
            </a:avLst>
          </a:prstGeom>
        </p:spPr>
      </p:pic>
      <p:sp>
        <p:nvSpPr>
          <p:cNvPr id="20" name="Shape 12"/>
          <p:cNvSpPr/>
          <p:nvPr/>
        </p:nvSpPr>
        <p:spPr>
          <a:xfrm>
            <a:off x="3254375" y="3951486"/>
            <a:ext cx="2508250" cy="577850"/>
          </a:xfrm>
          <a:prstGeom prst="roundRect">
            <a:avLst>
              <a:gd name="adj" fmla="val 12637"/>
            </a:avLst>
          </a:prstGeom>
          <a:noFill/>
          <a:ln w="6350">
            <a:solidFill>
              <a:srgbClr val="DDDDDD"/>
            </a:solidFill>
            <a:prstDash val="solid"/>
          </a:ln>
        </p:spPr>
        <p:txBody>
          <a:bodyPr/>
          <a:lstStyle/>
          <a:p>
            <a:endParaRPr lang="en-US"/>
          </a:p>
        </p:txBody>
      </p:sp>
      <p:sp>
        <p:nvSpPr>
          <p:cNvPr id="21" name="Shape 13"/>
          <p:cNvSpPr/>
          <p:nvPr/>
        </p:nvSpPr>
        <p:spPr>
          <a:xfrm>
            <a:off x="6134100" y="2044700"/>
            <a:ext cx="0" cy="255141"/>
          </a:xfrm>
          <a:prstGeom prst="line">
            <a:avLst/>
          </a:prstGeom>
          <a:noFill/>
          <a:ln w="25400">
            <a:solidFill>
              <a:srgbClr val="00629B"/>
            </a:solidFill>
            <a:prstDash val="solid"/>
          </a:ln>
        </p:spPr>
        <p:txBody>
          <a:bodyPr/>
          <a:lstStyle/>
          <a:p>
            <a:endParaRPr lang="en-US"/>
          </a:p>
        </p:txBody>
      </p:sp>
      <p:sp>
        <p:nvSpPr>
          <p:cNvPr id="22" name="Text 14"/>
          <p:cNvSpPr/>
          <p:nvPr/>
        </p:nvSpPr>
        <p:spPr>
          <a:xfrm>
            <a:off x="6273800" y="2057400"/>
            <a:ext cx="5258562" cy="255141"/>
          </a:xfrm>
          <a:prstGeom prst="rect">
            <a:avLst/>
          </a:prstGeom>
          <a:noFill/>
          <a:ln/>
        </p:spPr>
        <p:txBody>
          <a:bodyPr wrap="square" lIns="0" tIns="0" rIns="0" bIns="0" rtlCol="0" anchor="t">
            <a:normAutofit/>
          </a:bodyPr>
          <a:lstStyle/>
          <a:p>
            <a:pPr marL="0" indent="0" algn="l">
              <a:lnSpc>
                <a:spcPts val="1809"/>
              </a:lnSpc>
              <a:buNone/>
            </a:pPr>
            <a:r>
              <a:rPr lang="en-US" sz="1350" dirty="0">
                <a:solidFill>
                  <a:srgbClr val="182B49"/>
                </a:solidFill>
                <a:latin typeface="Source Sans 3" pitchFamily="34" charset="0"/>
                <a:ea typeface="Source Sans 3" pitchFamily="34" charset="-122"/>
                <a:cs typeface="Source Sans 3" pitchFamily="34" charset="-120"/>
              </a:rPr>
              <a:t>Temperature’s page: </a:t>
            </a:r>
            <a:r>
              <a:rPr lang="en-US" sz="1350" b="1" dirty="0">
                <a:solidFill>
                  <a:srgbClr val="182B49"/>
                </a:solidFill>
                <a:latin typeface="Source Sans 3" pitchFamily="34" charset="0"/>
                <a:ea typeface="Source Sans 3" pitchFamily="34" charset="-122"/>
                <a:cs typeface="Source Sans 3" pitchFamily="34" charset="-120"/>
              </a:rPr>
              <a:t>6,604 → 3,589 px</a:t>
            </a:r>
            <a:r>
              <a:rPr lang="en-US" sz="1350" dirty="0">
                <a:solidFill>
                  <a:srgbClr val="182B49"/>
                </a:solidFill>
                <a:latin typeface="Source Sans 3" pitchFamily="34" charset="0"/>
                <a:ea typeface="Source Sans 3" pitchFamily="34" charset="-122"/>
                <a:cs typeface="Source Sans 3" pitchFamily="34" charset="-120"/>
              </a:rPr>
              <a:t> tall at 1280 wide (−46 %).</a:t>
            </a:r>
            <a:endParaRPr lang="en-US" sz="1350" dirty="0"/>
          </a:p>
        </p:txBody>
      </p:sp>
      <p:sp>
        <p:nvSpPr>
          <p:cNvPr id="23" name="Shape 15"/>
          <p:cNvSpPr/>
          <p:nvPr/>
        </p:nvSpPr>
        <p:spPr>
          <a:xfrm>
            <a:off x="6134100" y="2414141"/>
            <a:ext cx="0" cy="484882"/>
          </a:xfrm>
          <a:prstGeom prst="line">
            <a:avLst/>
          </a:prstGeom>
          <a:noFill/>
          <a:ln w="25400">
            <a:solidFill>
              <a:srgbClr val="00629B"/>
            </a:solidFill>
            <a:prstDash val="solid"/>
          </a:ln>
        </p:spPr>
        <p:txBody>
          <a:bodyPr/>
          <a:lstStyle/>
          <a:p>
            <a:endParaRPr lang="en-US"/>
          </a:p>
        </p:txBody>
      </p:sp>
      <p:sp>
        <p:nvSpPr>
          <p:cNvPr id="24" name="Text 16"/>
          <p:cNvSpPr/>
          <p:nvPr/>
        </p:nvSpPr>
        <p:spPr>
          <a:xfrm>
            <a:off x="6273800" y="2426841"/>
            <a:ext cx="5258562" cy="484882"/>
          </a:xfrm>
          <a:prstGeom prst="rect">
            <a:avLst/>
          </a:prstGeom>
          <a:noFill/>
          <a:ln/>
        </p:spPr>
        <p:txBody>
          <a:bodyPr wrap="square" lIns="0" tIns="0" rIns="0" bIns="0" rtlCol="0" anchor="t">
            <a:normAutofit/>
          </a:bodyPr>
          <a:lstStyle/>
          <a:p>
            <a:pPr marL="0" indent="0" algn="l">
              <a:lnSpc>
                <a:spcPts val="1809"/>
              </a:lnSpc>
              <a:buNone/>
            </a:pPr>
            <a:r>
              <a:rPr lang="en-US" sz="1350" dirty="0">
                <a:solidFill>
                  <a:srgbClr val="182B49"/>
                </a:solidFill>
                <a:latin typeface="Source Sans 3" pitchFamily="34" charset="0"/>
                <a:ea typeface="Source Sans 3" pitchFamily="34" charset="-122"/>
                <a:cs typeface="Source Sans 3" pitchFamily="34" charset="-120"/>
              </a:rPr>
              <a:t>Six idioms, the same on every page: </a:t>
            </a:r>
            <a:r>
              <a:rPr lang="en-US" sz="1350" b="1" dirty="0">
                <a:solidFill>
                  <a:srgbClr val="182B49"/>
                </a:solidFill>
                <a:latin typeface="Source Sans 3" pitchFamily="34" charset="0"/>
                <a:ea typeface="Source Sans 3" pitchFamily="34" charset="-122"/>
                <a:cs typeface="Source Sans 3" pitchFamily="34" charset="-120"/>
              </a:rPr>
              <a:t>pill + ⓘ</a:t>
            </a:r>
            <a:r>
              <a:rPr lang="en-US" sz="1350" dirty="0">
                <a:solidFill>
                  <a:srgbClr val="182B49"/>
                </a:solidFill>
                <a:latin typeface="Source Sans 3" pitchFamily="34" charset="0"/>
                <a:ea typeface="Source Sans 3" pitchFamily="34" charset="-122"/>
                <a:cs typeface="Source Sans 3" pitchFamily="34" charset="-120"/>
              </a:rPr>
              <a:t> · </a:t>
            </a:r>
            <a:r>
              <a:rPr lang="en-US" sz="1350" b="1" dirty="0">
                <a:solidFill>
                  <a:srgbClr val="182B49"/>
                </a:solidFill>
                <a:latin typeface="Source Sans 3" pitchFamily="34" charset="0"/>
                <a:ea typeface="Source Sans 3" pitchFamily="34" charset="-122"/>
                <a:cs typeface="Source Sans 3" pitchFamily="34" charset="-120"/>
              </a:rPr>
              <a:t>tabsets</a:t>
            </a:r>
            <a:r>
              <a:rPr lang="en-US" sz="1350" dirty="0">
                <a:solidFill>
                  <a:srgbClr val="182B49"/>
                </a:solidFill>
                <a:latin typeface="Source Sans 3" pitchFamily="34" charset="0"/>
                <a:ea typeface="Source Sans 3" pitchFamily="34" charset="-122"/>
                <a:cs typeface="Source Sans 3" pitchFamily="34" charset="-120"/>
              </a:rPr>
              <a:t> · </a:t>
            </a:r>
            <a:r>
              <a:rPr lang="en-US" sz="1350" b="1" dirty="0">
                <a:solidFill>
                  <a:srgbClr val="182B49"/>
                </a:solidFill>
                <a:latin typeface="Source Sans 3" pitchFamily="34" charset="0"/>
                <a:ea typeface="Source Sans 3" pitchFamily="34" charset="-122"/>
                <a:cs typeface="Source Sans 3" pitchFamily="34" charset="-120"/>
              </a:rPr>
              <a:t>say it once</a:t>
            </a:r>
            <a:r>
              <a:rPr lang="en-US" sz="1350" dirty="0">
                <a:solidFill>
                  <a:srgbClr val="182B49"/>
                </a:solidFill>
                <a:latin typeface="Source Sans 3" pitchFamily="34" charset="0"/>
                <a:ea typeface="Source Sans 3" pitchFamily="34" charset="-122"/>
                <a:cs typeface="Source Sans 3" pitchFamily="34" charset="-120"/>
              </a:rPr>
              <a:t> · </a:t>
            </a:r>
            <a:r>
              <a:rPr lang="en-US" sz="1350" b="1" dirty="0">
                <a:solidFill>
                  <a:srgbClr val="182B49"/>
                </a:solidFill>
                <a:latin typeface="Source Sans 3" pitchFamily="34" charset="0"/>
                <a:ea typeface="Source Sans 3" pitchFamily="34" charset="-122"/>
                <a:cs typeface="Source Sans 3" pitchFamily="34" charset="-120"/>
              </a:rPr>
              <a:t>draw to a scale</a:t>
            </a:r>
            <a:r>
              <a:rPr lang="en-US" sz="1350" dirty="0">
                <a:solidFill>
                  <a:srgbClr val="182B49"/>
                </a:solidFill>
                <a:latin typeface="Source Sans 3" pitchFamily="34" charset="0"/>
                <a:ea typeface="Source Sans 3" pitchFamily="34" charset="-122"/>
                <a:cs typeface="Source Sans 3" pitchFamily="34" charset="-120"/>
              </a:rPr>
              <a:t> · a </a:t>
            </a:r>
            <a:r>
              <a:rPr lang="en-US" sz="1350" b="1" dirty="0">
                <a:solidFill>
                  <a:srgbClr val="182B49"/>
                </a:solidFill>
                <a:latin typeface="Source Sans 3" pitchFamily="34" charset="0"/>
                <a:ea typeface="Source Sans 3" pitchFamily="34" charset="-122"/>
                <a:cs typeface="Source Sans 3" pitchFamily="34" charset="-120"/>
              </a:rPr>
              <a:t>licence chip</a:t>
            </a:r>
            <a:r>
              <a:rPr lang="en-US" sz="1350" dirty="0">
                <a:solidFill>
                  <a:srgbClr val="182B49"/>
                </a:solidFill>
                <a:latin typeface="Source Sans 3" pitchFamily="34" charset="0"/>
                <a:ea typeface="Source Sans 3" pitchFamily="34" charset="-122"/>
                <a:cs typeface="Source Sans 3" pitchFamily="34" charset="-120"/>
              </a:rPr>
              <a:t> · </a:t>
            </a:r>
            <a:r>
              <a:rPr lang="en-US" sz="1350" b="1" dirty="0">
                <a:solidFill>
                  <a:srgbClr val="182B49"/>
                </a:solidFill>
                <a:latin typeface="Source Sans 3" pitchFamily="34" charset="0"/>
                <a:ea typeface="Source Sans 3" pitchFamily="34" charset="-122"/>
                <a:cs typeface="Source Sans 3" pitchFamily="34" charset="-120"/>
              </a:rPr>
              <a:t>one rule</a:t>
            </a:r>
            <a:r>
              <a:rPr lang="en-US" sz="1350" dirty="0">
                <a:solidFill>
                  <a:srgbClr val="182B49"/>
                </a:solidFill>
                <a:latin typeface="Source Sans 3" pitchFamily="34" charset="0"/>
                <a:ea typeface="Source Sans 3" pitchFamily="34" charset="-122"/>
                <a:cs typeface="Source Sans 3" pitchFamily="34" charset="-120"/>
              </a:rPr>
              <a:t>.</a:t>
            </a:r>
            <a:endParaRPr lang="en-US" sz="1350" dirty="0"/>
          </a:p>
        </p:txBody>
      </p:sp>
      <p:sp>
        <p:nvSpPr>
          <p:cNvPr id="25" name="Shape 17"/>
          <p:cNvSpPr/>
          <p:nvPr/>
        </p:nvSpPr>
        <p:spPr>
          <a:xfrm>
            <a:off x="6134100" y="3013323"/>
            <a:ext cx="0" cy="714623"/>
          </a:xfrm>
          <a:prstGeom prst="line">
            <a:avLst/>
          </a:prstGeom>
          <a:noFill/>
          <a:ln w="25400">
            <a:solidFill>
              <a:srgbClr val="00629B"/>
            </a:solidFill>
            <a:prstDash val="solid"/>
          </a:ln>
        </p:spPr>
        <p:txBody>
          <a:bodyPr/>
          <a:lstStyle/>
          <a:p>
            <a:endParaRPr lang="en-US"/>
          </a:p>
        </p:txBody>
      </p:sp>
      <p:sp>
        <p:nvSpPr>
          <p:cNvPr id="26" name="Text 18"/>
          <p:cNvSpPr/>
          <p:nvPr/>
        </p:nvSpPr>
        <p:spPr>
          <a:xfrm>
            <a:off x="6273800" y="3026023"/>
            <a:ext cx="5258562" cy="714623"/>
          </a:xfrm>
          <a:prstGeom prst="rect">
            <a:avLst/>
          </a:prstGeom>
          <a:noFill/>
          <a:ln/>
        </p:spPr>
        <p:txBody>
          <a:bodyPr wrap="square" lIns="0" tIns="0" rIns="0" bIns="0" rtlCol="0" anchor="t">
            <a:normAutofit/>
          </a:bodyPr>
          <a:lstStyle/>
          <a:p>
            <a:pPr marL="0" indent="0" algn="l">
              <a:lnSpc>
                <a:spcPts val="1809"/>
              </a:lnSpc>
              <a:buNone/>
            </a:pPr>
            <a:r>
              <a:rPr lang="en-US" sz="1350" dirty="0">
                <a:solidFill>
                  <a:srgbClr val="182B49"/>
                </a:solidFill>
                <a:latin typeface="Source Sans 3" pitchFamily="34" charset="0"/>
                <a:ea typeface="Source Sans 3" pitchFamily="34" charset="-122"/>
                <a:cs typeface="Source Sans 3" pitchFamily="34" charset="-120"/>
              </a:rPr>
              <a:t>24 findings across six pages, fixed in five parallel branches and merged 9/16 — and two old bugs found on the way (no page had ever linked calcofi.org; two variables matched the wrong ramp).</a:t>
            </a:r>
            <a:endParaRPr lang="en-US" sz="1350" dirty="0"/>
          </a:p>
        </p:txBody>
      </p:sp>
      <p:sp>
        <p:nvSpPr>
          <p:cNvPr id="27" name="Text 19"/>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9">
                  <a:extLst>
                    <a:ext uri="{A12FA001-AC4F-418D-AE19-62706E023703}">
                      <ahyp:hlinkClr xmlns:ahyp="http://schemas.microsoft.com/office/drawing/2018/hyperlinkcolor" val="tx"/>
                    </a:ext>
                  </a:extLst>
                </a:hlinkClick>
              </a:rPr>
              <a:t>calcofi.io/measurements/temperature/</a:t>
            </a:r>
            <a:endParaRPr lang="en-US" sz="1200" dirty="0"/>
          </a:p>
        </p:txBody>
      </p:sp>
      <p:sp>
        <p:nvSpPr>
          <p:cNvPr id="28" name="Text 20"/>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YOUR CALL · QUOTATIONS</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WHICH WORDS DO WE QUOTE?</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The Nitrate page sentence and its other ways to say why: authored, GOOS and Wikipedia alternatives"/>
          <p:cNvPicPr>
            <a:picLocks noChangeAspect="1"/>
          </p:cNvPicPr>
          <p:nvPr/>
        </p:nvPicPr>
        <p:blipFill>
          <a:blip r:embed="rId5"/>
          <a:srcRect l="-258" r="-258"/>
          <a:stretch/>
        </p:blipFill>
        <p:spPr>
          <a:xfrm>
            <a:off x="819150" y="2025650"/>
            <a:ext cx="6972300" cy="2159000"/>
          </a:xfrm>
          <a:prstGeom prst="roundRect">
            <a:avLst>
              <a:gd name="adj" fmla="val 3235"/>
            </a:avLst>
          </a:prstGeom>
        </p:spPr>
      </p:pic>
      <p:sp>
        <p:nvSpPr>
          <p:cNvPr id="10" name="Shape 5"/>
          <p:cNvSpPr/>
          <p:nvPr/>
        </p:nvSpPr>
        <p:spPr>
          <a:xfrm>
            <a:off x="815975" y="2022475"/>
            <a:ext cx="6978650" cy="2165350"/>
          </a:xfrm>
          <a:prstGeom prst="roundRect">
            <a:avLst>
              <a:gd name="adj" fmla="val 3372"/>
            </a:avLst>
          </a:prstGeom>
          <a:noFill/>
          <a:ln w="6350">
            <a:solidFill>
              <a:srgbClr val="DDDDDD"/>
            </a:solidFill>
            <a:prstDash val="solid"/>
          </a:ln>
        </p:spPr>
        <p:txBody>
          <a:bodyPr/>
          <a:lstStyle/>
          <a:p>
            <a:endParaRPr lang="en-US"/>
          </a:p>
        </p:txBody>
      </p:sp>
      <p:sp>
        <p:nvSpPr>
          <p:cNvPr id="11" name="Text 6"/>
          <p:cNvSpPr/>
          <p:nvPr/>
        </p:nvSpPr>
        <p:spPr>
          <a:xfrm>
            <a:off x="812800" y="4254500"/>
            <a:ext cx="71945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calcofi.io/measurements/nitrate/ — the sentence, then “other ways to say why · 5” opened.</a:t>
            </a:r>
            <a:endParaRPr lang="en-US" sz="1200" dirty="0"/>
          </a:p>
        </p:txBody>
      </p:sp>
      <p:sp>
        <p:nvSpPr>
          <p:cNvPr id="12" name="Text 7"/>
          <p:cNvSpPr/>
          <p:nvPr/>
        </p:nvSpPr>
        <p:spPr>
          <a:xfrm>
            <a:off x="8102600" y="2019300"/>
            <a:ext cx="337489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Behind every “why” on 89 pages:</a:t>
            </a:r>
            <a:endParaRPr lang="en-US" sz="1300" dirty="0"/>
          </a:p>
        </p:txBody>
      </p:sp>
      <p:sp>
        <p:nvSpPr>
          <p:cNvPr id="13" name="Text 8"/>
          <p:cNvSpPr/>
          <p:nvPr/>
        </p:nvSpPr>
        <p:spPr>
          <a:xfrm>
            <a:off x="8102600" y="2292945"/>
            <a:ext cx="3374898"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0629B"/>
                </a:solidFill>
                <a:latin typeface="Source Sans 3" pitchFamily="34" charset="0"/>
                <a:ea typeface="Source Sans 3" pitchFamily="34" charset="-122"/>
                <a:cs typeface="Source Sans 3" pitchFamily="34" charset="-120"/>
              </a:rPr>
              <a:t>88</a:t>
            </a:r>
            <a:r>
              <a:rPr lang="en-US" sz="1300" dirty="0">
                <a:solidFill>
                  <a:srgbClr val="182B49"/>
                </a:solidFill>
                <a:latin typeface="Source Sans 3" pitchFamily="34" charset="0"/>
                <a:ea typeface="Source Sans 3" pitchFamily="34" charset="-122"/>
                <a:cs typeface="Source Sans 3" pitchFamily="34" charset="-120"/>
              </a:rPr>
              <a:t> authored picks, each cited</a:t>
            </a:r>
            <a:endParaRPr lang="en-US" sz="1300" dirty="0"/>
          </a:p>
        </p:txBody>
      </p:sp>
      <p:sp>
        <p:nvSpPr>
          <p:cNvPr id="14" name="Text 9"/>
          <p:cNvSpPr/>
          <p:nvPr/>
        </p:nvSpPr>
        <p:spPr>
          <a:xfrm>
            <a:off x="8102600" y="2541836"/>
            <a:ext cx="3374898"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0629B"/>
                </a:solidFill>
                <a:latin typeface="Source Sans 3" pitchFamily="34" charset="0"/>
                <a:ea typeface="Source Sans 3" pitchFamily="34" charset="-122"/>
                <a:cs typeface="Source Sans 3" pitchFamily="34" charset="-120"/>
              </a:rPr>
              <a:t>117</a:t>
            </a:r>
            <a:r>
              <a:rPr lang="en-US" sz="1300" dirty="0">
                <a:solidFill>
                  <a:srgbClr val="182B49"/>
                </a:solidFill>
                <a:latin typeface="Source Sans 3" pitchFamily="34" charset="0"/>
                <a:ea typeface="Source Sans 3" pitchFamily="34" charset="-122"/>
                <a:cs typeface="Source Sans 3" pitchFamily="34" charset="-120"/>
              </a:rPr>
              <a:t> authored alternatives</a:t>
            </a:r>
            <a:endParaRPr lang="en-US" sz="1300" dirty="0"/>
          </a:p>
        </p:txBody>
      </p:sp>
      <p:sp>
        <p:nvSpPr>
          <p:cNvPr id="15" name="Text 10"/>
          <p:cNvSpPr/>
          <p:nvPr/>
        </p:nvSpPr>
        <p:spPr>
          <a:xfrm>
            <a:off x="8102600" y="2790726"/>
            <a:ext cx="3374898"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0629B"/>
                </a:solidFill>
                <a:latin typeface="Source Sans 3" pitchFamily="34" charset="0"/>
                <a:ea typeface="Source Sans 3" pitchFamily="34" charset="-122"/>
                <a:cs typeface="Source Sans 3" pitchFamily="34" charset="-120"/>
              </a:rPr>
              <a:t>146</a:t>
            </a:r>
            <a:r>
              <a:rPr lang="en-US" sz="1300" dirty="0">
                <a:solidFill>
                  <a:srgbClr val="182B49"/>
                </a:solidFill>
                <a:latin typeface="Source Sans 3" pitchFamily="34" charset="0"/>
                <a:ea typeface="Source Sans 3" pitchFamily="34" charset="-122"/>
                <a:cs typeface="Source Sans 3" pitchFamily="34" charset="-120"/>
              </a:rPr>
              <a:t> Wikipedia leads</a:t>
            </a:r>
            <a:endParaRPr lang="en-US" sz="1300" dirty="0"/>
          </a:p>
        </p:txBody>
      </p:sp>
      <p:sp>
        <p:nvSpPr>
          <p:cNvPr id="16" name="Text 11"/>
          <p:cNvSpPr/>
          <p:nvPr/>
        </p:nvSpPr>
        <p:spPr>
          <a:xfrm>
            <a:off x="8102600" y="3039616"/>
            <a:ext cx="3374898"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0629B"/>
                </a:solidFill>
                <a:latin typeface="Source Sans 3" pitchFamily="34" charset="0"/>
                <a:ea typeface="Source Sans 3" pitchFamily="34" charset="-122"/>
                <a:cs typeface="Source Sans 3" pitchFamily="34" charset="-120"/>
              </a:rPr>
              <a:t>69</a:t>
            </a:r>
            <a:r>
              <a:rPr lang="en-US" sz="1300" dirty="0">
                <a:solidFill>
                  <a:srgbClr val="182B49"/>
                </a:solidFill>
                <a:latin typeface="Source Sans 3" pitchFamily="34" charset="0"/>
                <a:ea typeface="Source Sans 3" pitchFamily="34" charset="-122"/>
                <a:cs typeface="Source Sans 3" pitchFamily="34" charset="-120"/>
              </a:rPr>
              <a:t> GOOS questions</a:t>
            </a:r>
            <a:endParaRPr lang="en-US" sz="1300" dirty="0"/>
          </a:p>
        </p:txBody>
      </p:sp>
      <p:sp>
        <p:nvSpPr>
          <p:cNvPr id="17" name="Text 12"/>
          <p:cNvSpPr/>
          <p:nvPr/>
        </p:nvSpPr>
        <p:spPr>
          <a:xfrm>
            <a:off x="8102600" y="3288506"/>
            <a:ext cx="3374898"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0629B"/>
                </a:solidFill>
                <a:latin typeface="Source Sans 3" pitchFamily="34" charset="0"/>
                <a:ea typeface="Source Sans 3" pitchFamily="34" charset="-122"/>
                <a:cs typeface="Source Sans 3" pitchFamily="34" charset="-120"/>
              </a:rPr>
              <a:t>2</a:t>
            </a:r>
            <a:r>
              <a:rPr lang="en-US" sz="1300" dirty="0">
                <a:solidFill>
                  <a:srgbClr val="182B49"/>
                </a:solidFill>
                <a:latin typeface="Source Sans 3" pitchFamily="34" charset="0"/>
                <a:ea typeface="Source Sans 3" pitchFamily="34" charset="-122"/>
                <a:cs typeface="Source Sans 3" pitchFamily="34" charset="-120"/>
              </a:rPr>
              <a:t> in calcofi.org’s own words</a:t>
            </a:r>
            <a:endParaRPr lang="en-US" sz="1300" dirty="0"/>
          </a:p>
        </p:txBody>
      </p:sp>
      <p:sp>
        <p:nvSpPr>
          <p:cNvPr id="18" name="Shape 13"/>
          <p:cNvSpPr/>
          <p:nvPr/>
        </p:nvSpPr>
        <p:spPr>
          <a:xfrm>
            <a:off x="825500" y="4592290"/>
            <a:ext cx="0" cy="438150"/>
          </a:xfrm>
          <a:prstGeom prst="line">
            <a:avLst/>
          </a:prstGeom>
          <a:noFill/>
          <a:ln w="25400">
            <a:solidFill>
              <a:srgbClr val="FFCD00"/>
            </a:solidFill>
            <a:prstDash val="solid"/>
          </a:ln>
        </p:spPr>
        <p:txBody>
          <a:bodyPr/>
          <a:lstStyle/>
          <a:p>
            <a:endParaRPr lang="en-US"/>
          </a:p>
        </p:txBody>
      </p:sp>
      <p:sp>
        <p:nvSpPr>
          <p:cNvPr id="19" name="Text 14"/>
          <p:cNvSpPr/>
          <p:nvPr/>
        </p:nvSpPr>
        <p:spPr>
          <a:xfrm>
            <a:off x="952500" y="4604990"/>
            <a:ext cx="5297805" cy="438150"/>
          </a:xfrm>
          <a:prstGeom prst="rect">
            <a:avLst/>
          </a:prstGeom>
          <a:noFill/>
          <a:ln/>
        </p:spPr>
        <p:txBody>
          <a:bodyPr wrap="square" lIns="0" tIns="0" rIns="0" bIns="0" rtlCol="0" anchor="t">
            <a:normAutofit/>
          </a:bodyPr>
          <a:lstStyle/>
          <a:p>
            <a:pPr marL="0" indent="0" algn="l">
              <a:lnSpc>
                <a:spcPts val="1625"/>
              </a:lnSpc>
              <a:buNone/>
            </a:pPr>
            <a:r>
              <a:rPr lang="en-US" sz="1250" b="1" dirty="0">
                <a:solidFill>
                  <a:srgbClr val="182B49"/>
                </a:solidFill>
                <a:latin typeface="Source Sans 3" pitchFamily="34" charset="0"/>
                <a:ea typeface="Source Sans 3" pitchFamily="34" charset="-122"/>
                <a:cs typeface="Source Sans 3" pitchFamily="34" charset="-120"/>
              </a:rPr>
              <a:t>Sign-off</a:t>
            </a:r>
            <a:r>
              <a:rPr lang="en-US" sz="1250" dirty="0">
                <a:solidFill>
                  <a:srgbClr val="182B49"/>
                </a:solidFill>
                <a:latin typeface="Source Sans 3" pitchFamily="34" charset="0"/>
                <a:ea typeface="Source Sans 3" pitchFamily="34" charset="-122"/>
                <a:cs typeface="Source Sans 3" pitchFamily="34" charset="-120"/>
              </a:rPr>
              <a:t>: should a CalCOFI scientist approve each pick? Today there is no human review gate.</a:t>
            </a:r>
            <a:endParaRPr lang="en-US" sz="1250" dirty="0"/>
          </a:p>
        </p:txBody>
      </p:sp>
      <p:sp>
        <p:nvSpPr>
          <p:cNvPr id="20" name="Shape 15"/>
          <p:cNvSpPr/>
          <p:nvPr/>
        </p:nvSpPr>
        <p:spPr>
          <a:xfrm>
            <a:off x="6108700" y="4592290"/>
            <a:ext cx="0" cy="438150"/>
          </a:xfrm>
          <a:prstGeom prst="line">
            <a:avLst/>
          </a:prstGeom>
          <a:noFill/>
          <a:ln w="25400">
            <a:solidFill>
              <a:srgbClr val="FFCD00"/>
            </a:solidFill>
            <a:prstDash val="solid"/>
          </a:ln>
        </p:spPr>
        <p:txBody>
          <a:bodyPr/>
          <a:lstStyle/>
          <a:p>
            <a:endParaRPr lang="en-US"/>
          </a:p>
        </p:txBody>
      </p:sp>
      <p:sp>
        <p:nvSpPr>
          <p:cNvPr id="21" name="Text 16"/>
          <p:cNvSpPr/>
          <p:nvPr/>
        </p:nvSpPr>
        <p:spPr>
          <a:xfrm>
            <a:off x="6235700" y="4604990"/>
            <a:ext cx="5297805" cy="438150"/>
          </a:xfrm>
          <a:prstGeom prst="rect">
            <a:avLst/>
          </a:prstGeom>
          <a:noFill/>
          <a:ln/>
        </p:spPr>
        <p:txBody>
          <a:bodyPr wrap="square" lIns="0" tIns="0" rIns="0" bIns="0" rtlCol="0" anchor="t">
            <a:normAutofit/>
          </a:bodyPr>
          <a:lstStyle/>
          <a:p>
            <a:pPr marL="0" indent="0" algn="l">
              <a:lnSpc>
                <a:spcPts val="1625"/>
              </a:lnSpc>
              <a:buNone/>
            </a:pPr>
            <a:r>
              <a:rPr lang="en-US" sz="1250" b="1" dirty="0">
                <a:solidFill>
                  <a:srgbClr val="182B49"/>
                </a:solidFill>
                <a:latin typeface="Source Sans 3" pitchFamily="34" charset="0"/>
                <a:ea typeface="Source Sans 3" pitchFamily="34" charset="-122"/>
                <a:cs typeface="Source Sans 3" pitchFamily="34" charset="-120"/>
              </a:rPr>
              <a:t>Wikipedia</a:t>
            </a:r>
            <a:r>
              <a:rPr lang="en-US" sz="1250" dirty="0">
                <a:solidFill>
                  <a:srgbClr val="182B49"/>
                </a:solidFill>
                <a:latin typeface="Source Sans 3" pitchFamily="34" charset="0"/>
                <a:ea typeface="Source Sans 3" pitchFamily="34" charset="-122"/>
                <a:cs typeface="Source Sans 3" pitchFamily="34" charset="-120"/>
              </a:rPr>
              <a:t>: keep as an alternative, or drop? Some render as a bare title (“Upwelling”), and the sardine’s lead describes the </a:t>
            </a:r>
            <a:r>
              <a:rPr lang="en-US" sz="1250" b="1" dirty="0">
                <a:solidFill>
                  <a:srgbClr val="182B49"/>
                </a:solidFill>
                <a:latin typeface="Source Sans 3" pitchFamily="34" charset="0"/>
                <a:ea typeface="Source Sans 3" pitchFamily="34" charset="-122"/>
                <a:cs typeface="Source Sans 3" pitchFamily="34" charset="-120"/>
              </a:rPr>
              <a:t>genus</a:t>
            </a:r>
            <a:r>
              <a:rPr lang="en-US" sz="1250" dirty="0">
                <a:solidFill>
                  <a:srgbClr val="182B49"/>
                </a:solidFill>
                <a:latin typeface="Source Sans 3" pitchFamily="34" charset="0"/>
                <a:ea typeface="Source Sans 3" pitchFamily="34" charset="-122"/>
                <a:cs typeface="Source Sans 3" pitchFamily="34" charset="-120"/>
              </a:rPr>
              <a:t>.</a:t>
            </a:r>
            <a:endParaRPr lang="en-US" sz="1250" dirty="0"/>
          </a:p>
        </p:txBody>
      </p:sp>
      <p:sp>
        <p:nvSpPr>
          <p:cNvPr id="22" name="Shape 17"/>
          <p:cNvSpPr/>
          <p:nvPr/>
        </p:nvSpPr>
        <p:spPr>
          <a:xfrm>
            <a:off x="825500" y="5030440"/>
            <a:ext cx="0" cy="231775"/>
          </a:xfrm>
          <a:prstGeom prst="line">
            <a:avLst/>
          </a:prstGeom>
          <a:noFill/>
          <a:ln w="25400">
            <a:solidFill>
              <a:srgbClr val="FFCD00"/>
            </a:solidFill>
            <a:prstDash val="solid"/>
          </a:ln>
        </p:spPr>
        <p:txBody>
          <a:bodyPr/>
          <a:lstStyle/>
          <a:p>
            <a:endParaRPr lang="en-US"/>
          </a:p>
        </p:txBody>
      </p:sp>
      <p:sp>
        <p:nvSpPr>
          <p:cNvPr id="23" name="Text 18"/>
          <p:cNvSpPr/>
          <p:nvPr/>
        </p:nvSpPr>
        <p:spPr>
          <a:xfrm>
            <a:off x="952500" y="5043140"/>
            <a:ext cx="5297805" cy="231775"/>
          </a:xfrm>
          <a:prstGeom prst="rect">
            <a:avLst/>
          </a:prstGeom>
          <a:noFill/>
          <a:ln/>
        </p:spPr>
        <p:txBody>
          <a:bodyPr wrap="square" lIns="0" tIns="0" rIns="0" bIns="0" rtlCol="0" anchor="t">
            <a:normAutofit/>
          </a:bodyPr>
          <a:lstStyle/>
          <a:p>
            <a:pPr marL="0" indent="0" algn="l">
              <a:lnSpc>
                <a:spcPts val="1625"/>
              </a:lnSpc>
              <a:buNone/>
            </a:pPr>
            <a:r>
              <a:rPr lang="en-US" sz="1250" b="1" dirty="0">
                <a:solidFill>
                  <a:srgbClr val="182B49"/>
                </a:solidFill>
                <a:latin typeface="Source Sans 3" pitchFamily="34" charset="0"/>
                <a:ea typeface="Source Sans 3" pitchFamily="34" charset="-122"/>
                <a:cs typeface="Source Sans 3" pitchFamily="34" charset="-120"/>
              </a:rPr>
              <a:t>GOOS</a:t>
            </a:r>
            <a:r>
              <a:rPr lang="en-US" sz="1250" dirty="0">
                <a:solidFill>
                  <a:srgbClr val="182B49"/>
                </a:solidFill>
                <a:latin typeface="Source Sans 3" pitchFamily="34" charset="0"/>
                <a:ea typeface="Source Sans 3" pitchFamily="34" charset="-122"/>
                <a:cs typeface="Source Sans 3" pitchFamily="34" charset="-120"/>
              </a:rPr>
              <a:t> questions verbatim — or only where the sheet asks one?</a:t>
            </a:r>
            <a:endParaRPr lang="en-US" sz="1250" dirty="0"/>
          </a:p>
        </p:txBody>
      </p:sp>
      <p:sp>
        <p:nvSpPr>
          <p:cNvPr id="24" name="Shape 19"/>
          <p:cNvSpPr/>
          <p:nvPr/>
        </p:nvSpPr>
        <p:spPr>
          <a:xfrm>
            <a:off x="6108700" y="5030440"/>
            <a:ext cx="0" cy="231775"/>
          </a:xfrm>
          <a:prstGeom prst="line">
            <a:avLst/>
          </a:prstGeom>
          <a:noFill/>
          <a:ln w="25400">
            <a:solidFill>
              <a:srgbClr val="FFCD00"/>
            </a:solidFill>
            <a:prstDash val="solid"/>
          </a:ln>
        </p:spPr>
        <p:txBody>
          <a:bodyPr/>
          <a:lstStyle/>
          <a:p>
            <a:endParaRPr lang="en-US"/>
          </a:p>
        </p:txBody>
      </p:sp>
      <p:sp>
        <p:nvSpPr>
          <p:cNvPr id="25" name="Text 20"/>
          <p:cNvSpPr/>
          <p:nvPr/>
        </p:nvSpPr>
        <p:spPr>
          <a:xfrm>
            <a:off x="6235700" y="5043140"/>
            <a:ext cx="5297805" cy="231775"/>
          </a:xfrm>
          <a:prstGeom prst="rect">
            <a:avLst/>
          </a:prstGeom>
          <a:noFill/>
          <a:ln/>
        </p:spPr>
        <p:txBody>
          <a:bodyPr wrap="square" lIns="0" tIns="0" rIns="0" bIns="0" rtlCol="0" anchor="t">
            <a:normAutofit/>
          </a:bodyPr>
          <a:lstStyle/>
          <a:p>
            <a:pPr marL="0" indent="0" algn="l">
              <a:lnSpc>
                <a:spcPts val="1625"/>
              </a:lnSpc>
              <a:buNone/>
            </a:pPr>
            <a:r>
              <a:rPr lang="en-US" sz="1250" dirty="0">
                <a:solidFill>
                  <a:srgbClr val="182B49"/>
                </a:solidFill>
                <a:latin typeface="Source Sans 3" pitchFamily="34" charset="0"/>
                <a:ea typeface="Source Sans 3" pitchFamily="34" charset="-122"/>
                <a:cs typeface="Source Sans 3" pitchFamily="34" charset="-120"/>
              </a:rPr>
              <a:t>Ask </a:t>
            </a:r>
            <a:r>
              <a:rPr lang="en-US" sz="1250" b="1" dirty="0">
                <a:solidFill>
                  <a:srgbClr val="182B49"/>
                </a:solidFill>
                <a:latin typeface="Source Sans 3" pitchFamily="34" charset="0"/>
                <a:ea typeface="Source Sans 3" pitchFamily="34" charset="-122"/>
                <a:cs typeface="Source Sans 3" pitchFamily="34" charset="-120"/>
              </a:rPr>
              <a:t>calcofi.org</a:t>
            </a:r>
            <a:r>
              <a:rPr lang="en-US" sz="1250" dirty="0">
                <a:solidFill>
                  <a:srgbClr val="182B49"/>
                </a:solidFill>
                <a:latin typeface="Source Sans 3" pitchFamily="34" charset="0"/>
                <a:ea typeface="Source Sans 3" pitchFamily="34" charset="-122"/>
                <a:cs typeface="Source Sans 3" pitchFamily="34" charset="-120"/>
              </a:rPr>
              <a:t> for its own sentence per measurement (2 today)?</a:t>
            </a:r>
            <a:endParaRPr lang="en-US" sz="1250" dirty="0"/>
          </a:p>
        </p:txBody>
      </p:sp>
      <p:sp>
        <p:nvSpPr>
          <p:cNvPr id="26" name="Text 21"/>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6">
                  <a:extLst>
                    <a:ext uri="{A12FA001-AC4F-418D-AE19-62706E023703}">
                      <ahyp:hlinkClr xmlns:ahyp="http://schemas.microsoft.com/office/drawing/2018/hyperlinkcolor" val="tx"/>
                    </a:ext>
                  </a:extLst>
                </a:hlinkClick>
              </a:rPr>
              <a:t>calcofi.io/measurements/nitrate/</a:t>
            </a:r>
            <a:endParaRPr lang="en-US" sz="1200" dirty="0"/>
          </a:p>
        </p:txBody>
      </p:sp>
      <p:sp>
        <p:nvSpPr>
          <p:cNvPr id="27" name="Text 22"/>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YOUR CALL · SCOPE AND STYLE</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TOO MUCH, TOO LITTLE, OR ANOTHER WAY IN?</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Shape 5"/>
          <p:cNvSpPr/>
          <p:nvPr/>
        </p:nvSpPr>
        <p:spPr>
          <a:xfrm>
            <a:off x="812800" y="2044700"/>
            <a:ext cx="5194300" cy="2178050"/>
          </a:xfrm>
          <a:prstGeom prst="roundRect">
            <a:avLst>
              <a:gd name="adj" fmla="val 3499"/>
            </a:avLst>
          </a:prstGeom>
          <a:solidFill>
            <a:srgbClr val="FFFFFF"/>
          </a:solidFill>
          <a:ln/>
        </p:spPr>
        <p:txBody>
          <a:bodyPr/>
          <a:lstStyle/>
          <a:p>
            <a:endParaRPr lang="en-US"/>
          </a:p>
        </p:txBody>
      </p:sp>
      <p:pic>
        <p:nvPicPr>
          <p:cNvPr id="10" name="Image 2" descr="preencoded.png"/>
          <p:cNvPicPr>
            <a:picLocks noChangeAspect="1"/>
          </p:cNvPicPr>
          <p:nvPr/>
        </p:nvPicPr>
        <p:blipFill>
          <a:blip r:embed="rId5"/>
          <a:srcRect/>
          <a:stretch/>
        </p:blipFill>
        <p:spPr>
          <a:xfrm>
            <a:off x="1003300" y="2209800"/>
            <a:ext cx="254000" cy="254000"/>
          </a:xfrm>
          <a:prstGeom prst="rect">
            <a:avLst/>
          </a:prstGeom>
        </p:spPr>
      </p:pic>
      <p:sp>
        <p:nvSpPr>
          <p:cNvPr id="11" name="Text 6"/>
          <p:cNvSpPr/>
          <p:nvPr/>
        </p:nvSpPr>
        <p:spPr>
          <a:xfrm>
            <a:off x="1346200" y="2222500"/>
            <a:ext cx="19310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Too much or too little?</a:t>
            </a:r>
            <a:endParaRPr lang="en-US" sz="1500" dirty="0"/>
          </a:p>
        </p:txBody>
      </p:sp>
      <p:sp>
        <p:nvSpPr>
          <p:cNvPr id="12" name="Shape 7"/>
          <p:cNvSpPr/>
          <p:nvPr/>
        </p:nvSpPr>
        <p:spPr>
          <a:xfrm>
            <a:off x="1016000" y="2552700"/>
            <a:ext cx="0" cy="450850"/>
          </a:xfrm>
          <a:prstGeom prst="line">
            <a:avLst/>
          </a:prstGeom>
          <a:noFill/>
          <a:ln w="25400">
            <a:solidFill>
              <a:srgbClr val="FFCD00"/>
            </a:solidFill>
            <a:prstDash val="solid"/>
          </a:ln>
        </p:spPr>
        <p:txBody>
          <a:bodyPr/>
          <a:lstStyle/>
          <a:p>
            <a:endParaRPr lang="en-US"/>
          </a:p>
        </p:txBody>
      </p:sp>
      <p:sp>
        <p:nvSpPr>
          <p:cNvPr id="13" name="Text 8"/>
          <p:cNvSpPr/>
          <p:nvPr/>
        </p:nvSpPr>
        <p:spPr>
          <a:xfrm>
            <a:off x="1155700" y="2565400"/>
            <a:ext cx="4800727" cy="450850"/>
          </a:xfrm>
          <a:prstGeom prst="rect">
            <a:avLst/>
          </a:prstGeom>
          <a:noFill/>
          <a:ln/>
        </p:spPr>
        <p:txBody>
          <a:bodyPr wrap="square" lIns="0" tIns="0" rIns="0" bIns="0" rtlCol="0" anchor="t">
            <a:normAutofit/>
          </a:bodyPr>
          <a:lstStyle/>
          <a:p>
            <a:pPr marL="0" indent="0" algn="l">
              <a:lnSpc>
                <a:spcPts val="1675"/>
              </a:lnSpc>
              <a:buNone/>
            </a:pPr>
            <a:r>
              <a:rPr lang="en-US" sz="1250" dirty="0">
                <a:solidFill>
                  <a:srgbClr val="182B49"/>
                </a:solidFill>
                <a:latin typeface="Source Sans 3" pitchFamily="34" charset="0"/>
                <a:ea typeface="Source Sans 3" pitchFamily="34" charset="-122"/>
                <a:cs typeface="Source Sans 3" pitchFamily="34" charset="-120"/>
              </a:rPr>
              <a:t>At 1440 wide a species page runs ≈ 2,550 px, temperature ≈ 2,920 px: fold </a:t>
            </a:r>
            <a:r>
              <a:rPr lang="en-US" sz="1250" b="1" dirty="0">
                <a:solidFill>
                  <a:srgbClr val="182B49"/>
                </a:solidFill>
                <a:latin typeface="Source Sans 3" pitchFamily="34" charset="0"/>
                <a:ea typeface="Source Sans 3" pitchFamily="34" charset="-122"/>
                <a:cs typeface="Source Sans 3" pitchFamily="34" charset="-120"/>
              </a:rPr>
              <a:t>How big</a:t>
            </a:r>
            <a:r>
              <a:rPr lang="en-US" sz="1250" dirty="0">
                <a:solidFill>
                  <a:srgbClr val="182B49"/>
                </a:solidFill>
                <a:latin typeface="Source Sans 3" pitchFamily="34" charset="0"/>
                <a:ea typeface="Source Sans 3" pitchFamily="34" charset="-122"/>
                <a:cs typeface="Source Sans 3" pitchFamily="34" charset="-120"/>
              </a:rPr>
              <a:t> and the </a:t>
            </a:r>
            <a:r>
              <a:rPr lang="en-US" sz="1250" b="1" dirty="0">
                <a:solidFill>
                  <a:srgbClr val="182B49"/>
                </a:solidFill>
                <a:latin typeface="Source Sans 3" pitchFamily="34" charset="0"/>
                <a:ea typeface="Source Sans 3" pitchFamily="34" charset="-122"/>
                <a:cs typeface="Source Sans 3" pitchFamily="34" charset="-120"/>
              </a:rPr>
              <a:t>plate</a:t>
            </a:r>
            <a:r>
              <a:rPr lang="en-US" sz="1250" dirty="0">
                <a:solidFill>
                  <a:srgbClr val="182B49"/>
                </a:solidFill>
                <a:latin typeface="Source Sans 3" pitchFamily="34" charset="0"/>
                <a:ea typeface="Source Sans 3" pitchFamily="34" charset="-122"/>
                <a:cs typeface="Source Sans 3" pitchFamily="34" charset="-120"/>
              </a:rPr>
              <a:t> behind a tab?</a:t>
            </a:r>
            <a:endParaRPr lang="en-US" sz="1250" dirty="0"/>
          </a:p>
        </p:txBody>
      </p:sp>
      <p:sp>
        <p:nvSpPr>
          <p:cNvPr id="14" name="Shape 9"/>
          <p:cNvSpPr/>
          <p:nvPr/>
        </p:nvSpPr>
        <p:spPr>
          <a:xfrm>
            <a:off x="1016000" y="3079750"/>
            <a:ext cx="0" cy="450850"/>
          </a:xfrm>
          <a:prstGeom prst="line">
            <a:avLst/>
          </a:prstGeom>
          <a:noFill/>
          <a:ln w="25400">
            <a:solidFill>
              <a:srgbClr val="FFCD00"/>
            </a:solidFill>
            <a:prstDash val="solid"/>
          </a:ln>
        </p:spPr>
        <p:txBody>
          <a:bodyPr/>
          <a:lstStyle/>
          <a:p>
            <a:endParaRPr lang="en-US"/>
          </a:p>
        </p:txBody>
      </p:sp>
      <p:sp>
        <p:nvSpPr>
          <p:cNvPr id="15" name="Text 10"/>
          <p:cNvSpPr/>
          <p:nvPr/>
        </p:nvSpPr>
        <p:spPr>
          <a:xfrm>
            <a:off x="1155700" y="3092450"/>
            <a:ext cx="4800727" cy="450850"/>
          </a:xfrm>
          <a:prstGeom prst="rect">
            <a:avLst/>
          </a:prstGeom>
          <a:noFill/>
          <a:ln/>
        </p:spPr>
        <p:txBody>
          <a:bodyPr wrap="square" lIns="0" tIns="0" rIns="0" bIns="0" rtlCol="0" anchor="t">
            <a:normAutofit/>
          </a:bodyPr>
          <a:lstStyle/>
          <a:p>
            <a:pPr marL="0" indent="0" algn="l">
              <a:lnSpc>
                <a:spcPts val="1675"/>
              </a:lnSpc>
              <a:buNone/>
            </a:pPr>
            <a:r>
              <a:rPr lang="en-US" sz="1250" dirty="0">
                <a:solidFill>
                  <a:srgbClr val="182B49"/>
                </a:solidFill>
                <a:latin typeface="Source Sans 3" pitchFamily="34" charset="0"/>
                <a:ea typeface="Source Sans 3" pitchFamily="34" charset="-122"/>
                <a:cs typeface="Source Sans 3" pitchFamily="34" charset="-120"/>
              </a:rPr>
              <a:t>Overviews: tree + matrix + </a:t>
            </a:r>
            <a:r>
              <a:rPr lang="en-US" sz="1250" b="1" dirty="0">
                <a:solidFill>
                  <a:srgbClr val="182B49"/>
                </a:solidFill>
                <a:latin typeface="Source Sans 3" pitchFamily="34" charset="0"/>
                <a:ea typeface="Source Sans 3" pitchFamily="34" charset="-122"/>
                <a:cs typeface="Source Sans 3" pitchFamily="34" charset="-120"/>
              </a:rPr>
              <a:t>icicle</a:t>
            </a:r>
            <a:r>
              <a:rPr lang="en-US" sz="1250" dirty="0">
                <a:solidFill>
                  <a:srgbClr val="182B49"/>
                </a:solidFill>
                <a:latin typeface="Source Sans 3" pitchFamily="34" charset="0"/>
                <a:ea typeface="Source Sans 3" pitchFamily="34" charset="-122"/>
                <a:cs typeface="Source Sans 3" pitchFamily="34" charset="-120"/>
              </a:rPr>
              <a:t>; timeline + matrix — drop the icicle, or add a </a:t>
            </a:r>
            <a:r>
              <a:rPr lang="en-US" sz="1250" b="1" dirty="0">
                <a:solidFill>
                  <a:srgbClr val="182B49"/>
                </a:solidFill>
                <a:latin typeface="Source Sans 3" pitchFamily="34" charset="0"/>
                <a:ea typeface="Source Sans 3" pitchFamily="34" charset="-122"/>
                <a:cs typeface="Source Sans 3" pitchFamily="34" charset="-120"/>
              </a:rPr>
              <a:t>map</a:t>
            </a:r>
            <a:r>
              <a:rPr lang="en-US" sz="1250" dirty="0">
                <a:solidFill>
                  <a:srgbClr val="182B49"/>
                </a:solidFill>
                <a:latin typeface="Source Sans 3" pitchFamily="34" charset="0"/>
                <a:ea typeface="Source Sans 3" pitchFamily="34" charset="-122"/>
                <a:cs typeface="Source Sans 3" pitchFamily="34" charset="-120"/>
              </a:rPr>
              <a:t>?</a:t>
            </a:r>
            <a:endParaRPr lang="en-US" sz="1250" dirty="0"/>
          </a:p>
        </p:txBody>
      </p:sp>
      <p:sp>
        <p:nvSpPr>
          <p:cNvPr id="16" name="Shape 11"/>
          <p:cNvSpPr/>
          <p:nvPr/>
        </p:nvSpPr>
        <p:spPr>
          <a:xfrm>
            <a:off x="1016000" y="3606800"/>
            <a:ext cx="0" cy="450850"/>
          </a:xfrm>
          <a:prstGeom prst="line">
            <a:avLst/>
          </a:prstGeom>
          <a:noFill/>
          <a:ln w="25400">
            <a:solidFill>
              <a:srgbClr val="FFCD00"/>
            </a:solidFill>
            <a:prstDash val="solid"/>
          </a:ln>
        </p:spPr>
        <p:txBody>
          <a:bodyPr/>
          <a:lstStyle/>
          <a:p>
            <a:endParaRPr lang="en-US"/>
          </a:p>
        </p:txBody>
      </p:sp>
      <p:sp>
        <p:nvSpPr>
          <p:cNvPr id="17" name="Text 12"/>
          <p:cNvSpPr/>
          <p:nvPr/>
        </p:nvSpPr>
        <p:spPr>
          <a:xfrm>
            <a:off x="1155700" y="3619500"/>
            <a:ext cx="4800727" cy="450850"/>
          </a:xfrm>
          <a:prstGeom prst="rect">
            <a:avLst/>
          </a:prstGeom>
          <a:noFill/>
          <a:ln/>
        </p:spPr>
        <p:txBody>
          <a:bodyPr wrap="square" lIns="0" tIns="0" rIns="0" bIns="0" rtlCol="0" anchor="t">
            <a:normAutofit/>
          </a:bodyPr>
          <a:lstStyle/>
          <a:p>
            <a:pPr marL="0" indent="0" algn="l">
              <a:lnSpc>
                <a:spcPts val="1675"/>
              </a:lnSpc>
              <a:buNone/>
            </a:pPr>
            <a:r>
              <a:rPr lang="en-US" sz="1250" b="1" dirty="0">
                <a:solidFill>
                  <a:srgbClr val="182B49"/>
                </a:solidFill>
                <a:latin typeface="Source Sans 3" pitchFamily="34" charset="0"/>
                <a:ea typeface="Source Sans 3" pitchFamily="34" charset="-122"/>
                <a:cs typeface="Source Sans 3" pitchFamily="34" charset="-120"/>
              </a:rPr>
              <a:t>Photo-first</a:t>
            </a:r>
            <a:r>
              <a:rPr lang="en-US" sz="1250" dirty="0">
                <a:solidFill>
                  <a:srgbClr val="182B49"/>
                </a:solidFill>
                <a:latin typeface="Source Sans 3" pitchFamily="34" charset="0"/>
                <a:ea typeface="Source Sans 3" pitchFamily="34" charset="-122"/>
                <a:cs typeface="Source Sans 3" pitchFamily="34" charset="-120"/>
              </a:rPr>
              <a:t> or </a:t>
            </a:r>
            <a:r>
              <a:rPr lang="en-US" sz="1250" b="1" dirty="0">
                <a:solidFill>
                  <a:srgbClr val="182B49"/>
                </a:solidFill>
                <a:latin typeface="Source Sans 3" pitchFamily="34" charset="0"/>
                <a:ea typeface="Source Sans 3" pitchFamily="34" charset="-122"/>
                <a:cs typeface="Source Sans 3" pitchFamily="34" charset="-120"/>
              </a:rPr>
              <a:t>silhouette-first</a:t>
            </a:r>
            <a:r>
              <a:rPr lang="en-US" sz="1250" dirty="0">
                <a:solidFill>
                  <a:srgbClr val="182B49"/>
                </a:solidFill>
                <a:latin typeface="Source Sans 3" pitchFamily="34" charset="0"/>
                <a:ea typeface="Source Sans 3" pitchFamily="34" charset="-122"/>
                <a:cs typeface="Source Sans 3" pitchFamily="34" charset="-120"/>
              </a:rPr>
              <a:t>? Life-stage photos (the krill’s nauplius) OK?</a:t>
            </a:r>
            <a:endParaRPr lang="en-US" sz="1250" dirty="0"/>
          </a:p>
        </p:txBody>
      </p:sp>
      <p:sp>
        <p:nvSpPr>
          <p:cNvPr id="18" name="Shape 13"/>
          <p:cNvSpPr/>
          <p:nvPr/>
        </p:nvSpPr>
        <p:spPr>
          <a:xfrm>
            <a:off x="6184900" y="2044700"/>
            <a:ext cx="5194300" cy="2178050"/>
          </a:xfrm>
          <a:prstGeom prst="roundRect">
            <a:avLst>
              <a:gd name="adj" fmla="val 3499"/>
            </a:avLst>
          </a:prstGeom>
          <a:solidFill>
            <a:srgbClr val="FFFFFF"/>
          </a:solidFill>
          <a:ln/>
        </p:spPr>
        <p:txBody>
          <a:bodyPr/>
          <a:lstStyle/>
          <a:p>
            <a:endParaRPr lang="en-US"/>
          </a:p>
        </p:txBody>
      </p:sp>
      <p:pic>
        <p:nvPicPr>
          <p:cNvPr id="19" name="Image 3" descr="preencoded.png"/>
          <p:cNvPicPr>
            <a:picLocks noChangeAspect="1"/>
          </p:cNvPicPr>
          <p:nvPr/>
        </p:nvPicPr>
        <p:blipFill>
          <a:blip r:embed="rId6"/>
          <a:srcRect/>
          <a:stretch/>
        </p:blipFill>
        <p:spPr>
          <a:xfrm>
            <a:off x="6375400" y="2209800"/>
            <a:ext cx="254000" cy="254000"/>
          </a:xfrm>
          <a:prstGeom prst="rect">
            <a:avLst/>
          </a:prstGeom>
        </p:spPr>
      </p:pic>
      <p:sp>
        <p:nvSpPr>
          <p:cNvPr id="20" name="Text 14"/>
          <p:cNvSpPr/>
          <p:nvPr/>
        </p:nvSpPr>
        <p:spPr>
          <a:xfrm>
            <a:off x="6718300" y="2222500"/>
            <a:ext cx="12903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Other ways in?</a:t>
            </a:r>
            <a:endParaRPr lang="en-US" sz="1500" dirty="0"/>
          </a:p>
        </p:txBody>
      </p:sp>
      <p:sp>
        <p:nvSpPr>
          <p:cNvPr id="21" name="Shape 15"/>
          <p:cNvSpPr/>
          <p:nvPr/>
        </p:nvSpPr>
        <p:spPr>
          <a:xfrm>
            <a:off x="6388100" y="2552700"/>
            <a:ext cx="0" cy="450850"/>
          </a:xfrm>
          <a:prstGeom prst="line">
            <a:avLst/>
          </a:prstGeom>
          <a:noFill/>
          <a:ln w="25400">
            <a:solidFill>
              <a:srgbClr val="FFCD00"/>
            </a:solidFill>
            <a:prstDash val="solid"/>
          </a:ln>
        </p:spPr>
        <p:txBody>
          <a:bodyPr/>
          <a:lstStyle/>
          <a:p>
            <a:endParaRPr lang="en-US"/>
          </a:p>
        </p:txBody>
      </p:sp>
      <p:sp>
        <p:nvSpPr>
          <p:cNvPr id="22" name="Text 16"/>
          <p:cNvSpPr/>
          <p:nvPr/>
        </p:nvSpPr>
        <p:spPr>
          <a:xfrm>
            <a:off x="6527800" y="2565400"/>
            <a:ext cx="4800727" cy="450850"/>
          </a:xfrm>
          <a:prstGeom prst="rect">
            <a:avLst/>
          </a:prstGeom>
          <a:noFill/>
          <a:ln/>
        </p:spPr>
        <p:txBody>
          <a:bodyPr wrap="square" lIns="0" tIns="0" rIns="0" bIns="0" rtlCol="0" anchor="t">
            <a:normAutofit/>
          </a:bodyPr>
          <a:lstStyle/>
          <a:p>
            <a:pPr marL="0" indent="0" algn="l">
              <a:lnSpc>
                <a:spcPts val="1675"/>
              </a:lnSpc>
              <a:buNone/>
            </a:pPr>
            <a:r>
              <a:rPr lang="en-US" sz="1250" dirty="0">
                <a:solidFill>
                  <a:srgbClr val="182B49"/>
                </a:solidFill>
                <a:latin typeface="Source Sans 3" pitchFamily="34" charset="0"/>
                <a:ea typeface="Source Sans 3" pitchFamily="34" charset="-122"/>
                <a:cs typeface="Source Sans 3" pitchFamily="34" charset="-120"/>
              </a:rPr>
              <a:t>By </a:t>
            </a:r>
            <a:r>
              <a:rPr lang="en-US" sz="1250" b="1" dirty="0">
                <a:solidFill>
                  <a:srgbClr val="182B49"/>
                </a:solidFill>
                <a:latin typeface="Source Sans 3" pitchFamily="34" charset="0"/>
                <a:ea typeface="Source Sans 3" pitchFamily="34" charset="-122"/>
                <a:cs typeface="Source Sans 3" pitchFamily="34" charset="-120"/>
              </a:rPr>
              <a:t>place</a:t>
            </a:r>
            <a:r>
              <a:rPr lang="en-US" sz="1250" dirty="0">
                <a:solidFill>
                  <a:srgbClr val="182B49"/>
                </a:solidFill>
                <a:latin typeface="Source Sans 3" pitchFamily="34" charset="0"/>
                <a:ea typeface="Source Sans 3" pitchFamily="34" charset="-122"/>
                <a:cs typeface="Source Sans 3" pitchFamily="34" charset="-120"/>
              </a:rPr>
              <a:t>: what was counted or measured at station 90.30 → the Explorer there.</a:t>
            </a:r>
            <a:endParaRPr lang="en-US" sz="1250" dirty="0"/>
          </a:p>
        </p:txBody>
      </p:sp>
      <p:sp>
        <p:nvSpPr>
          <p:cNvPr id="23" name="Shape 17"/>
          <p:cNvSpPr/>
          <p:nvPr/>
        </p:nvSpPr>
        <p:spPr>
          <a:xfrm>
            <a:off x="6388100" y="3079750"/>
            <a:ext cx="0" cy="450850"/>
          </a:xfrm>
          <a:prstGeom prst="line">
            <a:avLst/>
          </a:prstGeom>
          <a:noFill/>
          <a:ln w="25400">
            <a:solidFill>
              <a:srgbClr val="FFCD00"/>
            </a:solidFill>
            <a:prstDash val="solid"/>
          </a:ln>
        </p:spPr>
        <p:txBody>
          <a:bodyPr/>
          <a:lstStyle/>
          <a:p>
            <a:endParaRPr lang="en-US"/>
          </a:p>
        </p:txBody>
      </p:sp>
      <p:sp>
        <p:nvSpPr>
          <p:cNvPr id="24" name="Text 18"/>
          <p:cNvSpPr/>
          <p:nvPr/>
        </p:nvSpPr>
        <p:spPr>
          <a:xfrm>
            <a:off x="6527800" y="3092450"/>
            <a:ext cx="4800727" cy="450850"/>
          </a:xfrm>
          <a:prstGeom prst="rect">
            <a:avLst/>
          </a:prstGeom>
          <a:noFill/>
          <a:ln/>
        </p:spPr>
        <p:txBody>
          <a:bodyPr wrap="square" lIns="0" tIns="0" rIns="0" bIns="0" rtlCol="0" anchor="t">
            <a:normAutofit/>
          </a:bodyPr>
          <a:lstStyle/>
          <a:p>
            <a:pPr marL="0" indent="0" algn="l">
              <a:lnSpc>
                <a:spcPts val="1675"/>
              </a:lnSpc>
              <a:buNone/>
            </a:pPr>
            <a:r>
              <a:rPr lang="en-US" sz="1250" dirty="0">
                <a:solidFill>
                  <a:srgbClr val="182B49"/>
                </a:solidFill>
                <a:latin typeface="Source Sans 3" pitchFamily="34" charset="0"/>
                <a:ea typeface="Source Sans 3" pitchFamily="34" charset="-122"/>
                <a:cs typeface="Source Sans 3" pitchFamily="34" charset="-120"/>
              </a:rPr>
              <a:t>By </a:t>
            </a:r>
            <a:r>
              <a:rPr lang="en-US" sz="1250" b="1" dirty="0">
                <a:solidFill>
                  <a:srgbClr val="182B49"/>
                </a:solidFill>
                <a:latin typeface="Source Sans 3" pitchFamily="34" charset="0"/>
                <a:ea typeface="Source Sans 3" pitchFamily="34" charset="-122"/>
                <a:cs typeface="Source Sans 3" pitchFamily="34" charset="-120"/>
              </a:rPr>
              <a:t>life stage</a:t>
            </a:r>
            <a:r>
              <a:rPr lang="en-US" sz="1250" dirty="0">
                <a:solidFill>
                  <a:srgbClr val="182B49"/>
                </a:solidFill>
                <a:latin typeface="Source Sans 3" pitchFamily="34" charset="0"/>
                <a:ea typeface="Source Sans 3" pitchFamily="34" charset="-122"/>
                <a:cs typeface="Source Sans 3" pitchFamily="34" charset="-120"/>
              </a:rPr>
              <a:t> and </a:t>
            </a:r>
            <a:r>
              <a:rPr lang="en-US" sz="1250" b="1" dirty="0">
                <a:solidFill>
                  <a:srgbClr val="182B49"/>
                </a:solidFill>
                <a:latin typeface="Source Sans 3" pitchFamily="34" charset="0"/>
                <a:ea typeface="Source Sans 3" pitchFamily="34" charset="-122"/>
                <a:cs typeface="Source Sans 3" pitchFamily="34" charset="-120"/>
              </a:rPr>
              <a:t>season</a:t>
            </a:r>
            <a:r>
              <a:rPr lang="en-US" sz="1250" dirty="0">
                <a:solidFill>
                  <a:srgbClr val="182B49"/>
                </a:solidFill>
                <a:latin typeface="Source Sans 3" pitchFamily="34" charset="0"/>
                <a:ea typeface="Source Sans 3" pitchFamily="34" charset="-122"/>
                <a:cs typeface="Source Sans 3" pitchFamily="34" charset="-120"/>
              </a:rPr>
              <a:t>; by </a:t>
            </a:r>
            <a:r>
              <a:rPr lang="en-US" sz="1250" b="1" dirty="0">
                <a:solidFill>
                  <a:srgbClr val="182B49"/>
                </a:solidFill>
                <a:latin typeface="Source Sans 3" pitchFamily="34" charset="0"/>
                <a:ea typeface="Source Sans 3" pitchFamily="34" charset="-122"/>
                <a:cs typeface="Source Sans 3" pitchFamily="34" charset="-120"/>
              </a:rPr>
              <a:t>question</a:t>
            </a:r>
            <a:r>
              <a:rPr lang="en-US" sz="1250" dirty="0">
                <a:solidFill>
                  <a:srgbClr val="182B49"/>
                </a:solidFill>
                <a:latin typeface="Source Sans 3" pitchFamily="34" charset="0"/>
                <a:ea typeface="Source Sans 3" pitchFamily="34" charset="-122"/>
                <a:cs typeface="Source Sans 3" pitchFamily="34" charset="-120"/>
              </a:rPr>
              <a:t> (the GOOS / EOV questions as doors).</a:t>
            </a:r>
            <a:endParaRPr lang="en-US" sz="1250" dirty="0"/>
          </a:p>
        </p:txBody>
      </p:sp>
      <p:sp>
        <p:nvSpPr>
          <p:cNvPr id="25" name="Shape 19"/>
          <p:cNvSpPr/>
          <p:nvPr/>
        </p:nvSpPr>
        <p:spPr>
          <a:xfrm>
            <a:off x="6388100" y="3606800"/>
            <a:ext cx="0" cy="238125"/>
          </a:xfrm>
          <a:prstGeom prst="line">
            <a:avLst/>
          </a:prstGeom>
          <a:noFill/>
          <a:ln w="25400">
            <a:solidFill>
              <a:srgbClr val="FFCD00"/>
            </a:solidFill>
            <a:prstDash val="solid"/>
          </a:ln>
        </p:spPr>
        <p:txBody>
          <a:bodyPr/>
          <a:lstStyle/>
          <a:p>
            <a:endParaRPr lang="en-US"/>
          </a:p>
        </p:txBody>
      </p:sp>
      <p:sp>
        <p:nvSpPr>
          <p:cNvPr id="26" name="Text 20"/>
          <p:cNvSpPr/>
          <p:nvPr/>
        </p:nvSpPr>
        <p:spPr>
          <a:xfrm>
            <a:off x="6527800" y="3619500"/>
            <a:ext cx="4800727" cy="238125"/>
          </a:xfrm>
          <a:prstGeom prst="rect">
            <a:avLst/>
          </a:prstGeom>
          <a:noFill/>
          <a:ln/>
        </p:spPr>
        <p:txBody>
          <a:bodyPr wrap="square" lIns="0" tIns="0" rIns="0" bIns="0" rtlCol="0" anchor="t">
            <a:normAutofit/>
          </a:bodyPr>
          <a:lstStyle/>
          <a:p>
            <a:pPr marL="0" indent="0" algn="l">
              <a:lnSpc>
                <a:spcPts val="1675"/>
              </a:lnSpc>
              <a:buNone/>
            </a:pPr>
            <a:r>
              <a:rPr lang="en-US" sz="1250" b="1" dirty="0">
                <a:solidFill>
                  <a:srgbClr val="182B49"/>
                </a:solidFill>
                <a:latin typeface="Source Sans 3" pitchFamily="34" charset="0"/>
                <a:ea typeface="Source Sans 3" pitchFamily="34" charset="-122"/>
                <a:cs typeface="Source Sans 3" pitchFamily="34" charset="-120"/>
              </a:rPr>
              <a:t>Compare two</a:t>
            </a:r>
            <a:r>
              <a:rPr lang="en-US" sz="1250" dirty="0">
                <a:solidFill>
                  <a:srgbClr val="182B49"/>
                </a:solidFill>
                <a:latin typeface="Source Sans 3" pitchFamily="34" charset="0"/>
                <a:ea typeface="Source Sans 3" pitchFamily="34" charset="-122"/>
                <a:cs typeface="Source Sans 3" pitchFamily="34" charset="-120"/>
              </a:rPr>
              <a:t> species or measurements on one page.</a:t>
            </a:r>
            <a:endParaRPr lang="en-US" sz="1250" dirty="0"/>
          </a:p>
        </p:txBody>
      </p:sp>
      <p:sp>
        <p:nvSpPr>
          <p:cNvPr id="27" name="Text 21"/>
          <p:cNvSpPr/>
          <p:nvPr/>
        </p:nvSpPr>
        <p:spPr>
          <a:xfrm>
            <a:off x="812800" y="4362450"/>
            <a:ext cx="10883392" cy="43686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66686A"/>
                </a:solidFill>
                <a:latin typeface="Source Sans 3" pitchFamily="34" charset="0"/>
                <a:ea typeface="Source Sans 3" pitchFamily="34" charset="-122"/>
                <a:cs typeface="Source Sans 3" pitchFamily="34" charset="-120"/>
              </a:rPr>
              <a:t>Seen while shooting these slides:</a:t>
            </a:r>
            <a:r>
              <a:rPr lang="en-US" sz="1200" dirty="0">
                <a:solidFill>
                  <a:srgbClr val="66686A"/>
                </a:solidFill>
                <a:latin typeface="Source Sans 3" pitchFamily="34" charset="0"/>
                <a:ea typeface="Source Sans 3" pitchFamily="34" charset="-122"/>
                <a:cs typeface="Source Sans 3" pitchFamily="34" charset="-120"/>
              </a:rPr>
              <a:t> pH’s labels overlap; temperature’s “seawater fr…” truncates; wind’s method pin reads “not found on calcofi.org”; picoplankton are still measurements until the next release moves them to species.</a:t>
            </a:r>
            <a:endParaRPr lang="en-US" sz="1200" dirty="0"/>
          </a:p>
        </p:txBody>
      </p:sp>
      <p:sp>
        <p:nvSpPr>
          <p:cNvPr id="28" name="Text 22"/>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7">
                  <a:extLst>
                    <a:ext uri="{A12FA001-AC4F-418D-AE19-62706E023703}">
                      <ahyp:hlinkClr xmlns:ahyp="http://schemas.microsoft.com/office/drawing/2018/hyperlinkcolor" val="tx"/>
                    </a:ext>
                  </a:extLst>
                </a:hlinkClick>
              </a:rPr>
              <a:t>calcofi.io/species/</a:t>
            </a:r>
            <a:endParaRPr lang="en-US" sz="1200" dirty="0"/>
          </a:p>
        </p:txBody>
      </p:sp>
      <p:sp>
        <p:nvSpPr>
          <p:cNvPr id="29" name="Text 23"/>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PLACE · THE PROBLEM</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AN INSHORE GRID CELL HELD UP TO FIVE STATIONS</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2095500"/>
          <a:ext cx="6350000" cy="1730375"/>
        </p:xfrm>
        <a:graphic>
          <a:graphicData uri="http://schemas.openxmlformats.org/drawingml/2006/table">
            <a:tbl>
              <a:tblPr/>
              <a:tblGrid>
                <a:gridCol w="1397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46075">
                <a:tc>
                  <a:txBody>
                    <a:bodyPr/>
                    <a:lstStyle/>
                    <a:p>
                      <a:pPr marL="0" indent="0">
                        <a:lnSpc>
                          <a:spcPts val="1750"/>
                        </a:lnSpc>
                        <a:buNone/>
                      </a:pPr>
                      <a:r>
                        <a:rPr lang="en-US" sz="1250" b="1" dirty="0">
                          <a:solidFill>
                            <a:srgbClr val="FFFFFF"/>
                          </a:solidFill>
                          <a:latin typeface="Source Sans 3" pitchFamily="34" charset="0"/>
                          <a:ea typeface="Source Sans 3" pitchFamily="34" charset="-122"/>
                          <a:cs typeface="Source Sans 3" pitchFamily="34" charset="-120"/>
                        </a:rPr>
                        <a:t>Grid cell</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750"/>
                        </a:lnSpc>
                        <a:buNone/>
                      </a:pPr>
                      <a:r>
                        <a:rPr lang="en-US" sz="1250" b="1" dirty="0">
                          <a:solidFill>
                            <a:srgbClr val="FFFFFF"/>
                          </a:solidFill>
                          <a:latin typeface="Source Sans 3" pitchFamily="34" charset="0"/>
                          <a:ea typeface="Source Sans 3" pitchFamily="34" charset="-122"/>
                          <a:cs typeface="Source Sans 3" pitchFamily="34" charset="-120"/>
                        </a:rPr>
                        <a:t>Stations it holds</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gn="r">
                        <a:lnSpc>
                          <a:spcPts val="1750"/>
                        </a:lnSpc>
                        <a:buNone/>
                      </a:pPr>
                      <a:r>
                        <a:rPr lang="en-US" sz="1250" b="1" dirty="0">
                          <a:solidFill>
                            <a:srgbClr val="FFFFFF"/>
                          </a:solidFill>
                          <a:latin typeface="Source Sans 3" pitchFamily="34" charset="0"/>
                          <a:ea typeface="Source Sans 3" pitchFamily="34" charset="-122"/>
                          <a:cs typeface="Source Sans 3" pitchFamily="34" charset="-120"/>
                        </a:rPr>
                        <a:t>Per cruise</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extLst>
                  <a:ext uri="{0D108BD9-81ED-4DB2-BD59-A6C34878D82A}">
                    <a16:rowId xmlns:a16="http://schemas.microsoft.com/office/drawing/2014/main" val="10000"/>
                  </a:ext>
                </a:extLst>
              </a:tr>
              <a:tr h="346075">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st30-ln90</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90.30 · 90.28 · 90.27.7 (SCCOOS) · 88.5/30.1</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gn="r">
                        <a:lnSpc>
                          <a:spcPts val="1750"/>
                        </a:lnSpc>
                        <a:buNone/>
                      </a:pPr>
                      <a:r>
                        <a:rPr lang="en-US" sz="1250" dirty="0">
                          <a:solidFill>
                            <a:srgbClr val="182B49"/>
                          </a:solidFill>
                          <a:latin typeface="Source Sans 3" pitchFamily="34" charset="0"/>
                          <a:ea typeface="Source Sans 3" pitchFamily="34" charset="-122"/>
                          <a:cs typeface="Source Sans 3" pitchFamily="34" charset="-120"/>
                        </a:rPr>
                        <a:t>3.67</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1"/>
                  </a:ext>
                </a:extLst>
              </a:tr>
              <a:tr h="346075">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st35-ln86.7</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86.7/35 · 86.7/33 · 86.7/32.5 · 85.4/35.4 · 85.4/35.8</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gn="r">
                        <a:lnSpc>
                          <a:spcPts val="1750"/>
                        </a:lnSpc>
                        <a:buNone/>
                      </a:pPr>
                      <a:r>
                        <a:rPr lang="en-US" sz="1250" dirty="0">
                          <a:solidFill>
                            <a:srgbClr val="182B49"/>
                          </a:solidFill>
                          <a:latin typeface="Source Sans 3" pitchFamily="34" charset="0"/>
                          <a:ea typeface="Source Sans 3" pitchFamily="34" charset="-122"/>
                          <a:cs typeface="Source Sans 3" pitchFamily="34" charset="-120"/>
                        </a:rPr>
                        <a:t>3.22</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st40-ln83.3</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83.3/40 · 83.3/39 · 83.3/40.6 · 83.3/42 · 84.0/41.7</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gn="r">
                        <a:lnSpc>
                          <a:spcPts val="1750"/>
                        </a:lnSpc>
                        <a:buNone/>
                      </a:pPr>
                      <a:r>
                        <a:rPr lang="en-US" sz="1250" dirty="0">
                          <a:solidFill>
                            <a:srgbClr val="182B49"/>
                          </a:solidFill>
                          <a:latin typeface="Source Sans 3" pitchFamily="34" charset="0"/>
                          <a:ea typeface="Source Sans 3" pitchFamily="34" charset="-122"/>
                          <a:cs typeface="Source Sans 3" pitchFamily="34" charset="-120"/>
                        </a:rPr>
                        <a:t>2.88</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3"/>
                  </a:ext>
                </a:extLst>
              </a:tr>
              <a:tr h="346075">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st25-ln93.3</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750"/>
                        </a:lnSpc>
                        <a:buNone/>
                      </a:pPr>
                      <a:r>
                        <a:rPr lang="en-US" sz="1250" dirty="0">
                          <a:solidFill>
                            <a:srgbClr val="182B49"/>
                          </a:solidFill>
                          <a:latin typeface="Source Sans 3" pitchFamily="34" charset="0"/>
                          <a:ea typeface="Source Sans 3" pitchFamily="34" charset="-122"/>
                          <a:cs typeface="Source Sans 3" pitchFamily="34" charset="-120"/>
                        </a:rPr>
                        <a:t>93.3/26.4 · 93.3/26.0 · 93.3/26.7 · 93.4/26.x · 91.7/26.4</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gn="r">
                        <a:lnSpc>
                          <a:spcPts val="1750"/>
                        </a:lnSpc>
                        <a:buNone/>
                      </a:pPr>
                      <a:r>
                        <a:rPr lang="en-US" sz="1250" dirty="0">
                          <a:solidFill>
                            <a:srgbClr val="182B49"/>
                          </a:solidFill>
                          <a:latin typeface="Source Sans 3" pitchFamily="34" charset="0"/>
                          <a:ea typeface="Source Sans 3" pitchFamily="34" charset="-122"/>
                          <a:cs typeface="Source Sans 3" pitchFamily="34" charset="-120"/>
                        </a:rPr>
                        <a:t>2.69</a:t>
                      </a:r>
                      <a:endParaRPr lang="en-US" sz="1250" dirty="0">
                        <a:latin typeface="Source Sans 3" charset="0"/>
                        <a:ea typeface="Source Sans 3" charset="0"/>
                        <a:cs typeface="Source Sans 3" charset="0"/>
                      </a:endParaRPr>
                    </a:p>
                  </a:txBody>
                  <a:tcPr marL="55563" marR="55563" marT="55563" marB="55563">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5"/>
          <p:cNvSpPr/>
          <p:nvPr/>
        </p:nvSpPr>
        <p:spPr>
          <a:xfrm>
            <a:off x="812800" y="3927475"/>
            <a:ext cx="654050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CTD cast occupations per cruise in each inshore cell, measured on v2026.09.06; each cell occupied every cruise since 2004.</a:t>
            </a:r>
            <a:endParaRPr lang="en-US" sz="1200" dirty="0"/>
          </a:p>
        </p:txBody>
      </p:sp>
      <p:sp>
        <p:nvSpPr>
          <p:cNvPr id="11" name="Text 6"/>
          <p:cNvSpPr/>
          <p:nvPr/>
        </p:nvSpPr>
        <p:spPr>
          <a:xfrm>
            <a:off x="7518400" y="2095500"/>
            <a:ext cx="3976624"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00629B"/>
                </a:solidFill>
                <a:latin typeface="Teko" pitchFamily="34" charset="0"/>
                <a:ea typeface="Teko" pitchFamily="34" charset="-122"/>
                <a:cs typeface="Teko" pitchFamily="34" charset="-120"/>
              </a:rPr>
              <a:t>16.6 %</a:t>
            </a:r>
            <a:endParaRPr lang="en-US" sz="4800" dirty="0"/>
          </a:p>
        </p:txBody>
      </p:sp>
      <p:sp>
        <p:nvSpPr>
          <p:cNvPr id="12" name="Text 7"/>
          <p:cNvSpPr/>
          <p:nvPr/>
        </p:nvSpPr>
        <p:spPr>
          <a:xfrm>
            <a:off x="7518400" y="2730500"/>
            <a:ext cx="3976624"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82B49"/>
                </a:solidFill>
                <a:latin typeface="Source Sans 3" pitchFamily="34" charset="0"/>
                <a:ea typeface="Source Sans 3" pitchFamily="34" charset="-122"/>
                <a:cs typeface="Source Sans 3" pitchFamily="34" charset="-120"/>
              </a:rPr>
              <a:t>of CTD occupations never drew in ctd-transects — 1,595 of 9,637</a:t>
            </a:r>
            <a:endParaRPr lang="en-US" sz="1300" dirty="0"/>
          </a:p>
        </p:txBody>
      </p:sp>
      <p:sp>
        <p:nvSpPr>
          <p:cNvPr id="13" name="Text 8"/>
          <p:cNvSpPr/>
          <p:nvPr/>
        </p:nvSpPr>
        <p:spPr>
          <a:xfrm>
            <a:off x="7518400" y="3299420"/>
            <a:ext cx="3976624"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00629B"/>
                </a:solidFill>
                <a:latin typeface="Teko" pitchFamily="34" charset="0"/>
                <a:ea typeface="Teko" pitchFamily="34" charset="-122"/>
                <a:cs typeface="Teko" pitchFamily="34" charset="-120"/>
              </a:rPr>
              <a:t>26 %</a:t>
            </a:r>
            <a:endParaRPr lang="en-US" sz="4800" dirty="0"/>
          </a:p>
        </p:txBody>
      </p:sp>
      <p:sp>
        <p:nvSpPr>
          <p:cNvPr id="14" name="Text 9"/>
          <p:cNvSpPr/>
          <p:nvPr/>
        </p:nvSpPr>
        <p:spPr>
          <a:xfrm>
            <a:off x="7518400" y="3934420"/>
            <a:ext cx="3976624"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82B49"/>
                </a:solidFill>
                <a:latin typeface="Source Sans 3" pitchFamily="34" charset="0"/>
                <a:ea typeface="Source Sans 3" pitchFamily="34" charset="-122"/>
                <a:cs typeface="Source Sans 3" pitchFamily="34" charset="-120"/>
              </a:rPr>
              <a:t>on line 90 since 2004</a:t>
            </a:r>
            <a:endParaRPr lang="en-US" sz="1300" dirty="0"/>
          </a:p>
        </p:txBody>
      </p:sp>
      <p:sp>
        <p:nvSpPr>
          <p:cNvPr id="15" name="Text 10"/>
          <p:cNvSpPr/>
          <p:nvPr/>
        </p:nvSpPr>
        <p:spPr>
          <a:xfrm>
            <a:off x="7518400" y="4288730"/>
            <a:ext cx="3976624" cy="69393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82B49"/>
                </a:solidFill>
                <a:latin typeface="Source Sans 3" pitchFamily="34" charset="0"/>
                <a:ea typeface="Source Sans 3" pitchFamily="34" charset="-122"/>
                <a:cs typeface="Source Sans 3" pitchFamily="34" charset="-120"/>
              </a:rPr>
              <a:t>Three products, three answers</a:t>
            </a:r>
            <a:r>
              <a:rPr lang="en-US" sz="1300" dirty="0">
                <a:solidFill>
                  <a:srgbClr val="182B49"/>
                </a:solidFill>
                <a:latin typeface="Source Sans 3" pitchFamily="34" charset="0"/>
                <a:ea typeface="Source Sans 3" pitchFamily="34" charset="-122"/>
                <a:cs typeface="Source Sans 3" pitchFamily="34" charset="-120"/>
              </a:rPr>
              <a:t> within 30 km of the coast: the plotter kept the first cast, the Explorer averaged the cell, the climatology pooled it.</a:t>
            </a:r>
            <a:endParaRPr lang="en-US" sz="1300" dirty="0"/>
          </a:p>
        </p:txBody>
      </p:sp>
      <p:sp>
        <p:nvSpPr>
          <p:cNvPr id="16" name="Text 11"/>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github.com/CalCOFI/workflows/issues/86</a:t>
            </a:r>
            <a:endParaRPr lang="en-US" sz="1200" dirty="0"/>
          </a:p>
        </p:txBody>
      </p:sp>
      <p:sp>
        <p:nvSpPr>
          <p:cNvPr id="17" name="Text 12"/>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PLACE · THE FIX</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THE CLIMATOLOGY KEYS ON THE STATION</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Shape 5"/>
          <p:cNvSpPr/>
          <p:nvPr/>
        </p:nvSpPr>
        <p:spPr>
          <a:xfrm>
            <a:off x="812800" y="2070100"/>
            <a:ext cx="5283200" cy="1232198"/>
          </a:xfrm>
          <a:prstGeom prst="roundRect">
            <a:avLst>
              <a:gd name="adj" fmla="val 6184"/>
            </a:avLst>
          </a:prstGeom>
          <a:solidFill>
            <a:srgbClr val="FFFFFF"/>
          </a:solidFill>
          <a:ln/>
        </p:spPr>
        <p:txBody>
          <a:bodyPr/>
          <a:lstStyle/>
          <a:p>
            <a:endParaRPr lang="en-US"/>
          </a:p>
        </p:txBody>
      </p:sp>
      <p:sp>
        <p:nvSpPr>
          <p:cNvPr id="10" name="Text 6"/>
          <p:cNvSpPr/>
          <p:nvPr/>
        </p:nvSpPr>
        <p:spPr>
          <a:xfrm>
            <a:off x="990600" y="2222500"/>
            <a:ext cx="5075428" cy="24636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82B49"/>
                </a:solidFill>
                <a:latin typeface="Source Sans 3" pitchFamily="34" charset="0"/>
                <a:ea typeface="Source Sans 3" pitchFamily="34" charset="-122"/>
                <a:cs typeface="Source Sans 3" pitchFamily="34" charset="-120"/>
              </a:rPr>
              <a:t>One spelling per station</a:t>
            </a:r>
            <a:endParaRPr lang="en-US" sz="1450" dirty="0"/>
          </a:p>
        </p:txBody>
      </p:sp>
      <p:sp>
        <p:nvSpPr>
          <p:cNvPr id="11" name="Text 7"/>
          <p:cNvSpPr/>
          <p:nvPr/>
        </p:nvSpPr>
        <p:spPr>
          <a:xfrm>
            <a:off x="990600" y="2506960"/>
            <a:ext cx="5075428" cy="668338"/>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182B49"/>
                </a:solidFill>
                <a:latin typeface="Source Sans 3" pitchFamily="34" charset="0"/>
                <a:ea typeface="Source Sans 3" pitchFamily="34" charset="-122"/>
                <a:cs typeface="Source Sans 3" pitchFamily="34" charset="-120"/>
              </a:rPr>
              <a:t>site_key = printf('%05.1f %05.1f', line, station) → </a:t>
            </a:r>
            <a:r>
              <a:rPr lang="en-US" sz="1250" b="1" dirty="0">
                <a:solidFill>
                  <a:srgbClr val="182B49"/>
                </a:solidFill>
                <a:latin typeface="Source Sans 3" pitchFamily="34" charset="0"/>
                <a:ea typeface="Source Sans 3" pitchFamily="34" charset="-122"/>
                <a:cs typeface="Source Sans 3" pitchFamily="34" charset="-120"/>
              </a:rPr>
              <a:t>090.0 028.0</a:t>
            </a:r>
            <a:r>
              <a:rPr lang="en-US" sz="1250" dirty="0">
                <a:solidFill>
                  <a:srgbClr val="182B49"/>
                </a:solidFill>
                <a:latin typeface="Source Sans 3" pitchFamily="34" charset="0"/>
                <a:ea typeface="Source Sans 3" pitchFamily="34" charset="-122"/>
                <a:cs typeface="Source Sans 3" pitchFamily="34" charset="-120"/>
              </a:rPr>
              <a:t>. 28 CTD casts carried the source’s spellings (“93.3 26.4”, “0093. 060.0”): normalized at ingest, checked at release.</a:t>
            </a:r>
            <a:endParaRPr lang="en-US" sz="1250" dirty="0"/>
          </a:p>
        </p:txBody>
      </p:sp>
      <p:sp>
        <p:nvSpPr>
          <p:cNvPr id="12" name="Shape 8"/>
          <p:cNvSpPr/>
          <p:nvPr/>
        </p:nvSpPr>
        <p:spPr>
          <a:xfrm>
            <a:off x="6096000" y="2070100"/>
            <a:ext cx="5283200" cy="1232198"/>
          </a:xfrm>
          <a:prstGeom prst="roundRect">
            <a:avLst>
              <a:gd name="adj" fmla="val 6184"/>
            </a:avLst>
          </a:prstGeom>
          <a:solidFill>
            <a:srgbClr val="FFFFFF"/>
          </a:solidFill>
          <a:ln/>
        </p:spPr>
        <p:txBody>
          <a:bodyPr/>
          <a:lstStyle/>
          <a:p>
            <a:endParaRPr lang="en-US"/>
          </a:p>
        </p:txBody>
      </p:sp>
      <p:sp>
        <p:nvSpPr>
          <p:cNvPr id="13" name="Text 9"/>
          <p:cNvSpPr/>
          <p:nvPr/>
        </p:nvSpPr>
        <p:spPr>
          <a:xfrm>
            <a:off x="6273800" y="2222500"/>
            <a:ext cx="5075428" cy="24636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82B49"/>
                </a:solidFill>
                <a:latin typeface="Source Sans 3" pitchFamily="34" charset="0"/>
                <a:ea typeface="Source Sans 3" pitchFamily="34" charset="-122"/>
                <a:cs typeface="Source Sans 3" pitchFamily="34" charset="-120"/>
              </a:rPr>
              <a:t>The climatology on the station</a:t>
            </a:r>
            <a:endParaRPr lang="en-US" sz="1450" dirty="0"/>
          </a:p>
        </p:txBody>
      </p:sp>
      <p:sp>
        <p:nvSpPr>
          <p:cNvPr id="14" name="Text 10"/>
          <p:cNvSpPr/>
          <p:nvPr/>
        </p:nvSpPr>
        <p:spPr>
          <a:xfrm>
            <a:off x="6273800" y="2506960"/>
            <a:ext cx="5075428" cy="668338"/>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182B49"/>
                </a:solidFill>
                <a:latin typeface="Source Sans 3" pitchFamily="34" charset="0"/>
                <a:ea typeface="Source Sans 3" pitchFamily="34" charset="-122"/>
                <a:cs typeface="Source Sans 3" pitchFamily="34" charset="-120"/>
              </a:rPr>
              <a:t>Grained on dataset × </a:t>
            </a:r>
            <a:r>
              <a:rPr lang="en-US" sz="1250" b="1" dirty="0">
                <a:solidFill>
                  <a:srgbClr val="182B49"/>
                </a:solidFill>
                <a:latin typeface="Source Sans 3" pitchFamily="34" charset="0"/>
                <a:ea typeface="Source Sans 3" pitchFamily="34" charset="-122"/>
                <a:cs typeface="Source Sans 3" pitchFamily="34" charset="-120"/>
              </a:rPr>
              <a:t>site_key</a:t>
            </a:r>
            <a:r>
              <a:rPr lang="en-US" sz="1250" dirty="0">
                <a:solidFill>
                  <a:srgbClr val="182B49"/>
                </a:solidFill>
                <a:latin typeface="Source Sans 3" pitchFamily="34" charset="0"/>
                <a:ea typeface="Source Sans 3" pitchFamily="34" charset="-122"/>
                <a:cs typeface="Source Sans 3" pitchFamily="34" charset="-120"/>
              </a:rPr>
              <a:t> × month × 10 m bin × measurement; grid_key stays as the station’s modal cell (709 of 9,705 stations straddle a cell edge).</a:t>
            </a:r>
            <a:endParaRPr lang="en-US" sz="1250" dirty="0"/>
          </a:p>
        </p:txBody>
      </p:sp>
      <p:sp>
        <p:nvSpPr>
          <p:cNvPr id="15" name="Shape 11"/>
          <p:cNvSpPr/>
          <p:nvPr/>
        </p:nvSpPr>
        <p:spPr>
          <a:xfrm>
            <a:off x="812800" y="3302298"/>
            <a:ext cx="5283200" cy="1017885"/>
          </a:xfrm>
          <a:prstGeom prst="roundRect">
            <a:avLst>
              <a:gd name="adj" fmla="val 7486"/>
            </a:avLst>
          </a:prstGeom>
          <a:solidFill>
            <a:srgbClr val="FFFFFF"/>
          </a:solidFill>
          <a:ln/>
        </p:spPr>
        <p:txBody>
          <a:bodyPr/>
          <a:lstStyle/>
          <a:p>
            <a:endParaRPr lang="en-US"/>
          </a:p>
        </p:txBody>
      </p:sp>
      <p:sp>
        <p:nvSpPr>
          <p:cNvPr id="16" name="Text 12"/>
          <p:cNvSpPr/>
          <p:nvPr/>
        </p:nvSpPr>
        <p:spPr>
          <a:xfrm>
            <a:off x="990600" y="3454698"/>
            <a:ext cx="5075428" cy="24636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82B49"/>
                </a:solidFill>
                <a:latin typeface="Source Sans 3" pitchFamily="34" charset="0"/>
                <a:ea typeface="Source Sans 3" pitchFamily="34" charset="-122"/>
                <a:cs typeface="Source Sans 3" pitchFamily="34" charset="-120"/>
              </a:rPr>
              <a:t>At least five cruises per cell</a:t>
            </a:r>
            <a:endParaRPr lang="en-US" sz="1450" dirty="0"/>
          </a:p>
        </p:txBody>
      </p:sp>
      <p:sp>
        <p:nvSpPr>
          <p:cNvPr id="17" name="Text 13"/>
          <p:cNvSpPr/>
          <p:nvPr/>
        </p:nvSpPr>
        <p:spPr>
          <a:xfrm>
            <a:off x="990600" y="3739158"/>
            <a:ext cx="5075428"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182B49"/>
                </a:solidFill>
                <a:latin typeface="Source Sans 3" pitchFamily="34" charset="0"/>
                <a:ea typeface="Source Sans 3" pitchFamily="34" charset="-122"/>
                <a:cs typeface="Source Sans 3" pitchFamily="34" charset="-120"/>
              </a:rPr>
              <a:t>Rasmus, 9/9: </a:t>
            </a:r>
            <a:r>
              <a:rPr lang="en-US" sz="1250" b="1" dirty="0">
                <a:solidFill>
                  <a:srgbClr val="182B49"/>
                </a:solidFill>
                <a:latin typeface="Source Sans 3" pitchFamily="34" charset="0"/>
                <a:ea typeface="Source Sans 3" pitchFamily="34" charset="-122"/>
                <a:cs typeface="Source Sans 3" pitchFamily="34" charset="-120"/>
              </a:rPr>
              <a:t>≥ 5 cruises</a:t>
            </a:r>
            <a:r>
              <a:rPr lang="en-US" sz="1250" dirty="0">
                <a:solidFill>
                  <a:srgbClr val="182B49"/>
                </a:solidFill>
                <a:latin typeface="Source Sans 3" pitchFamily="34" charset="0"/>
                <a:ea typeface="Source Sans 3" pitchFamily="34" charset="-122"/>
                <a:cs typeface="Source Sans 3" pitchFamily="34" charset="-120"/>
              </a:rPr>
              <a:t> (was 3). 577,113 of 768,880 cells survive (75 %); every row carries the n behind it.</a:t>
            </a:r>
            <a:endParaRPr lang="en-US" sz="1250" dirty="0"/>
          </a:p>
        </p:txBody>
      </p:sp>
      <p:sp>
        <p:nvSpPr>
          <p:cNvPr id="18" name="Shape 14"/>
          <p:cNvSpPr/>
          <p:nvPr/>
        </p:nvSpPr>
        <p:spPr>
          <a:xfrm>
            <a:off x="6096000" y="3302298"/>
            <a:ext cx="5283200" cy="1017885"/>
          </a:xfrm>
          <a:prstGeom prst="roundRect">
            <a:avLst>
              <a:gd name="adj" fmla="val 7486"/>
            </a:avLst>
          </a:prstGeom>
          <a:solidFill>
            <a:srgbClr val="FFFFFF"/>
          </a:solidFill>
          <a:ln/>
        </p:spPr>
        <p:txBody>
          <a:bodyPr/>
          <a:lstStyle/>
          <a:p>
            <a:endParaRPr lang="en-US"/>
          </a:p>
        </p:txBody>
      </p:sp>
      <p:sp>
        <p:nvSpPr>
          <p:cNvPr id="19" name="Text 15"/>
          <p:cNvSpPr/>
          <p:nvPr/>
        </p:nvSpPr>
        <p:spPr>
          <a:xfrm>
            <a:off x="6273800" y="3454698"/>
            <a:ext cx="5075428" cy="24636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82B49"/>
                </a:solidFill>
                <a:latin typeface="Source Sans 3" pitchFamily="34" charset="0"/>
                <a:ea typeface="Source Sans 3" pitchFamily="34" charset="-122"/>
                <a:cs typeface="Source Sans 3" pitchFamily="34" charset="-120"/>
              </a:rPr>
              <a:t>To the bottom</a:t>
            </a:r>
            <a:endParaRPr lang="en-US" sz="1450" dirty="0"/>
          </a:p>
        </p:txBody>
      </p:sp>
      <p:sp>
        <p:nvSpPr>
          <p:cNvPr id="20" name="Text 16"/>
          <p:cNvSpPr/>
          <p:nvPr/>
        </p:nvSpPr>
        <p:spPr>
          <a:xfrm>
            <a:off x="6273800" y="3739158"/>
            <a:ext cx="5075428"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182B49"/>
                </a:solidFill>
                <a:latin typeface="Source Sans 3" pitchFamily="34" charset="0"/>
                <a:ea typeface="Source Sans 3" pitchFamily="34" charset="-122"/>
                <a:cs typeface="Source Sans 3" pitchFamily="34" charset="-120"/>
              </a:rPr>
              <a:t>The normal reaches the deepest bin with enough cruises: </a:t>
            </a:r>
            <a:r>
              <a:rPr lang="en-US" sz="1250" b="1" dirty="0">
                <a:solidFill>
                  <a:srgbClr val="182B49"/>
                </a:solidFill>
                <a:latin typeface="Source Sans 3" pitchFamily="34" charset="0"/>
                <a:ea typeface="Source Sans 3" pitchFamily="34" charset="-122"/>
                <a:cs typeface="Source Sans 3" pitchFamily="34" charset="-120"/>
              </a:rPr>
              <a:t>500 → 720 m</a:t>
            </a:r>
            <a:r>
              <a:rPr lang="en-US" sz="1250" dirty="0">
                <a:solidFill>
                  <a:srgbClr val="182B49"/>
                </a:solidFill>
                <a:latin typeface="Source Sans 3" pitchFamily="34" charset="0"/>
                <a:ea typeface="Source Sans 3" pitchFamily="34" charset="-122"/>
                <a:cs typeface="Source Sans 3" pitchFamily="34" charset="-120"/>
              </a:rPr>
              <a:t>, 714,882 → 734,410 rows (+2.7 %).</a:t>
            </a:r>
            <a:endParaRPr lang="en-US" sz="1250" dirty="0"/>
          </a:p>
        </p:txBody>
      </p:sp>
      <p:sp>
        <p:nvSpPr>
          <p:cNvPr id="21" name="Text 17"/>
          <p:cNvSpPr/>
          <p:nvPr/>
        </p:nvSpPr>
        <p:spPr>
          <a:xfrm>
            <a:off x="812800" y="4459883"/>
            <a:ext cx="1088339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Moved together: </a:t>
            </a:r>
            <a:r>
              <a:rPr lang="en-US" sz="1300" b="1" dirty="0">
                <a:solidFill>
                  <a:srgbClr val="182B49"/>
                </a:solidFill>
                <a:latin typeface="Source Sans 3" pitchFamily="34" charset="0"/>
                <a:ea typeface="Source Sans 3" pitchFamily="34" charset="-122"/>
                <a:cs typeface="Source Sans 3" pitchFamily="34" charset="-120"/>
              </a:rPr>
              <a:t>ctd-transects</a:t>
            </a:r>
            <a:r>
              <a:rPr lang="en-US" sz="1300" dirty="0">
                <a:solidFill>
                  <a:srgbClr val="182B49"/>
                </a:solidFill>
                <a:latin typeface="Source Sans 3" pitchFamily="34" charset="0"/>
                <a:ea typeface="Source Sans 3" pitchFamily="34" charset="-122"/>
                <a:cs typeface="Source Sans 3" pitchFamily="34" charset="-120"/>
              </a:rPr>
              <a:t> (PR #3), the Explorer’s </a:t>
            </a:r>
            <a:r>
              <a:rPr lang="en-US" sz="1300" b="1" dirty="0">
                <a:solidFill>
                  <a:srgbClr val="182B49"/>
                </a:solidFill>
                <a:latin typeface="Source Sans 3" pitchFamily="34" charset="0"/>
                <a:ea typeface="Source Sans 3" pitchFamily="34" charset="-122"/>
                <a:cs typeface="Source Sans 3" pitchFamily="34" charset="-120"/>
              </a:rPr>
              <a:t>Sections</a:t>
            </a:r>
            <a:r>
              <a:rPr lang="en-US" sz="1300" dirty="0">
                <a:solidFill>
                  <a:srgbClr val="182B49"/>
                </a:solidFill>
                <a:latin typeface="Source Sans 3" pitchFamily="34" charset="0"/>
                <a:ea typeface="Source Sans 3" pitchFamily="34" charset="-122"/>
                <a:cs typeface="Source Sans 3" pitchFamily="34" charset="-120"/>
              </a:rPr>
              <a:t> lens (PR #10) and </a:t>
            </a:r>
            <a:r>
              <a:rPr lang="en-US" sz="1300" b="1" dirty="0">
                <a:solidFill>
                  <a:srgbClr val="182B49"/>
                </a:solidFill>
                <a:latin typeface="Source Sans 3" pitchFamily="34" charset="0"/>
                <a:ea typeface="Source Sans 3" pitchFamily="34" charset="-122"/>
                <a:cs typeface="Source Sans 3" pitchFamily="34" charset="-120"/>
              </a:rPr>
              <a:t>cc_climatology()</a:t>
            </a:r>
            <a:r>
              <a:rPr lang="en-US" sz="1300" dirty="0">
                <a:solidFill>
                  <a:srgbClr val="182B49"/>
                </a:solidFill>
                <a:latin typeface="Source Sans 3" pitchFamily="34" charset="0"/>
                <a:ea typeface="Source Sans 3" pitchFamily="34" charset="-122"/>
                <a:cs typeface="Source Sans 3" pitchFamily="34" charset="-120"/>
              </a:rPr>
              <a:t> in calcofi4r 1.23.0, on calcofi4db 4.10.0 — inshore anomalies move by up to ~1 °C at the surface.</a:t>
            </a:r>
            <a:endParaRPr lang="en-US" sz="1300" dirty="0"/>
          </a:p>
        </p:txBody>
      </p:sp>
      <p:sp>
        <p:nvSpPr>
          <p:cNvPr id="22" name="Text 18"/>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calcofi.io/docs/db.html</a:t>
            </a:r>
            <a:endParaRPr lang="en-US" sz="1200" dirty="0"/>
          </a:p>
        </p:txBody>
      </p:sp>
      <p:sp>
        <p:nvSpPr>
          <p:cNvPr id="23" name="Text 19"/>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PLACE · BEFORE AND AFTER, CTD-TRANSECTS</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LINE 90, AUGUST 2024: THE COAST COMES INTO FOCUS</a:t>
            </a:r>
            <a:endParaRPr lang="en-US" sz="4000" dirty="0"/>
          </a:p>
        </p:txBody>
      </p:sp>
      <p:sp>
        <p:nvSpPr>
          <p:cNvPr id="8" name="Shape 4"/>
          <p:cNvSpPr/>
          <p:nvPr/>
        </p:nvSpPr>
        <p:spPr>
          <a:xfrm>
            <a:off x="0" y="1816100"/>
            <a:ext cx="12192000" cy="4279900"/>
          </a:xfrm>
          <a:prstGeom prst="rect">
            <a:avLst/>
          </a:prstGeom>
          <a:solidFill>
            <a:srgbClr val="182B49"/>
          </a:solidFill>
          <a:ln/>
        </p:spPr>
        <p:txBody>
          <a:bodyPr/>
          <a:lstStyle/>
          <a:p>
            <a:endParaRPr lang="en-US"/>
          </a:p>
        </p:txBody>
      </p:sp>
      <p:sp>
        <p:nvSpPr>
          <p:cNvPr id="9" name="Text 5"/>
          <p:cNvSpPr/>
          <p:nvPr/>
        </p:nvSpPr>
        <p:spPr>
          <a:xfrm>
            <a:off x="812800" y="1981200"/>
            <a:ext cx="5284724"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FCD00"/>
                </a:solidFill>
                <a:latin typeface="Source Sans 3" pitchFamily="34" charset="0"/>
                <a:ea typeface="Source Sans 3" pitchFamily="34" charset="-122"/>
                <a:cs typeface="Source Sans 3" pitchFamily="34" charset="-120"/>
              </a:rPr>
              <a:t>BEFORE · V2026.09.06</a:t>
            </a:r>
            <a:endParaRPr lang="en-US" sz="1300" dirty="0"/>
          </a:p>
        </p:txBody>
      </p:sp>
      <p:sp>
        <p:nvSpPr>
          <p:cNvPr id="10" name="Text 6"/>
          <p:cNvSpPr/>
          <p:nvPr/>
        </p:nvSpPr>
        <p:spPr>
          <a:xfrm>
            <a:off x="812800" y="2263130"/>
            <a:ext cx="5284724"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9EDF3"/>
                </a:solidFill>
                <a:latin typeface="Source Sans 3" pitchFamily="34" charset="0"/>
                <a:ea typeface="Source Sans 3" pitchFamily="34" charset="-122"/>
                <a:cs typeface="Source Sans 3" pitchFamily="34" charset="-120"/>
              </a:rPr>
              <a:t>One cast per grid cell; the normal pooled over the cell (≥ 3 cruises).</a:t>
            </a:r>
            <a:endParaRPr lang="en-US" sz="1200" dirty="0"/>
          </a:p>
        </p:txBody>
      </p:sp>
      <p:pic>
        <p:nvPicPr>
          <p:cNvPr id="11" name="Image 2" descr="Before: nearshore line 90 temperature anomaly with one column per grid cell"/>
          <p:cNvPicPr>
            <a:picLocks noChangeAspect="1"/>
          </p:cNvPicPr>
          <p:nvPr/>
        </p:nvPicPr>
        <p:blipFill>
          <a:blip r:embed="rId5"/>
          <a:srcRect l="-167" r="-167"/>
          <a:stretch/>
        </p:blipFill>
        <p:spPr>
          <a:xfrm>
            <a:off x="819150" y="2518370"/>
            <a:ext cx="5118100" cy="2743200"/>
          </a:xfrm>
          <a:prstGeom prst="roundRect">
            <a:avLst>
              <a:gd name="adj" fmla="val 2546"/>
            </a:avLst>
          </a:prstGeom>
        </p:spPr>
      </p:pic>
      <p:sp>
        <p:nvSpPr>
          <p:cNvPr id="12" name="Shape 7"/>
          <p:cNvSpPr/>
          <p:nvPr/>
        </p:nvSpPr>
        <p:spPr>
          <a:xfrm>
            <a:off x="815975" y="2515195"/>
            <a:ext cx="5124450" cy="2749550"/>
          </a:xfrm>
          <a:prstGeom prst="roundRect">
            <a:avLst>
              <a:gd name="adj" fmla="val 2656"/>
            </a:avLst>
          </a:prstGeom>
          <a:noFill/>
          <a:ln w="6350">
            <a:solidFill>
              <a:srgbClr val="34486B"/>
            </a:solidFill>
            <a:prstDash val="solid"/>
          </a:ln>
        </p:spPr>
        <p:txBody>
          <a:bodyPr/>
          <a:lstStyle/>
          <a:p>
            <a:endParaRPr lang="en-US"/>
          </a:p>
        </p:txBody>
      </p:sp>
      <p:sp>
        <p:nvSpPr>
          <p:cNvPr id="13" name="Text 8"/>
          <p:cNvSpPr/>
          <p:nvPr/>
        </p:nvSpPr>
        <p:spPr>
          <a:xfrm>
            <a:off x="6248400" y="1981200"/>
            <a:ext cx="5284724"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FCD00"/>
                </a:solidFill>
                <a:latin typeface="Source Sans 3" pitchFamily="34" charset="0"/>
                <a:ea typeface="Source Sans 3" pitchFamily="34" charset="-122"/>
                <a:cs typeface="Source Sans 3" pitchFamily="34" charset="-120"/>
              </a:rPr>
              <a:t>AFTER · V2026.09.11</a:t>
            </a:r>
            <a:endParaRPr lang="en-US" sz="1300" dirty="0"/>
          </a:p>
        </p:txBody>
      </p:sp>
      <p:sp>
        <p:nvSpPr>
          <p:cNvPr id="14" name="Text 9"/>
          <p:cNvSpPr/>
          <p:nvPr/>
        </p:nvSpPr>
        <p:spPr>
          <a:xfrm>
            <a:off x="6248400" y="2263130"/>
            <a:ext cx="5284724"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9EDF3"/>
                </a:solidFill>
                <a:latin typeface="Source Sans 3" pitchFamily="34" charset="0"/>
                <a:ea typeface="Source Sans 3" pitchFamily="34" charset="-122"/>
                <a:cs typeface="Source Sans 3" pitchFamily="34" charset="-120"/>
              </a:rPr>
              <a:t>Every station its own column and its own normal (≥ 5 cruises).</a:t>
            </a:r>
            <a:endParaRPr lang="en-US" sz="1200" dirty="0"/>
          </a:p>
        </p:txBody>
      </p:sp>
      <p:pic>
        <p:nvPicPr>
          <p:cNvPr id="15" name="Image 3" descr="After: the same section with stations 28 and 27.7 drawn and a cold nearshore core"/>
          <p:cNvPicPr>
            <a:picLocks noChangeAspect="1"/>
          </p:cNvPicPr>
          <p:nvPr/>
        </p:nvPicPr>
        <p:blipFill>
          <a:blip r:embed="rId6"/>
          <a:srcRect l="-167" r="-167"/>
          <a:stretch/>
        </p:blipFill>
        <p:spPr>
          <a:xfrm>
            <a:off x="6254750" y="2518370"/>
            <a:ext cx="5118100" cy="2743200"/>
          </a:xfrm>
          <a:prstGeom prst="roundRect">
            <a:avLst>
              <a:gd name="adj" fmla="val 2546"/>
            </a:avLst>
          </a:prstGeom>
        </p:spPr>
      </p:pic>
      <p:sp>
        <p:nvSpPr>
          <p:cNvPr id="16" name="Shape 10"/>
          <p:cNvSpPr/>
          <p:nvPr/>
        </p:nvSpPr>
        <p:spPr>
          <a:xfrm>
            <a:off x="6251575" y="2515195"/>
            <a:ext cx="5124450" cy="2749550"/>
          </a:xfrm>
          <a:prstGeom prst="roundRect">
            <a:avLst>
              <a:gd name="adj" fmla="val 2656"/>
            </a:avLst>
          </a:prstGeom>
          <a:noFill/>
          <a:ln w="6350">
            <a:solidFill>
              <a:srgbClr val="34486B"/>
            </a:solidFill>
            <a:prstDash val="solid"/>
          </a:ln>
        </p:spPr>
        <p:txBody>
          <a:bodyPr/>
          <a:lstStyle/>
          <a:p>
            <a:endParaRPr lang="en-US"/>
          </a:p>
        </p:txBody>
      </p:sp>
      <p:sp>
        <p:nvSpPr>
          <p:cNvPr id="17" name="Text 11"/>
          <p:cNvSpPr/>
          <p:nvPr/>
        </p:nvSpPr>
        <p:spPr>
          <a:xfrm>
            <a:off x="812800" y="5382220"/>
            <a:ext cx="1088339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E9EDF3"/>
                </a:solidFill>
                <a:latin typeface="Source Sans 3" pitchFamily="34" charset="0"/>
                <a:ea typeface="Source Sans 3" pitchFamily="34" charset="-122"/>
                <a:cs typeface="Source Sans 3" pitchFamily="34" charset="-120"/>
              </a:rPr>
              <a:t>Stations </a:t>
            </a:r>
            <a:r>
              <a:rPr lang="en-US" sz="1300" b="1" dirty="0">
                <a:solidFill>
                  <a:srgbClr val="E9EDF3"/>
                </a:solidFill>
                <a:latin typeface="Source Sans 3" pitchFamily="34" charset="0"/>
                <a:ea typeface="Source Sans 3" pitchFamily="34" charset="-122"/>
                <a:cs typeface="Source Sans 3" pitchFamily="34" charset="-120"/>
              </a:rPr>
              <a:t>28</a:t>
            </a:r>
            <a:r>
              <a:rPr lang="en-US" sz="1300" dirty="0">
                <a:solidFill>
                  <a:srgbClr val="E9EDF3"/>
                </a:solidFill>
                <a:latin typeface="Source Sans 3" pitchFamily="34" charset="0"/>
                <a:ea typeface="Source Sans 3" pitchFamily="34" charset="-122"/>
                <a:cs typeface="Source Sans 3" pitchFamily="34" charset="-120"/>
              </a:rPr>
              <a:t> and </a:t>
            </a:r>
            <a:r>
              <a:rPr lang="en-US" sz="1300" b="1" dirty="0">
                <a:solidFill>
                  <a:srgbClr val="E9EDF3"/>
                </a:solidFill>
                <a:latin typeface="Source Sans 3" pitchFamily="34" charset="0"/>
                <a:ea typeface="Source Sans 3" pitchFamily="34" charset="-122"/>
                <a:cs typeface="Source Sans 3" pitchFamily="34" charset="-120"/>
              </a:rPr>
              <a:t>27.7</a:t>
            </a:r>
            <a:r>
              <a:rPr lang="en-US" sz="1300" dirty="0">
                <a:solidFill>
                  <a:srgbClr val="E9EDF3"/>
                </a:solidFill>
                <a:latin typeface="Source Sans 3" pitchFamily="34" charset="0"/>
                <a:ea typeface="Source Sans 3" pitchFamily="34" charset="-122"/>
                <a:cs typeface="Source Sans 3" pitchFamily="34" charset="-120"/>
              </a:rPr>
              <a:t> (SCCOOS) now draw, and a </a:t>
            </a:r>
            <a:r>
              <a:rPr lang="en-US" sz="1300" b="1" dirty="0">
                <a:solidFill>
                  <a:srgbClr val="E9EDF3"/>
                </a:solidFill>
                <a:latin typeface="Source Sans 3" pitchFamily="34" charset="0"/>
                <a:ea typeface="Source Sans 3" pitchFamily="34" charset="-122"/>
                <a:cs typeface="Source Sans 3" pitchFamily="34" charset="-120"/>
              </a:rPr>
              <a:t>cold nearshore core (−2 to −2.5 °C)</a:t>
            </a:r>
            <a:r>
              <a:rPr lang="en-US" sz="1300" dirty="0">
                <a:solidFill>
                  <a:srgbClr val="E9EDF3"/>
                </a:solidFill>
                <a:latin typeface="Source Sans 3" pitchFamily="34" charset="0"/>
                <a:ea typeface="Source Sans 3" pitchFamily="34" charset="-122"/>
                <a:cs typeface="Source Sans 3" pitchFamily="34" charset="-120"/>
              </a:rPr>
              <a:t> appears that the pooled column hid. Red is warmer, blue colder than the normal (°C); 0 km is the innermost station drawn.</a:t>
            </a:r>
            <a:endParaRPr lang="en-US" sz="1300" dirty="0"/>
          </a:p>
        </p:txBody>
      </p:sp>
      <p:sp>
        <p:nvSpPr>
          <p:cNvPr id="18" name="Text 12"/>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7">
                  <a:extLst>
                    <a:ext uri="{A12FA001-AC4F-418D-AE19-62706E023703}">
                      <ahyp:hlinkClr xmlns:ahyp="http://schemas.microsoft.com/office/drawing/2018/hyperlinkcolor" val="tx"/>
                    </a:ext>
                  </a:extLst>
                </a:hlinkClick>
              </a:rPr>
              <a:t>calcofi.io/ctd-transects/ · line 90 · 2024-08 · anomaly</a:t>
            </a:r>
            <a:endParaRPr lang="en-US" sz="1200" dirty="0"/>
          </a:p>
        </p:txBody>
      </p:sp>
      <p:sp>
        <p:nvSpPr>
          <p:cNvPr id="19" name="Text 13"/>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PLACE · CTD-TRANSECTS, IN REVIEW</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RASMUS’S DATA STREAMS, IN BETTY’S PULL REQUEST</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ctd-transects with the pull request: the baseline badge, the variable picker and the section"/>
          <p:cNvPicPr>
            <a:picLocks noChangeAspect="1"/>
          </p:cNvPicPr>
          <p:nvPr/>
        </p:nvPicPr>
        <p:blipFill>
          <a:blip r:embed="rId5"/>
          <a:srcRect l="-53" r="-53"/>
          <a:stretch/>
        </p:blipFill>
        <p:spPr>
          <a:xfrm>
            <a:off x="819150" y="2101850"/>
            <a:ext cx="4572000" cy="3619500"/>
          </a:xfrm>
          <a:prstGeom prst="roundRect">
            <a:avLst>
              <a:gd name="adj" fmla="val 1930"/>
            </a:avLst>
          </a:prstGeom>
        </p:spPr>
      </p:pic>
      <p:sp>
        <p:nvSpPr>
          <p:cNvPr id="10" name="Shape 5"/>
          <p:cNvSpPr/>
          <p:nvPr/>
        </p:nvSpPr>
        <p:spPr>
          <a:xfrm>
            <a:off x="815975" y="2098675"/>
            <a:ext cx="4578350" cy="3625850"/>
          </a:xfrm>
          <a:prstGeom prst="roundRect">
            <a:avLst>
              <a:gd name="adj" fmla="val 2014"/>
            </a:avLst>
          </a:prstGeom>
          <a:noFill/>
          <a:ln w="6350">
            <a:solidFill>
              <a:srgbClr val="DDDDDD"/>
            </a:solidFill>
            <a:prstDash val="solid"/>
          </a:ln>
        </p:spPr>
        <p:txBody>
          <a:bodyPr/>
          <a:lstStyle/>
          <a:p>
            <a:endParaRPr lang="en-US"/>
          </a:p>
        </p:txBody>
      </p:sp>
      <p:sp>
        <p:nvSpPr>
          <p:cNvPr id="11" name="Shape 6"/>
          <p:cNvSpPr/>
          <p:nvPr/>
        </p:nvSpPr>
        <p:spPr>
          <a:xfrm>
            <a:off x="5765800" y="2095500"/>
            <a:ext cx="0" cy="689025"/>
          </a:xfrm>
          <a:prstGeom prst="line">
            <a:avLst/>
          </a:prstGeom>
          <a:noFill/>
          <a:ln w="25400">
            <a:solidFill>
              <a:srgbClr val="00629B"/>
            </a:solidFill>
            <a:prstDash val="solid"/>
          </a:ln>
        </p:spPr>
        <p:txBody>
          <a:bodyPr/>
          <a:lstStyle/>
          <a:p>
            <a:endParaRPr lang="en-US"/>
          </a:p>
        </p:txBody>
      </p:sp>
      <p:sp>
        <p:nvSpPr>
          <p:cNvPr id="12" name="Text 7"/>
          <p:cNvSpPr/>
          <p:nvPr/>
        </p:nvSpPr>
        <p:spPr>
          <a:xfrm>
            <a:off x="5905500" y="2108200"/>
            <a:ext cx="5637911" cy="689025"/>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Variables follow the </a:t>
            </a:r>
            <a:r>
              <a:rPr lang="en-US" sz="1300" b="1" dirty="0">
                <a:solidFill>
                  <a:srgbClr val="182B49"/>
                </a:solidFill>
                <a:latin typeface="Source Sans 3" pitchFamily="34" charset="0"/>
                <a:ea typeface="Source Sans 3" pitchFamily="34" charset="-122"/>
                <a:cs typeface="Source Sans 3" pitchFamily="34" charset="-120"/>
              </a:rPr>
              <a:t>data stage</a:t>
            </a:r>
            <a:r>
              <a:rPr lang="en-US" sz="1300" dirty="0">
                <a:solidFill>
                  <a:srgbClr val="182B49"/>
                </a:solidFill>
                <a:latin typeface="Source Sans 3" pitchFamily="34" charset="0"/>
                <a:ea typeface="Source Sans 3" pitchFamily="34" charset="-122"/>
                <a:cs typeface="Source Sans 3" pitchFamily="34" charset="-120"/>
              </a:rPr>
              <a:t>: temperature only on sensor-only preliminary cruises; oxygen and chlorophyll-a as </a:t>
            </a:r>
            <a:r>
              <a:rPr lang="en-US" sz="1300" b="1" dirty="0">
                <a:solidFill>
                  <a:srgbClr val="182B49"/>
                </a:solidFill>
                <a:latin typeface="Source Sans 3" pitchFamily="34" charset="0"/>
                <a:ea typeface="Source Sans 3" pitchFamily="34" charset="-122"/>
                <a:cs typeface="Source Sans 3" pitchFamily="34" charset="-120"/>
              </a:rPr>
              <a:t>station- or cruise-corrected</a:t>
            </a:r>
            <a:r>
              <a:rPr lang="en-US" sz="1300" dirty="0">
                <a:solidFill>
                  <a:srgbClr val="182B49"/>
                </a:solidFill>
                <a:latin typeface="Source Sans 3" pitchFamily="34" charset="0"/>
                <a:ea typeface="Source Sans 3" pitchFamily="34" charset="-122"/>
                <a:cs typeface="Source Sans 3" pitchFamily="34" charset="-120"/>
              </a:rPr>
              <a:t> fits; the estimated-nitrate pair.</a:t>
            </a:r>
            <a:endParaRPr lang="en-US" sz="1300" dirty="0"/>
          </a:p>
        </p:txBody>
      </p:sp>
      <p:sp>
        <p:nvSpPr>
          <p:cNvPr id="13" name="Shape 8"/>
          <p:cNvSpPr/>
          <p:nvPr/>
        </p:nvSpPr>
        <p:spPr>
          <a:xfrm>
            <a:off x="5765800" y="2873425"/>
            <a:ext cx="0" cy="246608"/>
          </a:xfrm>
          <a:prstGeom prst="line">
            <a:avLst/>
          </a:prstGeom>
          <a:noFill/>
          <a:ln w="25400">
            <a:solidFill>
              <a:srgbClr val="00629B"/>
            </a:solidFill>
            <a:prstDash val="solid"/>
          </a:ln>
        </p:spPr>
        <p:txBody>
          <a:bodyPr/>
          <a:lstStyle/>
          <a:p>
            <a:endParaRPr lang="en-US"/>
          </a:p>
        </p:txBody>
      </p:sp>
      <p:sp>
        <p:nvSpPr>
          <p:cNvPr id="14" name="Text 9"/>
          <p:cNvSpPr/>
          <p:nvPr/>
        </p:nvSpPr>
        <p:spPr>
          <a:xfrm>
            <a:off x="5905500" y="2886125"/>
            <a:ext cx="5637911" cy="246608"/>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A </a:t>
            </a:r>
            <a:r>
              <a:rPr lang="en-US" sz="1300" b="1" dirty="0">
                <a:solidFill>
                  <a:srgbClr val="182B49"/>
                </a:solidFill>
                <a:latin typeface="Source Sans 3" pitchFamily="34" charset="0"/>
                <a:ea typeface="Source Sans 3" pitchFamily="34" charset="-122"/>
                <a:cs typeface="Source Sans 3" pitchFamily="34" charset="-120"/>
              </a:rPr>
              <a:t>baseline badge</a:t>
            </a:r>
            <a:r>
              <a:rPr lang="en-US" sz="1300" dirty="0">
                <a:solidFill>
                  <a:srgbClr val="182B49"/>
                </a:solidFill>
                <a:latin typeface="Source Sans 3" pitchFamily="34" charset="0"/>
                <a:ea typeface="Source Sans 3" pitchFamily="34" charset="-122"/>
                <a:cs typeface="Source Sans 3" pitchFamily="34" charset="-120"/>
              </a:rPr>
              <a:t> and a per-cell tooltip: how many cruises made the normal.</a:t>
            </a:r>
            <a:endParaRPr lang="en-US" sz="1300" dirty="0"/>
          </a:p>
        </p:txBody>
      </p:sp>
      <p:sp>
        <p:nvSpPr>
          <p:cNvPr id="15" name="Shape 10"/>
          <p:cNvSpPr/>
          <p:nvPr/>
        </p:nvSpPr>
        <p:spPr>
          <a:xfrm>
            <a:off x="5765800" y="3208933"/>
            <a:ext cx="0" cy="246608"/>
          </a:xfrm>
          <a:prstGeom prst="line">
            <a:avLst/>
          </a:prstGeom>
          <a:noFill/>
          <a:ln w="25400">
            <a:solidFill>
              <a:srgbClr val="00629B"/>
            </a:solidFill>
            <a:prstDash val="solid"/>
          </a:ln>
        </p:spPr>
        <p:txBody>
          <a:bodyPr/>
          <a:lstStyle/>
          <a:p>
            <a:endParaRPr lang="en-US"/>
          </a:p>
        </p:txBody>
      </p:sp>
      <p:sp>
        <p:nvSpPr>
          <p:cNvPr id="16" name="Text 11"/>
          <p:cNvSpPr/>
          <p:nvPr/>
        </p:nvSpPr>
        <p:spPr>
          <a:xfrm>
            <a:off x="5905500" y="3221633"/>
            <a:ext cx="5637911" cy="246608"/>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Station labels no longer collide near the coast.</a:t>
            </a:r>
            <a:endParaRPr lang="en-US" sz="1300" dirty="0"/>
          </a:p>
        </p:txBody>
      </p:sp>
      <p:sp>
        <p:nvSpPr>
          <p:cNvPr id="17" name="Shape 12"/>
          <p:cNvSpPr/>
          <p:nvPr/>
        </p:nvSpPr>
        <p:spPr>
          <a:xfrm>
            <a:off x="5765800" y="3544441"/>
            <a:ext cx="0" cy="467816"/>
          </a:xfrm>
          <a:prstGeom prst="line">
            <a:avLst/>
          </a:prstGeom>
          <a:noFill/>
          <a:ln w="25400">
            <a:solidFill>
              <a:srgbClr val="00629B"/>
            </a:solidFill>
            <a:prstDash val="solid"/>
          </a:ln>
        </p:spPr>
        <p:txBody>
          <a:bodyPr/>
          <a:lstStyle/>
          <a:p>
            <a:endParaRPr lang="en-US"/>
          </a:p>
        </p:txBody>
      </p:sp>
      <p:sp>
        <p:nvSpPr>
          <p:cNvPr id="18" name="Text 13"/>
          <p:cNvSpPr/>
          <p:nvPr/>
        </p:nvSpPr>
        <p:spPr>
          <a:xfrm>
            <a:off x="5905500" y="3557141"/>
            <a:ext cx="5637911"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Rasmus asked next: </a:t>
            </a:r>
            <a:r>
              <a:rPr lang="en-US" sz="1300" b="1" dirty="0">
                <a:solidFill>
                  <a:srgbClr val="182B49"/>
                </a:solidFill>
                <a:latin typeface="Source Sans 3" pitchFamily="34" charset="0"/>
                <a:ea typeface="Source Sans 3" pitchFamily="34" charset="-122"/>
                <a:cs typeface="Source Sans 3" pitchFamily="34" charset="-120"/>
              </a:rPr>
              <a:t>σθ</a:t>
            </a:r>
            <a:r>
              <a:rPr lang="en-US" sz="1300" dirty="0">
                <a:solidFill>
                  <a:srgbClr val="182B49"/>
                </a:solidFill>
                <a:latin typeface="Source Sans 3" pitchFamily="34" charset="0"/>
                <a:ea typeface="Source Sans 3" pitchFamily="34" charset="-122"/>
                <a:cs typeface="Source Sans 3" pitchFamily="34" charset="-120"/>
              </a:rPr>
              <a:t> from both sensors, </a:t>
            </a:r>
            <a:r>
              <a:rPr lang="en-US" sz="1300" b="1" dirty="0">
                <a:solidFill>
                  <a:srgbClr val="182B49"/>
                </a:solidFill>
                <a:latin typeface="Source Sans 3" pitchFamily="34" charset="0"/>
                <a:ea typeface="Source Sans 3" pitchFamily="34" charset="-122"/>
                <a:cs typeface="Source Sans 3" pitchFamily="34" charset="-120"/>
              </a:rPr>
              <a:t>spice</a:t>
            </a:r>
            <a:r>
              <a:rPr lang="en-US" sz="1300" dirty="0">
                <a:solidFill>
                  <a:srgbClr val="182B49"/>
                </a:solidFill>
                <a:latin typeface="Source Sans 3" pitchFamily="34" charset="0"/>
                <a:ea typeface="Source Sans 3" pitchFamily="34" charset="-122"/>
                <a:cs typeface="Source Sans 3" pitchFamily="34" charset="-120"/>
              </a:rPr>
              <a:t>, </a:t>
            </a:r>
            <a:r>
              <a:rPr lang="en-US" sz="1300" b="1" dirty="0">
                <a:solidFill>
                  <a:srgbClr val="182B49"/>
                </a:solidFill>
                <a:latin typeface="Source Sans 3" pitchFamily="34" charset="0"/>
                <a:ea typeface="Source Sans 3" pitchFamily="34" charset="-122"/>
                <a:cs typeface="Source Sans 3" pitchFamily="34" charset="-120"/>
              </a:rPr>
              <a:t>relative geostrophic flow</a:t>
            </a:r>
            <a:r>
              <a:rPr lang="en-US" sz="1300" dirty="0">
                <a:solidFill>
                  <a:srgbClr val="182B49"/>
                </a:solidFill>
                <a:latin typeface="Source Sans 3" pitchFamily="34" charset="0"/>
                <a:ea typeface="Source Sans 3" pitchFamily="34" charset="-122"/>
                <a:cs typeface="Source Sans 3" pitchFamily="34" charset="-120"/>
              </a:rPr>
              <a:t> (9/22); a monthly vs seasonal normal (9/9).</a:t>
            </a:r>
            <a:endParaRPr lang="en-US" sz="1300" dirty="0"/>
          </a:p>
        </p:txBody>
      </p:sp>
      <p:sp>
        <p:nvSpPr>
          <p:cNvPr id="19" name="Shape 14"/>
          <p:cNvSpPr/>
          <p:nvPr/>
        </p:nvSpPr>
        <p:spPr>
          <a:xfrm>
            <a:off x="5765800" y="4101157"/>
            <a:ext cx="0" cy="467816"/>
          </a:xfrm>
          <a:prstGeom prst="line">
            <a:avLst/>
          </a:prstGeom>
          <a:noFill/>
          <a:ln w="25400">
            <a:solidFill>
              <a:srgbClr val="00629B"/>
            </a:solidFill>
            <a:prstDash val="solid"/>
          </a:ln>
        </p:spPr>
        <p:txBody>
          <a:bodyPr/>
          <a:lstStyle/>
          <a:p>
            <a:endParaRPr lang="en-US"/>
          </a:p>
        </p:txBody>
      </p:sp>
      <p:sp>
        <p:nvSpPr>
          <p:cNvPr id="20" name="Text 15"/>
          <p:cNvSpPr/>
          <p:nvPr/>
        </p:nvSpPr>
        <p:spPr>
          <a:xfrm>
            <a:off x="5905500" y="4113857"/>
            <a:ext cx="5637911"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He keeps this simple plotter </a:t>
            </a:r>
            <a:r>
              <a:rPr lang="en-US" sz="1300" b="1" dirty="0">
                <a:solidFill>
                  <a:srgbClr val="182B49"/>
                </a:solidFill>
                <a:latin typeface="Source Sans 3" pitchFamily="34" charset="0"/>
                <a:ea typeface="Source Sans 3" pitchFamily="34" charset="-122"/>
                <a:cs typeface="Source Sans 3" pitchFamily="34" charset="-120"/>
              </a:rPr>
              <a:t>beside the Explorer</a:t>
            </a:r>
            <a:r>
              <a:rPr lang="en-US" sz="1300" dirty="0">
                <a:solidFill>
                  <a:srgbClr val="182B49"/>
                </a:solidFill>
                <a:latin typeface="Source Sans 3" pitchFamily="34" charset="0"/>
                <a:ea typeface="Source Sans 3" pitchFamily="34" charset="-122"/>
                <a:cs typeface="Source Sans 3" pitchFamily="34" charset="-120"/>
              </a:rPr>
              <a:t> — the quick way to show the incoming El Niño.</a:t>
            </a:r>
            <a:endParaRPr lang="en-US" sz="1300" dirty="0"/>
          </a:p>
        </p:txBody>
      </p:sp>
      <p:sp>
        <p:nvSpPr>
          <p:cNvPr id="21" name="Text 16"/>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6">
                  <a:extLst>
                    <a:ext uri="{A12FA001-AC4F-418D-AE19-62706E023703}">
                      <ahyp:hlinkClr xmlns:ahyp="http://schemas.microsoft.com/office/drawing/2018/hyperlinkcolor" val="tx"/>
                    </a:ext>
                  </a:extLst>
                </a:hlinkClick>
              </a:rPr>
              <a:t>github.com/CalCOFI/ctd-transects/pull/4</a:t>
            </a:r>
            <a:endParaRPr lang="en-US" sz="1200" dirty="0"/>
          </a:p>
        </p:txBody>
      </p:sp>
      <p:sp>
        <p:nvSpPr>
          <p:cNvPr id="22" name="Text 17"/>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TRUST · THE CTD, RELEASE V2026.09.11</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SENSOR AVERAGES REBUILT FROM RASMUS’S FLAG RULE</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Shape 5"/>
          <p:cNvSpPr/>
          <p:nvPr/>
        </p:nvSpPr>
        <p:spPr>
          <a:xfrm>
            <a:off x="812800" y="2095500"/>
            <a:ext cx="3937000" cy="392410"/>
          </a:xfrm>
          <a:prstGeom prst="roundRect">
            <a:avLst>
              <a:gd name="adj" fmla="val 12946"/>
            </a:avLst>
          </a:prstGeom>
          <a:solidFill>
            <a:srgbClr val="182B49"/>
          </a:solidFill>
          <a:ln/>
        </p:spPr>
        <p:txBody>
          <a:bodyPr/>
          <a:lstStyle/>
          <a:p>
            <a:endParaRPr lang="en-US"/>
          </a:p>
        </p:txBody>
      </p:sp>
      <p:sp>
        <p:nvSpPr>
          <p:cNvPr id="10" name="Text 6"/>
          <p:cNvSpPr/>
          <p:nvPr/>
        </p:nvSpPr>
        <p:spPr>
          <a:xfrm>
            <a:off x="927100" y="2184400"/>
            <a:ext cx="3819652"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FFFFF"/>
                </a:solidFill>
                <a:latin typeface="Source Sans 3" pitchFamily="34" charset="0"/>
                <a:ea typeface="Source Sans 3" pitchFamily="34" charset="-122"/>
                <a:cs typeface="Source Sans 3" pitchFamily="34" charset="-120"/>
              </a:rPr>
              <a:t>Sensor 1 + sensor 2, each with the provider’s flag</a:t>
            </a:r>
            <a:endParaRPr lang="en-US" sz="1300" dirty="0"/>
          </a:p>
        </p:txBody>
      </p:sp>
      <p:sp>
        <p:nvSpPr>
          <p:cNvPr id="11" name="Shape 7"/>
          <p:cNvSpPr/>
          <p:nvPr/>
        </p:nvSpPr>
        <p:spPr>
          <a:xfrm>
            <a:off x="812800" y="2564110"/>
            <a:ext cx="3937000" cy="392410"/>
          </a:xfrm>
          <a:prstGeom prst="roundRect">
            <a:avLst>
              <a:gd name="adj" fmla="val 12946"/>
            </a:avLst>
          </a:prstGeom>
          <a:solidFill>
            <a:srgbClr val="FFFFFF"/>
          </a:solidFill>
          <a:ln/>
        </p:spPr>
        <p:txBody>
          <a:bodyPr/>
          <a:lstStyle/>
          <a:p>
            <a:endParaRPr lang="en-US"/>
          </a:p>
        </p:txBody>
      </p:sp>
      <p:sp>
        <p:nvSpPr>
          <p:cNvPr id="12" name="Text 8"/>
          <p:cNvSpPr/>
          <p:nvPr/>
        </p:nvSpPr>
        <p:spPr>
          <a:xfrm>
            <a:off x="927100" y="2653010"/>
            <a:ext cx="381965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82B49"/>
                </a:solidFill>
                <a:latin typeface="Source Sans 3" pitchFamily="34" charset="0"/>
                <a:ea typeface="Source Sans 3" pitchFamily="34" charset="-122"/>
                <a:cs typeface="Source Sans 3" pitchFamily="34" charset="-120"/>
              </a:rPr>
              <a:t>flag </a:t>
            </a:r>
            <a:r>
              <a:rPr lang="en-US" sz="1300" b="1" dirty="0">
                <a:solidFill>
                  <a:srgbClr val="182B49"/>
                </a:solidFill>
                <a:latin typeface="Source Sans 3" pitchFamily="34" charset="0"/>
                <a:ea typeface="Source Sans 3" pitchFamily="34" charset="-122"/>
                <a:cs typeface="Source Sans 3" pitchFamily="34" charset="-120"/>
              </a:rPr>
              <a:t>8</a:t>
            </a:r>
            <a:r>
              <a:rPr lang="en-US" sz="1300" dirty="0">
                <a:solidFill>
                  <a:srgbClr val="182B49"/>
                </a:solidFill>
                <a:latin typeface="Source Sans 3" pitchFamily="34" charset="0"/>
                <a:ea typeface="Source Sans 3" pitchFamily="34" charset="-122"/>
                <a:cs typeface="Source Sans 3" pitchFamily="34" charset="-120"/>
              </a:rPr>
              <a:t> or </a:t>
            </a:r>
            <a:r>
              <a:rPr lang="en-US" sz="1300" b="1" dirty="0">
                <a:solidFill>
                  <a:srgbClr val="182B49"/>
                </a:solidFill>
                <a:latin typeface="Source Sans 3" pitchFamily="34" charset="0"/>
                <a:ea typeface="Source Sans 3" pitchFamily="34" charset="-122"/>
                <a:cs typeface="Source Sans 3" pitchFamily="34" charset="-120"/>
              </a:rPr>
              <a:t>9</a:t>
            </a:r>
            <a:r>
              <a:rPr lang="en-US" sz="1300" dirty="0">
                <a:solidFill>
                  <a:srgbClr val="182B49"/>
                </a:solidFill>
                <a:latin typeface="Source Sans 3" pitchFamily="34" charset="0"/>
                <a:ea typeface="Source Sans 3" pitchFamily="34" charset="-122"/>
                <a:cs typeface="Source Sans 3" pitchFamily="34" charset="-120"/>
              </a:rPr>
              <a:t> → that sensor is left out</a:t>
            </a:r>
            <a:endParaRPr lang="en-US" sz="1300" dirty="0"/>
          </a:p>
        </p:txBody>
      </p:sp>
      <p:sp>
        <p:nvSpPr>
          <p:cNvPr id="13" name="Shape 9"/>
          <p:cNvSpPr/>
          <p:nvPr/>
        </p:nvSpPr>
        <p:spPr>
          <a:xfrm>
            <a:off x="812800" y="3032720"/>
            <a:ext cx="3937000" cy="392410"/>
          </a:xfrm>
          <a:prstGeom prst="roundRect">
            <a:avLst>
              <a:gd name="adj" fmla="val 12946"/>
            </a:avLst>
          </a:prstGeom>
          <a:solidFill>
            <a:srgbClr val="FFFFFF"/>
          </a:solidFill>
          <a:ln/>
        </p:spPr>
        <p:txBody>
          <a:bodyPr/>
          <a:lstStyle/>
          <a:p>
            <a:endParaRPr lang="en-US"/>
          </a:p>
        </p:txBody>
      </p:sp>
      <p:sp>
        <p:nvSpPr>
          <p:cNvPr id="14" name="Text 10"/>
          <p:cNvSpPr/>
          <p:nvPr/>
        </p:nvSpPr>
        <p:spPr>
          <a:xfrm>
            <a:off x="927100" y="3121620"/>
            <a:ext cx="381965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82B49"/>
                </a:solidFill>
                <a:latin typeface="Source Sans 3" pitchFamily="34" charset="0"/>
                <a:ea typeface="Source Sans 3" pitchFamily="34" charset="-122"/>
                <a:cs typeface="Source Sans 3" pitchFamily="34" charset="-120"/>
              </a:rPr>
              <a:t>flag </a:t>
            </a:r>
            <a:r>
              <a:rPr lang="en-US" sz="1300" b="1" dirty="0">
                <a:solidFill>
                  <a:srgbClr val="182B49"/>
                </a:solidFill>
                <a:latin typeface="Source Sans 3" pitchFamily="34" charset="0"/>
                <a:ea typeface="Source Sans 3" pitchFamily="34" charset="-122"/>
                <a:cs typeface="Source Sans 3" pitchFamily="34" charset="-120"/>
              </a:rPr>
              <a:t>1</a:t>
            </a:r>
            <a:r>
              <a:rPr lang="en-US" sz="1300" dirty="0">
                <a:solidFill>
                  <a:srgbClr val="182B49"/>
                </a:solidFill>
                <a:latin typeface="Source Sans 3" pitchFamily="34" charset="0"/>
                <a:ea typeface="Source Sans 3" pitchFamily="34" charset="-122"/>
                <a:cs typeface="Source Sans 3" pitchFamily="34" charset="-120"/>
              </a:rPr>
              <a:t> or </a:t>
            </a:r>
            <a:r>
              <a:rPr lang="en-US" sz="1300" b="1" dirty="0">
                <a:solidFill>
                  <a:srgbClr val="182B49"/>
                </a:solidFill>
                <a:latin typeface="Source Sans 3" pitchFamily="34" charset="0"/>
                <a:ea typeface="Source Sans 3" pitchFamily="34" charset="-122"/>
                <a:cs typeface="Source Sans 3" pitchFamily="34" charset="-120"/>
              </a:rPr>
              <a:t>2</a:t>
            </a:r>
            <a:r>
              <a:rPr lang="en-US" sz="1300" dirty="0">
                <a:solidFill>
                  <a:srgbClr val="182B49"/>
                </a:solidFill>
                <a:latin typeface="Source Sans 3" pitchFamily="34" charset="0"/>
                <a:ea typeface="Source Sans 3" pitchFamily="34" charset="-122"/>
                <a:cs typeface="Source Sans 3" pitchFamily="34" charset="-120"/>
              </a:rPr>
              <a:t> → the primary or the secondary</a:t>
            </a:r>
            <a:endParaRPr lang="en-US" sz="1300" dirty="0"/>
          </a:p>
        </p:txBody>
      </p:sp>
      <p:sp>
        <p:nvSpPr>
          <p:cNvPr id="15" name="Shape 11"/>
          <p:cNvSpPr/>
          <p:nvPr/>
        </p:nvSpPr>
        <p:spPr>
          <a:xfrm>
            <a:off x="812800" y="3501330"/>
            <a:ext cx="3937000" cy="392410"/>
          </a:xfrm>
          <a:prstGeom prst="roundRect">
            <a:avLst>
              <a:gd name="adj" fmla="val 12946"/>
            </a:avLst>
          </a:prstGeom>
          <a:solidFill>
            <a:srgbClr val="FFFFFF"/>
          </a:solidFill>
          <a:ln/>
        </p:spPr>
        <p:txBody>
          <a:bodyPr/>
          <a:lstStyle/>
          <a:p>
            <a:endParaRPr lang="en-US"/>
          </a:p>
        </p:txBody>
      </p:sp>
      <p:sp>
        <p:nvSpPr>
          <p:cNvPr id="16" name="Text 12"/>
          <p:cNvSpPr/>
          <p:nvPr/>
        </p:nvSpPr>
        <p:spPr>
          <a:xfrm>
            <a:off x="927100" y="3590230"/>
            <a:ext cx="381965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82B49"/>
                </a:solidFill>
                <a:latin typeface="Source Sans 3" pitchFamily="34" charset="0"/>
                <a:ea typeface="Source Sans 3" pitchFamily="34" charset="-122"/>
                <a:cs typeface="Source Sans 3" pitchFamily="34" charset="-120"/>
              </a:rPr>
              <a:t>otherwise the </a:t>
            </a:r>
            <a:r>
              <a:rPr lang="en-US" sz="1300" b="1" dirty="0">
                <a:solidFill>
                  <a:srgbClr val="182B49"/>
                </a:solidFill>
                <a:latin typeface="Source Sans 3" pitchFamily="34" charset="0"/>
                <a:ea typeface="Source Sans 3" pitchFamily="34" charset="-122"/>
                <a:cs typeface="Source Sans 3" pitchFamily="34" charset="-120"/>
              </a:rPr>
              <a:t>mean</a:t>
            </a:r>
            <a:r>
              <a:rPr lang="en-US" sz="1300" dirty="0">
                <a:solidFill>
                  <a:srgbClr val="182B49"/>
                </a:solidFill>
                <a:latin typeface="Source Sans 3" pitchFamily="34" charset="0"/>
                <a:ea typeface="Source Sans 3" pitchFamily="34" charset="-122"/>
                <a:cs typeface="Source Sans 3" pitchFamily="34" charset="-120"/>
              </a:rPr>
              <a:t>; one alone if the other is missing</a:t>
            </a:r>
            <a:endParaRPr lang="en-US" sz="1300" dirty="0"/>
          </a:p>
        </p:txBody>
      </p:sp>
      <p:sp>
        <p:nvSpPr>
          <p:cNvPr id="17" name="Shape 13"/>
          <p:cNvSpPr/>
          <p:nvPr/>
        </p:nvSpPr>
        <p:spPr>
          <a:xfrm>
            <a:off x="812800" y="3969941"/>
            <a:ext cx="3937000" cy="607020"/>
          </a:xfrm>
          <a:prstGeom prst="roundRect">
            <a:avLst>
              <a:gd name="adj" fmla="val 8369"/>
            </a:avLst>
          </a:prstGeom>
          <a:solidFill>
            <a:srgbClr val="E3EEF6"/>
          </a:solidFill>
          <a:ln/>
        </p:spPr>
        <p:txBody>
          <a:bodyPr/>
          <a:lstStyle/>
          <a:p>
            <a:endParaRPr lang="en-US"/>
          </a:p>
        </p:txBody>
      </p:sp>
      <p:sp>
        <p:nvSpPr>
          <p:cNvPr id="18" name="Text 14"/>
          <p:cNvSpPr/>
          <p:nvPr/>
        </p:nvSpPr>
        <p:spPr>
          <a:xfrm>
            <a:off x="927100" y="4058841"/>
            <a:ext cx="3819652"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629B"/>
                </a:solidFill>
                <a:latin typeface="Source Sans 3" pitchFamily="34" charset="0"/>
                <a:ea typeface="Source Sans 3" pitchFamily="34" charset="-122"/>
                <a:cs typeface="Source Sans 3" pitchFamily="34" charset="-120"/>
              </a:rPr>
              <a:t>combine_sensor_pair()</a:t>
            </a:r>
            <a:r>
              <a:rPr lang="en-US" sz="1300" dirty="0">
                <a:solidFill>
                  <a:srgbClr val="00629B"/>
                </a:solidFill>
                <a:latin typeface="Source Sans 3" pitchFamily="34" charset="0"/>
                <a:ea typeface="Source Sans 3" pitchFamily="34" charset="-122"/>
                <a:cs typeface="Source Sans 3" pitchFamily="34" charset="-120"/>
              </a:rPr>
              <a:t> · calcofi4db 4.11.0 · R and SQL twins, tested</a:t>
            </a:r>
            <a:endParaRPr lang="en-US" sz="1300" dirty="0"/>
          </a:p>
        </p:txBody>
      </p:sp>
      <p:sp>
        <p:nvSpPr>
          <p:cNvPr id="19" name="Shape 15"/>
          <p:cNvSpPr/>
          <p:nvPr/>
        </p:nvSpPr>
        <p:spPr>
          <a:xfrm>
            <a:off x="5118100" y="2095500"/>
            <a:ext cx="0" cy="467816"/>
          </a:xfrm>
          <a:prstGeom prst="line">
            <a:avLst/>
          </a:prstGeom>
          <a:noFill/>
          <a:ln w="25400">
            <a:solidFill>
              <a:srgbClr val="00629B"/>
            </a:solidFill>
            <a:prstDash val="solid"/>
          </a:ln>
        </p:spPr>
        <p:txBody>
          <a:bodyPr/>
          <a:lstStyle/>
          <a:p>
            <a:endParaRPr lang="en-US"/>
          </a:p>
        </p:txBody>
      </p:sp>
      <p:sp>
        <p:nvSpPr>
          <p:cNvPr id="20" name="Text 16"/>
          <p:cNvSpPr/>
          <p:nvPr/>
        </p:nvSpPr>
        <p:spPr>
          <a:xfrm>
            <a:off x="5257800" y="2108200"/>
            <a:ext cx="630504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Before, a flagged sensor slipped into the mean whenever its value was possible: </a:t>
            </a:r>
            <a:r>
              <a:rPr lang="en-US" sz="1300" b="1" dirty="0">
                <a:solidFill>
                  <a:srgbClr val="182B49"/>
                </a:solidFill>
                <a:latin typeface="Source Sans 3" pitchFamily="34" charset="0"/>
                <a:ea typeface="Source Sans 3" pitchFamily="34" charset="-122"/>
                <a:cs typeface="Source Sans 3" pitchFamily="34" charset="-120"/>
              </a:rPr>
              <a:t>1,425</a:t>
            </a:r>
            <a:r>
              <a:rPr lang="en-US" sz="1300" dirty="0">
                <a:solidFill>
                  <a:srgbClr val="182B49"/>
                </a:solidFill>
                <a:latin typeface="Source Sans 3" pitchFamily="34" charset="0"/>
                <a:ea typeface="Source Sans 3" pitchFamily="34" charset="-122"/>
                <a:cs typeface="Source Sans 3" pitchFamily="34" charset="-120"/>
              </a:rPr>
              <a:t> temperature and </a:t>
            </a:r>
            <a:r>
              <a:rPr lang="en-US" sz="1300" b="1" dirty="0">
                <a:solidFill>
                  <a:srgbClr val="182B49"/>
                </a:solidFill>
                <a:latin typeface="Source Sans 3" pitchFamily="34" charset="0"/>
                <a:ea typeface="Source Sans 3" pitchFamily="34" charset="-122"/>
                <a:cs typeface="Source Sans 3" pitchFamily="34" charset="-120"/>
              </a:rPr>
              <a:t>6,001</a:t>
            </a:r>
            <a:r>
              <a:rPr lang="en-US" sz="1300" dirty="0">
                <a:solidFill>
                  <a:srgbClr val="182B49"/>
                </a:solidFill>
                <a:latin typeface="Source Sans 3" pitchFamily="34" charset="0"/>
                <a:ea typeface="Source Sans 3" pitchFamily="34" charset="-122"/>
                <a:cs typeface="Source Sans 3" pitchFamily="34" charset="-120"/>
              </a:rPr>
              <a:t> salinity averages.</a:t>
            </a:r>
            <a:endParaRPr lang="en-US" sz="1300" dirty="0"/>
          </a:p>
        </p:txBody>
      </p:sp>
      <p:sp>
        <p:nvSpPr>
          <p:cNvPr id="21" name="Shape 17"/>
          <p:cNvSpPr/>
          <p:nvPr/>
        </p:nvSpPr>
        <p:spPr>
          <a:xfrm>
            <a:off x="5118100" y="2652216"/>
            <a:ext cx="0" cy="467816"/>
          </a:xfrm>
          <a:prstGeom prst="line">
            <a:avLst/>
          </a:prstGeom>
          <a:noFill/>
          <a:ln w="25400">
            <a:solidFill>
              <a:srgbClr val="00629B"/>
            </a:solidFill>
            <a:prstDash val="solid"/>
          </a:ln>
        </p:spPr>
        <p:txBody>
          <a:bodyPr/>
          <a:lstStyle/>
          <a:p>
            <a:endParaRPr lang="en-US"/>
          </a:p>
        </p:txBody>
      </p:sp>
      <p:sp>
        <p:nvSpPr>
          <p:cNvPr id="22" name="Text 18"/>
          <p:cNvSpPr/>
          <p:nvPr/>
        </p:nvSpPr>
        <p:spPr>
          <a:xfrm>
            <a:off x="5257800" y="2664916"/>
            <a:ext cx="630504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Faults with no flag at all: salinity at </a:t>
            </a:r>
            <a:r>
              <a:rPr lang="en-US" sz="1300" b="1" dirty="0">
                <a:solidFill>
                  <a:srgbClr val="182B49"/>
                </a:solidFill>
                <a:latin typeface="Source Sans 3" pitchFamily="34" charset="0"/>
                <a:ea typeface="Source Sans 3" pitchFamily="34" charset="-122"/>
                <a:cs typeface="Source Sans 3" pitchFamily="34" charset="-120"/>
              </a:rPr>
              <a:t>half</a:t>
            </a:r>
            <a:r>
              <a:rPr lang="en-US" sz="1300" dirty="0">
                <a:solidFill>
                  <a:srgbClr val="182B49"/>
                </a:solidFill>
                <a:latin typeface="Source Sans 3" pitchFamily="34" charset="0"/>
                <a:ea typeface="Source Sans 3" pitchFamily="34" charset="-122"/>
                <a:cs typeface="Source Sans 3" pitchFamily="34" charset="-120"/>
              </a:rPr>
              <a:t> of sensor 1 (≈ 17 PSU to 1,041 m) on 1998-07 and 2024-01; </a:t>
            </a:r>
            <a:r>
              <a:rPr lang="en-US" sz="1300" b="1" dirty="0">
                <a:solidFill>
                  <a:srgbClr val="182B49"/>
                </a:solidFill>
                <a:latin typeface="Source Sans 3" pitchFamily="34" charset="0"/>
                <a:ea typeface="Source Sans 3" pitchFamily="34" charset="-122"/>
                <a:cs typeface="Source Sans 3" pitchFamily="34" charset="-120"/>
              </a:rPr>
              <a:t>35–40 °C</a:t>
            </a:r>
            <a:r>
              <a:rPr lang="en-US" sz="1300" dirty="0">
                <a:solidFill>
                  <a:srgbClr val="182B49"/>
                </a:solidFill>
                <a:latin typeface="Source Sans 3" pitchFamily="34" charset="0"/>
                <a:ea typeface="Source Sans 3" pitchFamily="34" charset="-122"/>
                <a:cs typeface="Source Sans 3" pitchFamily="34" charset="-120"/>
              </a:rPr>
              <a:t> at 1–2 m on 17 casts of 2003-04.</a:t>
            </a:r>
            <a:endParaRPr lang="en-US" sz="1300" dirty="0"/>
          </a:p>
        </p:txBody>
      </p:sp>
      <p:sp>
        <p:nvSpPr>
          <p:cNvPr id="23" name="Shape 19"/>
          <p:cNvSpPr/>
          <p:nvPr/>
        </p:nvSpPr>
        <p:spPr>
          <a:xfrm>
            <a:off x="5118100" y="3208933"/>
            <a:ext cx="0" cy="467816"/>
          </a:xfrm>
          <a:prstGeom prst="line">
            <a:avLst/>
          </a:prstGeom>
          <a:noFill/>
          <a:ln w="25400">
            <a:solidFill>
              <a:srgbClr val="00629B"/>
            </a:solidFill>
            <a:prstDash val="solid"/>
          </a:ln>
        </p:spPr>
        <p:txBody>
          <a:bodyPr/>
          <a:lstStyle/>
          <a:p>
            <a:endParaRPr lang="en-US"/>
          </a:p>
        </p:txBody>
      </p:sp>
      <p:sp>
        <p:nvSpPr>
          <p:cNvPr id="24" name="Text 20"/>
          <p:cNvSpPr/>
          <p:nvPr/>
        </p:nvSpPr>
        <p:spPr>
          <a:xfrm>
            <a:off x="5257800" y="3221633"/>
            <a:ext cx="630504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Predicted: temperature </a:t>
            </a:r>
            <a:r>
              <a:rPr lang="en-US" sz="1300" b="1" dirty="0">
                <a:solidFill>
                  <a:srgbClr val="182B49"/>
                </a:solidFill>
                <a:latin typeface="Source Sans 3" pitchFamily="34" charset="0"/>
                <a:ea typeface="Source Sans 3" pitchFamily="34" charset="-122"/>
                <a:cs typeface="Source Sans 3" pitchFamily="34" charset="-120"/>
              </a:rPr>
              <a:t>34,923</a:t>
            </a:r>
            <a:r>
              <a:rPr lang="en-US" sz="1300" dirty="0">
                <a:solidFill>
                  <a:srgbClr val="182B49"/>
                </a:solidFill>
                <a:latin typeface="Source Sans 3" pitchFamily="34" charset="0"/>
                <a:ea typeface="Source Sans 3" pitchFamily="34" charset="-122"/>
                <a:cs typeface="Source Sans 3" pitchFamily="34" charset="-120"/>
              </a:rPr>
              <a:t> averages changed; salinity </a:t>
            </a:r>
            <a:r>
              <a:rPr lang="en-US" sz="1300" b="1" dirty="0">
                <a:solidFill>
                  <a:srgbClr val="182B49"/>
                </a:solidFill>
                <a:latin typeface="Source Sans 3" pitchFamily="34" charset="0"/>
                <a:ea typeface="Source Sans 3" pitchFamily="34" charset="-122"/>
                <a:cs typeface="Source Sans 3" pitchFamily="34" charset="-120"/>
              </a:rPr>
              <a:t>39,276</a:t>
            </a:r>
            <a:r>
              <a:rPr lang="en-US" sz="1300" dirty="0">
                <a:solidFill>
                  <a:srgbClr val="182B49"/>
                </a:solidFill>
                <a:latin typeface="Source Sans 3" pitchFamily="34" charset="0"/>
                <a:ea typeface="Source Sans 3" pitchFamily="34" charset="-122"/>
                <a:cs typeface="Source Sans 3" pitchFamily="34" charset="-120"/>
              </a:rPr>
              <a:t>; oxygen </a:t>
            </a:r>
            <a:r>
              <a:rPr lang="en-US" sz="1300" b="1" dirty="0">
                <a:solidFill>
                  <a:srgbClr val="182B49"/>
                </a:solidFill>
                <a:latin typeface="Source Sans 3" pitchFamily="34" charset="0"/>
                <a:ea typeface="Source Sans 3" pitchFamily="34" charset="-122"/>
                <a:cs typeface="Source Sans 3" pitchFamily="34" charset="-120"/>
              </a:rPr>
              <a:t>2.66 M</a:t>
            </a:r>
            <a:r>
              <a:rPr lang="en-US" sz="1300" dirty="0">
                <a:solidFill>
                  <a:srgbClr val="182B49"/>
                </a:solidFill>
                <a:latin typeface="Source Sans 3" pitchFamily="34" charset="0"/>
                <a:ea typeface="Source Sans 3" pitchFamily="34" charset="-122"/>
                <a:cs typeface="Source Sans 3" pitchFamily="34" charset="-120"/>
              </a:rPr>
              <a:t> changed and </a:t>
            </a:r>
            <a:r>
              <a:rPr lang="en-US" sz="1300" b="1" dirty="0">
                <a:solidFill>
                  <a:srgbClr val="182B49"/>
                </a:solidFill>
                <a:latin typeface="Source Sans 3" pitchFamily="34" charset="0"/>
                <a:ea typeface="Source Sans 3" pitchFamily="34" charset="-122"/>
                <a:cs typeface="Source Sans 3" pitchFamily="34" charset="-120"/>
              </a:rPr>
              <a:t>1.14 M</a:t>
            </a:r>
            <a:r>
              <a:rPr lang="en-US" sz="1300" dirty="0">
                <a:solidFill>
                  <a:srgbClr val="182B49"/>
                </a:solidFill>
                <a:latin typeface="Source Sans 3" pitchFamily="34" charset="0"/>
                <a:ea typeface="Source Sans 3" pitchFamily="34" charset="-122"/>
                <a:cs typeface="Source Sans 3" pitchFamily="34" charset="-120"/>
              </a:rPr>
              <a:t> filled.</a:t>
            </a:r>
            <a:endParaRPr lang="en-US" sz="1300" dirty="0"/>
          </a:p>
        </p:txBody>
      </p:sp>
      <p:sp>
        <p:nvSpPr>
          <p:cNvPr id="25" name="Shape 21"/>
          <p:cNvSpPr/>
          <p:nvPr/>
        </p:nvSpPr>
        <p:spPr>
          <a:xfrm>
            <a:off x="5118100" y="3765649"/>
            <a:ext cx="0" cy="467816"/>
          </a:xfrm>
          <a:prstGeom prst="line">
            <a:avLst/>
          </a:prstGeom>
          <a:noFill/>
          <a:ln w="25400">
            <a:solidFill>
              <a:srgbClr val="00629B"/>
            </a:solidFill>
            <a:prstDash val="solid"/>
          </a:ln>
        </p:spPr>
        <p:txBody>
          <a:bodyPr/>
          <a:lstStyle/>
          <a:p>
            <a:endParaRPr lang="en-US"/>
          </a:p>
        </p:txBody>
      </p:sp>
      <p:sp>
        <p:nvSpPr>
          <p:cNvPr id="26" name="Text 22"/>
          <p:cNvSpPr/>
          <p:nvPr/>
        </p:nvSpPr>
        <p:spPr>
          <a:xfrm>
            <a:off x="5257800" y="3778349"/>
            <a:ext cx="630504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Impossible values leave at ingest: the </a:t>
            </a:r>
            <a:r>
              <a:rPr lang="en-US" sz="1300" b="1" dirty="0">
                <a:solidFill>
                  <a:srgbClr val="182B49"/>
                </a:solidFill>
                <a:latin typeface="Source Sans 3" pitchFamily="34" charset="0"/>
                <a:ea typeface="Source Sans 3" pitchFamily="34" charset="-122"/>
                <a:cs typeface="Source Sans 3" pitchFamily="34" charset="-120"/>
              </a:rPr>
              <a:t>9,895 °C</a:t>
            </a:r>
            <a:r>
              <a:rPr lang="en-US" sz="1300" dirty="0">
                <a:solidFill>
                  <a:srgbClr val="182B49"/>
                </a:solidFill>
                <a:latin typeface="Source Sans 3" pitchFamily="34" charset="0"/>
                <a:ea typeface="Source Sans 3" pitchFamily="34" charset="-122"/>
                <a:cs typeface="Source Sans 3" pitchFamily="34" charset="-120"/>
              </a:rPr>
              <a:t> sea surface, the −99 flow, 45.6 PSU; six nitrates of 66–95 µmol/L.</a:t>
            </a:r>
            <a:endParaRPr lang="en-US" sz="1300" dirty="0"/>
          </a:p>
        </p:txBody>
      </p:sp>
      <p:sp>
        <p:nvSpPr>
          <p:cNvPr id="27" name="Text 23"/>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RELEASES.html#v2026.09.11</a:t>
            </a:r>
            <a:endParaRPr lang="en-US" sz="1200" dirty="0"/>
          </a:p>
        </p:txBody>
      </p:sp>
      <p:sp>
        <p:nvSpPr>
          <p:cNvPr id="28" name="Text 24"/>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TRUST · THE CTD CAST DATASET</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WHAT RASMUS AND MARINA SETTLED, 9/16–9/18</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2044700"/>
          <a:ext cx="10566400" cy="3182044"/>
        </p:xfrm>
        <a:graphic>
          <a:graphicData uri="http://schemas.openxmlformats.org/drawingml/2006/table">
            <a:tbl>
              <a:tblPr/>
              <a:tblGrid>
                <a:gridCol w="1796288">
                  <a:extLst>
                    <a:ext uri="{9D8B030D-6E8A-4147-A177-3AD203B41FA5}">
                      <a16:colId xmlns:a16="http://schemas.microsoft.com/office/drawing/2014/main" val="20000"/>
                    </a:ext>
                  </a:extLst>
                </a:gridCol>
                <a:gridCol w="7185152">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Topic</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What we settled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Where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Data stages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final · preliminary with bottle · preliminary sensor-only — confirmed; sensor-only is fine on calcofi.io and .org, not on EDI</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Sheet 9/17 · meeting 9/16</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EDI package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today’s CTD profile CSV + a unique id linking to the portal; tables by decade in one package; CC BY 4.0; quarterly, via DataZoo</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Meeting 9/16</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Quality codes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0 good · 1/2 sensor used · 3 observed · 4 zeroed below detection · 7 interpolated to a standard depth; any code &gt; 9 → blank</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Sheet 9/18</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Out of range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treat as absent; filter −99 before averaging; exclude unrealistic pH</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Sheet 9/17–18</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Bottle vs sensor</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serve both the bottle’s analytical value and the bottle-corrected sensor reading</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Sheet 9/17</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5"/>
                  </a:ext>
                </a:extLst>
              </a:tr>
              <a:tr h="546001">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Still open</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archive vs calcofi.org copies of 66 cruises → Jim Wilkinson; out-of-range derived oxygen corrections — which cruises?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Sheet 9/18</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Text 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calcofi.io/datasets/calcofi_ctd-cast/</a:t>
            </a:r>
            <a:endParaRPr lang="en-US" sz="1200" dirty="0"/>
          </a:p>
        </p:txBody>
      </p:sp>
      <p:sp>
        <p:nvSpPr>
          <p:cNvPr id="11" name="Text 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TRUST · THE NEXT CTD FILES</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1 M BINS, WITH A QUALITY FLAG ON EVERY COLUMN</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Text 5"/>
          <p:cNvSpPr/>
          <p:nvPr/>
        </p:nvSpPr>
        <p:spPr>
          <a:xfrm>
            <a:off x="812800" y="2095500"/>
            <a:ext cx="57556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27 NEW QUALITY-CODE COLUMNS</a:t>
            </a:r>
            <a:endParaRPr lang="en-US" sz="1200" dirty="0"/>
          </a:p>
        </p:txBody>
      </p:sp>
      <p:sp>
        <p:nvSpPr>
          <p:cNvPr id="10" name="Shape 6"/>
          <p:cNvSpPr/>
          <p:nvPr/>
        </p:nvSpPr>
        <p:spPr>
          <a:xfrm>
            <a:off x="815975" y="2400895"/>
            <a:ext cx="87124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11" name="Text 7"/>
          <p:cNvSpPr/>
          <p:nvPr/>
        </p:nvSpPr>
        <p:spPr>
          <a:xfrm>
            <a:off x="908050" y="2442170"/>
            <a:ext cx="73789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TempAveQ</a:t>
            </a:r>
            <a:endParaRPr lang="en-US" sz="1200" dirty="0"/>
          </a:p>
        </p:txBody>
      </p:sp>
      <p:sp>
        <p:nvSpPr>
          <p:cNvPr id="12" name="Shape 8"/>
          <p:cNvSpPr/>
          <p:nvPr/>
        </p:nvSpPr>
        <p:spPr>
          <a:xfrm>
            <a:off x="1757065" y="2400895"/>
            <a:ext cx="96138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13" name="Text 9"/>
          <p:cNvSpPr/>
          <p:nvPr/>
        </p:nvSpPr>
        <p:spPr>
          <a:xfrm>
            <a:off x="1849140" y="2442170"/>
            <a:ext cx="82803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Salt1_CorrQ</a:t>
            </a:r>
            <a:endParaRPr lang="en-US" sz="1200" dirty="0"/>
          </a:p>
        </p:txBody>
      </p:sp>
      <p:sp>
        <p:nvSpPr>
          <p:cNvPr id="14" name="Shape 10"/>
          <p:cNvSpPr/>
          <p:nvPr/>
        </p:nvSpPr>
        <p:spPr>
          <a:xfrm>
            <a:off x="2788295" y="2400895"/>
            <a:ext cx="96138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15" name="Text 11"/>
          <p:cNvSpPr/>
          <p:nvPr/>
        </p:nvSpPr>
        <p:spPr>
          <a:xfrm>
            <a:off x="2880370" y="2442170"/>
            <a:ext cx="82803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Salt2_CorrQ</a:t>
            </a:r>
            <a:endParaRPr lang="en-US" sz="1200" dirty="0"/>
          </a:p>
        </p:txBody>
      </p:sp>
      <p:sp>
        <p:nvSpPr>
          <p:cNvPr id="16" name="Shape 12"/>
          <p:cNvSpPr/>
          <p:nvPr/>
        </p:nvSpPr>
        <p:spPr>
          <a:xfrm>
            <a:off x="3819525" y="2400895"/>
            <a:ext cx="1113482"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17" name="Text 13"/>
          <p:cNvSpPr/>
          <p:nvPr/>
        </p:nvSpPr>
        <p:spPr>
          <a:xfrm>
            <a:off x="3911600" y="2442170"/>
            <a:ext cx="980132"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SaltAve_CorrQ</a:t>
            </a:r>
            <a:endParaRPr lang="en-US" sz="1200" dirty="0"/>
          </a:p>
        </p:txBody>
      </p:sp>
      <p:sp>
        <p:nvSpPr>
          <p:cNvPr id="18" name="Shape 14"/>
          <p:cNvSpPr/>
          <p:nvPr/>
        </p:nvSpPr>
        <p:spPr>
          <a:xfrm>
            <a:off x="5002857" y="2400895"/>
            <a:ext cx="1279624"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19" name="Text 15"/>
          <p:cNvSpPr/>
          <p:nvPr/>
        </p:nvSpPr>
        <p:spPr>
          <a:xfrm>
            <a:off x="5094932" y="2442170"/>
            <a:ext cx="1146274"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Ox1_CruiseCorrQ</a:t>
            </a:r>
            <a:endParaRPr lang="en-US" sz="1200" dirty="0"/>
          </a:p>
        </p:txBody>
      </p:sp>
      <p:sp>
        <p:nvSpPr>
          <p:cNvPr id="20" name="Shape 16"/>
          <p:cNvSpPr/>
          <p:nvPr/>
        </p:nvSpPr>
        <p:spPr>
          <a:xfrm>
            <a:off x="815975" y="2720925"/>
            <a:ext cx="1082824"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21" name="Text 17"/>
          <p:cNvSpPr/>
          <p:nvPr/>
        </p:nvSpPr>
        <p:spPr>
          <a:xfrm>
            <a:off x="908050" y="2762200"/>
            <a:ext cx="949474"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Ox1_StaCorrQ</a:t>
            </a:r>
            <a:endParaRPr lang="en-US" sz="1200" dirty="0"/>
          </a:p>
        </p:txBody>
      </p:sp>
      <p:sp>
        <p:nvSpPr>
          <p:cNvPr id="22" name="Shape 18"/>
          <p:cNvSpPr/>
          <p:nvPr/>
        </p:nvSpPr>
        <p:spPr>
          <a:xfrm>
            <a:off x="1968649" y="2720925"/>
            <a:ext cx="1279624"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23" name="Text 19"/>
          <p:cNvSpPr/>
          <p:nvPr/>
        </p:nvSpPr>
        <p:spPr>
          <a:xfrm>
            <a:off x="2060724" y="2762200"/>
            <a:ext cx="1146274"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Ox2_CruiseCorrQ</a:t>
            </a:r>
            <a:endParaRPr lang="en-US" sz="1200" dirty="0"/>
          </a:p>
        </p:txBody>
      </p:sp>
      <p:sp>
        <p:nvSpPr>
          <p:cNvPr id="24" name="Shape 20"/>
          <p:cNvSpPr/>
          <p:nvPr/>
        </p:nvSpPr>
        <p:spPr>
          <a:xfrm>
            <a:off x="3318123" y="2720925"/>
            <a:ext cx="1082824"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25" name="Text 21"/>
          <p:cNvSpPr/>
          <p:nvPr/>
        </p:nvSpPr>
        <p:spPr>
          <a:xfrm>
            <a:off x="3410198" y="2762200"/>
            <a:ext cx="949474"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Ox2_StaCorrQ</a:t>
            </a:r>
            <a:endParaRPr lang="en-US" sz="1200" dirty="0"/>
          </a:p>
        </p:txBody>
      </p:sp>
      <p:sp>
        <p:nvSpPr>
          <p:cNvPr id="26" name="Shape 22"/>
          <p:cNvSpPr/>
          <p:nvPr/>
        </p:nvSpPr>
        <p:spPr>
          <a:xfrm>
            <a:off x="4470797" y="2720925"/>
            <a:ext cx="1234877"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27" name="Text 23"/>
          <p:cNvSpPr/>
          <p:nvPr/>
        </p:nvSpPr>
        <p:spPr>
          <a:xfrm>
            <a:off x="4562872" y="2762200"/>
            <a:ext cx="1101527"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OxAve_StaCorrQ</a:t>
            </a:r>
            <a:endParaRPr lang="en-US" sz="1200" dirty="0"/>
          </a:p>
        </p:txBody>
      </p:sp>
      <p:sp>
        <p:nvSpPr>
          <p:cNvPr id="28" name="Shape 24"/>
          <p:cNvSpPr/>
          <p:nvPr/>
        </p:nvSpPr>
        <p:spPr>
          <a:xfrm>
            <a:off x="815975" y="3040955"/>
            <a:ext cx="721916"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29" name="Text 25"/>
          <p:cNvSpPr/>
          <p:nvPr/>
        </p:nvSpPr>
        <p:spPr>
          <a:xfrm>
            <a:off x="908050" y="3082230"/>
            <a:ext cx="588566"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Ox1uMQ</a:t>
            </a:r>
            <a:endParaRPr lang="en-US" sz="1200" dirty="0"/>
          </a:p>
        </p:txBody>
      </p:sp>
      <p:sp>
        <p:nvSpPr>
          <p:cNvPr id="30" name="Shape 26"/>
          <p:cNvSpPr/>
          <p:nvPr/>
        </p:nvSpPr>
        <p:spPr>
          <a:xfrm>
            <a:off x="1607741" y="3040955"/>
            <a:ext cx="147325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31" name="Text 27"/>
          <p:cNvSpPr/>
          <p:nvPr/>
        </p:nvSpPr>
        <p:spPr>
          <a:xfrm>
            <a:off x="1699816" y="3082230"/>
            <a:ext cx="133990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Ox1uM_CruiseCorrQ</a:t>
            </a:r>
            <a:endParaRPr lang="en-US" sz="1200" dirty="0"/>
          </a:p>
        </p:txBody>
      </p:sp>
      <p:sp>
        <p:nvSpPr>
          <p:cNvPr id="32" name="Shape 28"/>
          <p:cNvSpPr/>
          <p:nvPr/>
        </p:nvSpPr>
        <p:spPr>
          <a:xfrm>
            <a:off x="3150840" y="3040955"/>
            <a:ext cx="1276449"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33" name="Text 29"/>
          <p:cNvSpPr/>
          <p:nvPr/>
        </p:nvSpPr>
        <p:spPr>
          <a:xfrm>
            <a:off x="3242915" y="3082230"/>
            <a:ext cx="1143099"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Ox1uM_StaCorrQ</a:t>
            </a:r>
            <a:endParaRPr lang="en-US" sz="1200" dirty="0"/>
          </a:p>
        </p:txBody>
      </p:sp>
      <p:sp>
        <p:nvSpPr>
          <p:cNvPr id="34" name="Shape 30"/>
          <p:cNvSpPr/>
          <p:nvPr/>
        </p:nvSpPr>
        <p:spPr>
          <a:xfrm>
            <a:off x="4497139" y="3040955"/>
            <a:ext cx="721916"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35" name="Text 31"/>
          <p:cNvSpPr/>
          <p:nvPr/>
        </p:nvSpPr>
        <p:spPr>
          <a:xfrm>
            <a:off x="4589214" y="3082230"/>
            <a:ext cx="588566"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Ox2uMQ</a:t>
            </a:r>
            <a:endParaRPr lang="en-US" sz="1200" dirty="0"/>
          </a:p>
        </p:txBody>
      </p:sp>
      <p:sp>
        <p:nvSpPr>
          <p:cNvPr id="36" name="Shape 32"/>
          <p:cNvSpPr/>
          <p:nvPr/>
        </p:nvSpPr>
        <p:spPr>
          <a:xfrm>
            <a:off x="815975" y="3360986"/>
            <a:ext cx="147325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37" name="Text 33"/>
          <p:cNvSpPr/>
          <p:nvPr/>
        </p:nvSpPr>
        <p:spPr>
          <a:xfrm>
            <a:off x="908050" y="3402261"/>
            <a:ext cx="133990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Ox2uM_CruiseCorrQ</a:t>
            </a:r>
            <a:endParaRPr lang="en-US" sz="1200" dirty="0"/>
          </a:p>
        </p:txBody>
      </p:sp>
      <p:sp>
        <p:nvSpPr>
          <p:cNvPr id="38" name="Shape 34"/>
          <p:cNvSpPr/>
          <p:nvPr/>
        </p:nvSpPr>
        <p:spPr>
          <a:xfrm>
            <a:off x="2359075" y="3360986"/>
            <a:ext cx="1276449"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39" name="Text 35"/>
          <p:cNvSpPr/>
          <p:nvPr/>
        </p:nvSpPr>
        <p:spPr>
          <a:xfrm>
            <a:off x="2451150" y="3402261"/>
            <a:ext cx="1143099"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Ox2uM_StaCorrQ</a:t>
            </a:r>
            <a:endParaRPr lang="en-US" sz="1200" dirty="0"/>
          </a:p>
        </p:txBody>
      </p:sp>
      <p:sp>
        <p:nvSpPr>
          <p:cNvPr id="40" name="Shape 36"/>
          <p:cNvSpPr/>
          <p:nvPr/>
        </p:nvSpPr>
        <p:spPr>
          <a:xfrm>
            <a:off x="3705374" y="3360986"/>
            <a:ext cx="1428502"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41" name="Text 37"/>
          <p:cNvSpPr/>
          <p:nvPr/>
        </p:nvSpPr>
        <p:spPr>
          <a:xfrm>
            <a:off x="3797449" y="3402261"/>
            <a:ext cx="1295152"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OxAveuM_StaCorrQ</a:t>
            </a:r>
            <a:endParaRPr lang="en-US" sz="1200" dirty="0"/>
          </a:p>
        </p:txBody>
      </p:sp>
      <p:sp>
        <p:nvSpPr>
          <p:cNvPr id="42" name="Shape 38"/>
          <p:cNvSpPr/>
          <p:nvPr/>
        </p:nvSpPr>
        <p:spPr>
          <a:xfrm>
            <a:off x="815975" y="3681016"/>
            <a:ext cx="1438176"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43" name="Text 39"/>
          <p:cNvSpPr/>
          <p:nvPr/>
        </p:nvSpPr>
        <p:spPr>
          <a:xfrm>
            <a:off x="908050" y="3722291"/>
            <a:ext cx="1304826"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EstChl_CruiseCorrQ</a:t>
            </a:r>
            <a:endParaRPr lang="en-US" sz="1200" dirty="0"/>
          </a:p>
        </p:txBody>
      </p:sp>
      <p:sp>
        <p:nvSpPr>
          <p:cNvPr id="44" name="Shape 40"/>
          <p:cNvSpPr/>
          <p:nvPr/>
        </p:nvSpPr>
        <p:spPr>
          <a:xfrm>
            <a:off x="2324001" y="3681016"/>
            <a:ext cx="1241375"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45" name="Text 41"/>
          <p:cNvSpPr/>
          <p:nvPr/>
        </p:nvSpPr>
        <p:spPr>
          <a:xfrm>
            <a:off x="2416076" y="3722291"/>
            <a:ext cx="1108025"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EstChl_StaCorrQ</a:t>
            </a:r>
            <a:endParaRPr lang="en-US" sz="1200" dirty="0"/>
          </a:p>
        </p:txBody>
      </p:sp>
      <p:sp>
        <p:nvSpPr>
          <p:cNvPr id="46" name="Shape 42"/>
          <p:cNvSpPr/>
          <p:nvPr/>
        </p:nvSpPr>
        <p:spPr>
          <a:xfrm>
            <a:off x="3635226" y="3681016"/>
            <a:ext cx="150500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47" name="Text 43"/>
          <p:cNvSpPr/>
          <p:nvPr/>
        </p:nvSpPr>
        <p:spPr>
          <a:xfrm>
            <a:off x="3727301" y="3722291"/>
            <a:ext cx="137165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EstNO3_CruiseCorrQ</a:t>
            </a:r>
            <a:endParaRPr lang="en-US" sz="1200" dirty="0"/>
          </a:p>
        </p:txBody>
      </p:sp>
      <p:sp>
        <p:nvSpPr>
          <p:cNvPr id="48" name="Shape 44"/>
          <p:cNvSpPr/>
          <p:nvPr/>
        </p:nvSpPr>
        <p:spPr>
          <a:xfrm>
            <a:off x="815975" y="4001046"/>
            <a:ext cx="1308199"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49" name="Text 45"/>
          <p:cNvSpPr/>
          <p:nvPr/>
        </p:nvSpPr>
        <p:spPr>
          <a:xfrm>
            <a:off x="908050" y="4042321"/>
            <a:ext cx="1174849"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EstNO3_StaCorrQ</a:t>
            </a:r>
            <a:endParaRPr lang="en-US" sz="1200" dirty="0"/>
          </a:p>
        </p:txBody>
      </p:sp>
      <p:sp>
        <p:nvSpPr>
          <p:cNvPr id="50" name="Shape 46"/>
          <p:cNvSpPr/>
          <p:nvPr/>
        </p:nvSpPr>
        <p:spPr>
          <a:xfrm>
            <a:off x="2194024" y="4001046"/>
            <a:ext cx="527546"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51" name="Text 47"/>
          <p:cNvSpPr/>
          <p:nvPr/>
        </p:nvSpPr>
        <p:spPr>
          <a:xfrm>
            <a:off x="2286099" y="4042321"/>
            <a:ext cx="394196"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BATQ</a:t>
            </a:r>
            <a:endParaRPr lang="en-US" sz="1200" dirty="0"/>
          </a:p>
        </p:txBody>
      </p:sp>
      <p:sp>
        <p:nvSpPr>
          <p:cNvPr id="52" name="Shape 48"/>
          <p:cNvSpPr/>
          <p:nvPr/>
        </p:nvSpPr>
        <p:spPr>
          <a:xfrm>
            <a:off x="2791420" y="4001046"/>
            <a:ext cx="59938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53" name="Text 49"/>
          <p:cNvSpPr/>
          <p:nvPr/>
        </p:nvSpPr>
        <p:spPr>
          <a:xfrm>
            <a:off x="2883495" y="4042321"/>
            <a:ext cx="46603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PoT1Q</a:t>
            </a:r>
            <a:endParaRPr lang="en-US" sz="1200" dirty="0"/>
          </a:p>
        </p:txBody>
      </p:sp>
      <p:sp>
        <p:nvSpPr>
          <p:cNvPr id="54" name="Shape 50"/>
          <p:cNvSpPr/>
          <p:nvPr/>
        </p:nvSpPr>
        <p:spPr>
          <a:xfrm>
            <a:off x="3460651" y="4001046"/>
            <a:ext cx="59938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55" name="Text 51"/>
          <p:cNvSpPr/>
          <p:nvPr/>
        </p:nvSpPr>
        <p:spPr>
          <a:xfrm>
            <a:off x="3552726" y="4042321"/>
            <a:ext cx="46603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PoT2Q</a:t>
            </a:r>
            <a:endParaRPr lang="en-US" sz="1200" dirty="0"/>
          </a:p>
        </p:txBody>
      </p:sp>
      <p:sp>
        <p:nvSpPr>
          <p:cNvPr id="56" name="Shape 52"/>
          <p:cNvSpPr/>
          <p:nvPr/>
        </p:nvSpPr>
        <p:spPr>
          <a:xfrm>
            <a:off x="4129881" y="4001046"/>
            <a:ext cx="68456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57" name="Text 53"/>
          <p:cNvSpPr/>
          <p:nvPr/>
        </p:nvSpPr>
        <p:spPr>
          <a:xfrm>
            <a:off x="4221956" y="4042321"/>
            <a:ext cx="55121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DynHtQ</a:t>
            </a:r>
            <a:endParaRPr lang="en-US" sz="1200" dirty="0"/>
          </a:p>
        </p:txBody>
      </p:sp>
      <p:sp>
        <p:nvSpPr>
          <p:cNvPr id="58" name="Shape 54"/>
          <p:cNvSpPr/>
          <p:nvPr/>
        </p:nvSpPr>
        <p:spPr>
          <a:xfrm>
            <a:off x="4884291" y="4001046"/>
            <a:ext cx="524421"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59" name="Text 55"/>
          <p:cNvSpPr/>
          <p:nvPr/>
        </p:nvSpPr>
        <p:spPr>
          <a:xfrm>
            <a:off x="4976366" y="4042321"/>
            <a:ext cx="391071"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SVAQ</a:t>
            </a:r>
            <a:endParaRPr lang="en-US" sz="1200" dirty="0"/>
          </a:p>
        </p:txBody>
      </p:sp>
      <p:sp>
        <p:nvSpPr>
          <p:cNvPr id="60" name="Shape 56"/>
          <p:cNvSpPr/>
          <p:nvPr/>
        </p:nvSpPr>
        <p:spPr>
          <a:xfrm>
            <a:off x="5478562" y="4001046"/>
            <a:ext cx="73536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61" name="Text 57"/>
          <p:cNvSpPr/>
          <p:nvPr/>
        </p:nvSpPr>
        <p:spPr>
          <a:xfrm>
            <a:off x="5570637" y="4042321"/>
            <a:ext cx="60201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OxSat1Q</a:t>
            </a:r>
            <a:endParaRPr lang="en-US" sz="1200" dirty="0"/>
          </a:p>
        </p:txBody>
      </p:sp>
      <p:sp>
        <p:nvSpPr>
          <p:cNvPr id="62" name="Shape 58"/>
          <p:cNvSpPr/>
          <p:nvPr/>
        </p:nvSpPr>
        <p:spPr>
          <a:xfrm>
            <a:off x="815975" y="4321076"/>
            <a:ext cx="735360" cy="250180"/>
          </a:xfrm>
          <a:prstGeom prst="roundRect">
            <a:avLst>
              <a:gd name="adj" fmla="val 50000"/>
            </a:avLst>
          </a:prstGeom>
          <a:solidFill>
            <a:srgbClr val="FFFFFF"/>
          </a:solidFill>
          <a:ln w="6350">
            <a:solidFill>
              <a:srgbClr val="DDDDDD"/>
            </a:solidFill>
            <a:prstDash val="solid"/>
          </a:ln>
        </p:spPr>
        <p:txBody>
          <a:bodyPr/>
          <a:lstStyle/>
          <a:p>
            <a:endParaRPr lang="en-US"/>
          </a:p>
        </p:txBody>
      </p:sp>
      <p:sp>
        <p:nvSpPr>
          <p:cNvPr id="63" name="Text 59"/>
          <p:cNvSpPr/>
          <p:nvPr/>
        </p:nvSpPr>
        <p:spPr>
          <a:xfrm>
            <a:off x="908050" y="4362351"/>
            <a:ext cx="602010" cy="193030"/>
          </a:xfrm>
          <a:prstGeom prst="rect">
            <a:avLst/>
          </a:prstGeom>
          <a:noFill/>
          <a:ln/>
        </p:spPr>
        <p:txBody>
          <a:bodyPr wrap="square" lIns="0" tIns="0" rIns="0" bIns="0" rtlCol="0" anchor="t">
            <a:normAutofit/>
          </a:bodyPr>
          <a:lstStyle/>
          <a:p>
            <a:pPr marL="0" indent="0" algn="l">
              <a:lnSpc>
                <a:spcPts val="1320"/>
              </a:lnSpc>
              <a:buNone/>
            </a:pPr>
            <a:r>
              <a:rPr lang="en-US" sz="1200" dirty="0">
                <a:solidFill>
                  <a:srgbClr val="182B49"/>
                </a:solidFill>
                <a:latin typeface="Source Sans 3" pitchFamily="34" charset="0"/>
                <a:ea typeface="Source Sans 3" pitchFamily="34" charset="-122"/>
                <a:cs typeface="Source Sans 3" pitchFamily="34" charset="-120"/>
              </a:rPr>
              <a:t>OxSat2Q</a:t>
            </a:r>
            <a:endParaRPr lang="en-US" sz="1200" dirty="0"/>
          </a:p>
        </p:txBody>
      </p:sp>
      <p:sp>
        <p:nvSpPr>
          <p:cNvPr id="64" name="Shape 60"/>
          <p:cNvSpPr/>
          <p:nvPr/>
        </p:nvSpPr>
        <p:spPr>
          <a:xfrm>
            <a:off x="6769100" y="2095500"/>
            <a:ext cx="0" cy="689025"/>
          </a:xfrm>
          <a:prstGeom prst="line">
            <a:avLst/>
          </a:prstGeom>
          <a:noFill/>
          <a:ln w="25400">
            <a:solidFill>
              <a:srgbClr val="00629B"/>
            </a:solidFill>
            <a:prstDash val="solid"/>
          </a:ln>
        </p:spPr>
        <p:txBody>
          <a:bodyPr/>
          <a:lstStyle/>
          <a:p>
            <a:endParaRPr lang="en-US"/>
          </a:p>
        </p:txBody>
      </p:sp>
      <p:sp>
        <p:nvSpPr>
          <p:cNvPr id="65" name="Text 61"/>
          <p:cNvSpPr/>
          <p:nvPr/>
        </p:nvSpPr>
        <p:spPr>
          <a:xfrm>
            <a:off x="6908800" y="2108200"/>
            <a:ext cx="4604512" cy="689025"/>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Ben Gire, 9/22: the new </a:t>
            </a:r>
            <a:r>
              <a:rPr lang="en-US" sz="1300" b="1" dirty="0">
                <a:solidFill>
                  <a:srgbClr val="182B49"/>
                </a:solidFill>
                <a:latin typeface="Source Sans 3" pitchFamily="34" charset="0"/>
                <a:ea typeface="Source Sans 3" pitchFamily="34" charset="-122"/>
                <a:cs typeface="Source Sans 3" pitchFamily="34" charset="-120"/>
              </a:rPr>
              <a:t>cruise_station_correction.csv</a:t>
            </a:r>
            <a:r>
              <a:rPr lang="en-US" sz="1300" dirty="0">
                <a:solidFill>
                  <a:srgbClr val="182B49"/>
                </a:solidFill>
                <a:latin typeface="Source Sans 3" pitchFamily="34" charset="0"/>
                <a:ea typeface="Source Sans 3" pitchFamily="34" charset="-122"/>
                <a:cs typeface="Source Sans 3" pitchFamily="34" charset="-120"/>
              </a:rPr>
              <a:t> holds 1 m bin-averaged CTD, bottle data, and cruise- and station-corrected CTD for </a:t>
            </a:r>
            <a:r>
              <a:rPr lang="en-US" sz="1300" b="1" dirty="0">
                <a:solidFill>
                  <a:srgbClr val="182B49"/>
                </a:solidFill>
                <a:latin typeface="Source Sans 3" pitchFamily="34" charset="0"/>
                <a:ea typeface="Source Sans 3" pitchFamily="34" charset="-122"/>
                <a:cs typeface="Source Sans 3" pitchFamily="34" charset="-120"/>
              </a:rPr>
              <a:t>every up and down cast</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66" name="Shape 62"/>
          <p:cNvSpPr/>
          <p:nvPr/>
        </p:nvSpPr>
        <p:spPr>
          <a:xfrm>
            <a:off x="6769100" y="2873425"/>
            <a:ext cx="0" cy="467816"/>
          </a:xfrm>
          <a:prstGeom prst="line">
            <a:avLst/>
          </a:prstGeom>
          <a:noFill/>
          <a:ln w="25400">
            <a:solidFill>
              <a:srgbClr val="00629B"/>
            </a:solidFill>
            <a:prstDash val="solid"/>
          </a:ln>
        </p:spPr>
        <p:txBody>
          <a:bodyPr/>
          <a:lstStyle/>
          <a:p>
            <a:endParaRPr lang="en-US"/>
          </a:p>
        </p:txBody>
      </p:sp>
      <p:sp>
        <p:nvSpPr>
          <p:cNvPr id="67" name="Text 63"/>
          <p:cNvSpPr/>
          <p:nvPr/>
        </p:nvSpPr>
        <p:spPr>
          <a:xfrm>
            <a:off x="6908800" y="2886125"/>
            <a:ext cx="460451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A </a:t>
            </a:r>
            <a:r>
              <a:rPr lang="en-US" sz="1300" b="1" dirty="0">
                <a:solidFill>
                  <a:srgbClr val="182B49"/>
                </a:solidFill>
                <a:latin typeface="Source Sans 3" pitchFamily="34" charset="0"/>
                <a:ea typeface="Source Sans 3" pitchFamily="34" charset="-122"/>
                <a:cs typeface="Source Sans 3" pitchFamily="34" charset="-120"/>
              </a:rPr>
              <a:t>quality code on every plotted parameter</a:t>
            </a:r>
            <a:r>
              <a:rPr lang="en-US" sz="1300" dirty="0">
                <a:solidFill>
                  <a:srgbClr val="182B49"/>
                </a:solidFill>
                <a:latin typeface="Source Sans 3" pitchFamily="34" charset="0"/>
                <a:ea typeface="Source Sans 3" pitchFamily="34" charset="-122"/>
                <a:cs typeface="Source Sans 3" pitchFamily="34" charset="-120"/>
              </a:rPr>
              <a:t>, so the Cast Plotter can flag any point; other column names unchanged.</a:t>
            </a:r>
            <a:endParaRPr lang="en-US" sz="1300" dirty="0"/>
          </a:p>
        </p:txBody>
      </p:sp>
      <p:sp>
        <p:nvSpPr>
          <p:cNvPr id="68" name="Shape 64"/>
          <p:cNvSpPr/>
          <p:nvPr/>
        </p:nvSpPr>
        <p:spPr>
          <a:xfrm>
            <a:off x="6769100" y="3430141"/>
            <a:ext cx="0" cy="467816"/>
          </a:xfrm>
          <a:prstGeom prst="line">
            <a:avLst/>
          </a:prstGeom>
          <a:noFill/>
          <a:ln w="25400">
            <a:solidFill>
              <a:srgbClr val="00629B"/>
            </a:solidFill>
            <a:prstDash val="solid"/>
          </a:ln>
        </p:spPr>
        <p:txBody>
          <a:bodyPr/>
          <a:lstStyle/>
          <a:p>
            <a:endParaRPr lang="en-US"/>
          </a:p>
        </p:txBody>
      </p:sp>
      <p:sp>
        <p:nvSpPr>
          <p:cNvPr id="69" name="Text 65"/>
          <p:cNvSpPr/>
          <p:nvPr/>
        </p:nvSpPr>
        <p:spPr>
          <a:xfrm>
            <a:off x="6908800" y="3442841"/>
            <a:ext cx="460451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Going back to at least </a:t>
            </a:r>
            <a:r>
              <a:rPr lang="en-US" sz="1300" b="1" dirty="0">
                <a:solidFill>
                  <a:srgbClr val="182B49"/>
                </a:solidFill>
                <a:latin typeface="Source Sans 3" pitchFamily="34" charset="0"/>
                <a:ea typeface="Source Sans 3" pitchFamily="34" charset="-122"/>
                <a:cs typeface="Source Sans 3" pitchFamily="34" charset="-120"/>
              </a:rPr>
              <a:t>2019</a:t>
            </a:r>
            <a:r>
              <a:rPr lang="en-US" sz="1300" dirty="0">
                <a:solidFill>
                  <a:srgbClr val="182B49"/>
                </a:solidFill>
                <a:latin typeface="Source Sans 3" pitchFamily="34" charset="0"/>
                <a:ea typeface="Source Sans 3" pitchFamily="34" charset="-122"/>
                <a:cs typeface="Source Sans 3" pitchFamily="34" charset="-120"/>
              </a:rPr>
              <a:t>; the first cruise reaches “preliminary” this week. The example file is </a:t>
            </a:r>
            <a:r>
              <a:rPr lang="en-US" sz="1300" b="1" dirty="0">
                <a:solidFill>
                  <a:srgbClr val="182B49"/>
                </a:solidFill>
                <a:latin typeface="Source Sans 3" pitchFamily="34" charset="0"/>
                <a:ea typeface="Source Sans 3" pitchFamily="34" charset="-122"/>
                <a:cs typeface="Source Sans 3" pitchFamily="34" charset="-120"/>
              </a:rPr>
              <a:t>not QC’d</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70" name="Shape 66"/>
          <p:cNvSpPr/>
          <p:nvPr/>
        </p:nvSpPr>
        <p:spPr>
          <a:xfrm>
            <a:off x="6769100" y="3986857"/>
            <a:ext cx="0" cy="467816"/>
          </a:xfrm>
          <a:prstGeom prst="line">
            <a:avLst/>
          </a:prstGeom>
          <a:noFill/>
          <a:ln w="25400">
            <a:solidFill>
              <a:srgbClr val="00629B"/>
            </a:solidFill>
            <a:prstDash val="solid"/>
          </a:ln>
        </p:spPr>
        <p:txBody>
          <a:bodyPr/>
          <a:lstStyle/>
          <a:p>
            <a:endParaRPr lang="en-US"/>
          </a:p>
        </p:txBody>
      </p:sp>
      <p:sp>
        <p:nvSpPr>
          <p:cNvPr id="71" name="Text 67"/>
          <p:cNvSpPr/>
          <p:nvPr/>
        </p:nvSpPr>
        <p:spPr>
          <a:xfrm>
            <a:off x="6908800" y="3999557"/>
            <a:ext cx="460451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For us: each Q column becomes its series’ flag, so </a:t>
            </a:r>
            <a:r>
              <a:rPr lang="en-US" sz="1300" b="1" dirty="0">
                <a:solidFill>
                  <a:srgbClr val="182B49"/>
                </a:solidFill>
                <a:latin typeface="Source Sans 3" pitchFamily="34" charset="0"/>
                <a:ea typeface="Source Sans 3" pitchFamily="34" charset="-122"/>
                <a:cs typeface="Source Sans 3" pitchFamily="34" charset="-120"/>
              </a:rPr>
              <a:t>combine_sensor_pair()</a:t>
            </a:r>
            <a:r>
              <a:rPr lang="en-US" sz="1300" dirty="0">
                <a:solidFill>
                  <a:srgbClr val="182B49"/>
                </a:solidFill>
                <a:latin typeface="Source Sans 3" pitchFamily="34" charset="0"/>
                <a:ea typeface="Source Sans 3" pitchFamily="34" charset="-122"/>
                <a:cs typeface="Source Sans 3" pitchFamily="34" charset="-120"/>
              </a:rPr>
              <a:t> and every app apply it.</a:t>
            </a:r>
            <a:endParaRPr lang="en-US" sz="1300" dirty="0"/>
          </a:p>
        </p:txBody>
      </p:sp>
      <p:sp>
        <p:nvSpPr>
          <p:cNvPr id="72" name="Text 68"/>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calcofi.io/workflows/ingest_calcofi_ctd-cast.html</a:t>
            </a:r>
            <a:endParaRPr lang="en-US" sz="1200" dirty="0"/>
          </a:p>
        </p:txBody>
      </p:sp>
      <p:sp>
        <p:nvSpPr>
          <p:cNvPr id="73" name="Text 69"/>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NEXT · TO DO 1</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ONE COLOUR RAMP FOR A SECTION, IN BOTH APPS</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Text 5"/>
          <p:cNvSpPr/>
          <p:nvPr/>
        </p:nvSpPr>
        <p:spPr>
          <a:xfrm>
            <a:off x="2768600" y="2070100"/>
            <a:ext cx="405511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EXPLORER · RAMPS.TS</a:t>
            </a:r>
            <a:endParaRPr lang="en-US" sz="1200" dirty="0"/>
          </a:p>
        </p:txBody>
      </p:sp>
      <p:sp>
        <p:nvSpPr>
          <p:cNvPr id="10" name="Text 6"/>
          <p:cNvSpPr/>
          <p:nvPr/>
        </p:nvSpPr>
        <p:spPr>
          <a:xfrm>
            <a:off x="6883400" y="2070100"/>
            <a:ext cx="405511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CTD-TRANSECTS · APP.JS</a:t>
            </a:r>
            <a:endParaRPr lang="en-US" sz="1200" dirty="0"/>
          </a:p>
        </p:txBody>
      </p:sp>
      <p:sp>
        <p:nvSpPr>
          <p:cNvPr id="11" name="Text 7"/>
          <p:cNvSpPr/>
          <p:nvPr/>
        </p:nvSpPr>
        <p:spPr>
          <a:xfrm>
            <a:off x="812800" y="2490391"/>
            <a:ext cx="18313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B49"/>
                </a:solidFill>
                <a:latin typeface="Source Sans 3" pitchFamily="34" charset="0"/>
                <a:ea typeface="Source Sans 3" pitchFamily="34" charset="-122"/>
                <a:cs typeface="Source Sans 3" pitchFamily="34" charset="-120"/>
              </a:rPr>
              <a:t>Temperature</a:t>
            </a:r>
            <a:endParaRPr lang="en-US" sz="1300" dirty="0"/>
          </a:p>
        </p:txBody>
      </p:sp>
      <p:pic>
        <p:nvPicPr>
          <p:cNvPr id="12" name="Image 2" descr="preencoded.png"/>
          <p:cNvPicPr>
            <a:picLocks noChangeAspect="1"/>
          </p:cNvPicPr>
          <p:nvPr/>
        </p:nvPicPr>
        <p:blipFill>
          <a:blip r:embed="rId5"/>
          <a:srcRect/>
          <a:stretch/>
        </p:blipFill>
        <p:spPr>
          <a:xfrm>
            <a:off x="2768600" y="2365970"/>
            <a:ext cx="3937000" cy="254000"/>
          </a:xfrm>
          <a:prstGeom prst="rect">
            <a:avLst/>
          </a:prstGeom>
        </p:spPr>
      </p:pic>
      <p:sp>
        <p:nvSpPr>
          <p:cNvPr id="13" name="Text 8"/>
          <p:cNvSpPr/>
          <p:nvPr/>
        </p:nvSpPr>
        <p:spPr>
          <a:xfrm>
            <a:off x="2768600" y="2632670"/>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cmocean thermal</a:t>
            </a:r>
            <a:endParaRPr lang="en-US" sz="1200" dirty="0"/>
          </a:p>
        </p:txBody>
      </p:sp>
      <p:pic>
        <p:nvPicPr>
          <p:cNvPr id="14" name="Image 3" descr="preencoded.png"/>
          <p:cNvPicPr>
            <a:picLocks noChangeAspect="1"/>
          </p:cNvPicPr>
          <p:nvPr/>
        </p:nvPicPr>
        <p:blipFill>
          <a:blip r:embed="rId6"/>
          <a:srcRect/>
          <a:stretch/>
        </p:blipFill>
        <p:spPr>
          <a:xfrm>
            <a:off x="6883400" y="2359620"/>
            <a:ext cx="3937000" cy="254000"/>
          </a:xfrm>
          <a:prstGeom prst="rect">
            <a:avLst/>
          </a:prstGeom>
        </p:spPr>
      </p:pic>
      <p:sp>
        <p:nvSpPr>
          <p:cNvPr id="15" name="Text 9"/>
          <p:cNvSpPr/>
          <p:nvPr/>
        </p:nvSpPr>
        <p:spPr>
          <a:xfrm>
            <a:off x="6883400" y="2639020"/>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blue → neutral → red</a:t>
            </a:r>
            <a:endParaRPr lang="en-US" sz="1200" dirty="0"/>
          </a:p>
        </p:txBody>
      </p:sp>
      <p:sp>
        <p:nvSpPr>
          <p:cNvPr id="16" name="Text 10"/>
          <p:cNvSpPr/>
          <p:nvPr/>
        </p:nvSpPr>
        <p:spPr>
          <a:xfrm>
            <a:off x="812800" y="3059311"/>
            <a:ext cx="18313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B49"/>
                </a:solidFill>
                <a:latin typeface="Source Sans 3" pitchFamily="34" charset="0"/>
                <a:ea typeface="Source Sans 3" pitchFamily="34" charset="-122"/>
                <a:cs typeface="Source Sans 3" pitchFamily="34" charset="-120"/>
              </a:rPr>
              <a:t>Any anomaly</a:t>
            </a:r>
            <a:endParaRPr lang="en-US" sz="1300" dirty="0"/>
          </a:p>
        </p:txBody>
      </p:sp>
      <p:pic>
        <p:nvPicPr>
          <p:cNvPr id="17" name="Image 4" descr="preencoded.png"/>
          <p:cNvPicPr>
            <a:picLocks noChangeAspect="1"/>
          </p:cNvPicPr>
          <p:nvPr/>
        </p:nvPicPr>
        <p:blipFill>
          <a:blip r:embed="rId7"/>
          <a:srcRect/>
          <a:stretch/>
        </p:blipFill>
        <p:spPr>
          <a:xfrm>
            <a:off x="2768600" y="2934891"/>
            <a:ext cx="3937000" cy="254000"/>
          </a:xfrm>
          <a:prstGeom prst="rect">
            <a:avLst/>
          </a:prstGeom>
        </p:spPr>
      </p:pic>
      <p:sp>
        <p:nvSpPr>
          <p:cNvPr id="18" name="Text 11"/>
          <p:cNvSpPr/>
          <p:nvPr/>
        </p:nvSpPr>
        <p:spPr>
          <a:xfrm>
            <a:off x="2768600" y="3201591"/>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cmocean balance</a:t>
            </a:r>
            <a:endParaRPr lang="en-US" sz="1200" dirty="0"/>
          </a:p>
        </p:txBody>
      </p:sp>
      <p:pic>
        <p:nvPicPr>
          <p:cNvPr id="19" name="Image 5" descr="preencoded.png"/>
          <p:cNvPicPr>
            <a:picLocks noChangeAspect="1"/>
          </p:cNvPicPr>
          <p:nvPr/>
        </p:nvPicPr>
        <p:blipFill>
          <a:blip r:embed="rId6"/>
          <a:srcRect/>
          <a:stretch/>
        </p:blipFill>
        <p:spPr>
          <a:xfrm>
            <a:off x="6883400" y="2928541"/>
            <a:ext cx="3937000" cy="254000"/>
          </a:xfrm>
          <a:prstGeom prst="rect">
            <a:avLst/>
          </a:prstGeom>
        </p:spPr>
      </p:pic>
      <p:sp>
        <p:nvSpPr>
          <p:cNvPr id="20" name="Text 12"/>
          <p:cNvSpPr/>
          <p:nvPr/>
        </p:nvSpPr>
        <p:spPr>
          <a:xfrm>
            <a:off x="6883400" y="3207941"/>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the same blue → red, 0 pinned</a:t>
            </a:r>
            <a:endParaRPr lang="en-US" sz="1200" dirty="0"/>
          </a:p>
        </p:txBody>
      </p:sp>
      <p:sp>
        <p:nvSpPr>
          <p:cNvPr id="21" name="Text 13"/>
          <p:cNvSpPr/>
          <p:nvPr/>
        </p:nvSpPr>
        <p:spPr>
          <a:xfrm>
            <a:off x="812800" y="3628231"/>
            <a:ext cx="18313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B49"/>
                </a:solidFill>
                <a:latin typeface="Source Sans 3" pitchFamily="34" charset="0"/>
                <a:ea typeface="Source Sans 3" pitchFamily="34" charset="-122"/>
                <a:cs typeface="Source Sans 3" pitchFamily="34" charset="-120"/>
              </a:rPr>
              <a:t>Salinity</a:t>
            </a:r>
            <a:endParaRPr lang="en-US" sz="1300" dirty="0"/>
          </a:p>
        </p:txBody>
      </p:sp>
      <p:pic>
        <p:nvPicPr>
          <p:cNvPr id="22" name="Image 6" descr="preencoded.png"/>
          <p:cNvPicPr>
            <a:picLocks noChangeAspect="1"/>
          </p:cNvPicPr>
          <p:nvPr/>
        </p:nvPicPr>
        <p:blipFill>
          <a:blip r:embed="rId8"/>
          <a:srcRect/>
          <a:stretch/>
        </p:blipFill>
        <p:spPr>
          <a:xfrm>
            <a:off x="2768600" y="3503811"/>
            <a:ext cx="3937000" cy="254000"/>
          </a:xfrm>
          <a:prstGeom prst="rect">
            <a:avLst/>
          </a:prstGeom>
        </p:spPr>
      </p:pic>
      <p:sp>
        <p:nvSpPr>
          <p:cNvPr id="23" name="Text 14"/>
          <p:cNvSpPr/>
          <p:nvPr/>
        </p:nvSpPr>
        <p:spPr>
          <a:xfrm>
            <a:off x="2768600" y="3770511"/>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cmocean haline</a:t>
            </a:r>
            <a:endParaRPr lang="en-US" sz="1200" dirty="0"/>
          </a:p>
        </p:txBody>
      </p:sp>
      <p:pic>
        <p:nvPicPr>
          <p:cNvPr id="24" name="Image 7" descr="preencoded.png"/>
          <p:cNvPicPr>
            <a:picLocks noChangeAspect="1"/>
          </p:cNvPicPr>
          <p:nvPr/>
        </p:nvPicPr>
        <p:blipFill>
          <a:blip r:embed="rId9"/>
          <a:srcRect/>
          <a:stretch/>
        </p:blipFill>
        <p:spPr>
          <a:xfrm>
            <a:off x="6883400" y="3497461"/>
            <a:ext cx="3937000" cy="254000"/>
          </a:xfrm>
          <a:prstGeom prst="rect">
            <a:avLst/>
          </a:prstGeom>
        </p:spPr>
      </p:pic>
      <p:sp>
        <p:nvSpPr>
          <p:cNvPr id="25" name="Text 15"/>
          <p:cNvSpPr/>
          <p:nvPr/>
        </p:nvSpPr>
        <p:spPr>
          <a:xfrm>
            <a:off x="6883400" y="3776861"/>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one blue, light → dark</a:t>
            </a:r>
            <a:endParaRPr lang="en-US" sz="1200" dirty="0"/>
          </a:p>
        </p:txBody>
      </p:sp>
      <p:sp>
        <p:nvSpPr>
          <p:cNvPr id="26" name="Text 16"/>
          <p:cNvSpPr/>
          <p:nvPr/>
        </p:nvSpPr>
        <p:spPr>
          <a:xfrm>
            <a:off x="812800" y="4197152"/>
            <a:ext cx="18313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B49"/>
                </a:solidFill>
                <a:latin typeface="Source Sans 3" pitchFamily="34" charset="0"/>
                <a:ea typeface="Source Sans 3" pitchFamily="34" charset="-122"/>
                <a:cs typeface="Source Sans 3" pitchFamily="34" charset="-120"/>
              </a:rPr>
              <a:t>Oxygen</a:t>
            </a:r>
            <a:endParaRPr lang="en-US" sz="1300" dirty="0"/>
          </a:p>
        </p:txBody>
      </p:sp>
      <p:pic>
        <p:nvPicPr>
          <p:cNvPr id="27" name="Image 8" descr="preencoded.png"/>
          <p:cNvPicPr>
            <a:picLocks noChangeAspect="1"/>
          </p:cNvPicPr>
          <p:nvPr/>
        </p:nvPicPr>
        <p:blipFill>
          <a:blip r:embed="rId10"/>
          <a:srcRect/>
          <a:stretch/>
        </p:blipFill>
        <p:spPr>
          <a:xfrm>
            <a:off x="2768600" y="4072731"/>
            <a:ext cx="3937000" cy="254000"/>
          </a:xfrm>
          <a:prstGeom prst="rect">
            <a:avLst/>
          </a:prstGeom>
        </p:spPr>
      </p:pic>
      <p:sp>
        <p:nvSpPr>
          <p:cNvPr id="28" name="Text 17"/>
          <p:cNvSpPr/>
          <p:nvPr/>
        </p:nvSpPr>
        <p:spPr>
          <a:xfrm>
            <a:off x="2768600" y="4339431"/>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cmocean ice</a:t>
            </a:r>
            <a:endParaRPr lang="en-US" sz="1200" dirty="0"/>
          </a:p>
        </p:txBody>
      </p:sp>
      <p:pic>
        <p:nvPicPr>
          <p:cNvPr id="29" name="Image 9" descr="preencoded.png"/>
          <p:cNvPicPr>
            <a:picLocks noChangeAspect="1"/>
          </p:cNvPicPr>
          <p:nvPr/>
        </p:nvPicPr>
        <p:blipFill>
          <a:blip r:embed="rId9"/>
          <a:srcRect/>
          <a:stretch/>
        </p:blipFill>
        <p:spPr>
          <a:xfrm>
            <a:off x="6883400" y="4066381"/>
            <a:ext cx="3937000" cy="254000"/>
          </a:xfrm>
          <a:prstGeom prst="rect">
            <a:avLst/>
          </a:prstGeom>
        </p:spPr>
      </p:pic>
      <p:sp>
        <p:nvSpPr>
          <p:cNvPr id="30" name="Text 18"/>
          <p:cNvSpPr/>
          <p:nvPr/>
        </p:nvSpPr>
        <p:spPr>
          <a:xfrm>
            <a:off x="6883400" y="4345781"/>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the same blue</a:t>
            </a:r>
            <a:endParaRPr lang="en-US" sz="1200" dirty="0"/>
          </a:p>
        </p:txBody>
      </p:sp>
      <p:sp>
        <p:nvSpPr>
          <p:cNvPr id="31" name="Text 19"/>
          <p:cNvSpPr/>
          <p:nvPr/>
        </p:nvSpPr>
        <p:spPr>
          <a:xfrm>
            <a:off x="812800" y="4766072"/>
            <a:ext cx="18313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B49"/>
                </a:solidFill>
                <a:latin typeface="Source Sans 3" pitchFamily="34" charset="0"/>
                <a:ea typeface="Source Sans 3" pitchFamily="34" charset="-122"/>
                <a:cs typeface="Source Sans 3" pitchFamily="34" charset="-120"/>
              </a:rPr>
              <a:t>Chlorophyll-a</a:t>
            </a:r>
            <a:endParaRPr lang="en-US" sz="1300" dirty="0"/>
          </a:p>
        </p:txBody>
      </p:sp>
      <p:pic>
        <p:nvPicPr>
          <p:cNvPr id="32" name="Image 10" descr="preencoded.png"/>
          <p:cNvPicPr>
            <a:picLocks noChangeAspect="1"/>
          </p:cNvPicPr>
          <p:nvPr/>
        </p:nvPicPr>
        <p:blipFill>
          <a:blip r:embed="rId11"/>
          <a:srcRect/>
          <a:stretch/>
        </p:blipFill>
        <p:spPr>
          <a:xfrm>
            <a:off x="2768600" y="4641652"/>
            <a:ext cx="3937000" cy="254000"/>
          </a:xfrm>
          <a:prstGeom prst="rect">
            <a:avLst/>
          </a:prstGeom>
        </p:spPr>
      </p:pic>
      <p:sp>
        <p:nvSpPr>
          <p:cNvPr id="33" name="Text 20"/>
          <p:cNvSpPr/>
          <p:nvPr/>
        </p:nvSpPr>
        <p:spPr>
          <a:xfrm>
            <a:off x="2768600" y="4908352"/>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cmocean algae</a:t>
            </a:r>
            <a:endParaRPr lang="en-US" sz="1200" dirty="0"/>
          </a:p>
        </p:txBody>
      </p:sp>
      <p:pic>
        <p:nvPicPr>
          <p:cNvPr id="34" name="Image 11" descr="preencoded.png"/>
          <p:cNvPicPr>
            <a:picLocks noChangeAspect="1"/>
          </p:cNvPicPr>
          <p:nvPr/>
        </p:nvPicPr>
        <p:blipFill>
          <a:blip r:embed="rId9"/>
          <a:srcRect/>
          <a:stretch/>
        </p:blipFill>
        <p:spPr>
          <a:xfrm>
            <a:off x="6883400" y="4635302"/>
            <a:ext cx="3937000" cy="254000"/>
          </a:xfrm>
          <a:prstGeom prst="rect">
            <a:avLst/>
          </a:prstGeom>
        </p:spPr>
      </p:pic>
      <p:sp>
        <p:nvSpPr>
          <p:cNvPr id="35" name="Text 21"/>
          <p:cNvSpPr/>
          <p:nvPr/>
        </p:nvSpPr>
        <p:spPr>
          <a:xfrm>
            <a:off x="6883400" y="4914702"/>
            <a:ext cx="40551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86A"/>
                </a:solidFill>
                <a:latin typeface="Source Sans 3" pitchFamily="34" charset="0"/>
                <a:ea typeface="Source Sans 3" pitchFamily="34" charset="-122"/>
                <a:cs typeface="Source Sans 3" pitchFamily="34" charset="-120"/>
              </a:rPr>
              <a:t>the same blue</a:t>
            </a:r>
            <a:endParaRPr lang="en-US" sz="1200" dirty="0"/>
          </a:p>
        </p:txBody>
      </p:sp>
      <p:sp>
        <p:nvSpPr>
          <p:cNvPr id="36" name="Text 22"/>
          <p:cNvSpPr/>
          <p:nvPr/>
        </p:nvSpPr>
        <p:spPr>
          <a:xfrm>
            <a:off x="812800" y="5204222"/>
            <a:ext cx="1046480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Proposal: ctd-transects reads the Explorer’s </a:t>
            </a:r>
            <a:r>
              <a:rPr lang="en-US" sz="1300" b="1" dirty="0">
                <a:solidFill>
                  <a:srgbClr val="182B49"/>
                </a:solidFill>
                <a:latin typeface="Source Sans 3" pitchFamily="34" charset="0"/>
                <a:ea typeface="Source Sans 3" pitchFamily="34" charset="-122"/>
                <a:cs typeface="Source Sans 3" pitchFamily="34" charset="-120"/>
              </a:rPr>
              <a:t>ramps.ts</a:t>
            </a:r>
            <a:r>
              <a:rPr lang="en-US" sz="1300" dirty="0">
                <a:solidFill>
                  <a:srgbClr val="182B49"/>
                </a:solidFill>
                <a:latin typeface="Source Sans 3" pitchFamily="34" charset="0"/>
                <a:ea typeface="Source Sans 3" pitchFamily="34" charset="-122"/>
                <a:cs typeface="Source Sans 3" pitchFamily="34" charset="-120"/>
              </a:rPr>
              <a:t>, so a line, cruise and variable paint the same in both. </a:t>
            </a:r>
            <a:r>
              <a:rPr lang="en-US" sz="1300" b="1" dirty="0">
                <a:solidFill>
                  <a:srgbClr val="182B49"/>
                </a:solidFill>
                <a:latin typeface="Source Sans 3" pitchFamily="34" charset="0"/>
                <a:ea typeface="Source Sans 3" pitchFamily="34" charset="-122"/>
                <a:cs typeface="Source Sans 3" pitchFamily="34" charset="-120"/>
              </a:rPr>
              <a:t>Rasmus’s call</a:t>
            </a:r>
            <a:r>
              <a:rPr lang="en-US" sz="1300" dirty="0">
                <a:solidFill>
                  <a:srgbClr val="182B49"/>
                </a:solidFill>
                <a:latin typeface="Source Sans 3" pitchFamily="34" charset="0"/>
                <a:ea typeface="Source Sans 3" pitchFamily="34" charset="-122"/>
                <a:cs typeface="Source Sans 3" pitchFamily="34" charset="-120"/>
              </a:rPr>
              <a:t>: temperature values in thermal, or blue = cold / red = warm?</a:t>
            </a:r>
            <a:endParaRPr lang="en-US" sz="1300" dirty="0"/>
          </a:p>
        </p:txBody>
      </p:sp>
      <p:sp>
        <p:nvSpPr>
          <p:cNvPr id="37" name="Text 23"/>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12">
                  <a:extLst>
                    <a:ext uri="{A12FA001-AC4F-418D-AE19-62706E023703}">
                      <ahyp:hlinkClr xmlns:ahyp="http://schemas.microsoft.com/office/drawing/2018/hyperlinkcolor" val="tx"/>
                    </a:ext>
                  </a:extLst>
                </a:hlinkClick>
              </a:rPr>
              <a:t>github.com/CalCOFI/explore/blob/main/src/ramps.ts</a:t>
            </a:r>
            <a:endParaRPr lang="en-US" sz="1200" dirty="0"/>
          </a:p>
        </p:txBody>
      </p:sp>
      <p:sp>
        <p:nvSpPr>
          <p:cNvPr id="38" name="Text 24"/>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NEXT · TO DO 2</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UPDATE THE CTD CASTS, AND HOW THEY ARE USED</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2044700"/>
          <a:ext cx="10566400" cy="3326800"/>
        </p:xfrm>
        <a:graphic>
          <a:graphicData uri="http://schemas.openxmlformats.org/drawingml/2006/table">
            <a:tbl>
              <a:tblPr/>
              <a:tblGrid>
                <a:gridCol w="422656">
                  <a:extLst>
                    <a:ext uri="{9D8B030D-6E8A-4147-A177-3AD203B41FA5}">
                      <a16:colId xmlns:a16="http://schemas.microsoft.com/office/drawing/2014/main" val="20000"/>
                    </a:ext>
                  </a:extLst>
                </a:gridCol>
                <a:gridCol w="6339840">
                  <a:extLst>
                    <a:ext uri="{9D8B030D-6E8A-4147-A177-3AD203B41FA5}">
                      <a16:colId xmlns:a16="http://schemas.microsoft.com/office/drawing/2014/main" val="20001"/>
                    </a:ext>
                  </a:extLst>
                </a:gridCol>
                <a:gridCol w="1796288">
                  <a:extLst>
                    <a:ext uri="{9D8B030D-6E8A-4147-A177-3AD203B41FA5}">
                      <a16:colId xmlns:a16="http://schemas.microsoft.com/office/drawing/2014/main" val="20002"/>
                    </a:ext>
                  </a:extLst>
                </a:gridCol>
                <a:gridCol w="2007616">
                  <a:extLst>
                    <a:ext uri="{9D8B030D-6E8A-4147-A177-3AD203B41FA5}">
                      <a16:colId xmlns:a16="http://schemas.microsoft.com/office/drawing/2014/main" val="20003"/>
                    </a:ext>
                  </a:extLst>
                </a:gridCol>
              </a:tblGrid>
              <a:tr h="332680">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Step</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Proposed owner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Waits on</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1</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Ingest the new 1 m files with their 27 Q columns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G.’s first cruise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2</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Codes &gt; 9 → blank in the ingest (range and −99 already done)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3</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Refresh 2607 from Kelsey’s corrected files; recheck the dropped stations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Drive access for Kelsey</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4</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Confirm the CTD record id and carry it into the EDI tables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5</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First EDI package: final + with bottle, by decade, CC BY 4.0, via DataZoo</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Betty, Ben B., Marina</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PIs, roles, contacts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6</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DBcoeff files: 135 files, one 43-column header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7</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Ask Jim Wilkinson: archive or calcofi.org for the 66 overlapping cruises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8</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Derived products: mixed-layer depth, spice, geostrophic flow, σθ, chl-a max</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 Betty</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Rasmus’s equations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9</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Review and merge ctd-transects PR #4</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9"/>
                  </a:ext>
                </a:extLst>
              </a:tr>
            </a:tbl>
          </a:graphicData>
        </a:graphic>
      </p:graphicFrame>
      <p:sp>
        <p:nvSpPr>
          <p:cNvPr id="10" name="Text 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calcofi.io/datasets/calcofi_ctd-cast/</a:t>
            </a:r>
            <a:endParaRPr lang="en-US" sz="1200" dirty="0"/>
          </a:p>
        </p:txBody>
      </p:sp>
      <p:sp>
        <p:nvSpPr>
          <p:cNvPr id="11" name="Text 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ALSO LANDED · THE EXPLORER</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A COASTLINE, NAMES ON THE SEA FLOOR, A 3-D CAMERA</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pic>
        <p:nvPicPr>
          <p:cNvPr id="9" name="Image 2" descr="The Explorer Sections lens in 3-D: line 90 temperature as a curtain over the GEBCO sea floor, with the camera controls"/>
          <p:cNvPicPr>
            <a:picLocks noChangeAspect="1"/>
          </p:cNvPicPr>
          <p:nvPr/>
        </p:nvPicPr>
        <p:blipFill>
          <a:blip r:embed="rId5"/>
          <a:srcRect l="-68" r="-68"/>
          <a:stretch/>
        </p:blipFill>
        <p:spPr>
          <a:xfrm>
            <a:off x="819150" y="2076450"/>
            <a:ext cx="5575300" cy="3479800"/>
          </a:xfrm>
          <a:prstGeom prst="roundRect">
            <a:avLst>
              <a:gd name="adj" fmla="val 2007"/>
            </a:avLst>
          </a:prstGeom>
        </p:spPr>
      </p:pic>
      <p:sp>
        <p:nvSpPr>
          <p:cNvPr id="10" name="Shape 5"/>
          <p:cNvSpPr/>
          <p:nvPr/>
        </p:nvSpPr>
        <p:spPr>
          <a:xfrm>
            <a:off x="815975" y="2073275"/>
            <a:ext cx="5581650" cy="3486150"/>
          </a:xfrm>
          <a:prstGeom prst="roundRect">
            <a:avLst>
              <a:gd name="adj" fmla="val 2095"/>
            </a:avLst>
          </a:prstGeom>
          <a:noFill/>
          <a:ln w="6350">
            <a:solidFill>
              <a:srgbClr val="DDDDDD"/>
            </a:solidFill>
            <a:prstDash val="solid"/>
          </a:ln>
        </p:spPr>
        <p:txBody>
          <a:bodyPr/>
          <a:lstStyle/>
          <a:p>
            <a:endParaRPr lang="en-US"/>
          </a:p>
        </p:txBody>
      </p:sp>
      <p:sp>
        <p:nvSpPr>
          <p:cNvPr id="11" name="Text 6"/>
          <p:cNvSpPr/>
          <p:nvPr/>
        </p:nvSpPr>
        <p:spPr>
          <a:xfrm>
            <a:off x="812800" y="5626100"/>
            <a:ext cx="575564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6686A"/>
                </a:solidFill>
                <a:latin typeface="Source Sans 3" pitchFamily="34" charset="0"/>
                <a:ea typeface="Source Sans 3" pitchFamily="34" charset="-122"/>
                <a:cs typeface="Source Sans 3" pitchFamily="34" charset="-120"/>
              </a:rPr>
              <a:t>Sections in 3-D, line 90, cruise 2026-07-3322 — a development shot of 9/10 (older lockup).</a:t>
            </a:r>
            <a:endParaRPr lang="en-US" sz="1200" dirty="0"/>
          </a:p>
        </p:txBody>
      </p:sp>
      <p:sp>
        <p:nvSpPr>
          <p:cNvPr id="12" name="Shape 7"/>
          <p:cNvSpPr/>
          <p:nvPr/>
        </p:nvSpPr>
        <p:spPr>
          <a:xfrm>
            <a:off x="6769100" y="2070100"/>
            <a:ext cx="0" cy="467816"/>
          </a:xfrm>
          <a:prstGeom prst="line">
            <a:avLst/>
          </a:prstGeom>
          <a:noFill/>
          <a:ln w="25400">
            <a:solidFill>
              <a:srgbClr val="00629B"/>
            </a:solidFill>
            <a:prstDash val="solid"/>
          </a:ln>
        </p:spPr>
        <p:txBody>
          <a:bodyPr/>
          <a:lstStyle/>
          <a:p>
            <a:endParaRPr lang="en-US"/>
          </a:p>
        </p:txBody>
      </p:sp>
      <p:sp>
        <p:nvSpPr>
          <p:cNvPr id="13" name="Text 8"/>
          <p:cNvSpPr/>
          <p:nvPr/>
        </p:nvSpPr>
        <p:spPr>
          <a:xfrm>
            <a:off x="6908800" y="2082800"/>
            <a:ext cx="460451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Land</a:t>
            </a:r>
            <a:r>
              <a:rPr lang="en-US" sz="1300" dirty="0">
                <a:solidFill>
                  <a:srgbClr val="182B49"/>
                </a:solidFill>
                <a:latin typeface="Source Sans 3" pitchFamily="34" charset="0"/>
                <a:ea typeface="Source Sans 3" pitchFamily="34" charset="-122"/>
                <a:cs typeface="Source Sans 3" pitchFamily="34" charset="-120"/>
              </a:rPr>
              <a:t> is an OpenStreetMap mask drawn over the sea floor and the data — the coast is crisp at every zoom.</a:t>
            </a:r>
            <a:endParaRPr lang="en-US" sz="1300" dirty="0"/>
          </a:p>
        </p:txBody>
      </p:sp>
      <p:sp>
        <p:nvSpPr>
          <p:cNvPr id="14" name="Shape 9"/>
          <p:cNvSpPr/>
          <p:nvPr/>
        </p:nvSpPr>
        <p:spPr>
          <a:xfrm>
            <a:off x="6769100" y="2626816"/>
            <a:ext cx="0" cy="467816"/>
          </a:xfrm>
          <a:prstGeom prst="line">
            <a:avLst/>
          </a:prstGeom>
          <a:noFill/>
          <a:ln w="25400">
            <a:solidFill>
              <a:srgbClr val="00629B"/>
            </a:solidFill>
            <a:prstDash val="solid"/>
          </a:ln>
        </p:spPr>
        <p:txBody>
          <a:bodyPr/>
          <a:lstStyle/>
          <a:p>
            <a:endParaRPr lang="en-US"/>
          </a:p>
        </p:txBody>
      </p:sp>
      <p:sp>
        <p:nvSpPr>
          <p:cNvPr id="15" name="Text 10"/>
          <p:cNvSpPr/>
          <p:nvPr/>
        </p:nvSpPr>
        <p:spPr>
          <a:xfrm>
            <a:off x="6908800" y="2639516"/>
            <a:ext cx="460451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Undersea feature names</a:t>
            </a:r>
            <a:r>
              <a:rPr lang="en-US" sz="1300" dirty="0">
                <a:solidFill>
                  <a:srgbClr val="182B49"/>
                </a:solidFill>
                <a:latin typeface="Source Sans 3" pitchFamily="34" charset="0"/>
                <a:ea typeface="Source Sans 3" pitchFamily="34" charset="-122"/>
                <a:cs typeface="Source Sans 3" pitchFamily="34" charset="-120"/>
              </a:rPr>
              <a:t> on from the start, and </a:t>
            </a:r>
            <a:r>
              <a:rPr lang="en-US" sz="1300" b="1" dirty="0">
                <a:solidFill>
                  <a:srgbClr val="182B49"/>
                </a:solidFill>
                <a:latin typeface="Source Sans 3" pitchFamily="34" charset="0"/>
                <a:ea typeface="Source Sans 3" pitchFamily="34" charset="-122"/>
                <a:cs typeface="Source Sans 3" pitchFamily="34" charset="-120"/>
              </a:rPr>
              <a:t>island names</a:t>
            </a:r>
            <a:r>
              <a:rPr lang="en-US" sz="1300" dirty="0">
                <a:solidFill>
                  <a:srgbClr val="182B49"/>
                </a:solidFill>
                <a:latin typeface="Source Sans 3" pitchFamily="34" charset="0"/>
                <a:ea typeface="Source Sans 3" pitchFamily="34" charset="-122"/>
                <a:cs typeface="Source Sans 3" pitchFamily="34" charset="-120"/>
              </a:rPr>
              <a:t>; both label families on a dial.</a:t>
            </a:r>
            <a:endParaRPr lang="en-US" sz="1300" dirty="0"/>
          </a:p>
        </p:txBody>
      </p:sp>
      <p:sp>
        <p:nvSpPr>
          <p:cNvPr id="16" name="Shape 11"/>
          <p:cNvSpPr/>
          <p:nvPr/>
        </p:nvSpPr>
        <p:spPr>
          <a:xfrm>
            <a:off x="6769100" y="3183533"/>
            <a:ext cx="0" cy="467816"/>
          </a:xfrm>
          <a:prstGeom prst="line">
            <a:avLst/>
          </a:prstGeom>
          <a:noFill/>
          <a:ln w="25400">
            <a:solidFill>
              <a:srgbClr val="00629B"/>
            </a:solidFill>
            <a:prstDash val="solid"/>
          </a:ln>
        </p:spPr>
        <p:txBody>
          <a:bodyPr/>
          <a:lstStyle/>
          <a:p>
            <a:endParaRPr lang="en-US"/>
          </a:p>
        </p:txBody>
      </p:sp>
      <p:sp>
        <p:nvSpPr>
          <p:cNvPr id="17" name="Text 12"/>
          <p:cNvSpPr/>
          <p:nvPr/>
        </p:nvSpPr>
        <p:spPr>
          <a:xfrm>
            <a:off x="6908800" y="3196233"/>
            <a:ext cx="4604512" cy="467816"/>
          </a:xfrm>
          <a:prstGeom prst="rect">
            <a:avLst/>
          </a:prstGeom>
          <a:noFill/>
          <a:ln/>
        </p:spPr>
        <p:txBody>
          <a:bodyPr wrap="square" lIns="0" tIns="0" rIns="0" bIns="0" rtlCol="0" anchor="t">
            <a:normAutofit/>
          </a:bodyPr>
          <a:lstStyle/>
          <a:p>
            <a:pPr marL="0" indent="0" algn="l">
              <a:lnSpc>
                <a:spcPts val="1742"/>
              </a:lnSpc>
              <a:buNone/>
            </a:pPr>
            <a:r>
              <a:rPr lang="en-US" sz="1300" b="1" dirty="0">
                <a:solidFill>
                  <a:srgbClr val="182B49"/>
                </a:solidFill>
                <a:latin typeface="Source Sans 3" pitchFamily="34" charset="0"/>
                <a:ea typeface="Source Sans 3" pitchFamily="34" charset="-122"/>
                <a:cs typeface="Source Sans 3" pitchFamily="34" charset="-120"/>
              </a:rPr>
              <a:t>3-D sections</a:t>
            </a:r>
            <a:r>
              <a:rPr lang="en-US" sz="1300" dirty="0">
                <a:solidFill>
                  <a:srgbClr val="182B49"/>
                </a:solidFill>
                <a:latin typeface="Source Sans 3" pitchFamily="34" charset="0"/>
                <a:ea typeface="Source Sans 3" pitchFamily="34" charset="-122"/>
                <a:cs typeface="Source Sans 3" pitchFamily="34" charset="-120"/>
              </a:rPr>
              <a:t>: a camera column (rotate · tilt · compass), keys, vertical exaggeration, and </a:t>
            </a:r>
            <a:r>
              <a:rPr lang="en-US" sz="1300" b="1" dirty="0">
                <a:solidFill>
                  <a:srgbClr val="182B49"/>
                </a:solidFill>
                <a:latin typeface="Source Sans 3" pitchFamily="34" charset="0"/>
                <a:ea typeface="Source Sans 3" pitchFamily="34" charset="-122"/>
                <a:cs typeface="Source Sans 3" pitchFamily="34" charset="-120"/>
              </a:rPr>
              <a:t>cam=</a:t>
            </a:r>
            <a:r>
              <a:rPr lang="en-US" sz="1300" dirty="0">
                <a:solidFill>
                  <a:srgbClr val="182B49"/>
                </a:solidFill>
                <a:latin typeface="Source Sans 3" pitchFamily="34" charset="0"/>
                <a:ea typeface="Source Sans 3" pitchFamily="34" charset="-122"/>
                <a:cs typeface="Source Sans 3" pitchFamily="34" charset="-120"/>
              </a:rPr>
              <a:t> in the URL.</a:t>
            </a:r>
            <a:endParaRPr lang="en-US" sz="1300" dirty="0"/>
          </a:p>
        </p:txBody>
      </p:sp>
      <p:sp>
        <p:nvSpPr>
          <p:cNvPr id="18" name="Shape 13"/>
          <p:cNvSpPr/>
          <p:nvPr/>
        </p:nvSpPr>
        <p:spPr>
          <a:xfrm>
            <a:off x="6769100" y="3740249"/>
            <a:ext cx="0" cy="467816"/>
          </a:xfrm>
          <a:prstGeom prst="line">
            <a:avLst/>
          </a:prstGeom>
          <a:noFill/>
          <a:ln w="25400">
            <a:solidFill>
              <a:srgbClr val="00629B"/>
            </a:solidFill>
            <a:prstDash val="solid"/>
          </a:ln>
        </p:spPr>
        <p:txBody>
          <a:bodyPr/>
          <a:lstStyle/>
          <a:p>
            <a:endParaRPr lang="en-US"/>
          </a:p>
        </p:txBody>
      </p:sp>
      <p:sp>
        <p:nvSpPr>
          <p:cNvPr id="19" name="Text 14"/>
          <p:cNvSpPr/>
          <p:nvPr/>
        </p:nvSpPr>
        <p:spPr>
          <a:xfrm>
            <a:off x="6908800" y="3752949"/>
            <a:ext cx="4604512" cy="467816"/>
          </a:xfrm>
          <a:prstGeom prst="rect">
            <a:avLst/>
          </a:prstGeom>
          <a:noFill/>
          <a:ln/>
        </p:spPr>
        <p:txBody>
          <a:bodyPr wrap="square" lIns="0" tIns="0" rIns="0" bIns="0" rtlCol="0" anchor="t">
            <a:normAutofit/>
          </a:bodyPr>
          <a:lstStyle/>
          <a:p>
            <a:pPr marL="0" indent="0" algn="l">
              <a:lnSpc>
                <a:spcPts val="1742"/>
              </a:lnSpc>
              <a:buNone/>
            </a:pPr>
            <a:r>
              <a:rPr lang="en-US" sz="1300" dirty="0">
                <a:solidFill>
                  <a:srgbClr val="182B49"/>
                </a:solidFill>
                <a:latin typeface="Source Sans 3" pitchFamily="34" charset="0"/>
                <a:ea typeface="Source Sans 3" pitchFamily="34" charset="-122"/>
                <a:cs typeface="Source Sans 3" pitchFamily="34" charset="-120"/>
              </a:rPr>
              <a:t>Sections key on the </a:t>
            </a:r>
            <a:r>
              <a:rPr lang="en-US" sz="1300" b="1" dirty="0">
                <a:solidFill>
                  <a:srgbClr val="182B49"/>
                </a:solidFill>
                <a:latin typeface="Source Sans 3" pitchFamily="34" charset="0"/>
                <a:ea typeface="Source Sans 3" pitchFamily="34" charset="-122"/>
                <a:cs typeface="Source Sans 3" pitchFamily="34" charset="-120"/>
              </a:rPr>
              <a:t>station</a:t>
            </a:r>
            <a:r>
              <a:rPr lang="en-US" sz="1300" dirty="0">
                <a:solidFill>
                  <a:srgbClr val="182B49"/>
                </a:solidFill>
                <a:latin typeface="Source Sans 3" pitchFamily="34" charset="0"/>
                <a:ea typeface="Source Sans 3" pitchFamily="34" charset="-122"/>
                <a:cs typeface="Source Sans 3" pitchFamily="34" charset="-120"/>
              </a:rPr>
              <a:t>; each variable’s </a:t>
            </a:r>
            <a:r>
              <a:rPr lang="en-US" sz="1300" b="1" dirty="0">
                <a:solidFill>
                  <a:srgbClr val="182B49"/>
                </a:solidFill>
                <a:latin typeface="Source Sans 3" pitchFamily="34" charset="0"/>
                <a:ea typeface="Source Sans 3" pitchFamily="34" charset="-122"/>
                <a:cs typeface="Source Sans 3" pitchFamily="34" charset="-120"/>
              </a:rPr>
              <a:t>colour ramp</a:t>
            </a:r>
            <a:r>
              <a:rPr lang="en-US" sz="1300" dirty="0">
                <a:solidFill>
                  <a:srgbClr val="182B49"/>
                </a:solidFill>
                <a:latin typeface="Source Sans 3" pitchFamily="34" charset="0"/>
                <a:ea typeface="Source Sans 3" pitchFamily="34" charset="-122"/>
                <a:cs typeface="Source Sans 3" pitchFamily="34" charset="-120"/>
              </a:rPr>
              <a:t> now reaches every lens.</a:t>
            </a:r>
            <a:endParaRPr lang="en-US" sz="1300" dirty="0"/>
          </a:p>
        </p:txBody>
      </p:sp>
      <p:sp>
        <p:nvSpPr>
          <p:cNvPr id="20" name="Text 1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6">
                  <a:extLst>
                    <a:ext uri="{A12FA001-AC4F-418D-AE19-62706E023703}">
                      <ahyp:hlinkClr xmlns:ahyp="http://schemas.microsoft.com/office/drawing/2018/hyperlinkcolor" val="tx"/>
                    </a:ext>
                  </a:extLst>
                </a:hlinkClick>
              </a:rPr>
              <a:t>calcofi.io/explore · Sections in 3-D</a:t>
            </a:r>
            <a:endParaRPr lang="en-US" sz="1200" dirty="0"/>
          </a:p>
        </p:txBody>
      </p:sp>
      <p:sp>
        <p:nvSpPr>
          <p:cNvPr id="21" name="Text 1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ALSO LANDED</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RELEASES, PUBLISHERS, SERVER, PACKAGES, TEAM</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sp>
        <p:nvSpPr>
          <p:cNvPr id="9" name="Shape 5"/>
          <p:cNvSpPr/>
          <p:nvPr/>
        </p:nvSpPr>
        <p:spPr>
          <a:xfrm>
            <a:off x="812800" y="2070100"/>
            <a:ext cx="3522117" cy="1240036"/>
          </a:xfrm>
          <a:prstGeom prst="roundRect">
            <a:avLst>
              <a:gd name="adj" fmla="val 6145"/>
            </a:avLst>
          </a:prstGeom>
          <a:solidFill>
            <a:srgbClr val="FFFFFF"/>
          </a:solidFill>
          <a:ln/>
        </p:spPr>
        <p:txBody>
          <a:bodyPr/>
          <a:lstStyle/>
          <a:p>
            <a:endParaRPr lang="en-US"/>
          </a:p>
        </p:txBody>
      </p:sp>
      <p:pic>
        <p:nvPicPr>
          <p:cNvPr id="10" name="Image 2" descr="preencoded.png"/>
          <p:cNvPicPr>
            <a:picLocks noChangeAspect="1"/>
          </p:cNvPicPr>
          <p:nvPr/>
        </p:nvPicPr>
        <p:blipFill>
          <a:blip r:embed="rId5"/>
          <a:srcRect/>
          <a:stretch/>
        </p:blipFill>
        <p:spPr>
          <a:xfrm>
            <a:off x="977900" y="2209800"/>
            <a:ext cx="228600" cy="228600"/>
          </a:xfrm>
          <a:prstGeom prst="rect">
            <a:avLst/>
          </a:prstGeom>
        </p:spPr>
      </p:pic>
      <p:sp>
        <p:nvSpPr>
          <p:cNvPr id="11" name="Text 6"/>
          <p:cNvSpPr/>
          <p:nvPr/>
        </p:nvSpPr>
        <p:spPr>
          <a:xfrm>
            <a:off x="1282700" y="2209800"/>
            <a:ext cx="7830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Releases</a:t>
            </a:r>
            <a:endParaRPr lang="en-US" sz="1500" dirty="0"/>
          </a:p>
        </p:txBody>
      </p:sp>
      <p:sp>
        <p:nvSpPr>
          <p:cNvPr id="12" name="Text 7"/>
          <p:cNvSpPr/>
          <p:nvPr/>
        </p:nvSpPr>
        <p:spPr>
          <a:xfrm>
            <a:off x="977900" y="2501900"/>
            <a:ext cx="3287674" cy="69393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82B49"/>
                </a:solidFill>
                <a:latin typeface="Source Sans 3" pitchFamily="34" charset="0"/>
                <a:ea typeface="Source Sans 3" pitchFamily="34" charset="-122"/>
                <a:cs typeface="Source Sans 3" pitchFamily="34" charset="-120"/>
              </a:rPr>
              <a:t>v2026.09.10</a:t>
            </a:r>
            <a:r>
              <a:rPr lang="en-US" sz="1300" dirty="0">
                <a:solidFill>
                  <a:srgbClr val="182B49"/>
                </a:solidFill>
                <a:latin typeface="Source Sans 3" pitchFamily="34" charset="0"/>
                <a:ea typeface="Source Sans 3" pitchFamily="34" charset="-122"/>
                <a:cs typeface="Source Sans 3" pitchFamily="34" charset="-120"/>
              </a:rPr>
              <a:t> and </a:t>
            </a:r>
            <a:r>
              <a:rPr lang="en-US" sz="1300" b="1" dirty="0">
                <a:solidFill>
                  <a:srgbClr val="182B49"/>
                </a:solidFill>
                <a:latin typeface="Source Sans 3" pitchFamily="34" charset="0"/>
                <a:ea typeface="Source Sans 3" pitchFamily="34" charset="-122"/>
                <a:cs typeface="Source Sans 3" pitchFamily="34" charset="-120"/>
              </a:rPr>
              <a:t>v2026.09.11</a:t>
            </a:r>
            <a:r>
              <a:rPr lang="en-US" sz="1300" dirty="0">
                <a:solidFill>
                  <a:srgbClr val="182B49"/>
                </a:solidFill>
                <a:latin typeface="Source Sans 3" pitchFamily="34" charset="0"/>
                <a:ea typeface="Source Sans 3" pitchFamily="34" charset="-122"/>
                <a:cs typeface="Source Sans 3" pitchFamily="34" charset="-120"/>
              </a:rPr>
              <a:t>, each with a DOI. The obs parquet copy is being retired; obs stays a view.</a:t>
            </a:r>
            <a:endParaRPr lang="en-US" sz="1300" dirty="0"/>
          </a:p>
        </p:txBody>
      </p:sp>
      <p:sp>
        <p:nvSpPr>
          <p:cNvPr id="13" name="Shape 8"/>
          <p:cNvSpPr/>
          <p:nvPr/>
        </p:nvSpPr>
        <p:spPr>
          <a:xfrm>
            <a:off x="4334917" y="2070100"/>
            <a:ext cx="3522117" cy="1240036"/>
          </a:xfrm>
          <a:prstGeom prst="roundRect">
            <a:avLst>
              <a:gd name="adj" fmla="val 6145"/>
            </a:avLst>
          </a:prstGeom>
          <a:solidFill>
            <a:srgbClr val="FFFFFF"/>
          </a:solidFill>
          <a:ln/>
        </p:spPr>
        <p:txBody>
          <a:bodyPr/>
          <a:lstStyle/>
          <a:p>
            <a:endParaRPr lang="en-US"/>
          </a:p>
        </p:txBody>
      </p:sp>
      <p:pic>
        <p:nvPicPr>
          <p:cNvPr id="14" name="Image 3" descr="preencoded.png"/>
          <p:cNvPicPr>
            <a:picLocks noChangeAspect="1"/>
          </p:cNvPicPr>
          <p:nvPr/>
        </p:nvPicPr>
        <p:blipFill>
          <a:blip r:embed="rId6"/>
          <a:srcRect/>
          <a:stretch/>
        </p:blipFill>
        <p:spPr>
          <a:xfrm>
            <a:off x="4500017" y="2209800"/>
            <a:ext cx="228600" cy="228600"/>
          </a:xfrm>
          <a:prstGeom prst="rect">
            <a:avLst/>
          </a:prstGeom>
        </p:spPr>
      </p:pic>
      <p:sp>
        <p:nvSpPr>
          <p:cNvPr id="15" name="Text 9"/>
          <p:cNvSpPr/>
          <p:nvPr/>
        </p:nvSpPr>
        <p:spPr>
          <a:xfrm>
            <a:off x="4804817" y="2209800"/>
            <a:ext cx="93945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Publishers</a:t>
            </a:r>
            <a:endParaRPr lang="en-US" sz="1500" dirty="0"/>
          </a:p>
        </p:txBody>
      </p:sp>
      <p:sp>
        <p:nvSpPr>
          <p:cNvPr id="16" name="Text 10"/>
          <p:cNvSpPr/>
          <p:nvPr/>
        </p:nvSpPr>
        <p:spPr>
          <a:xfrm>
            <a:off x="4500017" y="2501900"/>
            <a:ext cx="3287674"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Rebuild </a:t>
            </a:r>
            <a:r>
              <a:rPr lang="en-US" sz="1300" b="1" dirty="0">
                <a:solidFill>
                  <a:srgbClr val="182B49"/>
                </a:solidFill>
                <a:latin typeface="Source Sans 3" pitchFamily="34" charset="0"/>
                <a:ea typeface="Source Sans 3" pitchFamily="34" charset="-122"/>
                <a:cs typeface="Source Sans 3" pitchFamily="34" charset="-120"/>
              </a:rPr>
              <a:t>only what changed</a:t>
            </a:r>
            <a:r>
              <a:rPr lang="en-US" sz="1300" dirty="0">
                <a:solidFill>
                  <a:srgbClr val="182B49"/>
                </a:solidFill>
                <a:latin typeface="Source Sans 3" pitchFamily="34" charset="0"/>
                <a:ea typeface="Source Sans 3" pitchFamily="34" charset="-122"/>
                <a:cs typeface="Source Sans 3" pitchFamily="34" charset="-120"/>
              </a:rPr>
              <a:t>; publish_status says which portal is behind. EDI, OBIS and netCDF rebuilt on v2026.09.11.</a:t>
            </a:r>
            <a:endParaRPr lang="en-US" sz="1300" dirty="0"/>
          </a:p>
        </p:txBody>
      </p:sp>
      <p:sp>
        <p:nvSpPr>
          <p:cNvPr id="17" name="Shape 11"/>
          <p:cNvSpPr/>
          <p:nvPr/>
        </p:nvSpPr>
        <p:spPr>
          <a:xfrm>
            <a:off x="7857034" y="2070100"/>
            <a:ext cx="3522166" cy="1240036"/>
          </a:xfrm>
          <a:prstGeom prst="roundRect">
            <a:avLst>
              <a:gd name="adj" fmla="val 6145"/>
            </a:avLst>
          </a:prstGeom>
          <a:solidFill>
            <a:srgbClr val="FFFFFF"/>
          </a:solidFill>
          <a:ln/>
        </p:spPr>
        <p:txBody>
          <a:bodyPr/>
          <a:lstStyle/>
          <a:p>
            <a:endParaRPr lang="en-US"/>
          </a:p>
        </p:txBody>
      </p:sp>
      <p:pic>
        <p:nvPicPr>
          <p:cNvPr id="18" name="Image 4" descr="preencoded.png"/>
          <p:cNvPicPr>
            <a:picLocks noChangeAspect="1"/>
          </p:cNvPicPr>
          <p:nvPr/>
        </p:nvPicPr>
        <p:blipFill>
          <a:blip r:embed="rId7"/>
          <a:srcRect/>
          <a:stretch/>
        </p:blipFill>
        <p:spPr>
          <a:xfrm>
            <a:off x="8022134" y="2209800"/>
            <a:ext cx="228600" cy="228600"/>
          </a:xfrm>
          <a:prstGeom prst="rect">
            <a:avLst/>
          </a:prstGeom>
        </p:spPr>
      </p:pic>
      <p:sp>
        <p:nvSpPr>
          <p:cNvPr id="19" name="Text 12"/>
          <p:cNvSpPr/>
          <p:nvPr/>
        </p:nvSpPr>
        <p:spPr>
          <a:xfrm>
            <a:off x="8326934" y="2209800"/>
            <a:ext cx="146372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Portals, watched</a:t>
            </a:r>
            <a:endParaRPr lang="en-US" sz="1500" dirty="0"/>
          </a:p>
        </p:txBody>
      </p:sp>
      <p:sp>
        <p:nvSpPr>
          <p:cNvPr id="20" name="Text 13"/>
          <p:cNvSpPr/>
          <p:nvPr/>
        </p:nvSpPr>
        <p:spPr>
          <a:xfrm>
            <a:off x="8022134" y="2501900"/>
            <a:ext cx="3287725"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A weekly observer records what each portal says (9/14, 9/21) and regenerates the sitemap.</a:t>
            </a:r>
            <a:endParaRPr lang="en-US" sz="1300" dirty="0"/>
          </a:p>
        </p:txBody>
      </p:sp>
      <p:sp>
        <p:nvSpPr>
          <p:cNvPr id="21" name="Shape 14"/>
          <p:cNvSpPr/>
          <p:nvPr/>
        </p:nvSpPr>
        <p:spPr>
          <a:xfrm>
            <a:off x="812800" y="3310136"/>
            <a:ext cx="3522117" cy="1240036"/>
          </a:xfrm>
          <a:prstGeom prst="roundRect">
            <a:avLst>
              <a:gd name="adj" fmla="val 6145"/>
            </a:avLst>
          </a:prstGeom>
          <a:solidFill>
            <a:srgbClr val="FFFFFF"/>
          </a:solidFill>
          <a:ln/>
        </p:spPr>
        <p:txBody>
          <a:bodyPr/>
          <a:lstStyle/>
          <a:p>
            <a:endParaRPr lang="en-US"/>
          </a:p>
        </p:txBody>
      </p:sp>
      <p:pic>
        <p:nvPicPr>
          <p:cNvPr id="22" name="Image 5" descr="preencoded.png"/>
          <p:cNvPicPr>
            <a:picLocks noChangeAspect="1"/>
          </p:cNvPicPr>
          <p:nvPr/>
        </p:nvPicPr>
        <p:blipFill>
          <a:blip r:embed="rId8"/>
          <a:srcRect/>
          <a:stretch/>
        </p:blipFill>
        <p:spPr>
          <a:xfrm>
            <a:off x="977900" y="3449836"/>
            <a:ext cx="228600" cy="228600"/>
          </a:xfrm>
          <a:prstGeom prst="rect">
            <a:avLst/>
          </a:prstGeom>
        </p:spPr>
      </p:pic>
      <p:sp>
        <p:nvSpPr>
          <p:cNvPr id="23" name="Text 15"/>
          <p:cNvSpPr/>
          <p:nvPr/>
        </p:nvSpPr>
        <p:spPr>
          <a:xfrm>
            <a:off x="1282700" y="3449836"/>
            <a:ext cx="6049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Server</a:t>
            </a:r>
            <a:endParaRPr lang="en-US" sz="1500" dirty="0"/>
          </a:p>
        </p:txBody>
      </p:sp>
      <p:sp>
        <p:nvSpPr>
          <p:cNvPr id="24" name="Text 16"/>
          <p:cNvSpPr/>
          <p:nvPr/>
        </p:nvSpPr>
        <p:spPr>
          <a:xfrm>
            <a:off x="977900" y="3741936"/>
            <a:ext cx="3287674"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ERDDAP </a:t>
            </a:r>
            <a:r>
              <a:rPr lang="en-US" sz="1300" b="1" dirty="0">
                <a:solidFill>
                  <a:srgbClr val="182B49"/>
                </a:solidFill>
                <a:latin typeface="Source Sans 3" pitchFamily="34" charset="0"/>
                <a:ea typeface="Source Sans 3" pitchFamily="34" charset="-122"/>
                <a:cs typeface="Source Sans 3" pitchFamily="34" charset="-120"/>
              </a:rPr>
              <a:t>refuses unconstrained dumps</a:t>
            </a:r>
            <a:r>
              <a:rPr lang="en-US" sz="1300" dirty="0">
                <a:solidFill>
                  <a:srgbClr val="182B49"/>
                </a:solidFill>
                <a:latin typeface="Source Sans 3" pitchFamily="34" charset="0"/>
                <a:ea typeface="Source Sans 3" pitchFamily="34" charset="-122"/>
                <a:cs typeface="Source Sans 3" pitchFamily="34" charset="-120"/>
              </a:rPr>
              <a:t> (the 9/8 outage); </a:t>
            </a:r>
            <a:r>
              <a:rPr lang="en-US" sz="1300" b="1" dirty="0">
                <a:solidFill>
                  <a:srgbClr val="182B49"/>
                </a:solidFill>
                <a:latin typeface="Source Sans 3" pitchFamily="34" charset="0"/>
                <a:ea typeface="Source Sans 3" pitchFamily="34" charset="-122"/>
                <a:cs typeface="Source Sans 3" pitchFamily="34" charset="-120"/>
              </a:rPr>
              <a:t>fail2ban</a:t>
            </a:r>
            <a:r>
              <a:rPr lang="en-US" sz="1300" dirty="0">
                <a:solidFill>
                  <a:srgbClr val="182B49"/>
                </a:solidFill>
                <a:latin typeface="Source Sans 3" pitchFamily="34" charset="0"/>
                <a:ea typeface="Source Sans 3" pitchFamily="34" charset="-122"/>
                <a:cs typeface="Source Sans 3" pitchFamily="34" charset="-120"/>
              </a:rPr>
              <a:t> on the host; </a:t>
            </a:r>
            <a:r>
              <a:rPr lang="en-US" sz="1300" b="1" dirty="0">
                <a:solidFill>
                  <a:srgbClr val="182B49"/>
                </a:solidFill>
                <a:latin typeface="Source Sans 3" pitchFamily="34" charset="0"/>
                <a:ea typeface="Source Sans 3" pitchFamily="34" charset="-122"/>
                <a:cs typeface="Source Sans 3" pitchFamily="34" charset="-120"/>
              </a:rPr>
              <a:t>CORS</a:t>
            </a:r>
            <a:r>
              <a:rPr lang="en-US" sz="1300" dirty="0">
                <a:solidFill>
                  <a:srgbClr val="182B49"/>
                </a:solidFill>
                <a:latin typeface="Source Sans 3" pitchFamily="34" charset="0"/>
                <a:ea typeface="Source Sans 3" pitchFamily="34" charset="-122"/>
                <a:cs typeface="Source Sans 3" pitchFamily="34" charset="-120"/>
              </a:rPr>
              <a:t> for browser clients.</a:t>
            </a:r>
            <a:endParaRPr lang="en-US" sz="1300" dirty="0"/>
          </a:p>
        </p:txBody>
      </p:sp>
      <p:sp>
        <p:nvSpPr>
          <p:cNvPr id="25" name="Shape 17"/>
          <p:cNvSpPr/>
          <p:nvPr/>
        </p:nvSpPr>
        <p:spPr>
          <a:xfrm>
            <a:off x="4334917" y="3310136"/>
            <a:ext cx="3522117" cy="1240036"/>
          </a:xfrm>
          <a:prstGeom prst="roundRect">
            <a:avLst>
              <a:gd name="adj" fmla="val 6145"/>
            </a:avLst>
          </a:prstGeom>
          <a:solidFill>
            <a:srgbClr val="FFFFFF"/>
          </a:solidFill>
          <a:ln/>
        </p:spPr>
        <p:txBody>
          <a:bodyPr/>
          <a:lstStyle/>
          <a:p>
            <a:endParaRPr lang="en-US"/>
          </a:p>
        </p:txBody>
      </p:sp>
      <p:pic>
        <p:nvPicPr>
          <p:cNvPr id="26" name="Image 6" descr="preencoded.png"/>
          <p:cNvPicPr>
            <a:picLocks noChangeAspect="1"/>
          </p:cNvPicPr>
          <p:nvPr/>
        </p:nvPicPr>
        <p:blipFill>
          <a:blip r:embed="rId9"/>
          <a:srcRect/>
          <a:stretch/>
        </p:blipFill>
        <p:spPr>
          <a:xfrm>
            <a:off x="4500017" y="3449836"/>
            <a:ext cx="228600" cy="228600"/>
          </a:xfrm>
          <a:prstGeom prst="rect">
            <a:avLst/>
          </a:prstGeom>
        </p:spPr>
      </p:pic>
      <p:sp>
        <p:nvSpPr>
          <p:cNvPr id="27" name="Text 18"/>
          <p:cNvSpPr/>
          <p:nvPr/>
        </p:nvSpPr>
        <p:spPr>
          <a:xfrm>
            <a:off x="4804817" y="3449836"/>
            <a:ext cx="8317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Packages</a:t>
            </a:r>
            <a:endParaRPr lang="en-US" sz="1500" dirty="0"/>
          </a:p>
        </p:txBody>
      </p:sp>
      <p:sp>
        <p:nvSpPr>
          <p:cNvPr id="28" name="Text 19"/>
          <p:cNvSpPr/>
          <p:nvPr/>
        </p:nvSpPr>
        <p:spPr>
          <a:xfrm>
            <a:off x="4500017" y="3741936"/>
            <a:ext cx="328767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calcofi4r </a:t>
            </a:r>
            <a:r>
              <a:rPr lang="en-US" sz="1300" b="1" dirty="0">
                <a:solidFill>
                  <a:srgbClr val="182B49"/>
                </a:solidFill>
                <a:latin typeface="Source Sans 3" pitchFamily="34" charset="0"/>
                <a:ea typeface="Source Sans 3" pitchFamily="34" charset="-122"/>
                <a:cs typeface="Source Sans 3" pitchFamily="34" charset="-120"/>
              </a:rPr>
              <a:t>1.24.2</a:t>
            </a:r>
            <a:r>
              <a:rPr lang="en-US" sz="1300" dirty="0">
                <a:solidFill>
                  <a:srgbClr val="182B49"/>
                </a:solidFill>
                <a:latin typeface="Source Sans 3" pitchFamily="34" charset="0"/>
                <a:ea typeface="Source Sans 3" pitchFamily="34" charset="-122"/>
                <a:cs typeface="Source Sans 3" pitchFamily="34" charset="-120"/>
              </a:rPr>
              <a:t> · calcofi4py </a:t>
            </a:r>
            <a:r>
              <a:rPr lang="en-US" sz="1300" b="1" dirty="0">
                <a:solidFill>
                  <a:srgbClr val="182B49"/>
                </a:solidFill>
                <a:latin typeface="Source Sans 3" pitchFamily="34" charset="0"/>
                <a:ea typeface="Source Sans 3" pitchFamily="34" charset="-122"/>
                <a:cs typeface="Source Sans 3" pitchFamily="34" charset="-120"/>
              </a:rPr>
              <a:t>0.9.3</a:t>
            </a:r>
            <a:r>
              <a:rPr lang="en-US" sz="1300" dirty="0">
                <a:solidFill>
                  <a:srgbClr val="182B49"/>
                </a:solidFill>
                <a:latin typeface="Source Sans 3" pitchFamily="34" charset="0"/>
                <a:ea typeface="Source Sans 3" pitchFamily="34" charset="-122"/>
                <a:cs typeface="Source Sans 3" pitchFamily="34" charset="-120"/>
              </a:rPr>
              <a:t> · calcofi4db </a:t>
            </a:r>
            <a:r>
              <a:rPr lang="en-US" sz="1300" b="1" dirty="0">
                <a:solidFill>
                  <a:srgbClr val="182B49"/>
                </a:solidFill>
                <a:latin typeface="Source Sans 3" pitchFamily="34" charset="0"/>
                <a:ea typeface="Source Sans 3" pitchFamily="34" charset="-122"/>
                <a:cs typeface="Source Sans 3" pitchFamily="34" charset="-120"/>
              </a:rPr>
              <a:t>4.15.0</a:t>
            </a:r>
            <a:r>
              <a:rPr lang="en-US" sz="1300" dirty="0">
                <a:solidFill>
                  <a:srgbClr val="182B49"/>
                </a:solidFill>
                <a:latin typeface="Source Sans 3" pitchFamily="34" charset="0"/>
                <a:ea typeface="Source Sans 3" pitchFamily="34" charset="-122"/>
                <a:cs typeface="Source Sans 3" pitchFamily="34" charset="-120"/>
              </a:rPr>
              <a:t>; README examples are a </a:t>
            </a:r>
            <a:r>
              <a:rPr lang="en-US" sz="1300" b="1" dirty="0">
                <a:solidFill>
                  <a:srgbClr val="182B49"/>
                </a:solidFill>
                <a:latin typeface="Source Sans 3" pitchFamily="34" charset="0"/>
                <a:ea typeface="Source Sans 3" pitchFamily="34" charset="-122"/>
                <a:cs typeface="Source Sans 3" pitchFamily="34" charset="-120"/>
              </a:rPr>
              <a:t>release gate</a:t>
            </a:r>
            <a:r>
              <a:rPr lang="en-US" sz="1300" dirty="0">
                <a:solidFill>
                  <a:srgbClr val="182B49"/>
                </a:solidFill>
                <a:latin typeface="Source Sans 3" pitchFamily="34" charset="0"/>
                <a:ea typeface="Source Sans 3" pitchFamily="34" charset="-122"/>
                <a:cs typeface="Source Sans 3" pitchFamily="34" charset="-120"/>
              </a:rPr>
              <a:t>.</a:t>
            </a:r>
            <a:endParaRPr lang="en-US" sz="1300" dirty="0"/>
          </a:p>
        </p:txBody>
      </p:sp>
      <p:sp>
        <p:nvSpPr>
          <p:cNvPr id="29" name="Shape 20"/>
          <p:cNvSpPr/>
          <p:nvPr/>
        </p:nvSpPr>
        <p:spPr>
          <a:xfrm>
            <a:off x="7857034" y="3310136"/>
            <a:ext cx="3522166" cy="1240036"/>
          </a:xfrm>
          <a:prstGeom prst="roundRect">
            <a:avLst>
              <a:gd name="adj" fmla="val 6145"/>
            </a:avLst>
          </a:prstGeom>
          <a:solidFill>
            <a:srgbClr val="FFFFFF"/>
          </a:solidFill>
          <a:ln/>
        </p:spPr>
        <p:txBody>
          <a:bodyPr/>
          <a:lstStyle/>
          <a:p>
            <a:endParaRPr lang="en-US"/>
          </a:p>
        </p:txBody>
      </p:sp>
      <p:pic>
        <p:nvPicPr>
          <p:cNvPr id="30" name="Image 7" descr="preencoded.png"/>
          <p:cNvPicPr>
            <a:picLocks noChangeAspect="1"/>
          </p:cNvPicPr>
          <p:nvPr/>
        </p:nvPicPr>
        <p:blipFill>
          <a:blip r:embed="rId10"/>
          <a:srcRect/>
          <a:stretch/>
        </p:blipFill>
        <p:spPr>
          <a:xfrm>
            <a:off x="8022134" y="3449836"/>
            <a:ext cx="228600" cy="228600"/>
          </a:xfrm>
          <a:prstGeom prst="rect">
            <a:avLst/>
          </a:prstGeom>
        </p:spPr>
      </p:pic>
      <p:sp>
        <p:nvSpPr>
          <p:cNvPr id="31" name="Text 21"/>
          <p:cNvSpPr/>
          <p:nvPr/>
        </p:nvSpPr>
        <p:spPr>
          <a:xfrm>
            <a:off x="8326934" y="3449836"/>
            <a:ext cx="5024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82B49"/>
                </a:solidFill>
                <a:latin typeface="Source Sans 3" pitchFamily="34" charset="0"/>
                <a:ea typeface="Source Sans 3" pitchFamily="34" charset="-122"/>
                <a:cs typeface="Source Sans 3" pitchFamily="34" charset="-120"/>
              </a:rPr>
              <a:t>Team</a:t>
            </a:r>
            <a:endParaRPr lang="en-US" sz="1500" dirty="0"/>
          </a:p>
        </p:txBody>
      </p:sp>
      <p:sp>
        <p:nvSpPr>
          <p:cNvPr id="32" name="Text 22"/>
          <p:cNvSpPr/>
          <p:nvPr/>
        </p:nvSpPr>
        <p:spPr>
          <a:xfrm>
            <a:off x="8022134" y="3741936"/>
            <a:ext cx="3287725"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82B49"/>
                </a:solidFill>
                <a:latin typeface="Source Sans 3" pitchFamily="34" charset="0"/>
                <a:ea typeface="Source Sans 3" pitchFamily="34" charset="-122"/>
                <a:cs typeface="Source Sans 3" pitchFamily="34" charset="-120"/>
              </a:rPr>
              <a:t>~75 old issues closed; one board, </a:t>
            </a:r>
            <a:r>
              <a:rPr lang="en-US" sz="1300" b="1" dirty="0">
                <a:solidFill>
                  <a:srgbClr val="182B49"/>
                </a:solidFill>
                <a:latin typeface="Source Sans 3" pitchFamily="34" charset="0"/>
                <a:ea typeface="Source Sans 3" pitchFamily="34" charset="-122"/>
                <a:cs typeface="Source Sans 3" pitchFamily="34" charset="-120"/>
              </a:rPr>
              <a:t>CalCOFI.io</a:t>
            </a:r>
            <a:r>
              <a:rPr lang="en-US" sz="1300" dirty="0">
                <a:solidFill>
                  <a:srgbClr val="182B49"/>
                </a:solidFill>
                <a:latin typeface="Source Sans 3" pitchFamily="34" charset="0"/>
                <a:ea typeface="Source Sans 3" pitchFamily="34" charset="-122"/>
                <a:cs typeface="Source Sans 3" pitchFamily="34" charset="-120"/>
              </a:rPr>
              <a:t>, with Betty’s issues; 16 metadata proposals reviewed.</a:t>
            </a:r>
            <a:endParaRPr lang="en-US" sz="1300" dirty="0"/>
          </a:p>
        </p:txBody>
      </p:sp>
      <p:sp>
        <p:nvSpPr>
          <p:cNvPr id="33" name="Text 23"/>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11">
                  <a:extLst>
                    <a:ext uri="{A12FA001-AC4F-418D-AE19-62706E023703}">
                      <ahyp:hlinkClr xmlns:ahyp="http://schemas.microsoft.com/office/drawing/2018/hyperlinkcolor" val="tx"/>
                    </a:ext>
                  </a:extLst>
                </a:hlinkClick>
              </a:rPr>
              <a:t>RELEASES.html</a:t>
            </a:r>
            <a:endParaRPr lang="en-US" sz="1200" dirty="0"/>
          </a:p>
        </p:txBody>
      </p:sp>
      <p:sp>
        <p:nvSpPr>
          <p:cNvPr id="34" name="Text 24"/>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DECISIONS AND ASKS</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DECISIONS AND ASKS, WITH AN OWNER EACH</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2044700"/>
          <a:ext cx="10566400" cy="3207441"/>
        </p:xfrm>
        <a:graphic>
          <a:graphicData uri="http://schemas.openxmlformats.org/drawingml/2006/table">
            <a:tbl>
              <a:tblPr/>
              <a:tblGrid>
                <a:gridCol w="3803904">
                  <a:extLst>
                    <a:ext uri="{9D8B030D-6E8A-4147-A177-3AD203B41FA5}">
                      <a16:colId xmlns:a16="http://schemas.microsoft.com/office/drawing/2014/main" val="20000"/>
                    </a:ext>
                  </a:extLst>
                </a:gridCol>
                <a:gridCol w="2324608">
                  <a:extLst>
                    <a:ext uri="{9D8B030D-6E8A-4147-A177-3AD203B41FA5}">
                      <a16:colId xmlns:a16="http://schemas.microsoft.com/office/drawing/2014/main" val="20001"/>
                    </a:ext>
                  </a:extLst>
                </a:gridCol>
                <a:gridCol w="4437888">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Ask</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Proposed owner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Proposed answer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Sign-off of the “why” picks and quotations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Erin, Rasmus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 pass per category; Wikipedia stays an alternative, never the pick</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Species photos and lead sentences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Erin, Betty</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review the most observed taxa per class (30 done); one CSV row per override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Too much, too little, other ways in (slide 16)</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everyone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pick two; one pull request each</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Temperature ramp in sections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Rasmus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both apps read ramps.ts; he picks thermal or blue–red for values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The CTD’s first EDI package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Rasmus, Marina, Betty</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final + with bottle, by decade, CC BY 4.0, via DataZoo</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Archive vs calcofi.org CTD copies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 → Jim Wilkinson</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calcofi.org stays the source until he confirms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Derived hydrographic products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Rasmus (equations)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a derived dataset beside the CTD casts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ctd-transects PR #4</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Ben B.</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review and merge this week</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0" name="Text 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github.com/orgs/CalCOFI/projects/5</a:t>
            </a:r>
            <a:endParaRPr lang="en-US" sz="1200" dirty="0"/>
          </a:p>
        </p:txBody>
      </p:sp>
      <p:sp>
        <p:nvSpPr>
          <p:cNvPr id="11" name="Text 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A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68" b="-68"/>
          <a:stretch/>
        </p:blipFill>
        <p:spPr>
          <a:xfrm>
            <a:off x="0" y="5397500"/>
            <a:ext cx="12192000" cy="1460500"/>
          </a:xfrm>
          <a:prstGeom prst="rect">
            <a:avLst/>
          </a:prstGeom>
        </p:spPr>
      </p:pic>
      <p:pic>
        <p:nvPicPr>
          <p:cNvPr id="3" name="Image 1" descr="CalCOFI.io"/>
          <p:cNvPicPr>
            <a:picLocks noChangeAspect="1"/>
          </p:cNvPicPr>
          <p:nvPr/>
        </p:nvPicPr>
        <p:blipFill>
          <a:blip r:embed="rId4"/>
          <a:srcRect l="-78" r="-78"/>
          <a:stretch/>
        </p:blipFill>
        <p:spPr>
          <a:xfrm>
            <a:off x="812800" y="558800"/>
            <a:ext cx="2032000" cy="381000"/>
          </a:xfrm>
          <a:prstGeom prst="rect">
            <a:avLst/>
          </a:prstGeom>
        </p:spPr>
      </p:pic>
      <p:sp>
        <p:nvSpPr>
          <p:cNvPr id="4" name="Text 0"/>
          <p:cNvSpPr/>
          <p:nvPr/>
        </p:nvSpPr>
        <p:spPr>
          <a:xfrm>
            <a:off x="812800" y="1460500"/>
            <a:ext cx="10883392" cy="1835150"/>
          </a:xfrm>
          <a:prstGeom prst="rect">
            <a:avLst/>
          </a:prstGeom>
          <a:noFill/>
          <a:ln/>
        </p:spPr>
        <p:txBody>
          <a:bodyPr wrap="square" lIns="0" tIns="0" rIns="0" bIns="0" rtlCol="0" anchor="t">
            <a:normAutofit/>
          </a:bodyPr>
          <a:lstStyle/>
          <a:p>
            <a:pPr marL="0" indent="0" algn="l">
              <a:lnSpc>
                <a:spcPts val="7125"/>
              </a:lnSpc>
              <a:buNone/>
            </a:pPr>
            <a:r>
              <a:rPr lang="en-US" sz="7500" kern="0" spc="50" dirty="0">
                <a:solidFill>
                  <a:srgbClr val="E9EDF3"/>
                </a:solidFill>
                <a:latin typeface="Teko" pitchFamily="34" charset="0"/>
                <a:ea typeface="Teko" pitchFamily="34" charset="-122"/>
                <a:cs typeface="Teko" pitchFamily="34" charset="-120"/>
              </a:rPr>
              <a:t>NAME IT. PLACE IT.</a:t>
            </a:r>
            <a:endParaRPr lang="en-US" sz="7500" dirty="0"/>
          </a:p>
          <a:p>
            <a:pPr marL="0" indent="0" algn="l">
              <a:lnSpc>
                <a:spcPts val="7125"/>
              </a:lnSpc>
              <a:buNone/>
            </a:pPr>
            <a:r>
              <a:rPr lang="en-US" sz="7500" kern="0" spc="50" dirty="0">
                <a:solidFill>
                  <a:srgbClr val="E9EDF3"/>
                </a:solidFill>
                <a:latin typeface="Teko" pitchFamily="34" charset="0"/>
                <a:ea typeface="Teko" pitchFamily="34" charset="-122"/>
                <a:cs typeface="Teko" pitchFamily="34" charset="-120"/>
              </a:rPr>
              <a:t>TRUST IT.</a:t>
            </a:r>
            <a:endParaRPr lang="en-US" sz="7500" dirty="0"/>
          </a:p>
        </p:txBody>
      </p:sp>
      <p:sp>
        <p:nvSpPr>
          <p:cNvPr id="5" name="Text 1"/>
          <p:cNvSpPr/>
          <p:nvPr/>
        </p:nvSpPr>
        <p:spPr>
          <a:xfrm>
            <a:off x="812800" y="3429000"/>
            <a:ext cx="98107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E9EDF3"/>
                </a:solidFill>
                <a:latin typeface="Source Sans 3" pitchFamily="34" charset="0"/>
                <a:ea typeface="Source Sans 3" pitchFamily="34" charset="-122"/>
                <a:cs typeface="Source Sans 3" pitchFamily="34" charset="-120"/>
              </a:rPr>
              <a:t>Every organism and every measurement has a page; every station is itself; every CTD average follows the provider’s rule.</a:t>
            </a:r>
            <a:endParaRPr lang="en-US" sz="1800" dirty="0"/>
          </a:p>
        </p:txBody>
      </p:sp>
      <p:sp>
        <p:nvSpPr>
          <p:cNvPr id="6" name="Text 2"/>
          <p:cNvSpPr/>
          <p:nvPr/>
        </p:nvSpPr>
        <p:spPr>
          <a:xfrm>
            <a:off x="812800" y="4191000"/>
            <a:ext cx="981075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9FB0C8"/>
                </a:solidFill>
                <a:latin typeface="Source Sans 3" pitchFamily="34" charset="0"/>
                <a:ea typeface="Source Sans 3" pitchFamily="34" charset="-122"/>
                <a:cs typeface="Source Sans 3" pitchFamily="34" charset="-120"/>
              </a:rPr>
              <a:t>Next: the CTD to EDI, and one colour language across the apps. Tell us what to fold, drop or add.</a:t>
            </a:r>
            <a:endParaRPr lang="en-US" sz="1500" dirty="0"/>
          </a:p>
        </p:txBody>
      </p:sp>
      <p:sp>
        <p:nvSpPr>
          <p:cNvPr id="7" name="Text 3"/>
          <p:cNvSpPr/>
          <p:nvPr/>
        </p:nvSpPr>
        <p:spPr>
          <a:xfrm>
            <a:off x="812800" y="5080000"/>
            <a:ext cx="719455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FB0C8"/>
                </a:solidFill>
                <a:latin typeface="Source Sans 3" pitchFamily="34" charset="0"/>
                <a:ea typeface="Source Sans 3" pitchFamily="34" charset="-122"/>
                <a:cs typeface="Source Sans 3" pitchFamily="34" charset="-120"/>
              </a:rPr>
              <a:t>Ben Best · Ocean Metrics · ben@oceanmetrics.io · data@calcofi.io</a:t>
            </a:r>
            <a:endParaRPr lang="en-US" sz="1300" dirty="0"/>
          </a:p>
        </p:txBody>
      </p:sp>
      <p:pic>
        <p:nvPicPr>
          <p:cNvPr id="8" name="Image 2" descr="preencoded.png"/>
          <p:cNvPicPr>
            <a:picLocks noChangeAspect="1"/>
          </p:cNvPicPr>
          <p:nvPr/>
        </p:nvPicPr>
        <p:blipFill>
          <a:blip r:embed="rId5"/>
          <a:srcRect/>
          <a:stretch/>
        </p:blipFill>
        <p:spPr>
          <a:xfrm>
            <a:off x="8255000" y="5016500"/>
            <a:ext cx="279400" cy="279400"/>
          </a:xfrm>
          <a:prstGeom prst="rect">
            <a:avLst/>
          </a:prstGeom>
        </p:spPr>
      </p:pic>
      <p:pic>
        <p:nvPicPr>
          <p:cNvPr id="9" name="Image 3" descr="preencoded.png"/>
          <p:cNvPicPr>
            <a:picLocks noChangeAspect="1"/>
          </p:cNvPicPr>
          <p:nvPr/>
        </p:nvPicPr>
        <p:blipFill>
          <a:blip r:embed="rId6"/>
          <a:srcRect/>
          <a:stretch/>
        </p:blipFill>
        <p:spPr>
          <a:xfrm>
            <a:off x="8661400" y="5016500"/>
            <a:ext cx="279400" cy="279400"/>
          </a:xfrm>
          <a:prstGeom prst="rect">
            <a:avLst/>
          </a:prstGeom>
        </p:spPr>
      </p:pic>
      <p:pic>
        <p:nvPicPr>
          <p:cNvPr id="10" name="Image 4" descr="preencoded.png"/>
          <p:cNvPicPr>
            <a:picLocks noChangeAspect="1"/>
          </p:cNvPicPr>
          <p:nvPr/>
        </p:nvPicPr>
        <p:blipFill>
          <a:blip r:embed="rId7"/>
          <a:srcRect/>
          <a:stretch/>
        </p:blipFill>
        <p:spPr>
          <a:xfrm>
            <a:off x="9067800" y="5016500"/>
            <a:ext cx="279400" cy="279400"/>
          </a:xfrm>
          <a:prstGeom prst="rect">
            <a:avLst/>
          </a:prstGeom>
        </p:spPr>
      </p:pic>
      <p:pic>
        <p:nvPicPr>
          <p:cNvPr id="11" name="Image 5" descr="preencoded.png"/>
          <p:cNvPicPr>
            <a:picLocks noChangeAspect="1"/>
          </p:cNvPicPr>
          <p:nvPr/>
        </p:nvPicPr>
        <p:blipFill>
          <a:blip r:embed="rId8"/>
          <a:srcRect/>
          <a:stretch/>
        </p:blipFill>
        <p:spPr>
          <a:xfrm>
            <a:off x="9474200" y="5016500"/>
            <a:ext cx="279400" cy="279400"/>
          </a:xfrm>
          <a:prstGeom prst="rect">
            <a:avLst/>
          </a:prstGeom>
        </p:spPr>
      </p:pic>
      <p:pic>
        <p:nvPicPr>
          <p:cNvPr id="12" name="Image 6" descr="preencoded.png"/>
          <p:cNvPicPr>
            <a:picLocks noChangeAspect="1"/>
          </p:cNvPicPr>
          <p:nvPr/>
        </p:nvPicPr>
        <p:blipFill>
          <a:blip r:embed="rId9"/>
          <a:srcRect/>
          <a:stretch/>
        </p:blipFill>
        <p:spPr>
          <a:xfrm>
            <a:off x="9880600" y="5016500"/>
            <a:ext cx="279400" cy="279400"/>
          </a:xfrm>
          <a:prstGeom prst="rect">
            <a:avLst/>
          </a:prstGeom>
        </p:spPr>
      </p:pic>
      <p:pic>
        <p:nvPicPr>
          <p:cNvPr id="13" name="Image 7" descr="preencoded.png"/>
          <p:cNvPicPr>
            <a:picLocks noChangeAspect="1"/>
          </p:cNvPicPr>
          <p:nvPr/>
        </p:nvPicPr>
        <p:blipFill>
          <a:blip r:embed="rId10"/>
          <a:srcRect/>
          <a:stretch/>
        </p:blipFill>
        <p:spPr>
          <a:xfrm>
            <a:off x="10287000" y="5016500"/>
            <a:ext cx="279400" cy="279400"/>
          </a:xfrm>
          <a:prstGeom prst="rect">
            <a:avLst/>
          </a:prstGeom>
        </p:spPr>
      </p:pic>
      <p:pic>
        <p:nvPicPr>
          <p:cNvPr id="14" name="Image 8" descr="preencoded.png"/>
          <p:cNvPicPr>
            <a:picLocks noChangeAspect="1"/>
          </p:cNvPicPr>
          <p:nvPr/>
        </p:nvPicPr>
        <p:blipFill>
          <a:blip r:embed="rId11"/>
          <a:srcRect/>
          <a:stretch/>
        </p:blipFill>
        <p:spPr>
          <a:xfrm>
            <a:off x="10693400" y="5016500"/>
            <a:ext cx="279400" cy="279400"/>
          </a:xfrm>
          <a:prstGeom prst="rect">
            <a:avLst/>
          </a:prstGeom>
        </p:spPr>
      </p:pic>
      <p:pic>
        <p:nvPicPr>
          <p:cNvPr id="15" name="Image 9" descr="preencoded.png"/>
          <p:cNvPicPr>
            <a:picLocks noChangeAspect="1"/>
          </p:cNvPicPr>
          <p:nvPr/>
        </p:nvPicPr>
        <p:blipFill>
          <a:blip r:embed="rId12"/>
          <a:srcRect/>
          <a:stretch/>
        </p:blipFill>
        <p:spPr>
          <a:xfrm>
            <a:off x="11099800" y="5016500"/>
            <a:ext cx="279400" cy="279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11200"/>
          </a:xfrm>
          <a:prstGeom prst="rect">
            <a:avLst/>
          </a:prstGeom>
          <a:solidFill>
            <a:srgbClr val="FFFFFF"/>
          </a:solidFill>
          <a:ln/>
        </p:spPr>
        <p:txBody>
          <a:bodyPr/>
          <a:lstStyle/>
          <a:p>
            <a:endParaRPr lang="en-US"/>
          </a:p>
        </p:txBody>
      </p:sp>
      <p:sp>
        <p:nvSpPr>
          <p:cNvPr id="3" name="Shape 1"/>
          <p:cNvSpPr/>
          <p:nvPr/>
        </p:nvSpPr>
        <p:spPr>
          <a:xfrm>
            <a:off x="0" y="708025"/>
            <a:ext cx="12192000" cy="0"/>
          </a:xfrm>
          <a:prstGeom prst="line">
            <a:avLst/>
          </a:prstGeom>
          <a:noFill/>
          <a:ln w="6350">
            <a:solidFill>
              <a:srgbClr val="DDDDDD"/>
            </a:solidFill>
            <a:prstDash val="solid"/>
          </a:ln>
        </p:spPr>
        <p:txBody>
          <a:bodyPr/>
          <a:lstStyle/>
          <a:p>
            <a:endParaRPr lang="en-US"/>
          </a:p>
        </p:txBody>
      </p:sp>
      <p:pic>
        <p:nvPicPr>
          <p:cNvPr id="4" name="Image 0" descr="CalCOFI.io"/>
          <p:cNvPicPr>
            <a:picLocks noChangeAspect="1"/>
          </p:cNvPicPr>
          <p:nvPr/>
        </p:nvPicPr>
        <p:blipFill>
          <a:blip r:embed="rId3"/>
          <a:srcRect l="-10" r="-10"/>
          <a:stretch/>
        </p:blipFill>
        <p:spPr>
          <a:xfrm>
            <a:off x="406400" y="209550"/>
            <a:ext cx="1555750" cy="292100"/>
          </a:xfrm>
          <a:prstGeom prst="rect">
            <a:avLst/>
          </a:prstGeom>
        </p:spPr>
      </p:pic>
      <p:sp>
        <p:nvSpPr>
          <p:cNvPr id="5" name="Text 2"/>
          <p:cNvSpPr/>
          <p:nvPr/>
        </p:nvSpPr>
        <p:spPr>
          <a:xfrm>
            <a:off x="812800" y="889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6686A"/>
                </a:solidFill>
                <a:latin typeface="Source Sans 3" pitchFamily="34" charset="0"/>
                <a:ea typeface="Source Sans 3" pitchFamily="34" charset="-122"/>
                <a:cs typeface="Source Sans 3" pitchFamily="34" charset="-120"/>
              </a:rPr>
              <a:t>APPENDIX</a:t>
            </a:r>
            <a:endParaRPr lang="en-US" sz="1200" dirty="0"/>
          </a:p>
        </p:txBody>
      </p:sp>
      <p:pic>
        <p:nvPicPr>
          <p:cNvPr id="6" name="Image 1" descr="preencoded.png"/>
          <p:cNvPicPr>
            <a:picLocks noChangeAspect="1"/>
          </p:cNvPicPr>
          <p:nvPr/>
        </p:nvPicPr>
        <p:blipFill>
          <a:blip r:embed="rId4"/>
          <a:srcRect/>
          <a:stretch/>
        </p:blipFill>
        <p:spPr>
          <a:xfrm>
            <a:off x="812800" y="1143000"/>
            <a:ext cx="381000" cy="381000"/>
          </a:xfrm>
          <a:prstGeom prst="rect">
            <a:avLst/>
          </a:prstGeom>
        </p:spPr>
      </p:pic>
      <p:sp>
        <p:nvSpPr>
          <p:cNvPr id="7" name="Text 3"/>
          <p:cNvSpPr/>
          <p:nvPr/>
        </p:nvSpPr>
        <p:spPr>
          <a:xfrm>
            <a:off x="1295400" y="1117600"/>
            <a:ext cx="10464800" cy="533400"/>
          </a:xfrm>
          <a:prstGeom prst="rect">
            <a:avLst/>
          </a:prstGeom>
          <a:noFill/>
          <a:ln/>
        </p:spPr>
        <p:txBody>
          <a:bodyPr wrap="square" lIns="0" tIns="0" rIns="0" bIns="0" rtlCol="0" anchor="t">
            <a:normAutofit/>
          </a:bodyPr>
          <a:lstStyle/>
          <a:p>
            <a:pPr marL="0" indent="0" algn="l">
              <a:lnSpc>
                <a:spcPts val="4000"/>
              </a:lnSpc>
              <a:buNone/>
            </a:pPr>
            <a:r>
              <a:rPr lang="en-US" sz="4000" kern="0" spc="50" dirty="0">
                <a:solidFill>
                  <a:srgbClr val="182B49"/>
                </a:solidFill>
                <a:latin typeface="Teko" pitchFamily="34" charset="0"/>
                <a:ea typeface="Teko" pitchFamily="34" charset="-122"/>
                <a:cs typeface="Teko" pitchFamily="34" charset="-120"/>
              </a:rPr>
              <a:t>EVERY LINK SHOWN</a:t>
            </a:r>
            <a:endParaRPr lang="en-US" sz="4000" dirty="0"/>
          </a:p>
        </p:txBody>
      </p:sp>
      <p:sp>
        <p:nvSpPr>
          <p:cNvPr id="8" name="Shape 4"/>
          <p:cNvSpPr/>
          <p:nvPr/>
        </p:nvSpPr>
        <p:spPr>
          <a:xfrm>
            <a:off x="0" y="1816100"/>
            <a:ext cx="12192000" cy="4279900"/>
          </a:xfrm>
          <a:prstGeom prst="rect">
            <a:avLst/>
          </a:prstGeom>
          <a:solidFill>
            <a:srgbClr val="F5F0E6"/>
          </a:solidFill>
          <a:ln/>
        </p:spPr>
        <p:txBody>
          <a:bodyPr/>
          <a:lstStyle/>
          <a:p>
            <a:endParaRPr lang="en-US"/>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2044700"/>
          <a:ext cx="5080000" cy="3326800"/>
        </p:xfrm>
        <a:graphic>
          <a:graphicData uri="http://schemas.openxmlformats.org/drawingml/2006/table">
            <a:tbl>
              <a:tblPr/>
              <a:tblGrid>
                <a:gridCol w="1625600">
                  <a:extLst>
                    <a:ext uri="{9D8B030D-6E8A-4147-A177-3AD203B41FA5}">
                      <a16:colId xmlns:a16="http://schemas.microsoft.com/office/drawing/2014/main" val="20000"/>
                    </a:ext>
                  </a:extLst>
                </a:gridCol>
                <a:gridCol w="3454400">
                  <a:extLst>
                    <a:ext uri="{9D8B030D-6E8A-4147-A177-3AD203B41FA5}">
                      <a16:colId xmlns:a16="http://schemas.microsoft.com/office/drawing/2014/main" val="20001"/>
                    </a:ext>
                  </a:extLst>
                </a:gridCol>
              </a:tblGrid>
              <a:tr h="332680">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Page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Link</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Front door</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Data · one search</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calcofi.io/#datasets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Species catalog</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calcofi.io/species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Pacific sardine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calcofi.io/species/worms-217452</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Measurements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calcofi.io/measurements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Temperature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calcofi.io/measurements/temperature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Nitrate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calcofi.io/measurements/nitrate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CTD cast dataset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calcofi.io/datasets/calcofi_ctd-cast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Explorer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calcofi.io/explore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9"/>
                  </a:ext>
                </a:extLst>
              </a:tr>
            </a:tbl>
          </a:graphicData>
        </a:graphic>
      </p:graphicFrame>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248400" y="2044700"/>
          <a:ext cx="5080000" cy="3753442"/>
        </p:xfrm>
        <a:graphic>
          <a:graphicData uri="http://schemas.openxmlformats.org/drawingml/2006/table">
            <a:tbl>
              <a:tblPr/>
              <a:tblGrid>
                <a:gridCol w="1625600">
                  <a:extLst>
                    <a:ext uri="{9D8B030D-6E8A-4147-A177-3AD203B41FA5}">
                      <a16:colId xmlns:a16="http://schemas.microsoft.com/office/drawing/2014/main" val="20000"/>
                    </a:ext>
                  </a:extLst>
                </a:gridCol>
                <a:gridCol w="3454400">
                  <a:extLst>
                    <a:ext uri="{9D8B030D-6E8A-4147-A177-3AD203B41FA5}">
                      <a16:colId xmlns:a16="http://schemas.microsoft.com/office/drawing/2014/main" val="20001"/>
                    </a:ext>
                  </a:extLst>
                </a:gridCol>
              </a:tblGrid>
              <a:tr h="332680">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Page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tc>
                  <a:txBody>
                    <a:bodyPr/>
                    <a:lstStyle/>
                    <a:p>
                      <a:pPr marL="0" indent="0">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Link</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182B49"/>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ctd-transects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calcofi.io/ctd-transects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PR #4</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github.com/CalCOFI/ctd-transects/pull/4</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Ramps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github.com/CalCOFI/explore/blob/main/src/ramps.ts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Release notes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storage.calcofi.io/calcofi-db/ducklake/releases/RELEASES.html</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DOI v2026.09.11</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doi.org/10.5281/zenodo.22714951</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DOI v2026.09.10</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doi.org/10.5281/zenodo.22698724</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The database</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calcofi.io/docs/db.html</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Board</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github.com/orgs/CalCOFI/projects/5</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Contact</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tc>
                  <a:txBody>
                    <a:bodyPr/>
                    <a:lstStyle/>
                    <a:p>
                      <a:pPr marL="0" indent="0">
                        <a:lnSpc>
                          <a:spcPts val="1680"/>
                        </a:lnSpc>
                        <a:buNone/>
                      </a:pPr>
                      <a:r>
                        <a:rPr lang="en-US" sz="1200" dirty="0">
                          <a:solidFill>
                            <a:srgbClr val="182B49"/>
                          </a:solidFill>
                          <a:latin typeface="Source Sans 3" pitchFamily="34" charset="0"/>
                          <a:ea typeface="Source Sans 3" pitchFamily="34" charset="-122"/>
                          <a:cs typeface="Source Sans 3" pitchFamily="34" charset="-120"/>
                        </a:rPr>
                        <a:t>data@calcofi.io</a:t>
                      </a:r>
                      <a:endParaRPr lang="en-US" sz="1200" dirty="0">
                        <a:latin typeface="Source Sans 3" charset="0"/>
                        <a:ea typeface="Source Sans 3" charset="0"/>
                        <a:cs typeface="Source Sans 3" charset="0"/>
                      </a:endParaRPr>
                    </a:p>
                  </a:txBody>
                  <a:tcPr marL="53340" marR="53340" marT="53340" marB="53340">
                    <a:lnL w="12700" cap="flat" cmpd="sng" algn="ctr">
                      <a:solidFill>
                        <a:srgbClr val="CCD0D7"/>
                      </a:solidFill>
                      <a:prstDash val="solid"/>
                      <a:round/>
                      <a:headEnd type="none" w="med" len="med"/>
                      <a:tailEnd type="none" w="med" len="med"/>
                    </a:lnL>
                    <a:lnR w="12700" cap="flat" cmpd="sng" algn="ctr">
                      <a:solidFill>
                        <a:srgbClr val="CCD0D7"/>
                      </a:solidFill>
                      <a:prstDash val="solid"/>
                      <a:round/>
                      <a:headEnd type="none" w="med" len="med"/>
                      <a:tailEnd type="none" w="med" len="med"/>
                    </a:lnR>
                    <a:lnT w="12700" cap="flat" cmpd="sng" algn="ctr">
                      <a:solidFill>
                        <a:srgbClr val="CCD0D7"/>
                      </a:solidFill>
                      <a:prstDash val="solid"/>
                      <a:round/>
                      <a:headEnd type="none" w="med" len="med"/>
                      <a:tailEnd type="none" w="med" len="med"/>
                    </a:lnT>
                    <a:lnB w="12700" cap="flat" cmpd="sng" algn="ctr">
                      <a:solidFill>
                        <a:srgbClr val="CCD0D7"/>
                      </a:solidFill>
                      <a:prstDash val="solid"/>
                      <a:round/>
                      <a:headEnd type="none" w="med" len="med"/>
                      <a:tailEnd type="none" w="med" len="med"/>
                    </a:lnB>
                    <a:solidFill>
                      <a:srgbClr val="F5F0E6"/>
                    </a:solidFill>
                  </a:tcPr>
                </a:tc>
                <a:extLst>
                  <a:ext uri="{0D108BD9-81ED-4DB2-BD59-A6C34878D82A}">
                    <a16:rowId xmlns:a16="http://schemas.microsoft.com/office/drawing/2014/main" val="10009"/>
                  </a:ext>
                </a:extLst>
              </a:tr>
            </a:tbl>
          </a:graphicData>
        </a:graphic>
      </p:graphicFrame>
      <p:sp>
        <p:nvSpPr>
          <p:cNvPr id="11" name="Text 5"/>
          <p:cNvSpPr/>
          <p:nvPr/>
        </p:nvSpPr>
        <p:spPr>
          <a:xfrm>
            <a:off x="812800" y="6428780"/>
            <a:ext cx="771779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00629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calcofi.io</a:t>
            </a:r>
            <a:endParaRPr lang="en-US" sz="1200" dirty="0"/>
          </a:p>
        </p:txBody>
      </p:sp>
      <p:sp>
        <p:nvSpPr>
          <p:cNvPr id="12" name="Text 6"/>
          <p:cNvSpPr/>
          <p:nvPr/>
        </p:nvSpPr>
        <p:spPr>
          <a:xfrm>
            <a:off x="8239760" y="6428780"/>
            <a:ext cx="31394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86A"/>
                </a:solidFill>
                <a:latin typeface="Source Sans 3" pitchFamily="34" charset="0"/>
                <a:ea typeface="Source Sans 3" pitchFamily="34" charset="-122"/>
                <a:cs typeface="Source Sans 3" pitchFamily="34" charset="-120"/>
              </a:rPr>
              <a:t>CalCOFI.io update · 2026-09-23 · 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12900</Words>
  <Application>Microsoft Macintosh PowerPoint</Application>
  <PresentationFormat>Widescreen</PresentationFormat>
  <Paragraphs>539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Source Sans 3</vt:lpstr>
      <vt:lpstr>Teko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CalCOFI.io update 2026-09-23</dc:title>
  <dc:subject>PptxGenJS Presentation</dc:subject>
  <dc:creator>PptxGenJS</dc:creator>
  <cp:lastModifiedBy>Ben Best</cp:lastModifiedBy>
  <cp:revision>1</cp:revision>
  <dcterms:created xsi:type="dcterms:W3CDTF">2026-09-23T13:32:44Z</dcterms:created>
  <dcterms:modified xsi:type="dcterms:W3CDTF">2026-09-23T13:39:15Z</dcterms:modified>
</cp:coreProperties>
</file>