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Lst>
  <p:sldSz cx="12192000" cy="6858000"/>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notesMaster" Target="notesMasters/notesMaster1.xml"/>
<Relationship Id="rId10" Type="http://schemas.openxmlformats.org/officeDocument/2006/relationships/slide" Target="slides/slide2.xml"/>
<Relationship Id="rId11" Type="http://schemas.openxmlformats.org/officeDocument/2006/relationships/slide" Target="slides/slide3.xml"/>
<Relationship Id="rId12" Type="http://schemas.openxmlformats.org/officeDocument/2006/relationships/slide" Target="slides/slide4.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pPr lvl="0"/>
            <a:endParaRPr lang="en-IN"/>
          </a:p>
        </p:txBody>
      </p:sp>
      <p:sp>
        <p:nvSpPr>
          <p:cNvPr id="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171450" lvl="0" indent="-171450">
              <a:lnSpc>
                <a:spcPct val="100000"/>
              </a:lnSpc>
              <a:buClr>
                <a:schemeClr val="tx1"/>
              </a:buClr>
              <a:buFont typeface="Arial" panose="020B0604020202020204" pitchFamily="34" charset="0"/>
              <a:buChar char="•"/>
            </a:pPr>
            <a:r>
              <a:rPr lang="en-US" dirty="0"/>
              <a:t>Edit Master text styles</a:t>
            </a:r>
          </a:p>
          <a:p>
            <a:pPr marL="450850" lvl="1" indent="-171450">
              <a:lnSpc>
                <a:spcPct val="100000"/>
              </a:lnSpc>
              <a:spcBef>
                <a:spcPts val="400"/>
              </a:spcBef>
              <a:spcAft>
                <a:spcPts val="400"/>
              </a:spcAft>
              <a:buClr>
                <a:schemeClr val="tx1"/>
              </a:buClr>
              <a:buFont typeface="Arial" panose="020B0604020202020204" pitchFamily="34" charset="0"/>
              <a:buChar char="•"/>
            </a:pPr>
            <a:r>
              <a:rPr lang="en-US" dirty="0"/>
              <a:t>Second level</a:t>
            </a:r>
          </a:p>
          <a:p>
            <a:pPr marL="719138" lvl="2" indent="-171450">
              <a:lnSpc>
                <a:spcPct val="100000"/>
              </a:lnSpc>
              <a:spcBef>
                <a:spcPts val="300"/>
              </a:spcBef>
              <a:spcAft>
                <a:spcPts val="300"/>
              </a:spcAft>
              <a:buClr>
                <a:schemeClr val="tx1"/>
              </a:buClr>
              <a:buFont typeface="Arial" panose="020B0604020202020204" pitchFamily="34" charset="0"/>
              <a:buChar char="•"/>
            </a:pPr>
            <a:r>
              <a:rPr lang="en-US" dirty="0"/>
              <a:t>Third level</a:t>
            </a:r>
          </a:p>
          <a:p>
            <a:pPr marL="987425" lvl="3" indent="-171450" defTabSz="1169988">
              <a:lnSpc>
                <a:spcPct val="100000"/>
              </a:lnSpc>
              <a:spcBef>
                <a:spcPts val="200"/>
              </a:spcBef>
              <a:spcAft>
                <a:spcPts val="200"/>
              </a:spcAft>
              <a:buClr>
                <a:schemeClr val="tx1"/>
              </a:buClr>
              <a:buFont typeface="Arial" panose="020B0604020202020204" pitchFamily="34" charset="0"/>
              <a:buChar char="•"/>
            </a:pPr>
            <a:r>
              <a:rPr lang="en-US" dirty="0"/>
              <a:t>Fourth level</a:t>
            </a:r>
          </a:p>
          <a:p>
            <a:pPr marL="1255713" lvl="4" indent="-171450">
              <a:lnSpc>
                <a:spcPct val="100000"/>
              </a:lnSpc>
              <a:spcBef>
                <a:spcPts val="200"/>
              </a:spcBef>
              <a:spcAft>
                <a:spcPts val="200"/>
              </a:spcAft>
              <a:buClr>
                <a:schemeClr val="tx1"/>
              </a:buClr>
              <a:buFont typeface="Arial" panose="020B0604020202020204" pitchFamily="34" charset="0"/>
              <a:buChar char="•"/>
            </a:pPr>
            <a:r>
              <a:rPr lang="en-US" dirty="0"/>
              <a:t>Fifth level</a:t>
            </a:r>
            <a:endParaRPr lang="en-IN" dirty="0"/>
          </a:p>
        </p:txBody>
      </p:sp>
      <p:sp>
        <p:nvSpPr>
          <p:cNvPr id="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Opening line for Mark: for 77 years, ships have gone out to the same stations off California and measured the same ocean. Today I want to show what happens when all of it, from every team that has ever sampled there, lives in one place that anyone can open.
The story in five beats, which the slides follow in order: the ocean's record has been scattered across files; we turn each dataset into one record; every audience gets its own door; the same water can be seen four ways; and in two weeks a ship leaves to watch an El Niño, and we want you to see it as it happens.
For Ben: this is a first full draft. Sections 1, 2 and 5 are titled placeholders for Betty and Erin. The Explorer shots are from the 9/8 and 9/23 decks and carry a visible old release stamp; each such slide has a RESHOOT line in these notes (and the list is in the hand-back).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Placeholder for Betty's part 1, the statewide monitoring inventory. Ben has not written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Erin owns this slide. Her note in the skeleton says: 'Key point is that this is not the data; metadata.' That is kept on the slide as the working title.
Say it plainly: CalOOS is a front window. A person finds CalCOFI data there, and a click takes them to the dataset where we keep it. Nothing is copied into CalOOS, so there is only ever one version of the truth.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Mark: this is the whole idea in three words. Ingest, publish, visualize.
Ingest: a ship's measurements, a net's catch, a whale survey. They each arrive in their own shape. We read every one the same way, and when we are unsure what a column means, we ask the provider and keep the answer with the data.
Publish: from that, we produce one record per dataset, written once. Everything a portal needs, including the description and the citation, is generated from that single record, so a description cannot disagree with itself in two places.
Visualize: the same data opens in a web browser with no software, or in R and Python for people who analyse it. Same numbers everywhere.
The sentence at the bottom is a rule the pipeline enforces: a release is built only after the keys that join the datasets, and the limits on what a measurement can be, pass their checks.
Sources: ../docs/index.qmd (the Ingest, Integrate, Publish, Visualize paragraphs) and ../docs/diagrams/system.mmd.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Start with people, not technology. Who wants CalCOFI data? A curious person or a scientist who wants to see it. A data scientist writing queries. A provider who wants to contribute theirs. The CTD team that checks the instrument data. The team that builds products on it. And the program, which has to report on all of this.
Say: six audiences, and they do not want the same thing. Today most data systems answer one of them and leave the rest to work it out.
Next slide adds the doors. (Build slide 1 of 4: it stays four separate slides so it animates the same way in Google Slides, a PDF or a projector.)
Source: the six rows of 'Which door is yours' (../docs/index.qmd, tbl-doors), read by the build script.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Now each audience gets a door. Explore is a map in a web browser: you click, you see. Access the data gives R, Python and open files to people who write code. Providing data is the step-by-step guide for a provider. The CTD team has its own route from the instrument to the release. The data team has the guide for adding a dataset. The program has the data management plan and its status page.
Say: the point is that nobody has to read about everything to get what they came for. Each door is a short path.
Arrows run one way on the slide for simplicity; for a provider the arrow means 'your data goes in here'.
Source: ../docs/index.qmd tbl-doors; the door names on the slide are the ones in that table.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Behind every door is the same database. This is the important idea. It is one integrated record of every dataset: the numbers on this slide (datasets, years) are read from the release itself when the slide is built.
Each release is frozen. Think of it as a sealed, numbered edition: it carries a fingerprint, and it has a DOI so anyone can cite exactly what they used. That is what makes the data findable and reusable, the F and the R of FAIR.
Say: whether you came through the map or through Python, you read the same bytes. A figure in a paper and a figure on the website cannot disagree.
Source: the release record (data/releases/&lt;version&gt;/datasets.json and catalog.json).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The last step is where CalOOS comes in. From the one database we generate the descriptions that other portals want: CalOOS, the global ocean biodiversity archive OBIS, the EDI environmental archive, ERDDAP data servers, and the ordinary web search that finds datasets.
This is Erin's message, and it is the one to land: CalOOS links to the authoritative dataset. Nothing is copied. The portal is a window onto the CalCOFI record, so the CalCOFI team stays the source and the numbers stay consistent.
Say: write it once, publish everywhere, copy nothing.
Source: ../docs/diagrams/catalog_flow.mmd (the 'Who reads them' column; CalOOS harvests the ERDDAP metadata) and ../docs/data/registry/portal.csv for the portal names.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Read the tiles left to right. 77 years since 1949. 17 datasets in one database. 1,008 species identified. 1.3 M organism observations: a count of an animal or plant in a sample. 336 M measurement values, mostly from instruments lowered into the water. And 88 kinds of measurement, each with its own page.
The one sentence for the room: every release is frozen and fingerprinted. In plain words, we publish a numbered edition of the database, and its DOI is a permanent address. Cite it and anyone can fetch exactly what you used, years from now.
For Ben: every number is read from data/releases/v2026.10.01/ when the deck is built (years = release year minus the earliest dataset start, the landing page's own rule; species = coverage.json taxa at rank Species; organism observations = obs_bio rows; measurement values = obs_env + obs_ctd_full + obs_mets_full rows, the landing band's definition; kinds = measurements.json counts). Re-run the script after the next release.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Placeholder for Betty's part 5, the data finder app. Erin's prompt on the slide in the skeleton: 'Curious what data have/are being collected on the CalCOFI platform?'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is the front page of the Explorer: one map, no software to install. On the left you choose what you care about, an organism or a measurement. Each dot is a station, a place the ship has stopped, and its colour is how much was found there.
The bars along the bottom are time: how many observations were made each year. You can drag to look at just a few years.
RESHOOT 10/5-10/6: https://calcofi.io/explore/?tour=off&amp;theme=light -- the header still reads release v2026.09.06 and this shot predates the 9/16 colour-ramp and 10/1 changes; retake on v2026.10.01, 1600 x 1000 CSS px at 2x
Shot source: explore/shots/tour/stations_light.png (also in the 9/8 deck, slide 6).</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Here is the idea that makes the Explorer easy for a first-time visitor. The sentence at the top of the screen says, in words, exactly what you are looking at: the animal, its life stage, the statistic, the years, the seasons, the depth. Each part of the sentence is a drop-down.
The menu that is open is the lens picker: stations, hexagons, contours, cruises, regions, sections. Pick a lens and the same question is drawn a different way. The next five slides go through them.
RESHOOT 10/5-10/6: https://calcofi.io/explore/?tour=off&amp;theme=light -- open the sentence, then open the 'View as' chip; the old shot is cropped from the v2026.09.06 build (recipe: explore/shots/tour/README.md, sentence_dropdown.png)
Shot source: explore/shots/tour/sentence_dropdown.png (9/8 deck, slide 7).</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Same data, different lens. Instead of one dot per station, we pool everything into small hexagons. A hexagon is a fair way to tile a map because every neighbour is the same distance away. You can slide the size up and down to see the pattern at different scales.
Plain version: where do sardine larvae live? Look for the yellow band close to the coast.
RESHOOT 10/5-10/6: https://calcofi.io/explore/?lens=hex&amp;res=5&amp;tour=off&amp;theme=light -- stamp reads release v2026.09.06
Shot source: explore/shots/tour/hexagons.png (9/8 deck, slide 9).</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Ships only measure where they stop, so between stations there is a gap. The contour lens fills the gap with a statistical estimate, kriging, which is a standard method in the earth sciences. The white dots are the real measurements; the colours between them are the estimate.
Everything is computed in your own browser, with no server. There is also a view of how uncertain the estimate is, which is the honest part: where the stations are far apart, the picture says so.
RESHOOT 10/5-10/6: https://calcofi.io/explore/?lens=contour&amp;var=temperature&amp;grain=station&amp;labels=on&amp;tour=off&amp;theme=light -- stamp reads release v2026.09.06; the 10/1 release also changed the climatology and the colour ramps
Shot source: explore/shots/tour/contours_temperature_grid_labels.png (9/8 deck used the 9/7 contour shot).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Here we follow a single voyage, the July 2026 cruise. The track runs across the map and the stations are coloured by temperature.
The big panel underneath is the whole record: each dot is one cruise's average temperature, back to the beginning. The highlighted dot on the right is this cruise, so you can see at a glance whether it was warm or cold for its time. That is the question people will ask about the El Niño cruise.
RESHOOT 10/5-10/6: https://calcofi.io/explore/?lens=cruise&amp;var=temperature&amp;tour=off&amp;theme=light -- stamp reads release v2026.09.06, newest cruise then was 2026-07-3322; retake with the newest cruise on v2026.10.01
Shot source: explore/shots/tour/cruises.png.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Managers ask about places with names: a sanctuary, a county, a protected area. The regions lens averages inside each boundary and ranks them, so you can read the answer straight off the list on the left.
Several boundary layers are built in, so the same question can be asked of different management areas.
RESHOOT 10/5-10/6: https://calcofi.io/explore/?lens=region&amp;tour=off&amp;theme=light -- stamp reads release v2026.09.06
Shot source: explore/shots/tour/regions.png (9/8 deck, slide 9).</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is the view oceanographers love: a vertical slice. Imagine cutting the sea along line 90, a row of stations running offshore from Southern California. Offshore is on the left, the surface is at the top, and depth runs down. The yellow band at the top is warm surface water, and the water cools quickly with depth.
Bridge to the next section: this is as measured. Next, the question that matters for El Niño: how does this slice compare with normal?
RESHOOT 10/5-10/6: https://calcofi.io/explore/?lens=section&amp;var=temperature&amp;line=90&amp;tour=off&amp;theme=light -- stamp reads release v2026.09.06 and shows cruise 2026-07-3322; retake on the newest cruise in v2026.10.01
Shot source: explore/shots/tour/sections_env.png.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CTD is the instrument lowered from the ship that records temperature, salinity and oxygen all the way down. This plotter turns every cruise's casts into a slice like the last one, but coloured as a difference from the long-term normal.
Red means warmer than normal for that place, depth and month; blue means colder. That is how an El Niño shows up: a warm anomaly spreading through the upper layers. Here the line 90 slice for August 2024 shows cold water against the coast and a warm layer offshore.
The normal is the average of the cruises from 1993 to 2013, with at least five cruises behind each cell; the page says how many.
RESHOOT 10/5-10/6: https://calcofi.io/ctd-transects/?line=90&amp;cruise=2024-08-33P4&amp;var=temperature_ave&amp;mode=anomaly -- stamp reads release v2026.09.11; 10/1 plotter changes (variables shown only where enough stations carry them) are not in this shot; also shoot the 'as measured' version of the same section and a current cruise
Shot source: 9/23 deck, slide 20 (ctd-transects PR #4 build).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The same section, before and after one change: we stopped lumping several nearby stations into one box and drew each station as itself. Two inshore stations that were invisible now show up, and with them a band of cold water right at the coast, the signature of coastal upwelling, which the old picture averaged away.
The message for a non-technical audience: more of the real data reaches the screen, and the picture sharpens. This is also why we do the work in the database and not in each app.
Two things changed at once, the station key and the baseline, so say 'comes into focus' and do not credit one cause.
RESHOOT 10/5-10/6: https://calcofi.io/ctd-transects/?line=90&amp;cruise=2024-08-33P4&amp;var=temperature_ave&amp;mode=anomaly -- optional: the 'after' picture is from the release v2026.09.11 build; only needed if this slide is kept and the plotter's ramps or baseline changed again
Shot source: 9/23 deck, slide 19 (before = build of 2026-09-07 on v2026.09.06; after = the bot refresh of 2026-09-12 on v2026.09.11).</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The El Niño cruise leaves 31 October and runs to about 10 November. If one more slide is wanted, this is the closing beat: the same tools we just walked through, aimed at the thing everyone will be asking about.
Two views are planned. First, the temperature anomaly along a line, from CTD Transects: red upper layers spreading offshore are the El Niño signature. Second, a map of mixed-layer depth, the depth to which the surface water is well mixed. These are the first derived products we publish, computed per cast from the CTD profiles and released in v2026.10.01.
Be careful with 'as it happens': the preliminary cruise files reach us after the stations are processed, not live from the ship. Confirm with Rasmus what the realistic delay is before the talk, and soften the aim sentence if it is days, not hours.
RESHOOT 10/5-10/6 (placeholders, both frames): (1) a CTD Transects anomaly section for the newest cruise: calcofi.io/ctd-transects/?line=90&amp;var=temperature_ave&amp;mode=anomaly. (2) a mixed-layer-depth map from the Explorer, once the surface maps for MLD land (explore#13, not yet built). Until then, delete the frame or keep the placeholder.
The cruise dates are not in any release record. Source: Tactiq 9/23 DMP meeting; 2026-10-01 deck slide 13.</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Close on the door idea: whoever you are, there is a door; behind it is one record; and the portals, CalOOS among them, point back to it rather than copying it.
Leave this slide up for questions. data@calcofi.io is the address in the 9/8 deck.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13b78c7e73baa7d9f1282f4e03dfca1de5f7e21d.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ffba8fb3eb3f81cc34cc4ae51352d1c64125821d.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ffba8fb3eb3f81cc34cc4ae51352d1c64125821d.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ffba8fb3eb3f81cc34cc4ae51352d1c64125821d.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ffba8fb3eb3f81cc34cc4ae51352d1c64125821d.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ffba8fb3eb3f81cc34cc4ae51352d1c64125821d.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ffba8fb3eb3f81cc34cc4ae51352d1c64125821d.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ffba8fb3eb3f81cc34cc4ae51352d1c64125821d.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ffba8fb3eb3f81cc34cc4ae51352d1c64125821d.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ffba8fb3eb3f81cc34cc4ae51352d1c64125821d.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ffba8fb3eb3f81cc34cc4ae51352d1c64125821d.png"/>
<Relationship Id="rId4" Type="http://schemas.openxmlformats.org/officeDocument/2006/relationships/image" Target="../media/31634b7902d78e281cc4e596999668d19ccf1d20.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ffba8fb3eb3f81cc34cc4ae51352d1c64125821d.png"/>
<Relationship Id="rId4" Type="http://schemas.openxmlformats.org/officeDocument/2006/relationships/image" Target="../media/4c13c2b0978b6064bcdfd75eae110596e5998fa8.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ffba8fb3eb3f81cc34cc4ae51352d1c64125821d.png"/>
<Relationship Id="rId4" Type="http://schemas.openxmlformats.org/officeDocument/2006/relationships/image" Target="../media/9f936a8f6cb5b55a8786be165b6131385ecfeb17.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ffba8fb3eb3f81cc34cc4ae51352d1c64125821d.png"/>
<Relationship Id="rId4" Type="http://schemas.openxmlformats.org/officeDocument/2006/relationships/image" Target="../media/756eacf56566c6a0b08d14d82274da4b93749e26.png"/>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ffba8fb3eb3f81cc34cc4ae51352d1c64125821d.png"/>
<Relationship Id="rId4" Type="http://schemas.openxmlformats.org/officeDocument/2006/relationships/image" Target="../media/16cfc526c5b0275da22f982409ebffad2dcfdeb4.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ffba8fb3eb3f81cc34cc4ae51352d1c64125821d.png"/>
<Relationship Id="rId4" Type="http://schemas.openxmlformats.org/officeDocument/2006/relationships/image" Target="../media/e67794c51642ac98205233177733f79e6c46b3b6.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ffba8fb3eb3f81cc34cc4ae51352d1c64125821d.png"/>
<Relationship Id="rId4" Type="http://schemas.openxmlformats.org/officeDocument/2006/relationships/image" Target="../media/0cdbc1b8e79bf736737b0951ec6df5d5a36115c2.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ffba8fb3eb3f81cc34cc4ae51352d1c64125821d.png"/>
<Relationship Id="rId4" Type="http://schemas.openxmlformats.org/officeDocument/2006/relationships/image" Target="../media/74a77e55fae94625957e6339eb0d797042c64e61.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ffba8fb3eb3f81cc34cc4ae51352d1c64125821d.png"/>
<Relationship Id="rId4" Type="http://schemas.openxmlformats.org/officeDocument/2006/relationships/image" Target="../media/20b66dac01aaaf8a629ff82c6fc512f307222103.png"/>
<Relationship Id="rId5" Type="http://schemas.openxmlformats.org/officeDocument/2006/relationships/image" Target="../media/79ac5372993d6e423dbaf9ade0b7c94607f3e3ab.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ffba8fb3eb3f81cc34cc4ae51352d1c64125821d.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13b78c7e73baa7d9f1282f4e03dfca1de5f7e21d.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0" y="0"/>
            <a:ext cx="12191695" cy="6858000"/>
          </a:xfrm>
          <a:prstGeom prst="rect">
            <a:avLst/>
          </a:prstGeom>
          <a:solidFill>
            <a:srgbClr val="0F1A2E">
              <a:alpha val="100000"/>
            </a:srgbClr>
          </a:solidFill>
          <a:ln w="9525" cap="rnd" cmpd="sng">
            <a:solidFill>
              <a:srgbClr val="0F1A2E">
                <a:alpha val="100000"/>
              </a:srgbClr>
            </a:solidFill>
            <a:prstDash val="solid"/>
            <a:round/>
            <a:headEnd type="none" w="med" len="med"/>
            <a:tailEnd type="none" w="med" len="med"/>
          </a:ln>
        </p:spPr>
      </p:sp>
      <p:pic>
        <p:nvPicPr>
          <p:cNvPr id="3" name="" descr=""/>
          <p:cNvPicPr>
            <a:picLocks noGrp="1"/>
          </p:cNvPicPr>
          <p:nvPr>
          </p:nvPr>
        </p:nvPicPr>
        <p:blipFill>
          <a:blip r:embed="rId3"/>
          <a:stretch>
            <a:fillRect/>
          </a:stretch>
        </p:blipFill>
        <p:spPr>
          <a:xfrm>
            <a:off x="548640" y="548640"/>
            <a:ext cx="2926080" cy="697382"/>
          </a:xfrm>
          <a:prstGeom prst="rect">
            <a:avLst/>
          </a:prstGeom>
        </p:spPr>
      </p:pic>
      <p:sp>
        <p:nvSpPr>
          <p:cNvPr id="4" name=""/>
          <p:cNvSpPr>
            <a:spLocks noGrp="1"/>
          </p:cNvSpPr>
          <p:nvPr>
          </p:nvPr>
        </p:nvSpPr>
        <p:spPr>
          <a:xfrm>
            <a:off x="548640" y="2103120"/>
            <a:ext cx="10058400" cy="365760"/>
          </a:xfrm>
        </p:spPr>
        <p:txBody>
          <a:bodyPr/>
          <a:lstStyle/>
          <a:p>
            <a:pPr algn="l" marL="0" marR="0">
              <a:lnSpc>
                <a:spcPct val="105000"/>
              </a:lnSpc>
              <a:spcBef>
                <a:spcPts val="0"/>
              </a:spcBef>
              <a:spcAft>
                <a:spcPts val="0"/>
              </a:spcAft>
              <a:buNone/>
            </a:pPr>
            <a:r>
              <a:rPr cap="none" sz="1300" i="0" b="1" u="none" strike="noStrike">
                <a:solidFill>
                  <a:srgbClr val="FFCD00">
                    <a:alpha val="100000"/>
                  </a:srgbClr>
                </a:solidFill>
                <a:latin typeface="Source Sans 3"/>
                <a:cs typeface="Source Sans 3"/>
                <a:ea typeface="Source Sans 3"/>
                <a:sym typeface="Source Sans 3"/>
              </a:rPr>
              <a:t>MARK GOLD · CALOOS SUMMIT KEYNOTE · 13 OCTOBER 2026</a:t>
            </a:r>
          </a:p>
        </p:txBody>
      </p:sp>
      <p:sp>
        <p:nvSpPr>
          <p:cNvPr id="5" name=""/>
          <p:cNvSpPr>
            <a:spLocks noGrp="1"/>
          </p:cNvSpPr>
          <p:nvPr>
          </p:nvPr>
        </p:nvSpPr>
        <p:spPr>
          <a:xfrm>
            <a:off x="548640" y="2468880"/>
            <a:ext cx="10789920" cy="1737360"/>
          </a:xfrm>
        </p:spPr>
        <p:txBody>
          <a:bodyPr/>
          <a:lstStyle/>
          <a:p>
            <a:pPr algn="l" marL="0" marR="0">
              <a:lnSpc>
                <a:spcPct val="90000"/>
              </a:lnSpc>
              <a:spcBef>
                <a:spcPts val="0"/>
              </a:spcBef>
              <a:spcAft>
                <a:spcPts val="0"/>
              </a:spcAft>
              <a:buNone/>
            </a:pPr>
            <a:r>
              <a:rPr cap="none" sz="5400" i="0" b="0" u="none" strike="noStrike">
                <a:solidFill>
                  <a:srgbClr val="FFFFFF">
                    <a:alpha val="100000"/>
                  </a:srgbClr>
                </a:solidFill>
                <a:latin typeface="Teko"/>
                <a:cs typeface="Teko"/>
                <a:ea typeface="Teko"/>
                <a:sym typeface="Teko"/>
              </a:rPr>
              <a:t>77 years of one ocean, now one record, with a door for everyone</a:t>
            </a:r>
          </a:p>
        </p:txBody>
      </p:sp>
      <p:sp>
        <p:nvSpPr>
          <p:cNvPr id="6" name=""/>
          <p:cNvSpPr>
            <a:spLocks noGrp="1"/>
          </p:cNvSpPr>
          <p:nvPr>
          </p:nvPr>
        </p:nvSpPr>
        <p:spPr>
          <a:xfrm>
            <a:off x="548640" y="4526280"/>
            <a:ext cx="10058400" cy="365760"/>
          </a:xfrm>
        </p:spPr>
        <p:txBody>
          <a:bodyPr/>
          <a:lstStyle/>
          <a:p>
            <a:pPr algn="l" marL="0" marR="0">
              <a:lnSpc>
                <a:spcPct val="105000"/>
              </a:lnSpc>
              <a:spcBef>
                <a:spcPts val="0"/>
              </a:spcBef>
              <a:spcAft>
                <a:spcPts val="0"/>
              </a:spcAft>
              <a:buNone/>
            </a:pPr>
            <a:r>
              <a:rPr cap="none" sz="1800" i="0" b="0" u="none" strike="noStrike">
                <a:solidFill>
                  <a:srgbClr val="B6B1A9">
                    <a:alpha val="100000"/>
                  </a:srgbClr>
                </a:solidFill>
                <a:latin typeface="Source Sans 3"/>
                <a:cs typeface="Source Sans 3"/>
                <a:ea typeface="Source Sans 3"/>
                <a:sym typeface="Source Sans 3"/>
              </a:rPr>
              <a:t>Draft 1 from Ben Best for Erin's deck, sections 3, 4, 6, 7 and 8 · calcofi.io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1 · BETTY</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Statewide monitoring inventory</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691640"/>
            <a:ext cx="11094415" cy="4160520"/>
          </a:xfrm>
          <a:prstGeom prst="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6" name=""/>
          <p:cNvSpPr>
            <a:spLocks noGrp="1"/>
          </p:cNvSpPr>
          <p:nvPr>
          </p:nvPr>
        </p:nvSpPr>
        <p:spPr>
          <a:xfrm>
            <a:off x="868680" y="1965960"/>
            <a:ext cx="54864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PLACEHOLDER</a:t>
            </a:r>
          </a:p>
        </p:txBody>
      </p:sp>
      <p:sp>
        <p:nvSpPr>
          <p:cNvPr id="7" name=""/>
          <p:cNvSpPr>
            <a:spLocks noGrp="1"/>
          </p:cNvSpPr>
          <p:nvPr>
          </p:nvPr>
        </p:nvSpPr>
        <p:spPr>
          <a:xfrm>
            <a:off x="868680" y="2377440"/>
            <a:ext cx="10454335" cy="3200400"/>
          </a:xfrm>
        </p:spPr>
        <p:txBody>
          <a:bodyPr/>
          <a:lstStyle/>
          <a:p>
            <a:pPr algn="l" marL="0" marR="0">
              <a:lnSpc>
                <a:spcPct val="105000"/>
              </a:lnSpc>
              <a:spcBef>
                <a:spcPts val="0"/>
              </a:spcBef>
              <a:spcAft>
                <a:spcPts val="1000"/>
              </a:spcAft>
              <a:buNone/>
            </a:pPr>
            <a:r>
              <a:rPr cap="none" sz="2000" i="0" b="0" u="none" strike="noStrike">
                <a:solidFill>
                  <a:srgbClr val="182B49">
                    <a:alpha val="100000"/>
                  </a:srgbClr>
                </a:solidFill>
                <a:latin typeface="Source Sans 3"/>
                <a:cs typeface="Source Sans 3"/>
                <a:ea typeface="Source Sans 3"/>
                <a:sym typeface="Source Sans 3"/>
              </a:rPr>
              <a:t>Betty's slides go here.</a:t>
            </a:r>
          </a:p>
          <a:p>
            <a:pPr algn="l" marL="0" marR="0">
              <a:lnSpc>
                <a:spcPct val="105000"/>
              </a:lnSpc>
              <a:spcBef>
                <a:spcPts val="0"/>
              </a:spcBef>
              <a:spcAft>
                <a:spcPts val="1000"/>
              </a:spcAft>
              <a:buNone/>
            </a:pPr>
            <a:r>
              <a:rPr cap="none" sz="2000" i="0" b="0" u="none" strike="noStrike">
                <a:solidFill>
                  <a:srgbClr val="182B49">
                    <a:alpha val="100000"/>
                  </a:srgbClr>
                </a:solidFill>
                <a:latin typeface="Source Sans 3"/>
                <a:cs typeface="Source Sans 3"/>
                <a:ea typeface="Source Sans 3"/>
                <a:sym typeface="Source Sans 3"/>
              </a:rPr>
              <a:t>Owner and content per Erin's skeleton: Betty.</a:t>
            </a:r>
          </a:p>
        </p:txBody>
      </p:sp>
      <p:sp>
        <p:nvSpPr>
          <p:cNvPr id="8"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9"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a:t>
            </a:r>
          </a:p>
        </p:txBody>
      </p:sp>
      <p:sp>
        <p:nvSpPr>
          <p:cNvPr id="10"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2 · ERIN</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Getting data collected on the CalCOFI platform into the CalOOS portal</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691640"/>
            <a:ext cx="11094415" cy="1920240"/>
          </a:xfrm>
          <a:prstGeom prst="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6" name=""/>
          <p:cNvSpPr>
            <a:spLocks noGrp="1"/>
          </p:cNvSpPr>
          <p:nvPr>
          </p:nvPr>
        </p:nvSpPr>
        <p:spPr>
          <a:xfrm>
            <a:off x="868680" y="1920240"/>
            <a:ext cx="73152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PLACEHOLDER · ERIN'S SLIDE</a:t>
            </a:r>
          </a:p>
        </p:txBody>
      </p:sp>
      <p:sp>
        <p:nvSpPr>
          <p:cNvPr id="7" name=""/>
          <p:cNvSpPr>
            <a:spLocks noGrp="1"/>
          </p:cNvSpPr>
          <p:nvPr>
          </p:nvPr>
        </p:nvSpPr>
        <p:spPr>
          <a:xfrm>
            <a:off x="868680" y="2286000"/>
            <a:ext cx="10454335" cy="548640"/>
          </a:xfrm>
        </p:spPr>
        <p:txBody>
          <a:bodyPr/>
          <a:lstStyle/>
          <a:p>
            <a:pPr algn="l" marL="0" marR="0">
              <a:lnSpc>
                <a:spcPct val="105000"/>
              </a:lnSpc>
              <a:spcBef>
                <a:spcPts val="0"/>
              </a:spcBef>
              <a:spcAft>
                <a:spcPts val="0"/>
              </a:spcAft>
              <a:buNone/>
            </a:pPr>
            <a:r>
              <a:rPr cap="none" sz="3000" i="0" b="0" u="none" strike="noStrike">
                <a:solidFill>
                  <a:srgbClr val="182B49">
                    <a:alpha val="100000"/>
                  </a:srgbClr>
                </a:solidFill>
                <a:latin typeface="Teko"/>
                <a:cs typeface="Teko"/>
                <a:ea typeface="Teko"/>
                <a:sym typeface="Teko"/>
              </a:rPr>
              <a:t>This is not the data. It is metadata.</a:t>
            </a:r>
          </a:p>
        </p:txBody>
      </p:sp>
      <p:sp>
        <p:nvSpPr>
          <p:cNvPr id="8" name=""/>
          <p:cNvSpPr>
            <a:spLocks noGrp="1"/>
          </p:cNvSpPr>
          <p:nvPr>
          </p:nvPr>
        </p:nvSpPr>
        <p:spPr>
          <a:xfrm>
            <a:off x="868680" y="2880360"/>
            <a:ext cx="10454335" cy="548640"/>
          </a:xfrm>
        </p:spPr>
        <p:txBody>
          <a:bodyPr/>
          <a:lstStyle/>
          <a:p>
            <a:pPr algn="l" marL="0" marR="0">
              <a:lnSpc>
                <a:spcPct val="105000"/>
              </a:lnSpc>
              <a:spcBef>
                <a:spcPts val="0"/>
              </a:spcBef>
              <a:spcAft>
                <a:spcPts val="0"/>
              </a:spcAft>
              <a:buNone/>
            </a:pPr>
            <a:r>
              <a:rPr cap="none" sz="2200" i="0" b="1" u="none" strike="noStrike">
                <a:solidFill>
                  <a:srgbClr val="00629B">
                    <a:alpha val="100000"/>
                  </a:srgbClr>
                </a:solidFill>
                <a:latin typeface="Source Sans 3"/>
                <a:cs typeface="Source Sans 3"/>
                <a:ea typeface="Source Sans 3"/>
                <a:sym typeface="Source Sans 3"/>
              </a:rPr>
              <a:t>CalOOS links to the authoritative dataset. Nothing is copied.</a:t>
            </a:r>
          </a:p>
        </p:txBody>
      </p:sp>
      <p:sp>
        <p:nvSpPr>
          <p:cNvPr id="9" name=""/>
          <p:cNvSpPr>
            <a:spLocks noGrp="1"/>
          </p:cNvSpPr>
          <p:nvPr>
          </p:nvPr>
        </p:nvSpPr>
        <p:spPr>
          <a:xfrm>
            <a:off x="548640" y="3886200"/>
            <a:ext cx="11094415" cy="1828800"/>
          </a:xfrm>
        </p:spPr>
        <p:txBody>
          <a:bodyPr/>
          <a:lstStyle/>
          <a:p>
            <a:pPr algn="l" marL="0" marR="0">
              <a:lnSpc>
                <a:spcPct val="105000"/>
              </a:lnSpc>
              <a:spcBef>
                <a:spcPts val="0"/>
              </a:spcBef>
              <a:spcAft>
                <a:spcPts val="800"/>
              </a:spcAft>
              <a:buNone/>
            </a:pPr>
            <a:r>
              <a:rPr cap="none" sz="1600" i="0" b="0" u="none" strike="noStrike">
                <a:solidFill>
                  <a:srgbClr val="182B49">
                    <a:alpha val="100000"/>
                  </a:srgbClr>
                </a:solidFill>
                <a:latin typeface="Source Sans 3"/>
                <a:cs typeface="Source Sans 3"/>
                <a:ea typeface="Source Sans 3"/>
                <a:sym typeface="Source Sans 3"/>
              </a:rPr>
              <a:t>Erin's note on this slide in the skeleton: "Key point is that this is not the data; metadata."</a:t>
            </a:r>
          </a:p>
          <a:p>
            <a:pPr algn="l" marL="0" marR="0">
              <a:lnSpc>
                <a:spcPct val="105000"/>
              </a:lnSpc>
              <a:spcBef>
                <a:spcPts val="0"/>
              </a:spcBef>
              <a:spcAft>
                <a:spcPts val="800"/>
              </a:spcAft>
              <a:buNone/>
            </a:pPr>
            <a:r>
              <a:rPr cap="none" sz="1600" i="0" b="0" u="none" strike="noStrike">
                <a:solidFill>
                  <a:srgbClr val="182B49">
                    <a:alpha val="100000"/>
                  </a:srgbClr>
                </a:solidFill>
                <a:latin typeface="Source Sans 3"/>
                <a:cs typeface="Source Sans 3"/>
                <a:ea typeface="Source Sans 3"/>
                <a:sym typeface="Source Sans 3"/>
              </a:rPr>
              <a:t>Ben's part 3 (the next slides) ends on the same message, so the two parts meet.</a:t>
            </a:r>
          </a:p>
        </p:txBody>
      </p:sp>
      <p:sp>
        <p:nvSpPr>
          <p:cNvPr id="10"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1"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data.caloos.org</a:t>
            </a:r>
          </a:p>
        </p:txBody>
      </p:sp>
      <p:sp>
        <p:nvSpPr>
          <p:cNvPr id="12"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3 · THE FAIR VISION</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77 years of one ocean, kept in many files</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645920"/>
            <a:ext cx="11094415" cy="365760"/>
          </a:xfrm>
        </p:spPr>
        <p:txBody>
          <a:bodyPr/>
          <a:lstStyle/>
          <a:p>
            <a:pPr algn="l" marL="0" marR="0">
              <a:lnSpc>
                <a:spcPct val="105000"/>
              </a:lnSpc>
              <a:spcBef>
                <a:spcPts val="0"/>
              </a:spcBef>
              <a:spcAft>
                <a:spcPts val="0"/>
              </a:spcAft>
              <a:buNone/>
            </a:pPr>
            <a:r>
              <a:rPr cap="none" sz="1800" i="0" b="0" u="none" strike="noStrike">
                <a:solidFill>
                  <a:srgbClr val="66686A">
                    <a:alpha val="100000"/>
                  </a:srgbClr>
                </a:solidFill>
                <a:latin typeface="Source Sans 3"/>
                <a:cs typeface="Source Sans 3"/>
                <a:ea typeface="Source Sans 3"/>
                <a:sym typeface="Source Sans 3"/>
              </a:rPr>
              <a:t>Findable, accessible, interoperable, reusable: three steps get there.</a:t>
            </a:r>
          </a:p>
        </p:txBody>
      </p:sp>
      <p:sp>
        <p:nvSpPr>
          <p:cNvPr id="6" name=""/>
          <p:cNvSpPr>
            <a:spLocks noGrp="1"/>
          </p:cNvSpPr>
          <p:nvPr>
          </p:nvPr>
        </p:nvSpPr>
        <p:spPr>
          <a:xfrm>
            <a:off x="548640" y="2286000"/>
            <a:ext cx="3429000" cy="2926080"/>
          </a:xfrm>
          <a:prstGeom prst="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7" name=""/>
          <p:cNvSpPr>
            <a:spLocks noGrp="1"/>
          </p:cNvSpPr>
          <p:nvPr>
          </p:nvPr>
        </p:nvSpPr>
        <p:spPr>
          <a:xfrm>
            <a:off x="548640" y="2286000"/>
            <a:ext cx="3429000" cy="73152"/>
          </a:xfrm>
          <a:prstGeom prst="rect">
            <a:avLst/>
          </a:prstGeom>
          <a:solidFill>
            <a:srgbClr val="00629B">
              <a:alpha val="100000"/>
            </a:srgbClr>
          </a:solidFill>
          <a:ln w="9525" cap="rnd" cmpd="sng">
            <a:solidFill>
              <a:srgbClr val="00629B">
                <a:alpha val="100000"/>
              </a:srgbClr>
            </a:solidFill>
            <a:prstDash val="solid"/>
            <a:round/>
            <a:headEnd type="none" w="med" len="med"/>
            <a:tailEnd type="none" w="med" len="med"/>
          </a:ln>
        </p:spPr>
      </p:sp>
      <p:sp>
        <p:nvSpPr>
          <p:cNvPr id="8" name=""/>
          <p:cNvSpPr>
            <a:spLocks noGrp="1"/>
          </p:cNvSpPr>
          <p:nvPr>
          </p:nvPr>
        </p:nvSpPr>
        <p:spPr>
          <a:xfrm>
            <a:off x="822960" y="2468880"/>
            <a:ext cx="731520" cy="640080"/>
          </a:xfrm>
        </p:spPr>
        <p:txBody>
          <a:bodyPr/>
          <a:lstStyle/>
          <a:p>
            <a:pPr algn="l" marL="0" marR="0">
              <a:lnSpc>
                <a:spcPct val="105000"/>
              </a:lnSpc>
              <a:spcBef>
                <a:spcPts val="0"/>
              </a:spcBef>
              <a:spcAft>
                <a:spcPts val="0"/>
              </a:spcAft>
              <a:buNone/>
            </a:pPr>
            <a:r>
              <a:rPr cap="none" sz="4400" i="0" b="0" u="none" strike="noStrike">
                <a:solidFill>
                  <a:srgbClr val="00629B">
                    <a:alpha val="100000"/>
                  </a:srgbClr>
                </a:solidFill>
                <a:latin typeface="Teko"/>
                <a:cs typeface="Teko"/>
                <a:ea typeface="Teko"/>
                <a:sym typeface="Teko"/>
              </a:rPr>
              <a:t>1</a:t>
            </a:r>
          </a:p>
        </p:txBody>
      </p:sp>
      <p:sp>
        <p:nvSpPr>
          <p:cNvPr id="9" name=""/>
          <p:cNvSpPr>
            <a:spLocks noGrp="1"/>
          </p:cNvSpPr>
          <p:nvPr>
          </p:nvPr>
        </p:nvSpPr>
        <p:spPr>
          <a:xfrm>
            <a:off x="1417320" y="2606040"/>
            <a:ext cx="2423160" cy="548640"/>
          </a:xfrm>
        </p:spPr>
        <p:txBody>
          <a:bodyPr/>
          <a:lstStyle/>
          <a:p>
            <a:pPr algn="l" marL="0" marR="0">
              <a:lnSpc>
                <a:spcPct val="105000"/>
              </a:lnSpc>
              <a:spcBef>
                <a:spcPts val="0"/>
              </a:spcBef>
              <a:spcAft>
                <a:spcPts val="0"/>
              </a:spcAft>
              <a:buNone/>
            </a:pPr>
            <a:r>
              <a:rPr cap="none" sz="2800" i="0" b="0" u="none" strike="noStrike">
                <a:solidFill>
                  <a:srgbClr val="182B49">
                    <a:alpha val="100000"/>
                  </a:srgbClr>
                </a:solidFill>
                <a:latin typeface="Teko"/>
                <a:cs typeface="Teko"/>
                <a:ea typeface="Teko"/>
                <a:sym typeface="Teko"/>
              </a:rPr>
              <a:t>INGEST</a:t>
            </a:r>
          </a:p>
        </p:txBody>
      </p:sp>
      <p:sp>
        <p:nvSpPr>
          <p:cNvPr id="10" name=""/>
          <p:cNvSpPr>
            <a:spLocks noGrp="1"/>
          </p:cNvSpPr>
          <p:nvPr>
          </p:nvPr>
        </p:nvSpPr>
        <p:spPr>
          <a:xfrm>
            <a:off x="822960" y="3337560"/>
            <a:ext cx="2880360" cy="1828800"/>
          </a:xfrm>
        </p:spPr>
        <p:txBody>
          <a:bodyPr/>
          <a:lstStyle/>
          <a:p>
            <a:pPr algn="l" marL="0" marR="0">
              <a:lnSpc>
                <a:spcPct val="110000"/>
              </a:lnSpc>
              <a:spcBef>
                <a:spcPts val="0"/>
              </a:spcBef>
              <a:spcAft>
                <a:spcPts val="0"/>
              </a:spcAft>
              <a:buNone/>
            </a:pPr>
            <a:r>
              <a:rPr cap="none" sz="1600" i="0" b="0" u="none" strike="noStrike">
                <a:solidFill>
                  <a:srgbClr val="182B49">
                    <a:alpha val="100000"/>
                  </a:srgbClr>
                </a:solidFill>
                <a:latin typeface="Source Sans 3"/>
                <a:cs typeface="Source Sans 3"/>
                <a:ea typeface="Source Sans 3"/>
                <a:sym typeface="Source Sans 3"/>
              </a:rPr>
              <a:t>Each provider sends files in their own format. We read every one the same way and keep their answers to our questions with it.</a:t>
            </a:r>
          </a:p>
        </p:txBody>
      </p:sp>
      <p:sp>
        <p:nvSpPr>
          <p:cNvPr id="11" name=""/>
          <p:cNvSpPr>
            <a:spLocks noGrp="1"/>
          </p:cNvSpPr>
          <p:nvPr>
          </p:nvPr>
        </p:nvSpPr>
        <p:spPr>
          <a:xfrm>
            <a:off x="4381348" y="2286000"/>
            <a:ext cx="3429000" cy="2926080"/>
          </a:xfrm>
          <a:prstGeom prst="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2" name=""/>
          <p:cNvSpPr>
            <a:spLocks noGrp="1"/>
          </p:cNvSpPr>
          <p:nvPr>
          </p:nvPr>
        </p:nvSpPr>
        <p:spPr>
          <a:xfrm>
            <a:off x="4381348" y="2286000"/>
            <a:ext cx="3429000" cy="73152"/>
          </a:xfrm>
          <a:prstGeom prst="rect">
            <a:avLst/>
          </a:prstGeom>
          <a:solidFill>
            <a:srgbClr val="FFCD00">
              <a:alpha val="100000"/>
            </a:srgbClr>
          </a:solidFill>
          <a:ln w="9525" cap="rnd" cmpd="sng">
            <a:solidFill>
              <a:srgbClr val="FFCD00">
                <a:alpha val="100000"/>
              </a:srgbClr>
            </a:solidFill>
            <a:prstDash val="solid"/>
            <a:round/>
            <a:headEnd type="none" w="med" len="med"/>
            <a:tailEnd type="none" w="med" len="med"/>
          </a:ln>
        </p:spPr>
      </p:sp>
      <p:sp>
        <p:nvSpPr>
          <p:cNvPr id="13" name=""/>
          <p:cNvSpPr>
            <a:spLocks noGrp="1"/>
          </p:cNvSpPr>
          <p:nvPr>
          </p:nvPr>
        </p:nvSpPr>
        <p:spPr>
          <a:xfrm>
            <a:off x="4655668" y="2468880"/>
            <a:ext cx="731520" cy="640080"/>
          </a:xfrm>
        </p:spPr>
        <p:txBody>
          <a:bodyPr/>
          <a:lstStyle/>
          <a:p>
            <a:pPr algn="l" marL="0" marR="0">
              <a:lnSpc>
                <a:spcPct val="105000"/>
              </a:lnSpc>
              <a:spcBef>
                <a:spcPts val="0"/>
              </a:spcBef>
              <a:spcAft>
                <a:spcPts val="0"/>
              </a:spcAft>
              <a:buNone/>
            </a:pPr>
            <a:r>
              <a:rPr cap="none" sz="4400" i="0" b="0" u="none" strike="noStrike">
                <a:solidFill>
                  <a:srgbClr val="00629B">
                    <a:alpha val="100000"/>
                  </a:srgbClr>
                </a:solidFill>
                <a:latin typeface="Teko"/>
                <a:cs typeface="Teko"/>
                <a:ea typeface="Teko"/>
                <a:sym typeface="Teko"/>
              </a:rPr>
              <a:t>2</a:t>
            </a:r>
          </a:p>
        </p:txBody>
      </p:sp>
      <p:sp>
        <p:nvSpPr>
          <p:cNvPr id="14" name=""/>
          <p:cNvSpPr>
            <a:spLocks noGrp="1"/>
          </p:cNvSpPr>
          <p:nvPr>
          </p:nvPr>
        </p:nvSpPr>
        <p:spPr>
          <a:xfrm>
            <a:off x="5250028" y="2606040"/>
            <a:ext cx="2423160" cy="548640"/>
          </a:xfrm>
        </p:spPr>
        <p:txBody>
          <a:bodyPr/>
          <a:lstStyle/>
          <a:p>
            <a:pPr algn="l" marL="0" marR="0">
              <a:lnSpc>
                <a:spcPct val="105000"/>
              </a:lnSpc>
              <a:spcBef>
                <a:spcPts val="0"/>
              </a:spcBef>
              <a:spcAft>
                <a:spcPts val="0"/>
              </a:spcAft>
              <a:buNone/>
            </a:pPr>
            <a:r>
              <a:rPr cap="none" sz="2800" i="0" b="0" u="none" strike="noStrike">
                <a:solidFill>
                  <a:srgbClr val="182B49">
                    <a:alpha val="100000"/>
                  </a:srgbClr>
                </a:solidFill>
                <a:latin typeface="Teko"/>
                <a:cs typeface="Teko"/>
                <a:ea typeface="Teko"/>
                <a:sym typeface="Teko"/>
              </a:rPr>
              <a:t>PUBLISH</a:t>
            </a:r>
          </a:p>
        </p:txBody>
      </p:sp>
      <p:sp>
        <p:nvSpPr>
          <p:cNvPr id="15" name=""/>
          <p:cNvSpPr>
            <a:spLocks noGrp="1"/>
          </p:cNvSpPr>
          <p:nvPr>
          </p:nvPr>
        </p:nvSpPr>
        <p:spPr>
          <a:xfrm>
            <a:off x="4655668" y="3337560"/>
            <a:ext cx="2880360" cy="1828800"/>
          </a:xfrm>
        </p:spPr>
        <p:txBody>
          <a:bodyPr/>
          <a:lstStyle/>
          <a:p>
            <a:pPr algn="l" marL="0" marR="0">
              <a:lnSpc>
                <a:spcPct val="110000"/>
              </a:lnSpc>
              <a:spcBef>
                <a:spcPts val="0"/>
              </a:spcBef>
              <a:spcAft>
                <a:spcPts val="0"/>
              </a:spcAft>
              <a:buNone/>
            </a:pPr>
            <a:r>
              <a:rPr cap="none" sz="1600" i="0" b="0" u="none" strike="noStrike">
                <a:solidFill>
                  <a:srgbClr val="182B49">
                    <a:alpha val="100000"/>
                  </a:srgbClr>
                </a:solidFill>
                <a:latin typeface="Source Sans 3"/>
                <a:cs typeface="Source Sans 3"/>
                <a:ea typeface="Source Sans 3"/>
                <a:sym typeface="Source Sans 3"/>
              </a:rPr>
              <a:t>From one record per dataset we generate everything a portal needs: the description, the citation, the DOI.</a:t>
            </a:r>
          </a:p>
        </p:txBody>
      </p:sp>
      <p:sp>
        <p:nvSpPr>
          <p:cNvPr id="16" name=""/>
          <p:cNvSpPr>
            <a:spLocks noGrp="1"/>
          </p:cNvSpPr>
          <p:nvPr>
          </p:nvPr>
        </p:nvSpPr>
        <p:spPr>
          <a:xfrm>
            <a:off x="8214055" y="2286000"/>
            <a:ext cx="3429000" cy="2926080"/>
          </a:xfrm>
          <a:prstGeom prst="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7" name=""/>
          <p:cNvSpPr>
            <a:spLocks noGrp="1"/>
          </p:cNvSpPr>
          <p:nvPr>
          </p:nvPr>
        </p:nvSpPr>
        <p:spPr>
          <a:xfrm>
            <a:off x="8214055" y="2286000"/>
            <a:ext cx="3429000" cy="73152"/>
          </a:xfrm>
          <a:prstGeom prst="rect">
            <a:avLst/>
          </a:prstGeom>
          <a:solidFill>
            <a:srgbClr val="00629B">
              <a:alpha val="100000"/>
            </a:srgbClr>
          </a:solidFill>
          <a:ln w="9525" cap="rnd" cmpd="sng">
            <a:solidFill>
              <a:srgbClr val="00629B">
                <a:alpha val="100000"/>
              </a:srgbClr>
            </a:solidFill>
            <a:prstDash val="solid"/>
            <a:round/>
            <a:headEnd type="none" w="med" len="med"/>
            <a:tailEnd type="none" w="med" len="med"/>
          </a:ln>
        </p:spPr>
      </p:sp>
      <p:sp>
        <p:nvSpPr>
          <p:cNvPr id="18" name=""/>
          <p:cNvSpPr>
            <a:spLocks noGrp="1"/>
          </p:cNvSpPr>
          <p:nvPr>
          </p:nvPr>
        </p:nvSpPr>
        <p:spPr>
          <a:xfrm>
            <a:off x="8488375" y="2468880"/>
            <a:ext cx="731520" cy="640080"/>
          </a:xfrm>
        </p:spPr>
        <p:txBody>
          <a:bodyPr/>
          <a:lstStyle/>
          <a:p>
            <a:pPr algn="l" marL="0" marR="0">
              <a:lnSpc>
                <a:spcPct val="105000"/>
              </a:lnSpc>
              <a:spcBef>
                <a:spcPts val="0"/>
              </a:spcBef>
              <a:spcAft>
                <a:spcPts val="0"/>
              </a:spcAft>
              <a:buNone/>
            </a:pPr>
            <a:r>
              <a:rPr cap="none" sz="4400" i="0" b="0" u="none" strike="noStrike">
                <a:solidFill>
                  <a:srgbClr val="00629B">
                    <a:alpha val="100000"/>
                  </a:srgbClr>
                </a:solidFill>
                <a:latin typeface="Teko"/>
                <a:cs typeface="Teko"/>
                <a:ea typeface="Teko"/>
                <a:sym typeface="Teko"/>
              </a:rPr>
              <a:t>3</a:t>
            </a:r>
          </a:p>
        </p:txBody>
      </p:sp>
      <p:sp>
        <p:nvSpPr>
          <p:cNvPr id="19" name=""/>
          <p:cNvSpPr>
            <a:spLocks noGrp="1"/>
          </p:cNvSpPr>
          <p:nvPr>
          </p:nvPr>
        </p:nvSpPr>
        <p:spPr>
          <a:xfrm>
            <a:off x="9082735" y="2606040"/>
            <a:ext cx="2423160" cy="548640"/>
          </a:xfrm>
        </p:spPr>
        <p:txBody>
          <a:bodyPr/>
          <a:lstStyle/>
          <a:p>
            <a:pPr algn="l" marL="0" marR="0">
              <a:lnSpc>
                <a:spcPct val="105000"/>
              </a:lnSpc>
              <a:spcBef>
                <a:spcPts val="0"/>
              </a:spcBef>
              <a:spcAft>
                <a:spcPts val="0"/>
              </a:spcAft>
              <a:buNone/>
            </a:pPr>
            <a:r>
              <a:rPr cap="none" sz="2800" i="0" b="0" u="none" strike="noStrike">
                <a:solidFill>
                  <a:srgbClr val="182B49">
                    <a:alpha val="100000"/>
                  </a:srgbClr>
                </a:solidFill>
                <a:latin typeface="Teko"/>
                <a:cs typeface="Teko"/>
                <a:ea typeface="Teko"/>
                <a:sym typeface="Teko"/>
              </a:rPr>
              <a:t>VISUALIZE</a:t>
            </a:r>
          </a:p>
        </p:txBody>
      </p:sp>
      <p:sp>
        <p:nvSpPr>
          <p:cNvPr id="20" name=""/>
          <p:cNvSpPr>
            <a:spLocks noGrp="1"/>
          </p:cNvSpPr>
          <p:nvPr>
          </p:nvPr>
        </p:nvSpPr>
        <p:spPr>
          <a:xfrm>
            <a:off x="8488375" y="3337560"/>
            <a:ext cx="2880360" cy="1828800"/>
          </a:xfrm>
        </p:spPr>
        <p:txBody>
          <a:bodyPr/>
          <a:lstStyle/>
          <a:p>
            <a:pPr algn="l" marL="0" marR="0">
              <a:lnSpc>
                <a:spcPct val="110000"/>
              </a:lnSpc>
              <a:spcBef>
                <a:spcPts val="0"/>
              </a:spcBef>
              <a:spcAft>
                <a:spcPts val="0"/>
              </a:spcAft>
              <a:buNone/>
            </a:pPr>
            <a:r>
              <a:rPr cap="none" sz="1600" i="0" b="0" u="none" strike="noStrike">
                <a:solidFill>
                  <a:srgbClr val="182B49">
                    <a:alpha val="100000"/>
                  </a:srgbClr>
                </a:solidFill>
                <a:latin typeface="Source Sans 3"/>
                <a:cs typeface="Source Sans 3"/>
                <a:ea typeface="Source Sans 3"/>
                <a:sym typeface="Source Sans 3"/>
              </a:rPr>
              <a:t>People open the data in a browser, or in R and Python. Everyone sees the same numbers.</a:t>
            </a:r>
          </a:p>
        </p:txBody>
      </p:sp>
      <p:sp>
        <p:nvSpPr>
          <p:cNvPr id="21" name=""/>
          <p:cNvSpPr>
            <a:spLocks noGrp="1"/>
          </p:cNvSpPr>
          <p:nvPr>
          </p:nvPr>
        </p:nvSpPr>
        <p:spPr>
          <a:xfrm>
            <a:off x="4042334" y="3611880"/>
            <a:ext cx="274320" cy="219456"/>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2" name=""/>
          <p:cNvSpPr>
            <a:spLocks noGrp="1"/>
          </p:cNvSpPr>
          <p:nvPr>
          </p:nvPr>
        </p:nvSpPr>
        <p:spPr>
          <a:xfrm>
            <a:off x="7875041" y="3611880"/>
            <a:ext cx="274320" cy="219456"/>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3" name=""/>
          <p:cNvSpPr>
            <a:spLocks noGrp="1"/>
          </p:cNvSpPr>
          <p:nvPr>
          </p:nvPr>
        </p:nvSpPr>
        <p:spPr>
          <a:xfrm>
            <a:off x="548640" y="5440680"/>
            <a:ext cx="11094415" cy="365760"/>
          </a:xfrm>
        </p:spPr>
        <p:txBody>
          <a:bodyPr/>
          <a:lstStyle/>
          <a:p>
            <a:pPr algn="l" marL="0" marR="0">
              <a:lnSpc>
                <a:spcPct val="105000"/>
              </a:lnSpc>
              <a:spcBef>
                <a:spcPts val="0"/>
              </a:spcBef>
              <a:spcAft>
                <a:spcPts val="0"/>
              </a:spcAft>
              <a:buNone/>
            </a:pPr>
            <a:r>
              <a:rPr cap="none" sz="1600" i="0" b="1" u="none" strike="noStrike">
                <a:solidFill>
                  <a:srgbClr val="00629B">
                    <a:alpha val="100000"/>
                  </a:srgbClr>
                </a:solidFill>
                <a:latin typeface="Source Sans 3"/>
                <a:cs typeface="Source Sans 3"/>
                <a:ea typeface="Source Sans 3"/>
                <a:sym typeface="Source Sans 3"/>
              </a:rPr>
              <a:t>A release is cut only after its keys and its bounds have been checked.</a:t>
            </a:r>
          </a:p>
        </p:txBody>
      </p:sp>
      <p:sp>
        <p:nvSpPr>
          <p:cNvPr id="24"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25"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calcofi.io/docs</a:t>
            </a:r>
          </a:p>
        </p:txBody>
      </p:sp>
      <p:sp>
        <p:nvSpPr>
          <p:cNvPr id="26"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3 · WHO YOU ARE, YOUR DOOR, ONE DATABASE, THE PORTALS · STEP 1 OF 4</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Who needs CalCOFI data?</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572768"/>
            <a:ext cx="27432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WHO YOU ARE</a:t>
            </a:r>
          </a:p>
        </p:txBody>
      </p:sp>
      <p:sp>
        <p:nvSpPr>
          <p:cNvPr id="6" name=""/>
          <p:cNvSpPr>
            <a:spLocks noGrp="1"/>
          </p:cNvSpPr>
          <p:nvPr>
          </p:nvPr>
        </p:nvSpPr>
        <p:spPr>
          <a:xfrm>
            <a:off x="548640" y="1847088"/>
            <a:ext cx="640080" cy="45720"/>
          </a:xfrm>
          <a:prstGeom prst="rect">
            <a:avLst/>
          </a:prstGeom>
          <a:solidFill>
            <a:srgbClr val="FFCD00">
              <a:alpha val="100000"/>
            </a:srgbClr>
          </a:solidFill>
          <a:ln w="9525" cap="rnd" cmpd="sng">
            <a:solidFill>
              <a:srgbClr val="FFCD00">
                <a:alpha val="100000"/>
              </a:srgbClr>
            </a:solidFill>
            <a:prstDash val="solid"/>
            <a:round/>
            <a:headEnd type="none" w="med" len="med"/>
            <a:tailEnd type="none" w="med" len="med"/>
          </a:ln>
        </p:spPr>
      </p:sp>
      <p:sp>
        <p:nvSpPr>
          <p:cNvPr id="7" name=""/>
          <p:cNvSpPr>
            <a:spLocks noGrp="1"/>
          </p:cNvSpPr>
          <p:nvPr>
          </p:nvPr>
        </p:nvSpPr>
        <p:spPr>
          <a:xfrm>
            <a:off x="548640" y="1965960"/>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8" name=""/>
          <p:cNvSpPr>
            <a:spLocks noGrp="1"/>
          </p:cNvSpPr>
          <p:nvPr>
          </p:nvPr>
        </p:nvSpPr>
        <p:spPr>
          <a:xfrm>
            <a:off x="685800" y="2020824"/>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Curious about the ocean off California, or a scientist</a:t>
            </a:r>
          </a:p>
        </p:txBody>
      </p:sp>
      <p:sp>
        <p:nvSpPr>
          <p:cNvPr id="9" name=""/>
          <p:cNvSpPr>
            <a:spLocks noGrp="1"/>
          </p:cNvSpPr>
          <p:nvPr>
          </p:nvPr>
        </p:nvSpPr>
        <p:spPr>
          <a:xfrm>
            <a:off x="548640" y="2624328"/>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0" name=""/>
          <p:cNvSpPr>
            <a:spLocks noGrp="1"/>
          </p:cNvSpPr>
          <p:nvPr>
          </p:nvPr>
        </p:nvSpPr>
        <p:spPr>
          <a:xfrm>
            <a:off x="685800" y="2779776"/>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A data scientist writing queries</a:t>
            </a:r>
          </a:p>
        </p:txBody>
      </p:sp>
      <p:sp>
        <p:nvSpPr>
          <p:cNvPr id="11" name=""/>
          <p:cNvSpPr>
            <a:spLocks noGrp="1"/>
          </p:cNvSpPr>
          <p:nvPr>
          </p:nvPr>
        </p:nvSpPr>
        <p:spPr>
          <a:xfrm>
            <a:off x="548640" y="3282696"/>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2" name=""/>
          <p:cNvSpPr>
            <a:spLocks noGrp="1"/>
          </p:cNvSpPr>
          <p:nvPr>
          </p:nvPr>
        </p:nvSpPr>
        <p:spPr>
          <a:xfrm>
            <a:off x="685800" y="3438144"/>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A data provider, now or in future</a:t>
            </a:r>
          </a:p>
        </p:txBody>
      </p:sp>
      <p:sp>
        <p:nvSpPr>
          <p:cNvPr id="13" name=""/>
          <p:cNvSpPr>
            <a:spLocks noGrp="1"/>
          </p:cNvSpPr>
          <p:nvPr>
          </p:nvPr>
        </p:nvSpPr>
        <p:spPr>
          <a:xfrm>
            <a:off x="548640" y="3941064"/>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4" name=""/>
          <p:cNvSpPr>
            <a:spLocks noGrp="1"/>
          </p:cNvSpPr>
          <p:nvPr>
          </p:nvPr>
        </p:nvSpPr>
        <p:spPr>
          <a:xfrm>
            <a:off x="685800" y="4096512"/>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On the CTD team</a:t>
            </a:r>
          </a:p>
        </p:txBody>
      </p:sp>
      <p:sp>
        <p:nvSpPr>
          <p:cNvPr id="15" name=""/>
          <p:cNvSpPr>
            <a:spLocks noGrp="1"/>
          </p:cNvSpPr>
          <p:nvPr>
          </p:nvPr>
        </p:nvSpPr>
        <p:spPr>
          <a:xfrm>
            <a:off x="548640" y="4599432"/>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6" name=""/>
          <p:cNvSpPr>
            <a:spLocks noGrp="1"/>
          </p:cNvSpPr>
          <p:nvPr>
          </p:nvPr>
        </p:nvSpPr>
        <p:spPr>
          <a:xfrm>
            <a:off x="685800" y="4654296"/>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On the data team, or building a CalCOFI product</a:t>
            </a:r>
          </a:p>
        </p:txBody>
      </p:sp>
      <p:sp>
        <p:nvSpPr>
          <p:cNvPr id="17" name=""/>
          <p:cNvSpPr>
            <a:spLocks noGrp="1"/>
          </p:cNvSpPr>
          <p:nvPr>
          </p:nvPr>
        </p:nvSpPr>
        <p:spPr>
          <a:xfrm>
            <a:off x="548640" y="5257800"/>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8" name=""/>
          <p:cNvSpPr>
            <a:spLocks noGrp="1"/>
          </p:cNvSpPr>
          <p:nvPr>
          </p:nvPr>
        </p:nvSpPr>
        <p:spPr>
          <a:xfrm>
            <a:off x="685800" y="5413248"/>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Reporting on the program</a:t>
            </a:r>
          </a:p>
        </p:txBody>
      </p:sp>
      <p:sp>
        <p:nvSpPr>
          <p:cNvPr id="19" name=""/>
          <p:cNvSpPr>
            <a:spLocks noGrp="1"/>
          </p:cNvSpPr>
          <p:nvPr>
          </p:nvPr>
        </p:nvSpPr>
        <p:spPr>
          <a:xfrm>
            <a:off x="548640" y="5916168"/>
            <a:ext cx="11094415" cy="36576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Every audience that asks for CalCOFI data, in plain words.</a:t>
            </a:r>
          </a:p>
        </p:txBody>
      </p:sp>
      <p:sp>
        <p:nvSpPr>
          <p:cNvPr id="20"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21"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calcofi.io/docs · Which door is yours</a:t>
            </a:r>
          </a:p>
        </p:txBody>
      </p:sp>
      <p:sp>
        <p:nvSpPr>
          <p:cNvPr id="22"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3 · WHO YOU ARE, YOUR DOOR, ONE DATABASE, THE PORTALS · STEP 2 OF 4</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Everyone gets a door</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572768"/>
            <a:ext cx="27432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WHO YOU ARE</a:t>
            </a:r>
          </a:p>
        </p:txBody>
      </p:sp>
      <p:sp>
        <p:nvSpPr>
          <p:cNvPr id="6" name=""/>
          <p:cNvSpPr>
            <a:spLocks noGrp="1"/>
          </p:cNvSpPr>
          <p:nvPr>
          </p:nvPr>
        </p:nvSpPr>
        <p:spPr>
          <a:xfrm>
            <a:off x="3566160" y="1572768"/>
            <a:ext cx="27432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YOUR DOOR</a:t>
            </a:r>
          </a:p>
        </p:txBody>
      </p:sp>
      <p:sp>
        <p:nvSpPr>
          <p:cNvPr id="7" name=""/>
          <p:cNvSpPr>
            <a:spLocks noGrp="1"/>
          </p:cNvSpPr>
          <p:nvPr>
          </p:nvPr>
        </p:nvSpPr>
        <p:spPr>
          <a:xfrm>
            <a:off x="3566160" y="1847088"/>
            <a:ext cx="640080" cy="45720"/>
          </a:xfrm>
          <a:prstGeom prst="rect">
            <a:avLst/>
          </a:prstGeom>
          <a:solidFill>
            <a:srgbClr val="FFCD00">
              <a:alpha val="100000"/>
            </a:srgbClr>
          </a:solidFill>
          <a:ln w="9525" cap="rnd" cmpd="sng">
            <a:solidFill>
              <a:srgbClr val="FFCD00">
                <a:alpha val="100000"/>
              </a:srgbClr>
            </a:solidFill>
            <a:prstDash val="solid"/>
            <a:round/>
            <a:headEnd type="none" w="med" len="med"/>
            <a:tailEnd type="none" w="med" len="med"/>
          </a:ln>
        </p:spPr>
      </p:sp>
      <p:sp>
        <p:nvSpPr>
          <p:cNvPr id="8" name=""/>
          <p:cNvSpPr>
            <a:spLocks noGrp="1"/>
          </p:cNvSpPr>
          <p:nvPr>
          </p:nvPr>
        </p:nvSpPr>
        <p:spPr>
          <a:xfrm>
            <a:off x="548640" y="1965960"/>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9" name=""/>
          <p:cNvSpPr>
            <a:spLocks noGrp="1"/>
          </p:cNvSpPr>
          <p:nvPr>
          </p:nvPr>
        </p:nvSpPr>
        <p:spPr>
          <a:xfrm>
            <a:off x="685800" y="2020824"/>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Curious about the ocean off California, or a scientist</a:t>
            </a:r>
          </a:p>
        </p:txBody>
      </p:sp>
      <p:sp>
        <p:nvSpPr>
          <p:cNvPr id="10" name=""/>
          <p:cNvSpPr>
            <a:spLocks noGrp="1"/>
          </p:cNvSpPr>
          <p:nvPr>
          </p:nvPr>
        </p:nvSpPr>
        <p:spPr>
          <a:xfrm>
            <a:off x="548640" y="2624328"/>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1" name=""/>
          <p:cNvSpPr>
            <a:spLocks noGrp="1"/>
          </p:cNvSpPr>
          <p:nvPr>
          </p:nvPr>
        </p:nvSpPr>
        <p:spPr>
          <a:xfrm>
            <a:off x="685800" y="2779776"/>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A data scientist writing queries</a:t>
            </a:r>
          </a:p>
        </p:txBody>
      </p:sp>
      <p:sp>
        <p:nvSpPr>
          <p:cNvPr id="12" name=""/>
          <p:cNvSpPr>
            <a:spLocks noGrp="1"/>
          </p:cNvSpPr>
          <p:nvPr>
          </p:nvPr>
        </p:nvSpPr>
        <p:spPr>
          <a:xfrm>
            <a:off x="548640" y="3282696"/>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3" name=""/>
          <p:cNvSpPr>
            <a:spLocks noGrp="1"/>
          </p:cNvSpPr>
          <p:nvPr>
          </p:nvPr>
        </p:nvSpPr>
        <p:spPr>
          <a:xfrm>
            <a:off x="685800" y="3438144"/>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A data provider, now or in future</a:t>
            </a:r>
          </a:p>
        </p:txBody>
      </p:sp>
      <p:sp>
        <p:nvSpPr>
          <p:cNvPr id="14" name=""/>
          <p:cNvSpPr>
            <a:spLocks noGrp="1"/>
          </p:cNvSpPr>
          <p:nvPr>
          </p:nvPr>
        </p:nvSpPr>
        <p:spPr>
          <a:xfrm>
            <a:off x="548640" y="3941064"/>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5" name=""/>
          <p:cNvSpPr>
            <a:spLocks noGrp="1"/>
          </p:cNvSpPr>
          <p:nvPr>
          </p:nvPr>
        </p:nvSpPr>
        <p:spPr>
          <a:xfrm>
            <a:off x="685800" y="4096512"/>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On the CTD team</a:t>
            </a:r>
          </a:p>
        </p:txBody>
      </p:sp>
      <p:sp>
        <p:nvSpPr>
          <p:cNvPr id="16" name=""/>
          <p:cNvSpPr>
            <a:spLocks noGrp="1"/>
          </p:cNvSpPr>
          <p:nvPr>
          </p:nvPr>
        </p:nvSpPr>
        <p:spPr>
          <a:xfrm>
            <a:off x="548640" y="4599432"/>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7" name=""/>
          <p:cNvSpPr>
            <a:spLocks noGrp="1"/>
          </p:cNvSpPr>
          <p:nvPr>
          </p:nvPr>
        </p:nvSpPr>
        <p:spPr>
          <a:xfrm>
            <a:off x="685800" y="4654296"/>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On the data team, or building a CalCOFI product</a:t>
            </a:r>
          </a:p>
        </p:txBody>
      </p:sp>
      <p:sp>
        <p:nvSpPr>
          <p:cNvPr id="18" name=""/>
          <p:cNvSpPr>
            <a:spLocks noGrp="1"/>
          </p:cNvSpPr>
          <p:nvPr>
          </p:nvPr>
        </p:nvSpPr>
        <p:spPr>
          <a:xfrm>
            <a:off x="548640" y="5257800"/>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9" name=""/>
          <p:cNvSpPr>
            <a:spLocks noGrp="1"/>
          </p:cNvSpPr>
          <p:nvPr>
          </p:nvPr>
        </p:nvSpPr>
        <p:spPr>
          <a:xfrm>
            <a:off x="685800" y="5413248"/>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Reporting on the program</a:t>
            </a:r>
          </a:p>
        </p:txBody>
      </p:sp>
      <p:sp>
        <p:nvSpPr>
          <p:cNvPr id="20" name=""/>
          <p:cNvSpPr>
            <a:spLocks noGrp="1"/>
          </p:cNvSpPr>
          <p:nvPr>
          </p:nvPr>
        </p:nvSpPr>
        <p:spPr>
          <a:xfrm>
            <a:off x="3328416" y="215798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1" name=""/>
          <p:cNvSpPr>
            <a:spLocks noGrp="1"/>
          </p:cNvSpPr>
          <p:nvPr>
          </p:nvPr>
        </p:nvSpPr>
        <p:spPr>
          <a:xfrm>
            <a:off x="3566160" y="1965960"/>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22" name=""/>
          <p:cNvSpPr>
            <a:spLocks noGrp="1"/>
          </p:cNvSpPr>
          <p:nvPr>
          </p:nvPr>
        </p:nvSpPr>
        <p:spPr>
          <a:xfrm>
            <a:off x="3703320" y="2020824"/>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Explore</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see the data on a map, in a browser</a:t>
            </a:r>
          </a:p>
        </p:txBody>
      </p:sp>
      <p:sp>
        <p:nvSpPr>
          <p:cNvPr id="23" name=""/>
          <p:cNvSpPr>
            <a:spLocks noGrp="1"/>
          </p:cNvSpPr>
          <p:nvPr>
          </p:nvPr>
        </p:nvSpPr>
        <p:spPr>
          <a:xfrm>
            <a:off x="3328416" y="2816352"/>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4" name=""/>
          <p:cNvSpPr>
            <a:spLocks noGrp="1"/>
          </p:cNvSpPr>
          <p:nvPr>
          </p:nvPr>
        </p:nvSpPr>
        <p:spPr>
          <a:xfrm>
            <a:off x="3566160" y="2624328"/>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25" name=""/>
          <p:cNvSpPr>
            <a:spLocks noGrp="1"/>
          </p:cNvSpPr>
          <p:nvPr>
          </p:nvPr>
        </p:nvSpPr>
        <p:spPr>
          <a:xfrm>
            <a:off x="3703320" y="2679192"/>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Access the data</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R, Python and open files</a:t>
            </a:r>
          </a:p>
        </p:txBody>
      </p:sp>
      <p:sp>
        <p:nvSpPr>
          <p:cNvPr id="26" name=""/>
          <p:cNvSpPr>
            <a:spLocks noGrp="1"/>
          </p:cNvSpPr>
          <p:nvPr>
          </p:nvPr>
        </p:nvSpPr>
        <p:spPr>
          <a:xfrm>
            <a:off x="3328416" y="3474720"/>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7" name=""/>
          <p:cNvSpPr>
            <a:spLocks noGrp="1"/>
          </p:cNvSpPr>
          <p:nvPr>
          </p:nvPr>
        </p:nvSpPr>
        <p:spPr>
          <a:xfrm>
            <a:off x="3566160" y="3282696"/>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28" name=""/>
          <p:cNvSpPr>
            <a:spLocks noGrp="1"/>
          </p:cNvSpPr>
          <p:nvPr>
          </p:nvPr>
        </p:nvSpPr>
        <p:spPr>
          <a:xfrm>
            <a:off x="3703320" y="3337560"/>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Providing data to CalCOFI</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send us your data, step by step</a:t>
            </a:r>
          </a:p>
        </p:txBody>
      </p:sp>
      <p:sp>
        <p:nvSpPr>
          <p:cNvPr id="29" name=""/>
          <p:cNvSpPr>
            <a:spLocks noGrp="1"/>
          </p:cNvSpPr>
          <p:nvPr>
          </p:nvPr>
        </p:nvSpPr>
        <p:spPr>
          <a:xfrm>
            <a:off x="3328416" y="4133088"/>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0" name=""/>
          <p:cNvSpPr>
            <a:spLocks noGrp="1"/>
          </p:cNvSpPr>
          <p:nvPr>
          </p:nvPr>
        </p:nvSpPr>
        <p:spPr>
          <a:xfrm>
            <a:off x="3566160" y="3941064"/>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1" name=""/>
          <p:cNvSpPr>
            <a:spLocks noGrp="1"/>
          </p:cNvSpPr>
          <p:nvPr>
          </p:nvPr>
        </p:nvSpPr>
        <p:spPr>
          <a:xfrm>
            <a:off x="3703320" y="3995928"/>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CTD QA/QC, start to release</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quality control, cast to release</a:t>
            </a:r>
          </a:p>
        </p:txBody>
      </p:sp>
      <p:sp>
        <p:nvSpPr>
          <p:cNvPr id="32" name=""/>
          <p:cNvSpPr>
            <a:spLocks noGrp="1"/>
          </p:cNvSpPr>
          <p:nvPr>
          </p:nvPr>
        </p:nvSpPr>
        <p:spPr>
          <a:xfrm>
            <a:off x="3328416" y="4791456"/>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3" name=""/>
          <p:cNvSpPr>
            <a:spLocks noGrp="1"/>
          </p:cNvSpPr>
          <p:nvPr>
          </p:nvPr>
        </p:nvSpPr>
        <p:spPr>
          <a:xfrm>
            <a:off x="3566160" y="4599432"/>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4" name=""/>
          <p:cNvSpPr>
            <a:spLocks noGrp="1"/>
          </p:cNvSpPr>
          <p:nvPr>
          </p:nvPr>
        </p:nvSpPr>
        <p:spPr>
          <a:xfrm>
            <a:off x="3703320" y="4654296"/>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Ingesting a dataset</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add a dataset, build an app</a:t>
            </a:r>
          </a:p>
        </p:txBody>
      </p:sp>
      <p:sp>
        <p:nvSpPr>
          <p:cNvPr id="35" name=""/>
          <p:cNvSpPr>
            <a:spLocks noGrp="1"/>
          </p:cNvSpPr>
          <p:nvPr>
          </p:nvPr>
        </p:nvSpPr>
        <p:spPr>
          <a:xfrm>
            <a:off x="3328416" y="544982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6" name=""/>
          <p:cNvSpPr>
            <a:spLocks noGrp="1"/>
          </p:cNvSpPr>
          <p:nvPr>
          </p:nvPr>
        </p:nvSpPr>
        <p:spPr>
          <a:xfrm>
            <a:off x="3566160" y="5257800"/>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7" name=""/>
          <p:cNvSpPr>
            <a:spLocks noGrp="1"/>
          </p:cNvSpPr>
          <p:nvPr>
          </p:nvPr>
        </p:nvSpPr>
        <p:spPr>
          <a:xfrm>
            <a:off x="3703320" y="5312664"/>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The data management plan</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the plan and its status</a:t>
            </a:r>
          </a:p>
        </p:txBody>
      </p:sp>
      <p:sp>
        <p:nvSpPr>
          <p:cNvPr id="38" name=""/>
          <p:cNvSpPr>
            <a:spLocks noGrp="1"/>
          </p:cNvSpPr>
          <p:nvPr>
          </p:nvPr>
        </p:nvSpPr>
        <p:spPr>
          <a:xfrm>
            <a:off x="548640" y="5916168"/>
            <a:ext cx="11094415" cy="36576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Each one starts at its own door. None needs to know how the rest of it works.</a:t>
            </a:r>
          </a:p>
        </p:txBody>
      </p:sp>
      <p:sp>
        <p:nvSpPr>
          <p:cNvPr id="3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4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calcofi.io/docs · Which door is yours</a:t>
            </a:r>
          </a:p>
        </p:txBody>
      </p:sp>
      <p:sp>
        <p:nvSpPr>
          <p:cNvPr id="4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3 · WHO YOU ARE, YOUR DOOR, ONE DATABASE, THE PORTALS · STEP 3 OF 4</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Behind every door, one database</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572768"/>
            <a:ext cx="27432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WHO YOU ARE</a:t>
            </a:r>
          </a:p>
        </p:txBody>
      </p:sp>
      <p:sp>
        <p:nvSpPr>
          <p:cNvPr id="6" name=""/>
          <p:cNvSpPr>
            <a:spLocks noGrp="1"/>
          </p:cNvSpPr>
          <p:nvPr>
          </p:nvPr>
        </p:nvSpPr>
        <p:spPr>
          <a:xfrm>
            <a:off x="3566160" y="1572768"/>
            <a:ext cx="27432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YOUR DOOR</a:t>
            </a:r>
          </a:p>
        </p:txBody>
      </p:sp>
      <p:sp>
        <p:nvSpPr>
          <p:cNvPr id="7" name=""/>
          <p:cNvSpPr>
            <a:spLocks noGrp="1"/>
          </p:cNvSpPr>
          <p:nvPr>
          </p:nvPr>
        </p:nvSpPr>
        <p:spPr>
          <a:xfrm>
            <a:off x="6583680" y="1572768"/>
            <a:ext cx="237744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ONE DATABASE</a:t>
            </a:r>
          </a:p>
        </p:txBody>
      </p:sp>
      <p:sp>
        <p:nvSpPr>
          <p:cNvPr id="8" name=""/>
          <p:cNvSpPr>
            <a:spLocks noGrp="1"/>
          </p:cNvSpPr>
          <p:nvPr>
          </p:nvPr>
        </p:nvSpPr>
        <p:spPr>
          <a:xfrm>
            <a:off x="6583680" y="1847088"/>
            <a:ext cx="640080" cy="45720"/>
          </a:xfrm>
          <a:prstGeom prst="rect">
            <a:avLst/>
          </a:prstGeom>
          <a:solidFill>
            <a:srgbClr val="FFCD00">
              <a:alpha val="100000"/>
            </a:srgbClr>
          </a:solidFill>
          <a:ln w="9525" cap="rnd" cmpd="sng">
            <a:solidFill>
              <a:srgbClr val="FFCD00">
                <a:alpha val="100000"/>
              </a:srgbClr>
            </a:solidFill>
            <a:prstDash val="solid"/>
            <a:round/>
            <a:headEnd type="none" w="med" len="med"/>
            <a:tailEnd type="none" w="med" len="med"/>
          </a:ln>
        </p:spPr>
      </p:sp>
      <p:sp>
        <p:nvSpPr>
          <p:cNvPr id="9" name=""/>
          <p:cNvSpPr>
            <a:spLocks noGrp="1"/>
          </p:cNvSpPr>
          <p:nvPr>
          </p:nvPr>
        </p:nvSpPr>
        <p:spPr>
          <a:xfrm>
            <a:off x="548640" y="1965960"/>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0" name=""/>
          <p:cNvSpPr>
            <a:spLocks noGrp="1"/>
          </p:cNvSpPr>
          <p:nvPr>
          </p:nvPr>
        </p:nvSpPr>
        <p:spPr>
          <a:xfrm>
            <a:off x="685800" y="2020824"/>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Curious about the ocean off California, or a scientist</a:t>
            </a:r>
          </a:p>
        </p:txBody>
      </p:sp>
      <p:sp>
        <p:nvSpPr>
          <p:cNvPr id="11" name=""/>
          <p:cNvSpPr>
            <a:spLocks noGrp="1"/>
          </p:cNvSpPr>
          <p:nvPr>
          </p:nvPr>
        </p:nvSpPr>
        <p:spPr>
          <a:xfrm>
            <a:off x="548640" y="2624328"/>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2" name=""/>
          <p:cNvSpPr>
            <a:spLocks noGrp="1"/>
          </p:cNvSpPr>
          <p:nvPr>
          </p:nvPr>
        </p:nvSpPr>
        <p:spPr>
          <a:xfrm>
            <a:off x="685800" y="2779776"/>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A data scientist writing queries</a:t>
            </a:r>
          </a:p>
        </p:txBody>
      </p:sp>
      <p:sp>
        <p:nvSpPr>
          <p:cNvPr id="13" name=""/>
          <p:cNvSpPr>
            <a:spLocks noGrp="1"/>
          </p:cNvSpPr>
          <p:nvPr>
          </p:nvPr>
        </p:nvSpPr>
        <p:spPr>
          <a:xfrm>
            <a:off x="548640" y="3282696"/>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4" name=""/>
          <p:cNvSpPr>
            <a:spLocks noGrp="1"/>
          </p:cNvSpPr>
          <p:nvPr>
          </p:nvPr>
        </p:nvSpPr>
        <p:spPr>
          <a:xfrm>
            <a:off x="685800" y="3438144"/>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A data provider, now or in future</a:t>
            </a:r>
          </a:p>
        </p:txBody>
      </p:sp>
      <p:sp>
        <p:nvSpPr>
          <p:cNvPr id="15" name=""/>
          <p:cNvSpPr>
            <a:spLocks noGrp="1"/>
          </p:cNvSpPr>
          <p:nvPr>
          </p:nvPr>
        </p:nvSpPr>
        <p:spPr>
          <a:xfrm>
            <a:off x="548640" y="3941064"/>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6" name=""/>
          <p:cNvSpPr>
            <a:spLocks noGrp="1"/>
          </p:cNvSpPr>
          <p:nvPr>
          </p:nvPr>
        </p:nvSpPr>
        <p:spPr>
          <a:xfrm>
            <a:off x="685800" y="4096512"/>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On the CTD team</a:t>
            </a:r>
          </a:p>
        </p:txBody>
      </p:sp>
      <p:sp>
        <p:nvSpPr>
          <p:cNvPr id="17" name=""/>
          <p:cNvSpPr>
            <a:spLocks noGrp="1"/>
          </p:cNvSpPr>
          <p:nvPr>
          </p:nvPr>
        </p:nvSpPr>
        <p:spPr>
          <a:xfrm>
            <a:off x="548640" y="4599432"/>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8" name=""/>
          <p:cNvSpPr>
            <a:spLocks noGrp="1"/>
          </p:cNvSpPr>
          <p:nvPr>
          </p:nvPr>
        </p:nvSpPr>
        <p:spPr>
          <a:xfrm>
            <a:off x="685800" y="4654296"/>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On the data team, or building a CalCOFI product</a:t>
            </a:r>
          </a:p>
        </p:txBody>
      </p:sp>
      <p:sp>
        <p:nvSpPr>
          <p:cNvPr id="19" name=""/>
          <p:cNvSpPr>
            <a:spLocks noGrp="1"/>
          </p:cNvSpPr>
          <p:nvPr>
          </p:nvPr>
        </p:nvSpPr>
        <p:spPr>
          <a:xfrm>
            <a:off x="548640" y="5257800"/>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20" name=""/>
          <p:cNvSpPr>
            <a:spLocks noGrp="1"/>
          </p:cNvSpPr>
          <p:nvPr>
          </p:nvPr>
        </p:nvSpPr>
        <p:spPr>
          <a:xfrm>
            <a:off x="685800" y="5413248"/>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Reporting on the program</a:t>
            </a:r>
          </a:p>
        </p:txBody>
      </p:sp>
      <p:sp>
        <p:nvSpPr>
          <p:cNvPr id="21" name=""/>
          <p:cNvSpPr>
            <a:spLocks noGrp="1"/>
          </p:cNvSpPr>
          <p:nvPr>
          </p:nvPr>
        </p:nvSpPr>
        <p:spPr>
          <a:xfrm>
            <a:off x="3328416" y="215798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2" name=""/>
          <p:cNvSpPr>
            <a:spLocks noGrp="1"/>
          </p:cNvSpPr>
          <p:nvPr>
          </p:nvPr>
        </p:nvSpPr>
        <p:spPr>
          <a:xfrm>
            <a:off x="3566160" y="1965960"/>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23" name=""/>
          <p:cNvSpPr>
            <a:spLocks noGrp="1"/>
          </p:cNvSpPr>
          <p:nvPr>
          </p:nvPr>
        </p:nvSpPr>
        <p:spPr>
          <a:xfrm>
            <a:off x="3703320" y="2020824"/>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Explore</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see the data on a map, in a browser</a:t>
            </a:r>
          </a:p>
        </p:txBody>
      </p:sp>
      <p:sp>
        <p:nvSpPr>
          <p:cNvPr id="24" name=""/>
          <p:cNvSpPr>
            <a:spLocks noGrp="1"/>
          </p:cNvSpPr>
          <p:nvPr>
          </p:nvPr>
        </p:nvSpPr>
        <p:spPr>
          <a:xfrm>
            <a:off x="3328416" y="2816352"/>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5" name=""/>
          <p:cNvSpPr>
            <a:spLocks noGrp="1"/>
          </p:cNvSpPr>
          <p:nvPr>
          </p:nvPr>
        </p:nvSpPr>
        <p:spPr>
          <a:xfrm>
            <a:off x="3566160" y="2624328"/>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26" name=""/>
          <p:cNvSpPr>
            <a:spLocks noGrp="1"/>
          </p:cNvSpPr>
          <p:nvPr>
          </p:nvPr>
        </p:nvSpPr>
        <p:spPr>
          <a:xfrm>
            <a:off x="3703320" y="2679192"/>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Access the data</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R, Python and open files</a:t>
            </a:r>
          </a:p>
        </p:txBody>
      </p:sp>
      <p:sp>
        <p:nvSpPr>
          <p:cNvPr id="27" name=""/>
          <p:cNvSpPr>
            <a:spLocks noGrp="1"/>
          </p:cNvSpPr>
          <p:nvPr>
          </p:nvPr>
        </p:nvSpPr>
        <p:spPr>
          <a:xfrm>
            <a:off x="3328416" y="3474720"/>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8" name=""/>
          <p:cNvSpPr>
            <a:spLocks noGrp="1"/>
          </p:cNvSpPr>
          <p:nvPr>
          </p:nvPr>
        </p:nvSpPr>
        <p:spPr>
          <a:xfrm>
            <a:off x="3566160" y="3282696"/>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29" name=""/>
          <p:cNvSpPr>
            <a:spLocks noGrp="1"/>
          </p:cNvSpPr>
          <p:nvPr>
          </p:nvPr>
        </p:nvSpPr>
        <p:spPr>
          <a:xfrm>
            <a:off x="3703320" y="3337560"/>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Providing data to CalCOFI</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send us your data, step by step</a:t>
            </a:r>
          </a:p>
        </p:txBody>
      </p:sp>
      <p:sp>
        <p:nvSpPr>
          <p:cNvPr id="30" name=""/>
          <p:cNvSpPr>
            <a:spLocks noGrp="1"/>
          </p:cNvSpPr>
          <p:nvPr>
          </p:nvPr>
        </p:nvSpPr>
        <p:spPr>
          <a:xfrm>
            <a:off x="3328416" y="4133088"/>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1" name=""/>
          <p:cNvSpPr>
            <a:spLocks noGrp="1"/>
          </p:cNvSpPr>
          <p:nvPr>
          </p:nvPr>
        </p:nvSpPr>
        <p:spPr>
          <a:xfrm>
            <a:off x="3566160" y="3941064"/>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2" name=""/>
          <p:cNvSpPr>
            <a:spLocks noGrp="1"/>
          </p:cNvSpPr>
          <p:nvPr>
          </p:nvPr>
        </p:nvSpPr>
        <p:spPr>
          <a:xfrm>
            <a:off x="3703320" y="3995928"/>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CTD QA/QC, start to release</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quality control, cast to release</a:t>
            </a:r>
          </a:p>
        </p:txBody>
      </p:sp>
      <p:sp>
        <p:nvSpPr>
          <p:cNvPr id="33" name=""/>
          <p:cNvSpPr>
            <a:spLocks noGrp="1"/>
          </p:cNvSpPr>
          <p:nvPr>
          </p:nvPr>
        </p:nvSpPr>
        <p:spPr>
          <a:xfrm>
            <a:off x="3328416" y="4791456"/>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4" name=""/>
          <p:cNvSpPr>
            <a:spLocks noGrp="1"/>
          </p:cNvSpPr>
          <p:nvPr>
          </p:nvPr>
        </p:nvSpPr>
        <p:spPr>
          <a:xfrm>
            <a:off x="3566160" y="4599432"/>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5" name=""/>
          <p:cNvSpPr>
            <a:spLocks noGrp="1"/>
          </p:cNvSpPr>
          <p:nvPr>
          </p:nvPr>
        </p:nvSpPr>
        <p:spPr>
          <a:xfrm>
            <a:off x="3703320" y="4654296"/>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Ingesting a dataset</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add a dataset, build an app</a:t>
            </a:r>
          </a:p>
        </p:txBody>
      </p:sp>
      <p:sp>
        <p:nvSpPr>
          <p:cNvPr id="36" name=""/>
          <p:cNvSpPr>
            <a:spLocks noGrp="1"/>
          </p:cNvSpPr>
          <p:nvPr>
          </p:nvPr>
        </p:nvSpPr>
        <p:spPr>
          <a:xfrm>
            <a:off x="3328416" y="544982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7" name=""/>
          <p:cNvSpPr>
            <a:spLocks noGrp="1"/>
          </p:cNvSpPr>
          <p:nvPr>
          </p:nvPr>
        </p:nvSpPr>
        <p:spPr>
          <a:xfrm>
            <a:off x="3566160" y="5257800"/>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8" name=""/>
          <p:cNvSpPr>
            <a:spLocks noGrp="1"/>
          </p:cNvSpPr>
          <p:nvPr>
          </p:nvPr>
        </p:nvSpPr>
        <p:spPr>
          <a:xfrm>
            <a:off x="3703320" y="5312664"/>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The data management plan</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the plan and its status</a:t>
            </a:r>
          </a:p>
        </p:txBody>
      </p:sp>
      <p:sp>
        <p:nvSpPr>
          <p:cNvPr id="39" name=""/>
          <p:cNvSpPr>
            <a:spLocks noGrp="1"/>
          </p:cNvSpPr>
          <p:nvPr>
          </p:nvPr>
        </p:nvSpPr>
        <p:spPr>
          <a:xfrm>
            <a:off x="6345936" y="215798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0" name=""/>
          <p:cNvSpPr>
            <a:spLocks noGrp="1"/>
          </p:cNvSpPr>
          <p:nvPr>
          </p:nvPr>
        </p:nvSpPr>
        <p:spPr>
          <a:xfrm>
            <a:off x="6345936" y="2816352"/>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1" name=""/>
          <p:cNvSpPr>
            <a:spLocks noGrp="1"/>
          </p:cNvSpPr>
          <p:nvPr>
          </p:nvPr>
        </p:nvSpPr>
        <p:spPr>
          <a:xfrm>
            <a:off x="6345936" y="3474720"/>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2" name=""/>
          <p:cNvSpPr>
            <a:spLocks noGrp="1"/>
          </p:cNvSpPr>
          <p:nvPr>
          </p:nvPr>
        </p:nvSpPr>
        <p:spPr>
          <a:xfrm>
            <a:off x="6345936" y="4133088"/>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3" name=""/>
          <p:cNvSpPr>
            <a:spLocks noGrp="1"/>
          </p:cNvSpPr>
          <p:nvPr>
          </p:nvPr>
        </p:nvSpPr>
        <p:spPr>
          <a:xfrm>
            <a:off x="6345936" y="4791456"/>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4" name=""/>
          <p:cNvSpPr>
            <a:spLocks noGrp="1"/>
          </p:cNvSpPr>
          <p:nvPr>
          </p:nvPr>
        </p:nvSpPr>
        <p:spPr>
          <a:xfrm>
            <a:off x="6345936" y="544982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5" name=""/>
          <p:cNvSpPr>
            <a:spLocks noGrp="1"/>
          </p:cNvSpPr>
          <p:nvPr>
          </p:nvPr>
        </p:nvSpPr>
        <p:spPr>
          <a:xfrm>
            <a:off x="6583680" y="1965960"/>
            <a:ext cx="2377440" cy="385876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46" name=""/>
          <p:cNvSpPr>
            <a:spLocks noGrp="1"/>
          </p:cNvSpPr>
          <p:nvPr>
          </p:nvPr>
        </p:nvSpPr>
        <p:spPr>
          <a:xfrm>
            <a:off x="6766560" y="2148840"/>
            <a:ext cx="2011680" cy="1097280"/>
          </a:xfrm>
        </p:spPr>
        <p:txBody>
          <a:bodyPr/>
          <a:lstStyle/>
          <a:p>
            <a:pPr algn="l" marL="0" marR="0">
              <a:lnSpc>
                <a:spcPct val="90000"/>
              </a:lnSpc>
              <a:spcBef>
                <a:spcPts val="0"/>
              </a:spcBef>
              <a:spcAft>
                <a:spcPts val="0"/>
              </a:spcAft>
              <a:buNone/>
            </a:pPr>
            <a:r>
              <a:rPr cap="none" sz="2200" i="0" b="0" u="none" strike="noStrike">
                <a:solidFill>
                  <a:srgbClr val="FFFFFF">
                    <a:alpha val="100000"/>
                  </a:srgbClr>
                </a:solidFill>
                <a:latin typeface="Teko"/>
                <a:cs typeface="Teko"/>
                <a:ea typeface="Teko"/>
                <a:sym typeface="Teko"/>
              </a:rPr>
              <a:t>ONE</a:t>
            </a:r>
          </a:p>
          <a:p>
            <a:pPr algn="l" marL="0" marR="0">
              <a:lnSpc>
                <a:spcPct val="90000"/>
              </a:lnSpc>
              <a:spcBef>
                <a:spcPts val="0"/>
              </a:spcBef>
              <a:spcAft>
                <a:spcPts val="0"/>
              </a:spcAft>
              <a:buNone/>
            </a:pPr>
            <a:r>
              <a:rPr cap="none" sz="2200" i="0" b="0" u="none" strike="noStrike">
                <a:solidFill>
                  <a:srgbClr val="FFFFFF">
                    <a:alpha val="100000"/>
                  </a:srgbClr>
                </a:solidFill>
                <a:latin typeface="Teko"/>
                <a:cs typeface="Teko"/>
                <a:ea typeface="Teko"/>
                <a:sym typeface="Teko"/>
              </a:rPr>
              <a:t>DATABASE</a:t>
            </a:r>
          </a:p>
        </p:txBody>
      </p:sp>
      <p:sp>
        <p:nvSpPr>
          <p:cNvPr id="47" name=""/>
          <p:cNvSpPr>
            <a:spLocks noGrp="1"/>
          </p:cNvSpPr>
          <p:nvPr>
          </p:nvPr>
        </p:nvSpPr>
        <p:spPr>
          <a:xfrm>
            <a:off x="6766560" y="3246120"/>
            <a:ext cx="2011680" cy="2468880"/>
          </a:xfrm>
        </p:spPr>
        <p:txBody>
          <a:bodyPr/>
          <a:lstStyle/>
          <a:p>
            <a:pPr algn="l" marL="0" marR="0">
              <a:lnSpc>
                <a:spcPct val="105000"/>
              </a:lnSpc>
              <a:spcBef>
                <a:spcPts val="0"/>
              </a:spcBef>
              <a:spcAft>
                <a:spcPts val="200"/>
              </a:spcAft>
              <a:buNone/>
            </a:pPr>
            <a:r>
              <a:rPr cap="none" sz="1600" i="0" b="1" u="none" strike="noStrike">
                <a:solidFill>
                  <a:srgbClr val="FFFFFF">
                    <a:alpha val="100000"/>
                  </a:srgbClr>
                </a:solidFill>
                <a:latin typeface="Source Sans 3"/>
                <a:cs typeface="Source Sans 3"/>
                <a:ea typeface="Source Sans 3"/>
                <a:sym typeface="Source Sans 3"/>
              </a:rPr>
              <a:t>17 datasets</a:t>
            </a:r>
          </a:p>
          <a:p>
            <a:pPr algn="l" marL="0" marR="0">
              <a:lnSpc>
                <a:spcPct val="105000"/>
              </a:lnSpc>
              <a:spcBef>
                <a:spcPts val="0"/>
              </a:spcBef>
              <a:spcAft>
                <a:spcPts val="1000"/>
              </a:spcAft>
              <a:buNone/>
            </a:pPr>
            <a:r>
              <a:rPr cap="none" sz="1600" i="0" b="1" u="none" strike="noStrike">
                <a:solidFill>
                  <a:srgbClr val="FFFFFF">
                    <a:alpha val="100000"/>
                  </a:srgbClr>
                </a:solidFill>
                <a:latin typeface="Source Sans 3"/>
                <a:cs typeface="Source Sans 3"/>
                <a:ea typeface="Source Sans 3"/>
                <a:sym typeface="Source Sans 3"/>
              </a:rPr>
              <a:t>77 years</a:t>
            </a:r>
          </a:p>
          <a:p>
            <a:pPr algn="l" marL="0" marR="0">
              <a:lnSpc>
                <a:spcPct val="105000"/>
              </a:lnSpc>
              <a:spcBef>
                <a:spcPts val="0"/>
              </a:spcBef>
              <a:spcAft>
                <a:spcPts val="1000"/>
              </a:spcAft>
              <a:buNone/>
            </a:pPr>
            <a:r>
              <a:rPr cap="none" sz="1300" i="0" b="0" u="none" strike="noStrike">
                <a:solidFill>
                  <a:srgbClr val="FFFFFF">
                    <a:alpha val="100000"/>
                  </a:srgbClr>
                </a:solidFill>
                <a:latin typeface="Source Sans 3"/>
                <a:cs typeface="Source Sans 3"/>
                <a:ea typeface="Source Sans 3"/>
                <a:sym typeface="Source Sans 3"/>
              </a:rPr>
              <a:t>One record per dataset, frozen, fingerprinted and citable with a DOI.</a:t>
            </a:r>
          </a:p>
          <a:p>
            <a:pPr algn="l" marL="0" marR="0">
              <a:lnSpc>
                <a:spcPct val="105000"/>
              </a:lnSpc>
              <a:spcBef>
                <a:spcPts val="0"/>
              </a:spcBef>
              <a:spcAft>
                <a:spcPts val="0"/>
              </a:spcAft>
              <a:buNone/>
            </a:pPr>
            <a:r>
              <a:rPr cap="none" sz="1150" i="0" b="0" u="none" strike="noStrike">
                <a:solidFill>
                  <a:srgbClr val="B6B1A9">
                    <a:alpha val="100000"/>
                  </a:srgbClr>
                </a:solidFill>
                <a:latin typeface="Source Sans 3"/>
                <a:cs typeface="Source Sans 3"/>
                <a:ea typeface="Source Sans 3"/>
                <a:sym typeface="Source Sans 3"/>
              </a:rPr>
              <a:t>Release v2026.10.01</a:t>
            </a:r>
          </a:p>
        </p:txBody>
      </p:sp>
      <p:sp>
        <p:nvSpPr>
          <p:cNvPr id="48" name=""/>
          <p:cNvSpPr>
            <a:spLocks noGrp="1"/>
          </p:cNvSpPr>
          <p:nvPr>
          </p:nvPr>
        </p:nvSpPr>
        <p:spPr>
          <a:xfrm>
            <a:off x="548640" y="5916168"/>
            <a:ext cx="11094415" cy="36576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All the doors lead to the same place, so a number is the same wherever you read it.</a:t>
            </a:r>
          </a:p>
        </p:txBody>
      </p:sp>
      <p:sp>
        <p:nvSpPr>
          <p:cNvPr id="4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5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calcofi.io/docs · Which door is yours</a:t>
            </a:r>
          </a:p>
        </p:txBody>
      </p:sp>
      <p:sp>
        <p:nvSpPr>
          <p:cNvPr id="5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3 · WHO YOU ARE, YOUR DOOR, ONE DATABASE, THE PORTALS · STEP 4 OF 4</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CalOOS and the portals read from it</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572768"/>
            <a:ext cx="27432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WHO YOU ARE</a:t>
            </a:r>
          </a:p>
        </p:txBody>
      </p:sp>
      <p:sp>
        <p:nvSpPr>
          <p:cNvPr id="6" name=""/>
          <p:cNvSpPr>
            <a:spLocks noGrp="1"/>
          </p:cNvSpPr>
          <p:nvPr>
          </p:nvPr>
        </p:nvSpPr>
        <p:spPr>
          <a:xfrm>
            <a:off x="3566160" y="1572768"/>
            <a:ext cx="27432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YOUR DOOR</a:t>
            </a:r>
          </a:p>
        </p:txBody>
      </p:sp>
      <p:sp>
        <p:nvSpPr>
          <p:cNvPr id="7" name=""/>
          <p:cNvSpPr>
            <a:spLocks noGrp="1"/>
          </p:cNvSpPr>
          <p:nvPr>
          </p:nvPr>
        </p:nvSpPr>
        <p:spPr>
          <a:xfrm>
            <a:off x="6583680" y="1572768"/>
            <a:ext cx="237744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ONE DATABASE</a:t>
            </a:r>
          </a:p>
        </p:txBody>
      </p:sp>
      <p:sp>
        <p:nvSpPr>
          <p:cNvPr id="8" name=""/>
          <p:cNvSpPr>
            <a:spLocks noGrp="1"/>
          </p:cNvSpPr>
          <p:nvPr>
          </p:nvPr>
        </p:nvSpPr>
        <p:spPr>
          <a:xfrm>
            <a:off x="9235440" y="1572768"/>
            <a:ext cx="240761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THE PORTALS</a:t>
            </a:r>
          </a:p>
        </p:txBody>
      </p:sp>
      <p:sp>
        <p:nvSpPr>
          <p:cNvPr id="9" name=""/>
          <p:cNvSpPr>
            <a:spLocks noGrp="1"/>
          </p:cNvSpPr>
          <p:nvPr>
          </p:nvPr>
        </p:nvSpPr>
        <p:spPr>
          <a:xfrm>
            <a:off x="9235440" y="1847088"/>
            <a:ext cx="640080" cy="45720"/>
          </a:xfrm>
          <a:prstGeom prst="rect">
            <a:avLst/>
          </a:prstGeom>
          <a:solidFill>
            <a:srgbClr val="FFCD00">
              <a:alpha val="100000"/>
            </a:srgbClr>
          </a:solidFill>
          <a:ln w="9525" cap="rnd" cmpd="sng">
            <a:solidFill>
              <a:srgbClr val="FFCD00">
                <a:alpha val="100000"/>
              </a:srgbClr>
            </a:solidFill>
            <a:prstDash val="solid"/>
            <a:round/>
            <a:headEnd type="none" w="med" len="med"/>
            <a:tailEnd type="none" w="med" len="med"/>
          </a:ln>
        </p:spPr>
      </p:sp>
      <p:sp>
        <p:nvSpPr>
          <p:cNvPr id="10" name=""/>
          <p:cNvSpPr>
            <a:spLocks noGrp="1"/>
          </p:cNvSpPr>
          <p:nvPr>
          </p:nvPr>
        </p:nvSpPr>
        <p:spPr>
          <a:xfrm>
            <a:off x="548640" y="1965960"/>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1" name=""/>
          <p:cNvSpPr>
            <a:spLocks noGrp="1"/>
          </p:cNvSpPr>
          <p:nvPr>
          </p:nvPr>
        </p:nvSpPr>
        <p:spPr>
          <a:xfrm>
            <a:off x="685800" y="2020824"/>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Curious about the ocean off California, or a scientist</a:t>
            </a:r>
          </a:p>
        </p:txBody>
      </p:sp>
      <p:sp>
        <p:nvSpPr>
          <p:cNvPr id="12" name=""/>
          <p:cNvSpPr>
            <a:spLocks noGrp="1"/>
          </p:cNvSpPr>
          <p:nvPr>
          </p:nvPr>
        </p:nvSpPr>
        <p:spPr>
          <a:xfrm>
            <a:off x="548640" y="2624328"/>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3" name=""/>
          <p:cNvSpPr>
            <a:spLocks noGrp="1"/>
          </p:cNvSpPr>
          <p:nvPr>
          </p:nvPr>
        </p:nvSpPr>
        <p:spPr>
          <a:xfrm>
            <a:off x="685800" y="2779776"/>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A data scientist writing queries</a:t>
            </a:r>
          </a:p>
        </p:txBody>
      </p:sp>
      <p:sp>
        <p:nvSpPr>
          <p:cNvPr id="14" name=""/>
          <p:cNvSpPr>
            <a:spLocks noGrp="1"/>
          </p:cNvSpPr>
          <p:nvPr>
          </p:nvPr>
        </p:nvSpPr>
        <p:spPr>
          <a:xfrm>
            <a:off x="548640" y="3282696"/>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5" name=""/>
          <p:cNvSpPr>
            <a:spLocks noGrp="1"/>
          </p:cNvSpPr>
          <p:nvPr>
          </p:nvPr>
        </p:nvSpPr>
        <p:spPr>
          <a:xfrm>
            <a:off x="685800" y="3438144"/>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A data provider, now or in future</a:t>
            </a:r>
          </a:p>
        </p:txBody>
      </p:sp>
      <p:sp>
        <p:nvSpPr>
          <p:cNvPr id="16" name=""/>
          <p:cNvSpPr>
            <a:spLocks noGrp="1"/>
          </p:cNvSpPr>
          <p:nvPr>
          </p:nvPr>
        </p:nvSpPr>
        <p:spPr>
          <a:xfrm>
            <a:off x="548640" y="3941064"/>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7" name=""/>
          <p:cNvSpPr>
            <a:spLocks noGrp="1"/>
          </p:cNvSpPr>
          <p:nvPr>
          </p:nvPr>
        </p:nvSpPr>
        <p:spPr>
          <a:xfrm>
            <a:off x="685800" y="4096512"/>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On the CTD team</a:t>
            </a:r>
          </a:p>
        </p:txBody>
      </p:sp>
      <p:sp>
        <p:nvSpPr>
          <p:cNvPr id="18" name=""/>
          <p:cNvSpPr>
            <a:spLocks noGrp="1"/>
          </p:cNvSpPr>
          <p:nvPr>
          </p:nvPr>
        </p:nvSpPr>
        <p:spPr>
          <a:xfrm>
            <a:off x="548640" y="4599432"/>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9" name=""/>
          <p:cNvSpPr>
            <a:spLocks noGrp="1"/>
          </p:cNvSpPr>
          <p:nvPr>
          </p:nvPr>
        </p:nvSpPr>
        <p:spPr>
          <a:xfrm>
            <a:off x="685800" y="4654296"/>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On the data team, or building a CalCOFI product</a:t>
            </a:r>
          </a:p>
        </p:txBody>
      </p:sp>
      <p:sp>
        <p:nvSpPr>
          <p:cNvPr id="20" name=""/>
          <p:cNvSpPr>
            <a:spLocks noGrp="1"/>
          </p:cNvSpPr>
          <p:nvPr>
          </p:nvPr>
        </p:nvSpPr>
        <p:spPr>
          <a:xfrm>
            <a:off x="548640" y="5257800"/>
            <a:ext cx="2743200" cy="566928"/>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21" name=""/>
          <p:cNvSpPr>
            <a:spLocks noGrp="1"/>
          </p:cNvSpPr>
          <p:nvPr>
          </p:nvPr>
        </p:nvSpPr>
        <p:spPr>
          <a:xfrm>
            <a:off x="685800" y="5413248"/>
            <a:ext cx="2468880" cy="475488"/>
          </a:xfrm>
        </p:spPr>
        <p:txBody>
          <a:bodyPr/>
          <a:lstStyle/>
          <a:p>
            <a:pPr algn="l" marL="0" marR="0">
              <a:lnSpc>
                <a:spcPct val="100000"/>
              </a:lnSpc>
              <a:spcBef>
                <a:spcPts val="0"/>
              </a:spcBef>
              <a:spcAft>
                <a:spcPts val="0"/>
              </a:spcAft>
              <a:buNone/>
            </a:pPr>
            <a:r>
              <a:rPr cap="none" sz="1250" i="0" b="0" u="none" strike="noStrike">
                <a:solidFill>
                  <a:srgbClr val="182B49">
                    <a:alpha val="100000"/>
                  </a:srgbClr>
                </a:solidFill>
                <a:latin typeface="Source Sans 3"/>
                <a:cs typeface="Source Sans 3"/>
                <a:ea typeface="Source Sans 3"/>
                <a:sym typeface="Source Sans 3"/>
              </a:rPr>
              <a:t>Reporting on the program</a:t>
            </a:r>
          </a:p>
        </p:txBody>
      </p:sp>
      <p:sp>
        <p:nvSpPr>
          <p:cNvPr id="22" name=""/>
          <p:cNvSpPr>
            <a:spLocks noGrp="1"/>
          </p:cNvSpPr>
          <p:nvPr>
          </p:nvPr>
        </p:nvSpPr>
        <p:spPr>
          <a:xfrm>
            <a:off x="3328416" y="215798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3" name=""/>
          <p:cNvSpPr>
            <a:spLocks noGrp="1"/>
          </p:cNvSpPr>
          <p:nvPr>
          </p:nvPr>
        </p:nvSpPr>
        <p:spPr>
          <a:xfrm>
            <a:off x="3566160" y="1965960"/>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24" name=""/>
          <p:cNvSpPr>
            <a:spLocks noGrp="1"/>
          </p:cNvSpPr>
          <p:nvPr>
          </p:nvPr>
        </p:nvSpPr>
        <p:spPr>
          <a:xfrm>
            <a:off x="3703320" y="2020824"/>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Explore</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see the data on a map, in a browser</a:t>
            </a:r>
          </a:p>
        </p:txBody>
      </p:sp>
      <p:sp>
        <p:nvSpPr>
          <p:cNvPr id="25" name=""/>
          <p:cNvSpPr>
            <a:spLocks noGrp="1"/>
          </p:cNvSpPr>
          <p:nvPr>
          </p:nvPr>
        </p:nvSpPr>
        <p:spPr>
          <a:xfrm>
            <a:off x="3328416" y="2816352"/>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6" name=""/>
          <p:cNvSpPr>
            <a:spLocks noGrp="1"/>
          </p:cNvSpPr>
          <p:nvPr>
          </p:nvPr>
        </p:nvSpPr>
        <p:spPr>
          <a:xfrm>
            <a:off x="3566160" y="2624328"/>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27" name=""/>
          <p:cNvSpPr>
            <a:spLocks noGrp="1"/>
          </p:cNvSpPr>
          <p:nvPr>
          </p:nvPr>
        </p:nvSpPr>
        <p:spPr>
          <a:xfrm>
            <a:off x="3703320" y="2679192"/>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Access the data</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R, Python and open files</a:t>
            </a:r>
          </a:p>
        </p:txBody>
      </p:sp>
      <p:sp>
        <p:nvSpPr>
          <p:cNvPr id="28" name=""/>
          <p:cNvSpPr>
            <a:spLocks noGrp="1"/>
          </p:cNvSpPr>
          <p:nvPr>
          </p:nvPr>
        </p:nvSpPr>
        <p:spPr>
          <a:xfrm>
            <a:off x="3328416" y="3474720"/>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29" name=""/>
          <p:cNvSpPr>
            <a:spLocks noGrp="1"/>
          </p:cNvSpPr>
          <p:nvPr>
          </p:nvPr>
        </p:nvSpPr>
        <p:spPr>
          <a:xfrm>
            <a:off x="3566160" y="3282696"/>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0" name=""/>
          <p:cNvSpPr>
            <a:spLocks noGrp="1"/>
          </p:cNvSpPr>
          <p:nvPr>
          </p:nvPr>
        </p:nvSpPr>
        <p:spPr>
          <a:xfrm>
            <a:off x="3703320" y="3337560"/>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Providing data to CalCOFI</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send us your data, step by step</a:t>
            </a:r>
          </a:p>
        </p:txBody>
      </p:sp>
      <p:sp>
        <p:nvSpPr>
          <p:cNvPr id="31" name=""/>
          <p:cNvSpPr>
            <a:spLocks noGrp="1"/>
          </p:cNvSpPr>
          <p:nvPr>
          </p:nvPr>
        </p:nvSpPr>
        <p:spPr>
          <a:xfrm>
            <a:off x="3328416" y="4133088"/>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2" name=""/>
          <p:cNvSpPr>
            <a:spLocks noGrp="1"/>
          </p:cNvSpPr>
          <p:nvPr>
          </p:nvPr>
        </p:nvSpPr>
        <p:spPr>
          <a:xfrm>
            <a:off x="3566160" y="3941064"/>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3" name=""/>
          <p:cNvSpPr>
            <a:spLocks noGrp="1"/>
          </p:cNvSpPr>
          <p:nvPr>
          </p:nvPr>
        </p:nvSpPr>
        <p:spPr>
          <a:xfrm>
            <a:off x="3703320" y="3995928"/>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CTD QA/QC, start to release</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quality control, cast to release</a:t>
            </a:r>
          </a:p>
        </p:txBody>
      </p:sp>
      <p:sp>
        <p:nvSpPr>
          <p:cNvPr id="34" name=""/>
          <p:cNvSpPr>
            <a:spLocks noGrp="1"/>
          </p:cNvSpPr>
          <p:nvPr>
          </p:nvPr>
        </p:nvSpPr>
        <p:spPr>
          <a:xfrm>
            <a:off x="3328416" y="4791456"/>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5" name=""/>
          <p:cNvSpPr>
            <a:spLocks noGrp="1"/>
          </p:cNvSpPr>
          <p:nvPr>
          </p:nvPr>
        </p:nvSpPr>
        <p:spPr>
          <a:xfrm>
            <a:off x="3566160" y="4599432"/>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6" name=""/>
          <p:cNvSpPr>
            <a:spLocks noGrp="1"/>
          </p:cNvSpPr>
          <p:nvPr>
          </p:nvPr>
        </p:nvSpPr>
        <p:spPr>
          <a:xfrm>
            <a:off x="3703320" y="4654296"/>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Ingesting a dataset</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add a dataset, build an app</a:t>
            </a:r>
          </a:p>
        </p:txBody>
      </p:sp>
      <p:sp>
        <p:nvSpPr>
          <p:cNvPr id="37" name=""/>
          <p:cNvSpPr>
            <a:spLocks noGrp="1"/>
          </p:cNvSpPr>
          <p:nvPr>
          </p:nvPr>
        </p:nvSpPr>
        <p:spPr>
          <a:xfrm>
            <a:off x="3328416" y="544982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38" name=""/>
          <p:cNvSpPr>
            <a:spLocks noGrp="1"/>
          </p:cNvSpPr>
          <p:nvPr>
          </p:nvPr>
        </p:nvSpPr>
        <p:spPr>
          <a:xfrm>
            <a:off x="3566160" y="5257800"/>
            <a:ext cx="2743200" cy="566928"/>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39" name=""/>
          <p:cNvSpPr>
            <a:spLocks noGrp="1"/>
          </p:cNvSpPr>
          <p:nvPr>
          </p:nvPr>
        </p:nvSpPr>
        <p:spPr>
          <a:xfrm>
            <a:off x="3703320" y="5312664"/>
            <a:ext cx="2468880" cy="475488"/>
          </a:xfrm>
        </p:spPr>
        <p:txBody>
          <a:bodyPr/>
          <a:lstStyle/>
          <a:p>
            <a:pPr algn="l" marL="0" marR="0">
              <a:lnSpc>
                <a:spcPct val="105000"/>
              </a:lnSpc>
              <a:spcBef>
                <a:spcPts val="0"/>
              </a:spcBef>
              <a:spcAft>
                <a:spcPts val="0"/>
              </a:spcAft>
              <a:buNone/>
            </a:pPr>
            <a:r>
              <a:rPr cap="none" sz="1300" i="0" b="1" u="none" strike="noStrike">
                <a:solidFill>
                  <a:srgbClr val="00629B">
                    <a:alpha val="100000"/>
                  </a:srgbClr>
                </a:solidFill>
                <a:latin typeface="Source Sans 3"/>
                <a:cs typeface="Source Sans 3"/>
                <a:ea typeface="Source Sans 3"/>
                <a:sym typeface="Source Sans 3"/>
              </a:rPr>
              <a:t>The data management plan</a:t>
            </a:r>
          </a:p>
          <a:p>
            <a:pPr algn="l" marL="0" marR="0">
              <a:lnSpc>
                <a:spcPct val="105000"/>
              </a:lnSpc>
              <a:spcBef>
                <a:spcPts val="0"/>
              </a:spcBef>
              <a:spcAft>
                <a:spcPts val="0"/>
              </a:spcAft>
              <a:buNone/>
            </a:pPr>
            <a:r>
              <a:rPr cap="none" sz="1050" i="0" b="0" u="none" strike="noStrike">
                <a:solidFill>
                  <a:srgbClr val="66686A">
                    <a:alpha val="100000"/>
                  </a:srgbClr>
                </a:solidFill>
                <a:latin typeface="Source Sans 3"/>
                <a:cs typeface="Source Sans 3"/>
                <a:ea typeface="Source Sans 3"/>
                <a:sym typeface="Source Sans 3"/>
              </a:rPr>
              <a:t>the plan and its status</a:t>
            </a:r>
          </a:p>
        </p:txBody>
      </p:sp>
      <p:sp>
        <p:nvSpPr>
          <p:cNvPr id="40" name=""/>
          <p:cNvSpPr>
            <a:spLocks noGrp="1"/>
          </p:cNvSpPr>
          <p:nvPr>
          </p:nvPr>
        </p:nvSpPr>
        <p:spPr>
          <a:xfrm>
            <a:off x="6345936" y="215798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1" name=""/>
          <p:cNvSpPr>
            <a:spLocks noGrp="1"/>
          </p:cNvSpPr>
          <p:nvPr>
          </p:nvPr>
        </p:nvSpPr>
        <p:spPr>
          <a:xfrm>
            <a:off x="6345936" y="2816352"/>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2" name=""/>
          <p:cNvSpPr>
            <a:spLocks noGrp="1"/>
          </p:cNvSpPr>
          <p:nvPr>
          </p:nvPr>
        </p:nvSpPr>
        <p:spPr>
          <a:xfrm>
            <a:off x="6345936" y="3474720"/>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3" name=""/>
          <p:cNvSpPr>
            <a:spLocks noGrp="1"/>
          </p:cNvSpPr>
          <p:nvPr>
          </p:nvPr>
        </p:nvSpPr>
        <p:spPr>
          <a:xfrm>
            <a:off x="6345936" y="4133088"/>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4" name=""/>
          <p:cNvSpPr>
            <a:spLocks noGrp="1"/>
          </p:cNvSpPr>
          <p:nvPr>
          </p:nvPr>
        </p:nvSpPr>
        <p:spPr>
          <a:xfrm>
            <a:off x="6345936" y="4791456"/>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5" name=""/>
          <p:cNvSpPr>
            <a:spLocks noGrp="1"/>
          </p:cNvSpPr>
          <p:nvPr>
          </p:nvPr>
        </p:nvSpPr>
        <p:spPr>
          <a:xfrm>
            <a:off x="6345936" y="544982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46" name=""/>
          <p:cNvSpPr>
            <a:spLocks noGrp="1"/>
          </p:cNvSpPr>
          <p:nvPr>
          </p:nvPr>
        </p:nvSpPr>
        <p:spPr>
          <a:xfrm>
            <a:off x="6583680" y="1965960"/>
            <a:ext cx="2377440" cy="385876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47" name=""/>
          <p:cNvSpPr>
            <a:spLocks noGrp="1"/>
          </p:cNvSpPr>
          <p:nvPr>
          </p:nvPr>
        </p:nvSpPr>
        <p:spPr>
          <a:xfrm>
            <a:off x="6766560" y="2148840"/>
            <a:ext cx="2011680" cy="1097280"/>
          </a:xfrm>
        </p:spPr>
        <p:txBody>
          <a:bodyPr/>
          <a:lstStyle/>
          <a:p>
            <a:pPr algn="l" marL="0" marR="0">
              <a:lnSpc>
                <a:spcPct val="90000"/>
              </a:lnSpc>
              <a:spcBef>
                <a:spcPts val="0"/>
              </a:spcBef>
              <a:spcAft>
                <a:spcPts val="0"/>
              </a:spcAft>
              <a:buNone/>
            </a:pPr>
            <a:r>
              <a:rPr cap="none" sz="2200" i="0" b="0" u="none" strike="noStrike">
                <a:solidFill>
                  <a:srgbClr val="FFFFFF">
                    <a:alpha val="100000"/>
                  </a:srgbClr>
                </a:solidFill>
                <a:latin typeface="Teko"/>
                <a:cs typeface="Teko"/>
                <a:ea typeface="Teko"/>
                <a:sym typeface="Teko"/>
              </a:rPr>
              <a:t>ONE</a:t>
            </a:r>
          </a:p>
          <a:p>
            <a:pPr algn="l" marL="0" marR="0">
              <a:lnSpc>
                <a:spcPct val="90000"/>
              </a:lnSpc>
              <a:spcBef>
                <a:spcPts val="0"/>
              </a:spcBef>
              <a:spcAft>
                <a:spcPts val="0"/>
              </a:spcAft>
              <a:buNone/>
            </a:pPr>
            <a:r>
              <a:rPr cap="none" sz="2200" i="0" b="0" u="none" strike="noStrike">
                <a:solidFill>
                  <a:srgbClr val="FFFFFF">
                    <a:alpha val="100000"/>
                  </a:srgbClr>
                </a:solidFill>
                <a:latin typeface="Teko"/>
                <a:cs typeface="Teko"/>
                <a:ea typeface="Teko"/>
                <a:sym typeface="Teko"/>
              </a:rPr>
              <a:t>DATABASE</a:t>
            </a:r>
          </a:p>
        </p:txBody>
      </p:sp>
      <p:sp>
        <p:nvSpPr>
          <p:cNvPr id="48" name=""/>
          <p:cNvSpPr>
            <a:spLocks noGrp="1"/>
          </p:cNvSpPr>
          <p:nvPr>
          </p:nvPr>
        </p:nvSpPr>
        <p:spPr>
          <a:xfrm>
            <a:off x="6766560" y="3246120"/>
            <a:ext cx="2011680" cy="2468880"/>
          </a:xfrm>
        </p:spPr>
        <p:txBody>
          <a:bodyPr/>
          <a:lstStyle/>
          <a:p>
            <a:pPr algn="l" marL="0" marR="0">
              <a:lnSpc>
                <a:spcPct val="105000"/>
              </a:lnSpc>
              <a:spcBef>
                <a:spcPts val="0"/>
              </a:spcBef>
              <a:spcAft>
                <a:spcPts val="200"/>
              </a:spcAft>
              <a:buNone/>
            </a:pPr>
            <a:r>
              <a:rPr cap="none" sz="1600" i="0" b="1" u="none" strike="noStrike">
                <a:solidFill>
                  <a:srgbClr val="FFFFFF">
                    <a:alpha val="100000"/>
                  </a:srgbClr>
                </a:solidFill>
                <a:latin typeface="Source Sans 3"/>
                <a:cs typeface="Source Sans 3"/>
                <a:ea typeface="Source Sans 3"/>
                <a:sym typeface="Source Sans 3"/>
              </a:rPr>
              <a:t>17 datasets</a:t>
            </a:r>
          </a:p>
          <a:p>
            <a:pPr algn="l" marL="0" marR="0">
              <a:lnSpc>
                <a:spcPct val="105000"/>
              </a:lnSpc>
              <a:spcBef>
                <a:spcPts val="0"/>
              </a:spcBef>
              <a:spcAft>
                <a:spcPts val="1000"/>
              </a:spcAft>
              <a:buNone/>
            </a:pPr>
            <a:r>
              <a:rPr cap="none" sz="1600" i="0" b="1" u="none" strike="noStrike">
                <a:solidFill>
                  <a:srgbClr val="FFFFFF">
                    <a:alpha val="100000"/>
                  </a:srgbClr>
                </a:solidFill>
                <a:latin typeface="Source Sans 3"/>
                <a:cs typeface="Source Sans 3"/>
                <a:ea typeface="Source Sans 3"/>
                <a:sym typeface="Source Sans 3"/>
              </a:rPr>
              <a:t>77 years</a:t>
            </a:r>
          </a:p>
          <a:p>
            <a:pPr algn="l" marL="0" marR="0">
              <a:lnSpc>
                <a:spcPct val="105000"/>
              </a:lnSpc>
              <a:spcBef>
                <a:spcPts val="0"/>
              </a:spcBef>
              <a:spcAft>
                <a:spcPts val="1000"/>
              </a:spcAft>
              <a:buNone/>
            </a:pPr>
            <a:r>
              <a:rPr cap="none" sz="1300" i="0" b="0" u="none" strike="noStrike">
                <a:solidFill>
                  <a:srgbClr val="FFFFFF">
                    <a:alpha val="100000"/>
                  </a:srgbClr>
                </a:solidFill>
                <a:latin typeface="Source Sans 3"/>
                <a:cs typeface="Source Sans 3"/>
                <a:ea typeface="Source Sans 3"/>
                <a:sym typeface="Source Sans 3"/>
              </a:rPr>
              <a:t>One record per dataset, frozen, fingerprinted and citable with a DOI.</a:t>
            </a:r>
          </a:p>
          <a:p>
            <a:pPr algn="l" marL="0" marR="0">
              <a:lnSpc>
                <a:spcPct val="105000"/>
              </a:lnSpc>
              <a:spcBef>
                <a:spcPts val="0"/>
              </a:spcBef>
              <a:spcAft>
                <a:spcPts val="0"/>
              </a:spcAft>
              <a:buNone/>
            </a:pPr>
            <a:r>
              <a:rPr cap="none" sz="1150" i="0" b="0" u="none" strike="noStrike">
                <a:solidFill>
                  <a:srgbClr val="B6B1A9">
                    <a:alpha val="100000"/>
                  </a:srgbClr>
                </a:solidFill>
                <a:latin typeface="Source Sans 3"/>
                <a:cs typeface="Source Sans 3"/>
                <a:ea typeface="Source Sans 3"/>
                <a:sym typeface="Source Sans 3"/>
              </a:rPr>
              <a:t>Release v2026.10.01</a:t>
            </a:r>
          </a:p>
        </p:txBody>
      </p:sp>
      <p:sp>
        <p:nvSpPr>
          <p:cNvPr id="49" name=""/>
          <p:cNvSpPr>
            <a:spLocks noGrp="1"/>
          </p:cNvSpPr>
          <p:nvPr>
          </p:nvPr>
        </p:nvSpPr>
        <p:spPr>
          <a:xfrm>
            <a:off x="8997696" y="2223821"/>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50" name=""/>
          <p:cNvSpPr>
            <a:spLocks noGrp="1"/>
          </p:cNvSpPr>
          <p:nvPr>
          </p:nvPr>
        </p:nvSpPr>
        <p:spPr>
          <a:xfrm>
            <a:off x="9235440" y="1965960"/>
            <a:ext cx="2407615" cy="698602"/>
          </a:xfrm>
          <a:prstGeom prst="roundRect">
            <a:avLst/>
          </a:prstGeom>
          <a:solidFill>
            <a:srgbClr val="00629B">
              <a:alpha val="100000"/>
            </a:srgbClr>
          </a:solidFill>
          <a:ln w="9525" cap="rnd" cmpd="sng">
            <a:solidFill>
              <a:srgbClr val="00629B">
                <a:alpha val="100000"/>
              </a:srgbClr>
            </a:solidFill>
            <a:prstDash val="solid"/>
            <a:round/>
            <a:headEnd type="none" w="med" len="med"/>
            <a:tailEnd type="none" w="med" len="med"/>
          </a:ln>
        </p:spPr>
      </p:sp>
      <p:sp>
        <p:nvSpPr>
          <p:cNvPr id="51" name=""/>
          <p:cNvSpPr>
            <a:spLocks noGrp="1"/>
          </p:cNvSpPr>
          <p:nvPr>
          </p:nvPr>
        </p:nvSpPr>
        <p:spPr>
          <a:xfrm>
            <a:off x="9372600" y="2057400"/>
            <a:ext cx="2133295" cy="588874"/>
          </a:xfrm>
        </p:spPr>
        <p:txBody>
          <a:bodyPr/>
          <a:lstStyle/>
          <a:p>
            <a:pPr algn="l" marL="0" marR="0">
              <a:lnSpc>
                <a:spcPct val="105000"/>
              </a:lnSpc>
              <a:spcBef>
                <a:spcPts val="0"/>
              </a:spcBef>
              <a:spcAft>
                <a:spcPts val="0"/>
              </a:spcAft>
              <a:buNone/>
            </a:pPr>
            <a:r>
              <a:rPr cap="none" sz="1400" i="0" b="1" u="none" strike="noStrike">
                <a:solidFill>
                  <a:srgbClr val="FFFFFF">
                    <a:alpha val="100000"/>
                  </a:srgbClr>
                </a:solidFill>
                <a:latin typeface="Source Sans 3"/>
                <a:cs typeface="Source Sans 3"/>
                <a:ea typeface="Source Sans 3"/>
                <a:sym typeface="Source Sans 3"/>
              </a:rPr>
              <a:t>CalOOS</a:t>
            </a:r>
          </a:p>
          <a:p>
            <a:pPr algn="l" marL="0" marR="0">
              <a:lnSpc>
                <a:spcPct val="105000"/>
              </a:lnSpc>
              <a:spcBef>
                <a:spcPts val="0"/>
              </a:spcBef>
              <a:spcAft>
                <a:spcPts val="0"/>
              </a:spcAft>
              <a:buNone/>
            </a:pPr>
            <a:r>
              <a:rPr cap="none" sz="1100" i="0" b="0" u="none" strike="noStrike">
                <a:solidFill>
                  <a:srgbClr val="FFFFFF">
                    <a:alpha val="100000"/>
                  </a:srgbClr>
                </a:solidFill>
                <a:latin typeface="Source Sans 3"/>
                <a:cs typeface="Source Sans 3"/>
                <a:ea typeface="Source Sans 3"/>
                <a:sym typeface="Source Sans 3"/>
              </a:rPr>
              <a:t>California's ocean portal</a:t>
            </a:r>
          </a:p>
        </p:txBody>
      </p:sp>
      <p:sp>
        <p:nvSpPr>
          <p:cNvPr id="52" name=""/>
          <p:cNvSpPr>
            <a:spLocks noGrp="1"/>
          </p:cNvSpPr>
          <p:nvPr>
          </p:nvPr>
        </p:nvSpPr>
        <p:spPr>
          <a:xfrm>
            <a:off x="8997696" y="3013862"/>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53" name=""/>
          <p:cNvSpPr>
            <a:spLocks noGrp="1"/>
          </p:cNvSpPr>
          <p:nvPr>
          </p:nvPr>
        </p:nvSpPr>
        <p:spPr>
          <a:xfrm>
            <a:off x="9235440" y="2756002"/>
            <a:ext cx="2407615" cy="698602"/>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54" name=""/>
          <p:cNvSpPr>
            <a:spLocks noGrp="1"/>
          </p:cNvSpPr>
          <p:nvPr>
          </p:nvPr>
        </p:nvSpPr>
        <p:spPr>
          <a:xfrm>
            <a:off x="9372600" y="2847442"/>
            <a:ext cx="2133295" cy="588874"/>
          </a:xfrm>
        </p:spPr>
        <p:txBody>
          <a:bodyPr/>
          <a:lstStyle/>
          <a:p>
            <a:pPr algn="l" marL="0" marR="0">
              <a:lnSpc>
                <a:spcPct val="105000"/>
              </a:lnSpc>
              <a:spcBef>
                <a:spcPts val="0"/>
              </a:spcBef>
              <a:spcAft>
                <a:spcPts val="0"/>
              </a:spcAft>
              <a:buNone/>
            </a:pPr>
            <a:r>
              <a:rPr cap="none" sz="1400" i="0" b="1" u="none" strike="noStrike">
                <a:solidFill>
                  <a:srgbClr val="00629B">
                    <a:alpha val="100000"/>
                  </a:srgbClr>
                </a:solidFill>
                <a:latin typeface="Source Sans 3"/>
                <a:cs typeface="Source Sans 3"/>
                <a:ea typeface="Source Sans 3"/>
                <a:sym typeface="Source Sans 3"/>
              </a:rPr>
              <a:t>OBIS</a:t>
            </a:r>
          </a:p>
          <a:p>
            <a:pPr algn="l"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global biodiversity archive</a:t>
            </a:r>
          </a:p>
        </p:txBody>
      </p:sp>
      <p:sp>
        <p:nvSpPr>
          <p:cNvPr id="55" name=""/>
          <p:cNvSpPr>
            <a:spLocks noGrp="1"/>
          </p:cNvSpPr>
          <p:nvPr>
          </p:nvPr>
        </p:nvSpPr>
        <p:spPr>
          <a:xfrm>
            <a:off x="8997696" y="3803904"/>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56" name=""/>
          <p:cNvSpPr>
            <a:spLocks noGrp="1"/>
          </p:cNvSpPr>
          <p:nvPr>
          </p:nvPr>
        </p:nvSpPr>
        <p:spPr>
          <a:xfrm>
            <a:off x="9235440" y="3546043"/>
            <a:ext cx="2407615" cy="698602"/>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57" name=""/>
          <p:cNvSpPr>
            <a:spLocks noGrp="1"/>
          </p:cNvSpPr>
          <p:nvPr>
          </p:nvPr>
        </p:nvSpPr>
        <p:spPr>
          <a:xfrm>
            <a:off x="9372600" y="3637483"/>
            <a:ext cx="2133295" cy="588874"/>
          </a:xfrm>
        </p:spPr>
        <p:txBody>
          <a:bodyPr/>
          <a:lstStyle/>
          <a:p>
            <a:pPr algn="l" marL="0" marR="0">
              <a:lnSpc>
                <a:spcPct val="105000"/>
              </a:lnSpc>
              <a:spcBef>
                <a:spcPts val="0"/>
              </a:spcBef>
              <a:spcAft>
                <a:spcPts val="0"/>
              </a:spcAft>
              <a:buNone/>
            </a:pPr>
            <a:r>
              <a:rPr cap="none" sz="1400" i="0" b="1" u="none" strike="noStrike">
                <a:solidFill>
                  <a:srgbClr val="00629B">
                    <a:alpha val="100000"/>
                  </a:srgbClr>
                </a:solidFill>
                <a:latin typeface="Source Sans 3"/>
                <a:cs typeface="Source Sans 3"/>
                <a:ea typeface="Source Sans 3"/>
                <a:sym typeface="Source Sans 3"/>
              </a:rPr>
              <a:t>EDI</a:t>
            </a:r>
          </a:p>
          <a:p>
            <a:pPr algn="l"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environmental data archive</a:t>
            </a:r>
          </a:p>
        </p:txBody>
      </p:sp>
      <p:sp>
        <p:nvSpPr>
          <p:cNvPr id="58" name=""/>
          <p:cNvSpPr>
            <a:spLocks noGrp="1"/>
          </p:cNvSpPr>
          <p:nvPr>
          </p:nvPr>
        </p:nvSpPr>
        <p:spPr>
          <a:xfrm>
            <a:off x="8997696" y="4593946"/>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59" name=""/>
          <p:cNvSpPr>
            <a:spLocks noGrp="1"/>
          </p:cNvSpPr>
          <p:nvPr>
          </p:nvPr>
        </p:nvSpPr>
        <p:spPr>
          <a:xfrm>
            <a:off x="9235440" y="4336085"/>
            <a:ext cx="2407615" cy="698602"/>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60" name=""/>
          <p:cNvSpPr>
            <a:spLocks noGrp="1"/>
          </p:cNvSpPr>
          <p:nvPr>
          </p:nvPr>
        </p:nvSpPr>
        <p:spPr>
          <a:xfrm>
            <a:off x="9372600" y="4427525"/>
            <a:ext cx="2133295" cy="588874"/>
          </a:xfrm>
        </p:spPr>
        <p:txBody>
          <a:bodyPr/>
          <a:lstStyle/>
          <a:p>
            <a:pPr algn="l" marL="0" marR="0">
              <a:lnSpc>
                <a:spcPct val="105000"/>
              </a:lnSpc>
              <a:spcBef>
                <a:spcPts val="0"/>
              </a:spcBef>
              <a:spcAft>
                <a:spcPts val="0"/>
              </a:spcAft>
              <a:buNone/>
            </a:pPr>
            <a:r>
              <a:rPr cap="none" sz="1400" i="0" b="1" u="none" strike="noStrike">
                <a:solidFill>
                  <a:srgbClr val="00629B">
                    <a:alpha val="100000"/>
                  </a:srgbClr>
                </a:solidFill>
                <a:latin typeface="Source Sans 3"/>
                <a:cs typeface="Source Sans 3"/>
                <a:ea typeface="Source Sans 3"/>
                <a:sym typeface="Source Sans 3"/>
              </a:rPr>
              <a:t>ERDDAP</a:t>
            </a:r>
          </a:p>
          <a:p>
            <a:pPr algn="l"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data servers, ours too</a:t>
            </a:r>
          </a:p>
        </p:txBody>
      </p:sp>
      <p:sp>
        <p:nvSpPr>
          <p:cNvPr id="61" name=""/>
          <p:cNvSpPr>
            <a:spLocks noGrp="1"/>
          </p:cNvSpPr>
          <p:nvPr>
          </p:nvPr>
        </p:nvSpPr>
        <p:spPr>
          <a:xfrm>
            <a:off x="8997696" y="5383987"/>
            <a:ext cx="201168" cy="182880"/>
          </a:xfrm>
          <a:prstGeom prst="rightArrow">
            <a:avLst/>
          </a:prstGeom>
          <a:solidFill>
            <a:srgbClr val="B6B1A9">
              <a:alpha val="100000"/>
            </a:srgbClr>
          </a:solidFill>
          <a:ln w="9525" cap="rnd" cmpd="sng">
            <a:solidFill>
              <a:srgbClr val="B6B1A9">
                <a:alpha val="100000"/>
              </a:srgbClr>
            </a:solidFill>
            <a:prstDash val="solid"/>
            <a:round/>
            <a:headEnd type="none" w="med" len="med"/>
            <a:tailEnd type="none" w="med" len="med"/>
          </a:ln>
        </p:spPr>
      </p:sp>
      <p:sp>
        <p:nvSpPr>
          <p:cNvPr id="62" name=""/>
          <p:cNvSpPr>
            <a:spLocks noGrp="1"/>
          </p:cNvSpPr>
          <p:nvPr>
          </p:nvPr>
        </p:nvSpPr>
        <p:spPr>
          <a:xfrm>
            <a:off x="9235440" y="5126126"/>
            <a:ext cx="2407615" cy="698602"/>
          </a:xfrm>
          <a:prstGeom prst="roundRect">
            <a:avLst/>
          </a:prstGeom>
          <a:solidFill>
            <a:srgbClr val="FFFFFF">
              <a:alpha val="100000"/>
            </a:srgbClr>
          </a:solidFill>
          <a:ln w="9525" cap="rnd" cmpd="sng">
            <a:solidFill>
              <a:srgbClr val="00629B">
                <a:alpha val="100000"/>
              </a:srgbClr>
            </a:solidFill>
            <a:prstDash val="solid"/>
            <a:round/>
            <a:headEnd type="none" w="med" len="med"/>
            <a:tailEnd type="none" w="med" len="med"/>
          </a:ln>
        </p:spPr>
      </p:sp>
      <p:sp>
        <p:nvSpPr>
          <p:cNvPr id="63" name=""/>
          <p:cNvSpPr>
            <a:spLocks noGrp="1"/>
          </p:cNvSpPr>
          <p:nvPr>
          </p:nvPr>
        </p:nvSpPr>
        <p:spPr>
          <a:xfrm>
            <a:off x="9372600" y="5217566"/>
            <a:ext cx="2133295" cy="588874"/>
          </a:xfrm>
        </p:spPr>
        <p:txBody>
          <a:bodyPr/>
          <a:lstStyle/>
          <a:p>
            <a:pPr algn="l" marL="0" marR="0">
              <a:lnSpc>
                <a:spcPct val="105000"/>
              </a:lnSpc>
              <a:spcBef>
                <a:spcPts val="0"/>
              </a:spcBef>
              <a:spcAft>
                <a:spcPts val="0"/>
              </a:spcAft>
              <a:buNone/>
            </a:pPr>
            <a:r>
              <a:rPr cap="none" sz="1400" i="0" b="1" u="none" strike="noStrike">
                <a:solidFill>
                  <a:srgbClr val="00629B">
                    <a:alpha val="100000"/>
                  </a:srgbClr>
                </a:solidFill>
                <a:latin typeface="Source Sans 3"/>
                <a:cs typeface="Source Sans 3"/>
                <a:ea typeface="Source Sans 3"/>
                <a:sym typeface="Source Sans 3"/>
              </a:rPr>
              <a:t>Google Dataset Search</a:t>
            </a:r>
          </a:p>
          <a:p>
            <a:pPr algn="l"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and data.gov, via search</a:t>
            </a:r>
          </a:p>
        </p:txBody>
      </p:sp>
      <p:sp>
        <p:nvSpPr>
          <p:cNvPr id="64" name=""/>
          <p:cNvSpPr>
            <a:spLocks noGrp="1"/>
          </p:cNvSpPr>
          <p:nvPr>
          </p:nvPr>
        </p:nvSpPr>
        <p:spPr>
          <a:xfrm>
            <a:off x="548640" y="5916168"/>
            <a:ext cx="11094415" cy="365760"/>
          </a:xfrm>
        </p:spPr>
        <p:txBody>
          <a:bodyPr/>
          <a:lstStyle/>
          <a:p>
            <a:pPr algn="l" marL="0" marR="0">
              <a:lnSpc>
                <a:spcPct val="105000"/>
              </a:lnSpc>
              <a:spcBef>
                <a:spcPts val="0"/>
              </a:spcBef>
              <a:spcAft>
                <a:spcPts val="0"/>
              </a:spcAft>
              <a:buNone/>
            </a:pPr>
            <a:r>
              <a:rPr cap="none" sz="1500" i="0" b="1" u="none" strike="noStrike">
                <a:solidFill>
                  <a:srgbClr val="00629B">
                    <a:alpha val="100000"/>
                  </a:srgbClr>
                </a:solidFill>
                <a:latin typeface="Source Sans 3"/>
                <a:cs typeface="Source Sans 3"/>
                <a:ea typeface="Source Sans 3"/>
                <a:sym typeface="Source Sans 3"/>
              </a:rPr>
              <a:t>CalOOS links to the authoritative dataset. Nothing is copied.</a:t>
            </a:r>
          </a:p>
        </p:txBody>
      </p:sp>
      <p:sp>
        <p:nvSpPr>
          <p:cNvPr id="65"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66"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calcofi.io/docs · Which door is yours</a:t>
            </a:r>
          </a:p>
        </p:txBody>
      </p:sp>
      <p:sp>
        <p:nvSpPr>
          <p:cNvPr id="67"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4 · THE INTEGRATED DATABASE</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One database, from the first cruise to the next</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691640"/>
            <a:ext cx="3566160" cy="155448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6" name=""/>
          <p:cNvSpPr>
            <a:spLocks noGrp="1"/>
          </p:cNvSpPr>
          <p:nvPr>
          </p:nvPr>
        </p:nvSpPr>
        <p:spPr>
          <a:xfrm>
            <a:off x="777240" y="1783080"/>
            <a:ext cx="3108960" cy="868680"/>
          </a:xfrm>
        </p:spPr>
        <p:txBody>
          <a:bodyPr/>
          <a:lstStyle/>
          <a:p>
            <a:pPr algn="l" marL="0" marR="0">
              <a:lnSpc>
                <a:spcPct val="105000"/>
              </a:lnSpc>
              <a:spcBef>
                <a:spcPts val="0"/>
              </a:spcBef>
              <a:spcAft>
                <a:spcPts val="0"/>
              </a:spcAft>
              <a:buNone/>
            </a:pPr>
            <a:r>
              <a:rPr cap="none" sz="5400" i="0" b="0" u="none" strike="noStrike">
                <a:solidFill>
                  <a:srgbClr val="00629B">
                    <a:alpha val="100000"/>
                  </a:srgbClr>
                </a:solidFill>
                <a:latin typeface="Teko"/>
                <a:cs typeface="Teko"/>
                <a:ea typeface="Teko"/>
                <a:sym typeface="Teko"/>
              </a:rPr>
              <a:t>77</a:t>
            </a:r>
          </a:p>
        </p:txBody>
      </p:sp>
      <p:sp>
        <p:nvSpPr>
          <p:cNvPr id="7" name=""/>
          <p:cNvSpPr>
            <a:spLocks noGrp="1"/>
          </p:cNvSpPr>
          <p:nvPr>
          </p:nvPr>
        </p:nvSpPr>
        <p:spPr>
          <a:xfrm>
            <a:off x="777240" y="2651760"/>
            <a:ext cx="3108960" cy="54864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years of sampling, since 1949</a:t>
            </a:r>
          </a:p>
        </p:txBody>
      </p:sp>
      <p:sp>
        <p:nvSpPr>
          <p:cNvPr id="8" name=""/>
          <p:cNvSpPr>
            <a:spLocks noGrp="1"/>
          </p:cNvSpPr>
          <p:nvPr>
          </p:nvPr>
        </p:nvSpPr>
        <p:spPr>
          <a:xfrm>
            <a:off x="4311396" y="1691640"/>
            <a:ext cx="3566160" cy="155448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9" name=""/>
          <p:cNvSpPr>
            <a:spLocks noGrp="1"/>
          </p:cNvSpPr>
          <p:nvPr>
          </p:nvPr>
        </p:nvSpPr>
        <p:spPr>
          <a:xfrm>
            <a:off x="4539996" y="1783080"/>
            <a:ext cx="3108960" cy="868680"/>
          </a:xfrm>
        </p:spPr>
        <p:txBody>
          <a:bodyPr/>
          <a:lstStyle/>
          <a:p>
            <a:pPr algn="l" marL="0" marR="0">
              <a:lnSpc>
                <a:spcPct val="105000"/>
              </a:lnSpc>
              <a:spcBef>
                <a:spcPts val="0"/>
              </a:spcBef>
              <a:spcAft>
                <a:spcPts val="0"/>
              </a:spcAft>
              <a:buNone/>
            </a:pPr>
            <a:r>
              <a:rPr cap="none" sz="5400" i="0" b="0" u="none" strike="noStrike">
                <a:solidFill>
                  <a:srgbClr val="00629B">
                    <a:alpha val="100000"/>
                  </a:srgbClr>
                </a:solidFill>
                <a:latin typeface="Teko"/>
                <a:cs typeface="Teko"/>
                <a:ea typeface="Teko"/>
                <a:sym typeface="Teko"/>
              </a:rPr>
              <a:t>17</a:t>
            </a:r>
          </a:p>
        </p:txBody>
      </p:sp>
      <p:sp>
        <p:nvSpPr>
          <p:cNvPr id="10" name=""/>
          <p:cNvSpPr>
            <a:spLocks noGrp="1"/>
          </p:cNvSpPr>
          <p:nvPr>
          </p:nvPr>
        </p:nvSpPr>
        <p:spPr>
          <a:xfrm>
            <a:off x="4539996" y="2651760"/>
            <a:ext cx="3108960" cy="54864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datasets in one database</a:t>
            </a:r>
          </a:p>
        </p:txBody>
      </p:sp>
      <p:sp>
        <p:nvSpPr>
          <p:cNvPr id="11" name=""/>
          <p:cNvSpPr>
            <a:spLocks noGrp="1"/>
          </p:cNvSpPr>
          <p:nvPr>
          </p:nvPr>
        </p:nvSpPr>
        <p:spPr>
          <a:xfrm>
            <a:off x="8074152" y="1691640"/>
            <a:ext cx="3566160" cy="155448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2" name=""/>
          <p:cNvSpPr>
            <a:spLocks noGrp="1"/>
          </p:cNvSpPr>
          <p:nvPr>
          </p:nvPr>
        </p:nvSpPr>
        <p:spPr>
          <a:xfrm>
            <a:off x="8302752" y="1783080"/>
            <a:ext cx="3108960" cy="868680"/>
          </a:xfrm>
        </p:spPr>
        <p:txBody>
          <a:bodyPr/>
          <a:lstStyle/>
          <a:p>
            <a:pPr algn="l" marL="0" marR="0">
              <a:lnSpc>
                <a:spcPct val="105000"/>
              </a:lnSpc>
              <a:spcBef>
                <a:spcPts val="0"/>
              </a:spcBef>
              <a:spcAft>
                <a:spcPts val="0"/>
              </a:spcAft>
              <a:buNone/>
            </a:pPr>
            <a:r>
              <a:rPr cap="none" sz="5400" i="0" b="0" u="none" strike="noStrike">
                <a:solidFill>
                  <a:srgbClr val="00629B">
                    <a:alpha val="100000"/>
                  </a:srgbClr>
                </a:solidFill>
                <a:latin typeface="Teko"/>
                <a:cs typeface="Teko"/>
                <a:ea typeface="Teko"/>
                <a:sym typeface="Teko"/>
              </a:rPr>
              <a:t>1,008</a:t>
            </a:r>
          </a:p>
        </p:txBody>
      </p:sp>
      <p:sp>
        <p:nvSpPr>
          <p:cNvPr id="13" name=""/>
          <p:cNvSpPr>
            <a:spLocks noGrp="1"/>
          </p:cNvSpPr>
          <p:nvPr>
          </p:nvPr>
        </p:nvSpPr>
        <p:spPr>
          <a:xfrm>
            <a:off x="8302752" y="2651760"/>
            <a:ext cx="3108960" cy="54864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species identified</a:t>
            </a:r>
          </a:p>
        </p:txBody>
      </p:sp>
      <p:sp>
        <p:nvSpPr>
          <p:cNvPr id="14" name=""/>
          <p:cNvSpPr>
            <a:spLocks noGrp="1"/>
          </p:cNvSpPr>
          <p:nvPr>
          </p:nvPr>
        </p:nvSpPr>
        <p:spPr>
          <a:xfrm>
            <a:off x="548640" y="3383280"/>
            <a:ext cx="3566160" cy="155448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5" name=""/>
          <p:cNvSpPr>
            <a:spLocks noGrp="1"/>
          </p:cNvSpPr>
          <p:nvPr>
          </p:nvPr>
        </p:nvSpPr>
        <p:spPr>
          <a:xfrm>
            <a:off x="777240" y="3474720"/>
            <a:ext cx="3108960" cy="868680"/>
          </a:xfrm>
        </p:spPr>
        <p:txBody>
          <a:bodyPr/>
          <a:lstStyle/>
          <a:p>
            <a:pPr algn="l" marL="0" marR="0">
              <a:lnSpc>
                <a:spcPct val="105000"/>
              </a:lnSpc>
              <a:spcBef>
                <a:spcPts val="0"/>
              </a:spcBef>
              <a:spcAft>
                <a:spcPts val="0"/>
              </a:spcAft>
              <a:buNone/>
            </a:pPr>
            <a:r>
              <a:rPr cap="none" sz="5400" i="0" b="0" u="none" strike="noStrike">
                <a:solidFill>
                  <a:srgbClr val="00629B">
                    <a:alpha val="100000"/>
                  </a:srgbClr>
                </a:solidFill>
                <a:latin typeface="Teko"/>
                <a:cs typeface="Teko"/>
                <a:ea typeface="Teko"/>
                <a:sym typeface="Teko"/>
              </a:rPr>
              <a:t>1.3 M</a:t>
            </a:r>
          </a:p>
        </p:txBody>
      </p:sp>
      <p:sp>
        <p:nvSpPr>
          <p:cNvPr id="16" name=""/>
          <p:cNvSpPr>
            <a:spLocks noGrp="1"/>
          </p:cNvSpPr>
          <p:nvPr>
          </p:nvPr>
        </p:nvSpPr>
        <p:spPr>
          <a:xfrm>
            <a:off x="777240" y="4343400"/>
            <a:ext cx="3108960" cy="54864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organism observations</a:t>
            </a:r>
          </a:p>
        </p:txBody>
      </p:sp>
      <p:sp>
        <p:nvSpPr>
          <p:cNvPr id="17" name=""/>
          <p:cNvSpPr>
            <a:spLocks noGrp="1"/>
          </p:cNvSpPr>
          <p:nvPr>
          </p:nvPr>
        </p:nvSpPr>
        <p:spPr>
          <a:xfrm>
            <a:off x="4311396" y="3383280"/>
            <a:ext cx="3566160" cy="155448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18" name=""/>
          <p:cNvSpPr>
            <a:spLocks noGrp="1"/>
          </p:cNvSpPr>
          <p:nvPr>
          </p:nvPr>
        </p:nvSpPr>
        <p:spPr>
          <a:xfrm>
            <a:off x="4539996" y="3474720"/>
            <a:ext cx="3108960" cy="868680"/>
          </a:xfrm>
        </p:spPr>
        <p:txBody>
          <a:bodyPr/>
          <a:lstStyle/>
          <a:p>
            <a:pPr algn="l" marL="0" marR="0">
              <a:lnSpc>
                <a:spcPct val="105000"/>
              </a:lnSpc>
              <a:spcBef>
                <a:spcPts val="0"/>
              </a:spcBef>
              <a:spcAft>
                <a:spcPts val="0"/>
              </a:spcAft>
              <a:buNone/>
            </a:pPr>
            <a:r>
              <a:rPr cap="none" sz="5400" i="0" b="0" u="none" strike="noStrike">
                <a:solidFill>
                  <a:srgbClr val="00629B">
                    <a:alpha val="100000"/>
                  </a:srgbClr>
                </a:solidFill>
                <a:latin typeface="Teko"/>
                <a:cs typeface="Teko"/>
                <a:ea typeface="Teko"/>
                <a:sym typeface="Teko"/>
              </a:rPr>
              <a:t>336 M</a:t>
            </a:r>
          </a:p>
        </p:txBody>
      </p:sp>
      <p:sp>
        <p:nvSpPr>
          <p:cNvPr id="19" name=""/>
          <p:cNvSpPr>
            <a:spLocks noGrp="1"/>
          </p:cNvSpPr>
          <p:nvPr>
          </p:nvPr>
        </p:nvSpPr>
        <p:spPr>
          <a:xfrm>
            <a:off x="4539996" y="4343400"/>
            <a:ext cx="3108960" cy="54864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measurement values, from the ocean's chemistry and physics</a:t>
            </a:r>
          </a:p>
        </p:txBody>
      </p:sp>
      <p:sp>
        <p:nvSpPr>
          <p:cNvPr id="20" name=""/>
          <p:cNvSpPr>
            <a:spLocks noGrp="1"/>
          </p:cNvSpPr>
          <p:nvPr>
          </p:nvPr>
        </p:nvSpPr>
        <p:spPr>
          <a:xfrm>
            <a:off x="8074152" y="3383280"/>
            <a:ext cx="3566160" cy="155448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21" name=""/>
          <p:cNvSpPr>
            <a:spLocks noGrp="1"/>
          </p:cNvSpPr>
          <p:nvPr>
          </p:nvPr>
        </p:nvSpPr>
        <p:spPr>
          <a:xfrm>
            <a:off x="8302752" y="3474720"/>
            <a:ext cx="3108960" cy="868680"/>
          </a:xfrm>
        </p:spPr>
        <p:txBody>
          <a:bodyPr/>
          <a:lstStyle/>
          <a:p>
            <a:pPr algn="l" marL="0" marR="0">
              <a:lnSpc>
                <a:spcPct val="105000"/>
              </a:lnSpc>
              <a:spcBef>
                <a:spcPts val="0"/>
              </a:spcBef>
              <a:spcAft>
                <a:spcPts val="0"/>
              </a:spcAft>
              <a:buNone/>
            </a:pPr>
            <a:r>
              <a:rPr cap="none" sz="5400" i="0" b="0" u="none" strike="noStrike">
                <a:solidFill>
                  <a:srgbClr val="C69214">
                    <a:alpha val="100000"/>
                  </a:srgbClr>
                </a:solidFill>
                <a:latin typeface="Teko"/>
                <a:cs typeface="Teko"/>
                <a:ea typeface="Teko"/>
                <a:sym typeface="Teko"/>
              </a:rPr>
              <a:t>88</a:t>
            </a:r>
          </a:p>
        </p:txBody>
      </p:sp>
      <p:sp>
        <p:nvSpPr>
          <p:cNvPr id="22" name=""/>
          <p:cNvSpPr>
            <a:spLocks noGrp="1"/>
          </p:cNvSpPr>
          <p:nvPr>
          </p:nvPr>
        </p:nvSpPr>
        <p:spPr>
          <a:xfrm>
            <a:off x="8302752" y="4343400"/>
            <a:ext cx="3108960" cy="548640"/>
          </a:xfrm>
        </p:spPr>
        <p:txBody>
          <a:bodyPr/>
          <a:lstStyle/>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kinds of measurement, each with its own page</a:t>
            </a:r>
          </a:p>
        </p:txBody>
      </p:sp>
      <p:sp>
        <p:nvSpPr>
          <p:cNvPr id="23" name=""/>
          <p:cNvSpPr>
            <a:spLocks noGrp="1"/>
          </p:cNvSpPr>
          <p:nvPr>
          </p:nvPr>
        </p:nvSpPr>
        <p:spPr>
          <a:xfrm>
            <a:off x="548640" y="5166360"/>
            <a:ext cx="11094415" cy="100584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24" name=""/>
          <p:cNvSpPr>
            <a:spLocks noGrp="1"/>
          </p:cNvSpPr>
          <p:nvPr>
          </p:nvPr>
        </p:nvSpPr>
        <p:spPr>
          <a:xfrm>
            <a:off x="822960" y="5303520"/>
            <a:ext cx="10545775" cy="822960"/>
          </a:xfrm>
        </p:spPr>
        <p:txBody>
          <a:bodyPr/>
          <a:lstStyle/>
          <a:p>
            <a:pPr algn="l" marL="0" marR="0">
              <a:lnSpc>
                <a:spcPct val="105000"/>
              </a:lnSpc>
              <a:spcBef>
                <a:spcPts val="0"/>
              </a:spcBef>
              <a:spcAft>
                <a:spcPts val="400"/>
              </a:spcAft>
              <a:buNone/>
            </a:pPr>
            <a:r>
              <a:rPr cap="none" sz="1500" i="0" b="1" u="none" strike="noStrike">
                <a:solidFill>
                  <a:srgbClr val="00629B">
                    <a:alpha val="100000"/>
                  </a:srgbClr>
                </a:solidFill>
                <a:latin typeface="Source Sans 3"/>
                <a:cs typeface="Source Sans 3"/>
                <a:ea typeface="Source Sans 3"/>
                <a:sym typeface="Source Sans 3"/>
              </a:rPr>
              <a:t>Release v2026.10.01 · DOI 10.5281/zenodo.23085119</a:t>
            </a:r>
          </a:p>
          <a:p>
            <a:pPr algn="l" marL="0" marR="0">
              <a:lnSpc>
                <a:spcPct val="105000"/>
              </a:lnSpc>
              <a:spcBef>
                <a:spcPts val="0"/>
              </a:spcBef>
              <a:spcAft>
                <a:spcPts val="0"/>
              </a:spcAft>
              <a:buNone/>
            </a:pPr>
            <a:r>
              <a:rPr cap="none" sz="1500" i="0" b="0" u="none" strike="noStrike">
                <a:solidFill>
                  <a:srgbClr val="182B49">
                    <a:alpha val="100000"/>
                  </a:srgbClr>
                </a:solidFill>
                <a:latin typeface="Source Sans 3"/>
                <a:cs typeface="Source Sans 3"/>
                <a:ea typeface="Source Sans 3"/>
                <a:sym typeface="Source Sans 3"/>
              </a:rPr>
              <a:t>Every release is frozen and fingerprinted: cite the DOI, and anyone gets exactly the files we published.</a:t>
            </a:r>
          </a:p>
        </p:txBody>
      </p:sp>
      <p:sp>
        <p:nvSpPr>
          <p:cNvPr id="25"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26"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doi.org/10.5281/zenodo.23085119</a:t>
            </a:r>
          </a:p>
        </p:txBody>
      </p:sp>
      <p:sp>
        <p:nvSpPr>
          <p:cNvPr id="27"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5 · BETTY</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Data finder app</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691640"/>
            <a:ext cx="11094415" cy="4160520"/>
          </a:xfrm>
          <a:prstGeom prst="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6" name=""/>
          <p:cNvSpPr>
            <a:spLocks noGrp="1"/>
          </p:cNvSpPr>
          <p:nvPr>
          </p:nvPr>
        </p:nvSpPr>
        <p:spPr>
          <a:xfrm>
            <a:off x="868680" y="1965960"/>
            <a:ext cx="5486400"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PLACEHOLDER</a:t>
            </a:r>
          </a:p>
        </p:txBody>
      </p:sp>
      <p:sp>
        <p:nvSpPr>
          <p:cNvPr id="7" name=""/>
          <p:cNvSpPr>
            <a:spLocks noGrp="1"/>
          </p:cNvSpPr>
          <p:nvPr>
          </p:nvPr>
        </p:nvSpPr>
        <p:spPr>
          <a:xfrm>
            <a:off x="868680" y="2377440"/>
            <a:ext cx="10454335" cy="3200400"/>
          </a:xfrm>
        </p:spPr>
        <p:txBody>
          <a:bodyPr/>
          <a:lstStyle/>
          <a:p>
            <a:pPr algn="l" marL="0" marR="0">
              <a:lnSpc>
                <a:spcPct val="105000"/>
              </a:lnSpc>
              <a:spcBef>
                <a:spcPts val="0"/>
              </a:spcBef>
              <a:spcAft>
                <a:spcPts val="1000"/>
              </a:spcAft>
              <a:buNone/>
            </a:pPr>
            <a:r>
              <a:rPr cap="none" sz="2000" i="0" b="0" u="none" strike="noStrike">
                <a:solidFill>
                  <a:srgbClr val="182B49">
                    <a:alpha val="100000"/>
                  </a:srgbClr>
                </a:solidFill>
                <a:latin typeface="Source Sans 3"/>
                <a:cs typeface="Source Sans 3"/>
                <a:ea typeface="Source Sans 3"/>
                <a:sym typeface="Source Sans 3"/>
              </a:rPr>
              <a:t>Betty's slides go here.</a:t>
            </a:r>
          </a:p>
          <a:p>
            <a:pPr algn="l" marL="0" marR="0">
              <a:lnSpc>
                <a:spcPct val="105000"/>
              </a:lnSpc>
              <a:spcBef>
                <a:spcPts val="0"/>
              </a:spcBef>
              <a:spcAft>
                <a:spcPts val="1000"/>
              </a:spcAft>
              <a:buNone/>
            </a:pPr>
            <a:r>
              <a:rPr cap="none" sz="2000" i="0" b="0" u="none" strike="noStrike">
                <a:solidFill>
                  <a:srgbClr val="182B49">
                    <a:alpha val="100000"/>
                  </a:srgbClr>
                </a:solidFill>
                <a:latin typeface="Source Sans 3"/>
                <a:cs typeface="Source Sans 3"/>
                <a:ea typeface="Source Sans 3"/>
                <a:sym typeface="Source Sans 3"/>
              </a:rPr>
              <a:t>From Erin's skeleton: "Curious what data have/are being collected on the CalCOFI platform?"</a:t>
            </a:r>
          </a:p>
        </p:txBody>
      </p:sp>
      <p:sp>
        <p:nvSpPr>
          <p:cNvPr id="8"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9"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a:t>
            </a:r>
          </a:p>
        </p:txBody>
      </p:sp>
      <p:sp>
        <p:nvSpPr>
          <p:cNvPr id="10"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6 · EXPLORE · 1 OF 7</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Pick what you care about, see every place it was found</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1645920"/>
            <a:ext cx="7285939" cy="4553712"/>
          </a:xfrm>
          <a:prstGeom prst="rect">
            <a:avLst/>
          </a:prstGeom>
          <a:ln w="9525" cap="rnd" cmpd="sng">
            <a:solidFill>
              <a:srgbClr val="DDDDDD">
                <a:alpha val="100000"/>
              </a:srgbClr>
            </a:solidFill>
            <a:prstDash val="solid"/>
            <a:round/>
            <a:headEnd type="none" w="med" len="med"/>
            <a:tailEnd type="none" w="med" len="med"/>
          </a:ln>
        </p:spPr>
      </p:pic>
      <p:sp>
        <p:nvSpPr>
          <p:cNvPr id="6" name=""/>
          <p:cNvSpPr>
            <a:spLocks noGrp="1"/>
          </p:cNvSpPr>
          <p:nvPr>
          </p:nvPr>
        </p:nvSpPr>
        <p:spPr>
          <a:xfrm>
            <a:off x="8154619" y="1691640"/>
            <a:ext cx="3488436" cy="3566160"/>
          </a:xfrm>
        </p:spPr>
        <p:txBody>
          <a:bodyPr/>
          <a:lstStyle/>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Choose an organism or a measurement. Each dot is a station where CalCOFI has looked, shaded by how much was there.</a:t>
            </a:r>
          </a:p>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Here: Pacific sardine larvae, over all years. The bars along the bottom show when.</a:t>
            </a:r>
          </a:p>
        </p:txBody>
      </p:sp>
      <p:sp>
        <p:nvSpPr>
          <p:cNvPr id="7" name=""/>
          <p:cNvSpPr>
            <a:spLocks noGrp="1"/>
          </p:cNvSpPr>
          <p:nvPr>
          </p:nvPr>
        </p:nvSpPr>
        <p:spPr>
          <a:xfrm>
            <a:off x="8154619" y="5257800"/>
            <a:ext cx="3488436" cy="77724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8" name=""/>
          <p:cNvSpPr>
            <a:spLocks noGrp="1"/>
          </p:cNvSpPr>
          <p:nvPr>
          </p:nvPr>
        </p:nvSpPr>
        <p:spPr>
          <a:xfrm>
            <a:off x="8291779" y="5321808"/>
            <a:ext cx="3214116" cy="685800"/>
          </a:xfrm>
        </p:spPr>
        <p:txBody>
          <a:bodyPr/>
          <a:lstStyle/>
          <a:p>
            <a:pPr algn="l" marL="0" marR="0">
              <a:lnSpc>
                <a:spcPct val="105000"/>
              </a:lnSpc>
              <a:spcBef>
                <a:spcPts val="0"/>
              </a:spcBef>
              <a:spcAft>
                <a:spcPts val="100"/>
              </a:spcAft>
              <a:buNone/>
            </a:pPr>
            <a:r>
              <a:rPr cap="none" sz="1100" i="0" b="1" u="none" strike="noStrike">
                <a:solidFill>
                  <a:srgbClr val="66686A">
                    <a:alpha val="100000"/>
                  </a:srgbClr>
                </a:solidFill>
                <a:latin typeface="Source Sans 3"/>
                <a:cs typeface="Source Sans 3"/>
                <a:ea typeface="Source Sans 3"/>
                <a:sym typeface="Source Sans 3"/>
              </a:rPr>
              <a:t>TRY IT</a:t>
            </a:r>
          </a:p>
          <a:p>
            <a:pPr algn="l" marL="0" marR="0">
              <a:lnSpc>
                <a:spcPct val="105000"/>
              </a:lnSpc>
              <a:spcBef>
                <a:spcPts val="0"/>
              </a:spcBef>
              <a:spcAft>
                <a:spcPts val="0"/>
              </a:spcAft>
              <a:buNone/>
            </a:pPr>
            <a:r>
              <a:rPr cap="none" sz="1250" i="0" b="1" u="none" strike="noStrike">
                <a:solidFill>
                  <a:srgbClr val="00629B">
                    <a:alpha val="100000"/>
                  </a:srgbClr>
                </a:solidFill>
                <a:latin typeface="Source Sans 3"/>
                <a:cs typeface="Source Sans 3"/>
                <a:ea typeface="Source Sans 3"/>
                <a:sym typeface="Source Sans 3"/>
              </a:rPr>
              <a:t>calcofi.io/explore</a:t>
            </a:r>
          </a:p>
        </p:txBody>
      </p:sp>
      <p:sp>
        <p:nvSpPr>
          <p:cNvPr id="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calcofi.io/explore</a:t>
            </a:r>
          </a:p>
        </p:txBody>
      </p:sp>
      <p:sp>
        <p:nvSpPr>
          <p:cNvPr id="1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6 · EXPLORE · 2 OF 7</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One sentence says what you are looking at</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1691640"/>
            <a:ext cx="11094415" cy="3304886"/>
          </a:xfrm>
          <a:prstGeom prst="rect">
            <a:avLst/>
          </a:prstGeom>
          <a:ln w="9525" cap="rnd" cmpd="sng">
            <a:solidFill>
              <a:srgbClr val="DDDDDD">
                <a:alpha val="100000"/>
              </a:srgbClr>
            </a:solidFill>
            <a:prstDash val="solid"/>
            <a:round/>
            <a:headEnd type="none" w="med" len="med"/>
            <a:tailEnd type="none" w="med" len="med"/>
          </a:ln>
        </p:spPr>
      </p:pic>
      <p:sp>
        <p:nvSpPr>
          <p:cNvPr id="6" name=""/>
          <p:cNvSpPr>
            <a:spLocks noGrp="1"/>
          </p:cNvSpPr>
          <p:nvPr>
          </p:nvPr>
        </p:nvSpPr>
        <p:spPr>
          <a:xfrm>
            <a:off x="548640" y="5120640"/>
            <a:ext cx="11094415" cy="1097280"/>
          </a:xfrm>
        </p:spPr>
        <p:txBody>
          <a:bodyPr/>
          <a:lstStyle/>
          <a:p>
            <a:pPr algn="l" marL="0" marR="0">
              <a:lnSpc>
                <a:spcPct val="110000"/>
              </a:lnSpc>
              <a:spcBef>
                <a:spcPts val="0"/>
              </a:spcBef>
              <a:spcAft>
                <a:spcPts val="600"/>
              </a:spcAft>
              <a:buNone/>
            </a:pPr>
            <a:r>
              <a:rPr cap="none" sz="1700" i="0" b="0" u="none" strike="noStrike">
                <a:solidFill>
                  <a:srgbClr val="182B49">
                    <a:alpha val="100000"/>
                  </a:srgbClr>
                </a:solidFill>
                <a:latin typeface="Source Sans 3"/>
                <a:cs typeface="Source Sans 3"/>
                <a:ea typeface="Source Sans 3"/>
                <a:sym typeface="Source Sans 3"/>
              </a:rPr>
              <a:t>Every word in the sentence is a control: change the organism, the years or the depth and the map follows.</a:t>
            </a:r>
          </a:p>
          <a:p>
            <a:pPr algn="l" marL="0" marR="0">
              <a:lnSpc>
                <a:spcPct val="110000"/>
              </a:lnSpc>
              <a:spcBef>
                <a:spcPts val="0"/>
              </a:spcBef>
              <a:spcAft>
                <a:spcPts val="600"/>
              </a:spcAft>
              <a:buNone/>
            </a:pPr>
            <a:r>
              <a:rPr cap="none" sz="1700" i="0" b="0" u="none" strike="noStrike">
                <a:solidFill>
                  <a:srgbClr val="182B49">
                    <a:alpha val="100000"/>
                  </a:srgbClr>
                </a:solidFill>
                <a:latin typeface="Source Sans 3"/>
                <a:cs typeface="Source Sans 3"/>
                <a:ea typeface="Source Sans 3"/>
                <a:sym typeface="Source Sans 3"/>
              </a:rPr>
              <a:t>The last chip changes the way of looking. There are six lenses, and your selection stays put when you switch.</a:t>
            </a:r>
          </a:p>
        </p:txBody>
      </p:sp>
      <p:sp>
        <p:nvSpPr>
          <p:cNvPr id="7"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8"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calcofi.io/explore</a:t>
            </a:r>
          </a:p>
        </p:txBody>
      </p:sp>
      <p:sp>
        <p:nvSpPr>
          <p:cNvPr id="9"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6 · EXPLORE · 3 OF 7</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Hexagons: the pattern, not the points</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1645920"/>
            <a:ext cx="7285939" cy="4553712"/>
          </a:xfrm>
          <a:prstGeom prst="rect">
            <a:avLst/>
          </a:prstGeom>
          <a:ln w="9525" cap="rnd" cmpd="sng">
            <a:solidFill>
              <a:srgbClr val="DDDDDD">
                <a:alpha val="100000"/>
              </a:srgbClr>
            </a:solidFill>
            <a:prstDash val="solid"/>
            <a:round/>
            <a:headEnd type="none" w="med" len="med"/>
            <a:tailEnd type="none" w="med" len="med"/>
          </a:ln>
        </p:spPr>
      </p:pic>
      <p:sp>
        <p:nvSpPr>
          <p:cNvPr id="6" name=""/>
          <p:cNvSpPr>
            <a:spLocks noGrp="1"/>
          </p:cNvSpPr>
          <p:nvPr>
          </p:nvPr>
        </p:nvSpPr>
        <p:spPr>
          <a:xfrm>
            <a:off x="8154619" y="1691640"/>
            <a:ext cx="3488436" cy="3566160"/>
          </a:xfrm>
        </p:spPr>
        <p:txBody>
          <a:bodyPr/>
          <a:lstStyle/>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The same sardine larvae, pooled into honeycomb cells about 8.5 km across.</a:t>
            </a:r>
          </a:p>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Good for seeing where a species lives, without being distracted by single stations.</a:t>
            </a:r>
          </a:p>
        </p:txBody>
      </p:sp>
      <p:sp>
        <p:nvSpPr>
          <p:cNvPr id="7" name=""/>
          <p:cNvSpPr>
            <a:spLocks noGrp="1"/>
          </p:cNvSpPr>
          <p:nvPr>
          </p:nvPr>
        </p:nvSpPr>
        <p:spPr>
          <a:xfrm>
            <a:off x="8154619" y="5257800"/>
            <a:ext cx="3488436" cy="77724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8" name=""/>
          <p:cNvSpPr>
            <a:spLocks noGrp="1"/>
          </p:cNvSpPr>
          <p:nvPr>
          </p:nvPr>
        </p:nvSpPr>
        <p:spPr>
          <a:xfrm>
            <a:off x="8291779" y="5321808"/>
            <a:ext cx="3214116" cy="685800"/>
          </a:xfrm>
        </p:spPr>
        <p:txBody>
          <a:bodyPr/>
          <a:lstStyle/>
          <a:p>
            <a:pPr algn="l" marL="0" marR="0">
              <a:lnSpc>
                <a:spcPct val="105000"/>
              </a:lnSpc>
              <a:spcBef>
                <a:spcPts val="0"/>
              </a:spcBef>
              <a:spcAft>
                <a:spcPts val="100"/>
              </a:spcAft>
              <a:buNone/>
            </a:pPr>
            <a:r>
              <a:rPr cap="none" sz="1100" i="0" b="1" u="none" strike="noStrike">
                <a:solidFill>
                  <a:srgbClr val="66686A">
                    <a:alpha val="100000"/>
                  </a:srgbClr>
                </a:solidFill>
                <a:latin typeface="Source Sans 3"/>
                <a:cs typeface="Source Sans 3"/>
                <a:ea typeface="Source Sans 3"/>
                <a:sym typeface="Source Sans 3"/>
              </a:rPr>
              <a:t>TRY IT</a:t>
            </a:r>
          </a:p>
          <a:p>
            <a:pPr algn="l" marL="0" marR="0">
              <a:lnSpc>
                <a:spcPct val="105000"/>
              </a:lnSpc>
              <a:spcBef>
                <a:spcPts val="0"/>
              </a:spcBef>
              <a:spcAft>
                <a:spcPts val="0"/>
              </a:spcAft>
              <a:buNone/>
            </a:pPr>
            <a:r>
              <a:rPr cap="none" sz="1250" i="0" b="1" u="none" strike="noStrike">
                <a:solidFill>
                  <a:srgbClr val="00629B">
                    <a:alpha val="100000"/>
                  </a:srgbClr>
                </a:solidFill>
                <a:latin typeface="Source Sans 3"/>
                <a:cs typeface="Source Sans 3"/>
                <a:ea typeface="Source Sans 3"/>
                <a:sym typeface="Source Sans 3"/>
              </a:rPr>
              <a:t>calcofi.io/explore/?lens=hex</a:t>
            </a:r>
          </a:p>
        </p:txBody>
      </p:sp>
      <p:sp>
        <p:nvSpPr>
          <p:cNvPr id="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calcofi.io/explore/?lens=hex</a:t>
            </a:r>
          </a:p>
        </p:txBody>
      </p:sp>
      <p:sp>
        <p:nvSpPr>
          <p:cNvPr id="1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6 · EXPLORE · 4 OF 7</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Contours: filling in the water between the stations</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1645920"/>
            <a:ext cx="7285939" cy="4553712"/>
          </a:xfrm>
          <a:prstGeom prst="rect">
            <a:avLst/>
          </a:prstGeom>
          <a:ln w="9525" cap="rnd" cmpd="sng">
            <a:solidFill>
              <a:srgbClr val="DDDDDD">
                <a:alpha val="100000"/>
              </a:srgbClr>
            </a:solidFill>
            <a:prstDash val="solid"/>
            <a:round/>
            <a:headEnd type="none" w="med" len="med"/>
            <a:tailEnd type="none" w="med" len="med"/>
          </a:ln>
        </p:spPr>
      </p:pic>
      <p:sp>
        <p:nvSpPr>
          <p:cNvPr id="6" name=""/>
          <p:cNvSpPr>
            <a:spLocks noGrp="1"/>
          </p:cNvSpPr>
          <p:nvPr>
          </p:nvPr>
        </p:nvSpPr>
        <p:spPr>
          <a:xfrm>
            <a:off x="8154619" y="1691640"/>
            <a:ext cx="3488436" cy="3566160"/>
          </a:xfrm>
        </p:spPr>
        <p:txBody>
          <a:bodyPr/>
          <a:lstStyle/>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Temperature, estimated between the stations that measured it, and drawn as a surface.</a:t>
            </a:r>
          </a:p>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It is computed in your browser, and the app can show how uncertain the estimate is.</a:t>
            </a:r>
          </a:p>
        </p:txBody>
      </p:sp>
      <p:sp>
        <p:nvSpPr>
          <p:cNvPr id="7" name=""/>
          <p:cNvSpPr>
            <a:spLocks noGrp="1"/>
          </p:cNvSpPr>
          <p:nvPr>
          </p:nvPr>
        </p:nvSpPr>
        <p:spPr>
          <a:xfrm>
            <a:off x="8154619" y="5257800"/>
            <a:ext cx="3488436" cy="77724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8" name=""/>
          <p:cNvSpPr>
            <a:spLocks noGrp="1"/>
          </p:cNvSpPr>
          <p:nvPr>
          </p:nvPr>
        </p:nvSpPr>
        <p:spPr>
          <a:xfrm>
            <a:off x="8291779" y="5321808"/>
            <a:ext cx="3214116" cy="685800"/>
          </a:xfrm>
        </p:spPr>
        <p:txBody>
          <a:bodyPr/>
          <a:lstStyle/>
          <a:p>
            <a:pPr algn="l" marL="0" marR="0">
              <a:lnSpc>
                <a:spcPct val="105000"/>
              </a:lnSpc>
              <a:spcBef>
                <a:spcPts val="0"/>
              </a:spcBef>
              <a:spcAft>
                <a:spcPts val="100"/>
              </a:spcAft>
              <a:buNone/>
            </a:pPr>
            <a:r>
              <a:rPr cap="none" sz="1100" i="0" b="1" u="none" strike="noStrike">
                <a:solidFill>
                  <a:srgbClr val="66686A">
                    <a:alpha val="100000"/>
                  </a:srgbClr>
                </a:solidFill>
                <a:latin typeface="Source Sans 3"/>
                <a:cs typeface="Source Sans 3"/>
                <a:ea typeface="Source Sans 3"/>
                <a:sym typeface="Source Sans 3"/>
              </a:rPr>
              <a:t>TRY IT</a:t>
            </a:r>
          </a:p>
          <a:p>
            <a:pPr algn="l" marL="0" marR="0">
              <a:lnSpc>
                <a:spcPct val="105000"/>
              </a:lnSpc>
              <a:spcBef>
                <a:spcPts val="0"/>
              </a:spcBef>
              <a:spcAft>
                <a:spcPts val="0"/>
              </a:spcAft>
              <a:buNone/>
            </a:pPr>
            <a:r>
              <a:rPr cap="none" sz="1250" i="0" b="1" u="none" strike="noStrike">
                <a:solidFill>
                  <a:srgbClr val="00629B">
                    <a:alpha val="100000"/>
                  </a:srgbClr>
                </a:solidFill>
                <a:latin typeface="Source Sans 3"/>
                <a:cs typeface="Source Sans 3"/>
                <a:ea typeface="Source Sans 3"/>
                <a:sym typeface="Source Sans 3"/>
              </a:rPr>
              <a:t>calcofi.io/explore/?lens=contour&amp;var=temperature</a:t>
            </a:r>
          </a:p>
        </p:txBody>
      </p:sp>
      <p:sp>
        <p:nvSpPr>
          <p:cNvPr id="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calcofi.io/explore/?lens=contour&amp;var=temperature</a:t>
            </a:r>
          </a:p>
        </p:txBody>
      </p:sp>
      <p:sp>
        <p:nvSpPr>
          <p:cNvPr id="1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6 · EXPLORE · 5 OF 7</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Cruises: follow one voyage</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1645920"/>
            <a:ext cx="7285939" cy="4553712"/>
          </a:xfrm>
          <a:prstGeom prst="rect">
            <a:avLst/>
          </a:prstGeom>
          <a:ln w="9525" cap="rnd" cmpd="sng">
            <a:solidFill>
              <a:srgbClr val="DDDDDD">
                <a:alpha val="100000"/>
              </a:srgbClr>
            </a:solidFill>
            <a:prstDash val="solid"/>
            <a:round/>
            <a:headEnd type="none" w="med" len="med"/>
            <a:tailEnd type="none" w="med" len="med"/>
          </a:ln>
        </p:spPr>
      </p:pic>
      <p:sp>
        <p:nvSpPr>
          <p:cNvPr id="6" name=""/>
          <p:cNvSpPr>
            <a:spLocks noGrp="1"/>
          </p:cNvSpPr>
          <p:nvPr>
          </p:nvPr>
        </p:nvSpPr>
        <p:spPr>
          <a:xfrm>
            <a:off x="8154619" y="1691640"/>
            <a:ext cx="3488436" cy="3566160"/>
          </a:xfrm>
        </p:spPr>
        <p:txBody>
          <a:bodyPr/>
          <a:lstStyle/>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One ship's track, with its stations coloured by temperature.</a:t>
            </a:r>
          </a:p>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Underneath, every cruise since the record began is a dot: this voyage in context.</a:t>
            </a:r>
          </a:p>
        </p:txBody>
      </p:sp>
      <p:sp>
        <p:nvSpPr>
          <p:cNvPr id="7" name=""/>
          <p:cNvSpPr>
            <a:spLocks noGrp="1"/>
          </p:cNvSpPr>
          <p:nvPr>
          </p:nvPr>
        </p:nvSpPr>
        <p:spPr>
          <a:xfrm>
            <a:off x="8154619" y="5257800"/>
            <a:ext cx="3488436" cy="77724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8" name=""/>
          <p:cNvSpPr>
            <a:spLocks noGrp="1"/>
          </p:cNvSpPr>
          <p:nvPr>
          </p:nvPr>
        </p:nvSpPr>
        <p:spPr>
          <a:xfrm>
            <a:off x="8291779" y="5321808"/>
            <a:ext cx="3214116" cy="685800"/>
          </a:xfrm>
        </p:spPr>
        <p:txBody>
          <a:bodyPr/>
          <a:lstStyle/>
          <a:p>
            <a:pPr algn="l" marL="0" marR="0">
              <a:lnSpc>
                <a:spcPct val="105000"/>
              </a:lnSpc>
              <a:spcBef>
                <a:spcPts val="0"/>
              </a:spcBef>
              <a:spcAft>
                <a:spcPts val="100"/>
              </a:spcAft>
              <a:buNone/>
            </a:pPr>
            <a:r>
              <a:rPr cap="none" sz="1100" i="0" b="1" u="none" strike="noStrike">
                <a:solidFill>
                  <a:srgbClr val="66686A">
                    <a:alpha val="100000"/>
                  </a:srgbClr>
                </a:solidFill>
                <a:latin typeface="Source Sans 3"/>
                <a:cs typeface="Source Sans 3"/>
                <a:ea typeface="Source Sans 3"/>
                <a:sym typeface="Source Sans 3"/>
              </a:rPr>
              <a:t>TRY IT</a:t>
            </a:r>
          </a:p>
          <a:p>
            <a:pPr algn="l" marL="0" marR="0">
              <a:lnSpc>
                <a:spcPct val="105000"/>
              </a:lnSpc>
              <a:spcBef>
                <a:spcPts val="0"/>
              </a:spcBef>
              <a:spcAft>
                <a:spcPts val="0"/>
              </a:spcAft>
              <a:buNone/>
            </a:pPr>
            <a:r>
              <a:rPr cap="none" sz="1250" i="0" b="1" u="none" strike="noStrike">
                <a:solidFill>
                  <a:srgbClr val="00629B">
                    <a:alpha val="100000"/>
                  </a:srgbClr>
                </a:solidFill>
                <a:latin typeface="Source Sans 3"/>
                <a:cs typeface="Source Sans 3"/>
                <a:ea typeface="Source Sans 3"/>
                <a:sym typeface="Source Sans 3"/>
              </a:rPr>
              <a:t>calcofi.io/explore/?lens=cruise&amp;var=temperature</a:t>
            </a:r>
          </a:p>
        </p:txBody>
      </p:sp>
      <p:sp>
        <p:nvSpPr>
          <p:cNvPr id="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calcofi.io/explore/?lens=cruise&amp;var=temperature</a:t>
            </a:r>
          </a:p>
        </p:txBody>
      </p:sp>
      <p:sp>
        <p:nvSpPr>
          <p:cNvPr id="1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6 · EXPLORE · 6 OF 7</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Regions: the numbers inside a sanctuary</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1645920"/>
            <a:ext cx="7285939" cy="4553712"/>
          </a:xfrm>
          <a:prstGeom prst="rect">
            <a:avLst/>
          </a:prstGeom>
          <a:ln w="9525" cap="rnd" cmpd="sng">
            <a:solidFill>
              <a:srgbClr val="DDDDDD">
                <a:alpha val="100000"/>
              </a:srgbClr>
            </a:solidFill>
            <a:prstDash val="solid"/>
            <a:round/>
            <a:headEnd type="none" w="med" len="med"/>
            <a:tailEnd type="none" w="med" len="med"/>
          </a:ln>
        </p:spPr>
      </p:pic>
      <p:sp>
        <p:nvSpPr>
          <p:cNvPr id="6" name=""/>
          <p:cNvSpPr>
            <a:spLocks noGrp="1"/>
          </p:cNvSpPr>
          <p:nvPr>
          </p:nvPr>
        </p:nvSpPr>
        <p:spPr>
          <a:xfrm>
            <a:off x="8154619" y="1691640"/>
            <a:ext cx="3488436" cy="3566160"/>
          </a:xfrm>
        </p:spPr>
        <p:txBody>
          <a:bodyPr/>
          <a:lstStyle/>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Average sardine larvae inside each National Marine Sanctuary, ranked.</a:t>
            </a:r>
          </a:p>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Swap the sanctuaries for another boundary layer and the same data is summarised there.</a:t>
            </a:r>
          </a:p>
        </p:txBody>
      </p:sp>
      <p:sp>
        <p:nvSpPr>
          <p:cNvPr id="7" name=""/>
          <p:cNvSpPr>
            <a:spLocks noGrp="1"/>
          </p:cNvSpPr>
          <p:nvPr>
          </p:nvPr>
        </p:nvSpPr>
        <p:spPr>
          <a:xfrm>
            <a:off x="8154619" y="5257800"/>
            <a:ext cx="3488436" cy="77724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8" name=""/>
          <p:cNvSpPr>
            <a:spLocks noGrp="1"/>
          </p:cNvSpPr>
          <p:nvPr>
          </p:nvPr>
        </p:nvSpPr>
        <p:spPr>
          <a:xfrm>
            <a:off x="8291779" y="5321808"/>
            <a:ext cx="3214116" cy="685800"/>
          </a:xfrm>
        </p:spPr>
        <p:txBody>
          <a:bodyPr/>
          <a:lstStyle/>
          <a:p>
            <a:pPr algn="l" marL="0" marR="0">
              <a:lnSpc>
                <a:spcPct val="105000"/>
              </a:lnSpc>
              <a:spcBef>
                <a:spcPts val="0"/>
              </a:spcBef>
              <a:spcAft>
                <a:spcPts val="100"/>
              </a:spcAft>
              <a:buNone/>
            </a:pPr>
            <a:r>
              <a:rPr cap="none" sz="1100" i="0" b="1" u="none" strike="noStrike">
                <a:solidFill>
                  <a:srgbClr val="66686A">
                    <a:alpha val="100000"/>
                  </a:srgbClr>
                </a:solidFill>
                <a:latin typeface="Source Sans 3"/>
                <a:cs typeface="Source Sans 3"/>
                <a:ea typeface="Source Sans 3"/>
                <a:sym typeface="Source Sans 3"/>
              </a:rPr>
              <a:t>TRY IT</a:t>
            </a:r>
          </a:p>
          <a:p>
            <a:pPr algn="l" marL="0" marR="0">
              <a:lnSpc>
                <a:spcPct val="105000"/>
              </a:lnSpc>
              <a:spcBef>
                <a:spcPts val="0"/>
              </a:spcBef>
              <a:spcAft>
                <a:spcPts val="0"/>
              </a:spcAft>
              <a:buNone/>
            </a:pPr>
            <a:r>
              <a:rPr cap="none" sz="1250" i="0" b="1" u="none" strike="noStrike">
                <a:solidFill>
                  <a:srgbClr val="00629B">
                    <a:alpha val="100000"/>
                  </a:srgbClr>
                </a:solidFill>
                <a:latin typeface="Source Sans 3"/>
                <a:cs typeface="Source Sans 3"/>
                <a:ea typeface="Source Sans 3"/>
                <a:sym typeface="Source Sans 3"/>
              </a:rPr>
              <a:t>calcofi.io/explore/?lens=region</a:t>
            </a:r>
          </a:p>
        </p:txBody>
      </p:sp>
      <p:sp>
        <p:nvSpPr>
          <p:cNvPr id="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calcofi.io/explore/?lens=region</a:t>
            </a:r>
          </a:p>
        </p:txBody>
      </p:sp>
      <p:sp>
        <p:nvSpPr>
          <p:cNvPr id="1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6 · EXPLORE · 7 OF 7</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Sections: the ocean in slices</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1645920"/>
            <a:ext cx="7285939" cy="4553712"/>
          </a:xfrm>
          <a:prstGeom prst="rect">
            <a:avLst/>
          </a:prstGeom>
          <a:ln w="9525" cap="rnd" cmpd="sng">
            <a:solidFill>
              <a:srgbClr val="DDDDDD">
                <a:alpha val="100000"/>
              </a:srgbClr>
            </a:solidFill>
            <a:prstDash val="solid"/>
            <a:round/>
            <a:headEnd type="none" w="med" len="med"/>
            <a:tailEnd type="none" w="med" len="med"/>
          </a:ln>
        </p:spPr>
      </p:pic>
      <p:sp>
        <p:nvSpPr>
          <p:cNvPr id="6" name=""/>
          <p:cNvSpPr>
            <a:spLocks noGrp="1"/>
          </p:cNvSpPr>
          <p:nvPr>
          </p:nvPr>
        </p:nvSpPr>
        <p:spPr>
          <a:xfrm>
            <a:off x="8154619" y="1691640"/>
            <a:ext cx="3488436" cy="3566160"/>
          </a:xfrm>
        </p:spPr>
        <p:txBody>
          <a:bodyPr/>
          <a:lstStyle/>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A slice down through the water along one line of stations: offshore on the left, depth going down.</a:t>
            </a:r>
          </a:p>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Warm water floats on top and cools quickly with depth.</a:t>
            </a:r>
          </a:p>
        </p:txBody>
      </p:sp>
      <p:sp>
        <p:nvSpPr>
          <p:cNvPr id="7" name=""/>
          <p:cNvSpPr>
            <a:spLocks noGrp="1"/>
          </p:cNvSpPr>
          <p:nvPr>
          </p:nvPr>
        </p:nvSpPr>
        <p:spPr>
          <a:xfrm>
            <a:off x="8154619" y="5257800"/>
            <a:ext cx="3488436" cy="77724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8" name=""/>
          <p:cNvSpPr>
            <a:spLocks noGrp="1"/>
          </p:cNvSpPr>
          <p:nvPr>
          </p:nvPr>
        </p:nvSpPr>
        <p:spPr>
          <a:xfrm>
            <a:off x="8291779" y="5321808"/>
            <a:ext cx="3214116" cy="685800"/>
          </a:xfrm>
        </p:spPr>
        <p:txBody>
          <a:bodyPr/>
          <a:lstStyle/>
          <a:p>
            <a:pPr algn="l" marL="0" marR="0">
              <a:lnSpc>
                <a:spcPct val="105000"/>
              </a:lnSpc>
              <a:spcBef>
                <a:spcPts val="0"/>
              </a:spcBef>
              <a:spcAft>
                <a:spcPts val="100"/>
              </a:spcAft>
              <a:buNone/>
            </a:pPr>
            <a:r>
              <a:rPr cap="none" sz="1100" i="0" b="1" u="none" strike="noStrike">
                <a:solidFill>
                  <a:srgbClr val="66686A">
                    <a:alpha val="100000"/>
                  </a:srgbClr>
                </a:solidFill>
                <a:latin typeface="Source Sans 3"/>
                <a:cs typeface="Source Sans 3"/>
                <a:ea typeface="Source Sans 3"/>
                <a:sym typeface="Source Sans 3"/>
              </a:rPr>
              <a:t>TRY IT</a:t>
            </a:r>
          </a:p>
          <a:p>
            <a:pPr algn="l" marL="0" marR="0">
              <a:lnSpc>
                <a:spcPct val="105000"/>
              </a:lnSpc>
              <a:spcBef>
                <a:spcPts val="0"/>
              </a:spcBef>
              <a:spcAft>
                <a:spcPts val="0"/>
              </a:spcAft>
              <a:buNone/>
            </a:pPr>
            <a:r>
              <a:rPr cap="none" sz="1250" i="0" b="1" u="none" strike="noStrike">
                <a:solidFill>
                  <a:srgbClr val="00629B">
                    <a:alpha val="100000"/>
                  </a:srgbClr>
                </a:solidFill>
                <a:latin typeface="Source Sans 3"/>
                <a:cs typeface="Source Sans 3"/>
                <a:ea typeface="Source Sans 3"/>
                <a:sym typeface="Source Sans 3"/>
              </a:rPr>
              <a:t>calcofi.io/explore/?lens=section&amp;line=90</a:t>
            </a:r>
          </a:p>
        </p:txBody>
      </p:sp>
      <p:sp>
        <p:nvSpPr>
          <p:cNvPr id="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calcofi.io/explore/?lens=section&amp;line=90</a:t>
            </a:r>
          </a:p>
        </p:txBody>
      </p:sp>
      <p:sp>
        <p:nvSpPr>
          <p:cNvPr id="1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7 · THE CTD VISUALIZER · 1 OF 2</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The same slice, against normal: warmer or colder?</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1645920"/>
            <a:ext cx="5746009" cy="4553712"/>
          </a:xfrm>
          <a:prstGeom prst="rect">
            <a:avLst/>
          </a:prstGeom>
          <a:ln w="9525" cap="rnd" cmpd="sng">
            <a:solidFill>
              <a:srgbClr val="DDDDDD">
                <a:alpha val="100000"/>
              </a:srgbClr>
            </a:solidFill>
            <a:prstDash val="solid"/>
            <a:round/>
            <a:headEnd type="none" w="med" len="med"/>
            <a:tailEnd type="none" w="med" len="med"/>
          </a:ln>
        </p:spPr>
      </p:pic>
      <p:sp>
        <p:nvSpPr>
          <p:cNvPr id="6" name=""/>
          <p:cNvSpPr>
            <a:spLocks noGrp="1"/>
          </p:cNvSpPr>
          <p:nvPr>
          </p:nvPr>
        </p:nvSpPr>
        <p:spPr>
          <a:xfrm>
            <a:off x="6614689" y="1691640"/>
            <a:ext cx="5028366" cy="3566160"/>
          </a:xfrm>
        </p:spPr>
        <p:txBody>
          <a:bodyPr/>
          <a:lstStyle/>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The CTD Transects plotter draws a slice for every line and every cruise.</a:t>
            </a:r>
          </a:p>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Red is warmer than the 1993 to 2013 normal, blue is colder. Line 90, August 2024: a cold coastal edge and a warm offshore layer.</a:t>
            </a:r>
          </a:p>
          <a:p>
            <a:pPr algn="l" marL="0" marR="0">
              <a:lnSpc>
                <a:spcPct val="110000"/>
              </a:lnSpc>
              <a:spcBef>
                <a:spcPts val="0"/>
              </a:spcBef>
              <a:spcAft>
                <a:spcPts val="1200"/>
              </a:spcAft>
              <a:buNone/>
            </a:pPr>
            <a:r>
              <a:rPr cap="none" sz="1700" i="0" b="0" u="none" strike="noStrike">
                <a:solidFill>
                  <a:srgbClr val="182B49">
                    <a:alpha val="100000"/>
                  </a:srgbClr>
                </a:solidFill>
                <a:latin typeface="Source Sans 3"/>
                <a:cs typeface="Source Sans 3"/>
                <a:ea typeface="Source Sans 3"/>
                <a:sym typeface="Source Sans 3"/>
              </a:rPr>
              <a:t>Every cruise since 1993 is a click away.</a:t>
            </a:r>
          </a:p>
        </p:txBody>
      </p:sp>
      <p:sp>
        <p:nvSpPr>
          <p:cNvPr id="7" name=""/>
          <p:cNvSpPr>
            <a:spLocks noGrp="1"/>
          </p:cNvSpPr>
          <p:nvPr>
          </p:nvPr>
        </p:nvSpPr>
        <p:spPr>
          <a:xfrm>
            <a:off x="6614689" y="5257800"/>
            <a:ext cx="5028366" cy="777240"/>
          </a:xfrm>
          <a:prstGeom prst="roundRect">
            <a:avLst/>
          </a:prstGeom>
          <a:solidFill>
            <a:srgbClr val="F5F0E6">
              <a:alpha val="100000"/>
            </a:srgbClr>
          </a:solidFill>
          <a:ln w="9525" cap="rnd" cmpd="sng">
            <a:solidFill>
              <a:srgbClr val="F5F0E6">
                <a:alpha val="100000"/>
              </a:srgbClr>
            </a:solidFill>
            <a:prstDash val="solid"/>
            <a:round/>
            <a:headEnd type="none" w="med" len="med"/>
            <a:tailEnd type="none" w="med" len="med"/>
          </a:ln>
        </p:spPr>
      </p:sp>
      <p:sp>
        <p:nvSpPr>
          <p:cNvPr id="8" name=""/>
          <p:cNvSpPr>
            <a:spLocks noGrp="1"/>
          </p:cNvSpPr>
          <p:nvPr>
          </p:nvPr>
        </p:nvSpPr>
        <p:spPr>
          <a:xfrm>
            <a:off x="6751849" y="5321808"/>
            <a:ext cx="4754046" cy="685800"/>
          </a:xfrm>
        </p:spPr>
        <p:txBody>
          <a:bodyPr/>
          <a:lstStyle/>
          <a:p>
            <a:pPr algn="l" marL="0" marR="0">
              <a:lnSpc>
                <a:spcPct val="105000"/>
              </a:lnSpc>
              <a:spcBef>
                <a:spcPts val="0"/>
              </a:spcBef>
              <a:spcAft>
                <a:spcPts val="100"/>
              </a:spcAft>
              <a:buNone/>
            </a:pPr>
            <a:r>
              <a:rPr cap="none" sz="1100" i="0" b="1" u="none" strike="noStrike">
                <a:solidFill>
                  <a:srgbClr val="66686A">
                    <a:alpha val="100000"/>
                  </a:srgbClr>
                </a:solidFill>
                <a:latin typeface="Source Sans 3"/>
                <a:cs typeface="Source Sans 3"/>
                <a:ea typeface="Source Sans 3"/>
                <a:sym typeface="Source Sans 3"/>
              </a:rPr>
              <a:t>TRY IT</a:t>
            </a:r>
          </a:p>
          <a:p>
            <a:pPr algn="l" marL="0" marR="0">
              <a:lnSpc>
                <a:spcPct val="105000"/>
              </a:lnSpc>
              <a:spcBef>
                <a:spcPts val="0"/>
              </a:spcBef>
              <a:spcAft>
                <a:spcPts val="0"/>
              </a:spcAft>
              <a:buNone/>
            </a:pPr>
            <a:r>
              <a:rPr cap="none" sz="1250" i="0" b="1" u="none" strike="noStrike">
                <a:solidFill>
                  <a:srgbClr val="00629B">
                    <a:alpha val="100000"/>
                  </a:srgbClr>
                </a:solidFill>
                <a:latin typeface="Source Sans 3"/>
                <a:cs typeface="Source Sans 3"/>
                <a:ea typeface="Source Sans 3"/>
                <a:sym typeface="Source Sans 3"/>
              </a:rPr>
              <a:t>calcofi.io/ctd-transects</a:t>
            </a:r>
          </a:p>
        </p:txBody>
      </p:sp>
      <p:sp>
        <p:nvSpPr>
          <p:cNvPr id="9"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0"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calcofi.io/ctd-transects</a:t>
            </a:r>
          </a:p>
        </p:txBody>
      </p:sp>
      <p:sp>
        <p:nvSpPr>
          <p:cNvPr id="11"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7 · THE CTD VISUALIZER · 2 OF 2</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More stations, a sharper coast</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pic>
        <p:nvPicPr>
          <p:cNvPr id="5" name="" descr=""/>
          <p:cNvPicPr>
            <a:picLocks noGrp="1"/>
          </p:cNvPicPr>
          <p:nvPr>
          </p:nvPr>
        </p:nvPicPr>
        <p:blipFill>
          <a:blip r:embed="rId4"/>
          <a:stretch>
            <a:fillRect/>
          </a:stretch>
        </p:blipFill>
        <p:spPr>
          <a:xfrm>
            <a:off x="548640" y="2240280"/>
            <a:ext cx="5101034" cy="2743200"/>
          </a:xfrm>
          <a:prstGeom prst="rect">
            <a:avLst/>
          </a:prstGeom>
          <a:ln w="9525" cap="rnd" cmpd="sng">
            <a:solidFill>
              <a:srgbClr val="DDDDDD">
                <a:alpha val="100000"/>
              </a:srgbClr>
            </a:solidFill>
            <a:prstDash val="solid"/>
            <a:round/>
            <a:headEnd type="none" w="med" len="med"/>
            <a:tailEnd type="none" w="med" len="med"/>
          </a:ln>
        </p:spPr>
      </p:pic>
      <p:pic>
        <p:nvPicPr>
          <p:cNvPr id="6" name="" descr=""/>
          <p:cNvPicPr>
            <a:picLocks noGrp="1"/>
          </p:cNvPicPr>
          <p:nvPr>
          </p:nvPr>
        </p:nvPicPr>
        <p:blipFill>
          <a:blip r:embed="rId5"/>
          <a:stretch>
            <a:fillRect/>
          </a:stretch>
        </p:blipFill>
        <p:spPr>
          <a:xfrm>
            <a:off x="6233008" y="2240280"/>
            <a:ext cx="5101034" cy="2743200"/>
          </a:xfrm>
          <a:prstGeom prst="rect">
            <a:avLst/>
          </a:prstGeom>
          <a:ln w="9525" cap="rnd" cmpd="sng">
            <a:solidFill>
              <a:srgbClr val="DDDDDD">
                <a:alpha val="100000"/>
              </a:srgbClr>
            </a:solidFill>
            <a:prstDash val="solid"/>
            <a:round/>
            <a:headEnd type="none" w="med" len="med"/>
            <a:tailEnd type="none" w="med" len="med"/>
          </a:ln>
        </p:spPr>
      </p:pic>
      <p:sp>
        <p:nvSpPr>
          <p:cNvPr id="7" name=""/>
          <p:cNvSpPr>
            <a:spLocks noGrp="1"/>
          </p:cNvSpPr>
          <p:nvPr>
          </p:nvPr>
        </p:nvSpPr>
        <p:spPr>
          <a:xfrm>
            <a:off x="548640" y="1920240"/>
            <a:ext cx="5410048"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BEFORE · ONE STATION PER GRID CELL</a:t>
            </a:r>
          </a:p>
        </p:txBody>
      </p:sp>
      <p:sp>
        <p:nvSpPr>
          <p:cNvPr id="8" name=""/>
          <p:cNvSpPr>
            <a:spLocks noGrp="1"/>
          </p:cNvSpPr>
          <p:nvPr>
          </p:nvPr>
        </p:nvSpPr>
        <p:spPr>
          <a:xfrm>
            <a:off x="6233008" y="1920240"/>
            <a:ext cx="5410048"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AFTER · EVERY STATION ITS OWN COLUMN</a:t>
            </a:r>
          </a:p>
        </p:txBody>
      </p:sp>
      <p:sp>
        <p:nvSpPr>
          <p:cNvPr id="9" name=""/>
          <p:cNvSpPr>
            <a:spLocks noGrp="1"/>
          </p:cNvSpPr>
          <p:nvPr>
          </p:nvPr>
        </p:nvSpPr>
        <p:spPr>
          <a:xfrm>
            <a:off x="548640" y="5166360"/>
            <a:ext cx="11094415" cy="1051560"/>
          </a:xfrm>
        </p:spPr>
        <p:txBody>
          <a:bodyPr/>
          <a:lstStyle/>
          <a:p>
            <a:pPr algn="l" marL="0" marR="0">
              <a:lnSpc>
                <a:spcPct val="110000"/>
              </a:lnSpc>
              <a:spcBef>
                <a:spcPts val="0"/>
              </a:spcBef>
              <a:spcAft>
                <a:spcPts val="600"/>
              </a:spcAft>
              <a:buNone/>
            </a:pPr>
            <a:r>
              <a:rPr cap="none" sz="1700" i="0" b="0" u="none" strike="noStrike">
                <a:solidFill>
                  <a:srgbClr val="182B49">
                    <a:alpha val="100000"/>
                  </a:srgbClr>
                </a:solidFill>
                <a:latin typeface="Source Sans 3"/>
                <a:cs typeface="Source Sans 3"/>
                <a:ea typeface="Source Sans 3"/>
                <a:sym typeface="Source Sans 3"/>
              </a:rPr>
              <a:t>Line 90, August 2024. Once each station is drawn as itself, two inshore stations appear, and with them a cold nearshore core that the old picture hid.</a:t>
            </a:r>
          </a:p>
          <a:p>
            <a:pPr algn="l" marL="0" marR="0">
              <a:lnSpc>
                <a:spcPct val="110000"/>
              </a:lnSpc>
              <a:spcBef>
                <a:spcPts val="0"/>
              </a:spcBef>
              <a:spcAft>
                <a:spcPts val="600"/>
              </a:spcAft>
              <a:buNone/>
            </a:pPr>
            <a:r>
              <a:rPr cap="none" sz="1700" i="0" b="0" u="none" strike="noStrike">
                <a:solidFill>
                  <a:srgbClr val="182B49">
                    <a:alpha val="100000"/>
                  </a:srgbClr>
                </a:solidFill>
                <a:latin typeface="Source Sans 3"/>
                <a:cs typeface="Source Sans 3"/>
                <a:ea typeface="Source Sans 3"/>
                <a:sym typeface="Source Sans 3"/>
              </a:rPr>
              <a:t>Red is warmer and blue colder than normal.</a:t>
            </a:r>
          </a:p>
        </p:txBody>
      </p:sp>
      <p:sp>
        <p:nvSpPr>
          <p:cNvPr id="10"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1"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https://calcofi.io/ctd-transects/</a:t>
            </a:r>
          </a:p>
        </p:txBody>
      </p:sp>
      <p:sp>
        <p:nvSpPr>
          <p:cNvPr id="12"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548640" y="292608"/>
            <a:ext cx="9539935"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PART 8 · OFFERED BY BEN</a:t>
            </a:r>
          </a:p>
        </p:txBody>
      </p:sp>
      <p:sp>
        <p:nvSpPr>
          <p:cNvPr id="3" name=""/>
          <p:cNvSpPr>
            <a:spLocks noGrp="1"/>
          </p:cNvSpPr>
          <p:nvPr>
          </p:nvPr>
        </p:nvSpPr>
        <p:spPr>
          <a:xfrm>
            <a:off x="548640" y="512064"/>
            <a:ext cx="9539935" cy="1143000"/>
          </a:xfrm>
        </p:spPr>
        <p:txBody>
          <a:bodyPr/>
          <a:lstStyle/>
          <a:p>
            <a:pPr algn="l" marL="0" marR="0">
              <a:lnSpc>
                <a:spcPct val="90000"/>
              </a:lnSpc>
              <a:spcBef>
                <a:spcPts val="0"/>
              </a:spcBef>
              <a:spcAft>
                <a:spcPts val="0"/>
              </a:spcAft>
              <a:buNone/>
            </a:pPr>
            <a:r>
              <a:rPr cap="none" sz="3600" i="0" b="0" u="none" strike="noStrike">
                <a:solidFill>
                  <a:srgbClr val="182B49">
                    <a:alpha val="100000"/>
                  </a:srgbClr>
                </a:solidFill>
                <a:latin typeface="Teko"/>
                <a:cs typeface="Teko"/>
                <a:ea typeface="Teko"/>
                <a:sym typeface="Teko"/>
              </a:rPr>
              <a:t>Watching the next El Niño as it happens</a:t>
            </a:r>
          </a:p>
        </p:txBody>
      </p:sp>
      <p:pic>
        <p:nvPicPr>
          <p:cNvPr id="4" name="" descr=""/>
          <p:cNvPicPr>
            <a:picLocks noGrp="1"/>
          </p:cNvPicPr>
          <p:nvPr>
          </p:nvPr>
        </p:nvPicPr>
        <p:blipFill>
          <a:blip r:embed="rId3"/>
          <a:stretch>
            <a:fillRect/>
          </a:stretch>
        </p:blipFill>
        <p:spPr>
          <a:xfrm>
            <a:off x="10225735" y="329184"/>
            <a:ext cx="1417320" cy="337795"/>
          </a:xfrm>
          <a:prstGeom prst="rect">
            <a:avLst/>
          </a:prstGeom>
        </p:spPr>
      </p:pic>
      <p:sp>
        <p:nvSpPr>
          <p:cNvPr id="5" name=""/>
          <p:cNvSpPr>
            <a:spLocks noGrp="1"/>
          </p:cNvSpPr>
          <p:nvPr>
          </p:nvPr>
        </p:nvSpPr>
        <p:spPr>
          <a:xfrm>
            <a:off x="548640" y="1691640"/>
            <a:ext cx="5410048" cy="3017520"/>
          </a:xfrm>
          <a:prstGeom prst="rect">
            <a:avLst/>
          </a:prstGeom>
          <a:solidFill>
            <a:srgbClr val="F5F0E6">
              <a:alpha val="100000"/>
            </a:srgbClr>
          </a:solidFill>
          <a:ln w="9525" cap="rnd" cmpd="sng">
            <a:solidFill>
              <a:srgbClr val="B6B1A9">
                <a:alpha val="100000"/>
              </a:srgbClr>
            </a:solidFill>
            <a:prstDash val="solid"/>
            <a:round/>
            <a:headEnd type="none" w="med" len="med"/>
            <a:tailEnd type="none" w="med" len="med"/>
          </a:ln>
        </p:spPr>
      </p:sp>
      <p:sp>
        <p:nvSpPr>
          <p:cNvPr id="6" name=""/>
          <p:cNvSpPr>
            <a:spLocks noGrp="1"/>
          </p:cNvSpPr>
          <p:nvPr>
          </p:nvPr>
        </p:nvSpPr>
        <p:spPr>
          <a:xfrm>
            <a:off x="777240" y="1828800"/>
            <a:ext cx="4952848"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PLACEHOLDER SHOT</a:t>
            </a:r>
          </a:p>
        </p:txBody>
      </p:sp>
      <p:sp>
        <p:nvSpPr>
          <p:cNvPr id="7" name=""/>
          <p:cNvSpPr>
            <a:spLocks noGrp="1"/>
          </p:cNvSpPr>
          <p:nvPr>
          </p:nvPr>
        </p:nvSpPr>
        <p:spPr>
          <a:xfrm>
            <a:off x="777240" y="2560320"/>
            <a:ext cx="4952848" cy="914400"/>
          </a:xfrm>
        </p:spPr>
        <p:txBody>
          <a:bodyPr/>
          <a:lstStyle/>
          <a:p>
            <a:pPr algn="ctr" marL="0" marR="0">
              <a:lnSpc>
                <a:spcPct val="95000"/>
              </a:lnSpc>
              <a:spcBef>
                <a:spcPts val="0"/>
              </a:spcBef>
              <a:spcAft>
                <a:spcPts val="0"/>
              </a:spcAft>
              <a:buNone/>
            </a:pPr>
            <a:r>
              <a:rPr cap="none" sz="2400" i="0" b="0" u="none" strike="noStrike">
                <a:solidFill>
                  <a:srgbClr val="182B49">
                    <a:alpha val="100000"/>
                  </a:srgbClr>
                </a:solidFill>
                <a:latin typeface="Teko"/>
                <a:cs typeface="Teko"/>
                <a:ea typeface="Teko"/>
                <a:sym typeface="Teko"/>
              </a:rPr>
              <a:t>TEMPERATURE ANOMALY, ONE LINE</a:t>
            </a:r>
          </a:p>
        </p:txBody>
      </p:sp>
      <p:sp>
        <p:nvSpPr>
          <p:cNvPr id="8" name=""/>
          <p:cNvSpPr>
            <a:spLocks noGrp="1"/>
          </p:cNvSpPr>
          <p:nvPr>
          </p:nvPr>
        </p:nvSpPr>
        <p:spPr>
          <a:xfrm>
            <a:off x="777240" y="3657600"/>
            <a:ext cx="4952848" cy="822960"/>
          </a:xfrm>
        </p:spPr>
        <p:txBody>
          <a:bodyPr/>
          <a:lstStyle/>
          <a:p>
            <a:pPr algn="ctr" marL="0" marR="0">
              <a:lnSpc>
                <a:spcPct val="105000"/>
              </a:lnSpc>
              <a:spcBef>
                <a:spcPts val="0"/>
              </a:spcBef>
              <a:spcAft>
                <a:spcPts val="0"/>
              </a:spcAft>
              <a:buNone/>
            </a:pPr>
            <a:r>
              <a:rPr cap="none" sz="1400" i="0" b="0" u="none" strike="noStrike">
                <a:solidFill>
                  <a:srgbClr val="66686A">
                    <a:alpha val="100000"/>
                  </a:srgbClr>
                </a:solidFill>
                <a:latin typeface="Source Sans 3"/>
                <a:cs typeface="Source Sans 3"/>
                <a:ea typeface="Source Sans 3"/>
                <a:sym typeface="Source Sans 3"/>
              </a:rPr>
              <a:t>The CTD Transects slice for a current cruise, against normal.</a:t>
            </a:r>
          </a:p>
        </p:txBody>
      </p:sp>
      <p:sp>
        <p:nvSpPr>
          <p:cNvPr id="9" name=""/>
          <p:cNvSpPr>
            <a:spLocks noGrp="1"/>
          </p:cNvSpPr>
          <p:nvPr>
          </p:nvPr>
        </p:nvSpPr>
        <p:spPr>
          <a:xfrm>
            <a:off x="6233008" y="1691640"/>
            <a:ext cx="5410048" cy="3017520"/>
          </a:xfrm>
          <a:prstGeom prst="rect">
            <a:avLst/>
          </a:prstGeom>
          <a:solidFill>
            <a:srgbClr val="F5F0E6">
              <a:alpha val="100000"/>
            </a:srgbClr>
          </a:solidFill>
          <a:ln w="9525" cap="rnd" cmpd="sng">
            <a:solidFill>
              <a:srgbClr val="B6B1A9">
                <a:alpha val="100000"/>
              </a:srgbClr>
            </a:solidFill>
            <a:prstDash val="solid"/>
            <a:round/>
            <a:headEnd type="none" w="med" len="med"/>
            <a:tailEnd type="none" w="med" len="med"/>
          </a:ln>
        </p:spPr>
      </p:sp>
      <p:sp>
        <p:nvSpPr>
          <p:cNvPr id="10" name=""/>
          <p:cNvSpPr>
            <a:spLocks noGrp="1"/>
          </p:cNvSpPr>
          <p:nvPr>
          </p:nvPr>
        </p:nvSpPr>
        <p:spPr>
          <a:xfrm>
            <a:off x="6461608" y="1828800"/>
            <a:ext cx="4952848" cy="274320"/>
          </a:xfrm>
        </p:spPr>
        <p:txBody>
          <a:bodyPr/>
          <a:lstStyle/>
          <a:p>
            <a:pPr algn="l" marL="0" marR="0">
              <a:lnSpc>
                <a:spcPct val="105000"/>
              </a:lnSpc>
              <a:spcBef>
                <a:spcPts val="0"/>
              </a:spcBef>
              <a:spcAft>
                <a:spcPts val="0"/>
              </a:spcAft>
              <a:buNone/>
            </a:pPr>
            <a:r>
              <a:rPr cap="none" sz="1100" i="0" b="1" u="none" strike="noStrike">
                <a:solidFill>
                  <a:srgbClr val="66686A">
                    <a:alpha val="100000"/>
                  </a:srgbClr>
                </a:solidFill>
                <a:latin typeface="Source Sans 3"/>
                <a:cs typeface="Source Sans 3"/>
                <a:ea typeface="Source Sans 3"/>
                <a:sym typeface="Source Sans 3"/>
              </a:rPr>
              <a:t>PLACEHOLDER SHOT</a:t>
            </a:r>
          </a:p>
        </p:txBody>
      </p:sp>
      <p:sp>
        <p:nvSpPr>
          <p:cNvPr id="11" name=""/>
          <p:cNvSpPr>
            <a:spLocks noGrp="1"/>
          </p:cNvSpPr>
          <p:nvPr>
          </p:nvPr>
        </p:nvSpPr>
        <p:spPr>
          <a:xfrm>
            <a:off x="6461608" y="2560320"/>
            <a:ext cx="4952848" cy="914400"/>
          </a:xfrm>
        </p:spPr>
        <p:txBody>
          <a:bodyPr/>
          <a:lstStyle/>
          <a:p>
            <a:pPr algn="ctr" marL="0" marR="0">
              <a:lnSpc>
                <a:spcPct val="95000"/>
              </a:lnSpc>
              <a:spcBef>
                <a:spcPts val="0"/>
              </a:spcBef>
              <a:spcAft>
                <a:spcPts val="0"/>
              </a:spcAft>
              <a:buNone/>
            </a:pPr>
            <a:r>
              <a:rPr cap="none" sz="2400" i="0" b="0" u="none" strike="noStrike">
                <a:solidFill>
                  <a:srgbClr val="182B49">
                    <a:alpha val="100000"/>
                  </a:srgbClr>
                </a:solidFill>
                <a:latin typeface="Teko"/>
                <a:cs typeface="Teko"/>
                <a:ea typeface="Teko"/>
                <a:sym typeface="Teko"/>
              </a:rPr>
              <a:t>MIXED-LAYER DEPTH, A MAP</a:t>
            </a:r>
          </a:p>
        </p:txBody>
      </p:sp>
      <p:sp>
        <p:nvSpPr>
          <p:cNvPr id="12" name=""/>
          <p:cNvSpPr>
            <a:spLocks noGrp="1"/>
          </p:cNvSpPr>
          <p:nvPr>
          </p:nvPr>
        </p:nvSpPr>
        <p:spPr>
          <a:xfrm>
            <a:off x="6461608" y="3657600"/>
            <a:ext cx="4952848" cy="822960"/>
          </a:xfrm>
        </p:spPr>
        <p:txBody>
          <a:bodyPr/>
          <a:lstStyle/>
          <a:p>
            <a:pPr algn="ctr" marL="0" marR="0">
              <a:lnSpc>
                <a:spcPct val="105000"/>
              </a:lnSpc>
              <a:spcBef>
                <a:spcPts val="0"/>
              </a:spcBef>
              <a:spcAft>
                <a:spcPts val="0"/>
              </a:spcAft>
              <a:buNone/>
            </a:pPr>
            <a:r>
              <a:rPr cap="none" sz="1400" i="0" b="0" u="none" strike="noStrike">
                <a:solidFill>
                  <a:srgbClr val="66686A">
                    <a:alpha val="100000"/>
                  </a:srgbClr>
                </a:solidFill>
                <a:latin typeface="Source Sans 3"/>
                <a:cs typeface="Source Sans 3"/>
                <a:ea typeface="Source Sans 3"/>
                <a:sym typeface="Source Sans 3"/>
              </a:rPr>
              <a:t>How deep the warm surface layer reaches, station by station.</a:t>
            </a:r>
          </a:p>
        </p:txBody>
      </p:sp>
      <p:sp>
        <p:nvSpPr>
          <p:cNvPr id="13" name=""/>
          <p:cNvSpPr>
            <a:spLocks noGrp="1"/>
          </p:cNvSpPr>
          <p:nvPr>
          </p:nvPr>
        </p:nvSpPr>
        <p:spPr>
          <a:xfrm>
            <a:off x="548640" y="4892040"/>
            <a:ext cx="11094415" cy="1280160"/>
          </a:xfrm>
        </p:spPr>
        <p:txBody>
          <a:bodyPr/>
          <a:lstStyle/>
          <a:p>
            <a:pPr algn="l" marL="0" marR="0">
              <a:lnSpc>
                <a:spcPct val="105000"/>
              </a:lnSpc>
              <a:spcBef>
                <a:spcPts val="0"/>
              </a:spcBef>
              <a:spcAft>
                <a:spcPts val="600"/>
              </a:spcAft>
              <a:buNone/>
            </a:pPr>
            <a:r>
              <a:rPr cap="none" sz="2000" i="0" b="1" u="none" strike="noStrike">
                <a:solidFill>
                  <a:srgbClr val="00629B">
                    <a:alpha val="100000"/>
                  </a:srgbClr>
                </a:solidFill>
                <a:latin typeface="Source Sans 3"/>
                <a:cs typeface="Source Sans 3"/>
                <a:ea typeface="Source Sans 3"/>
                <a:sym typeface="Source Sans 3"/>
              </a:rPr>
              <a:t>The El Niño cruise leaves 31 October.</a:t>
            </a:r>
          </a:p>
          <a:p>
            <a:pPr algn="l" marL="0" marR="0">
              <a:lnSpc>
                <a:spcPct val="105000"/>
              </a:lnSpc>
              <a:spcBef>
                <a:spcPts val="0"/>
              </a:spcBef>
              <a:spcAft>
                <a:spcPts val="0"/>
              </a:spcAft>
              <a:buNone/>
            </a:pPr>
            <a:r>
              <a:rPr cap="none" sz="1700" i="0" b="0" u="none" strike="noStrike">
                <a:solidFill>
                  <a:srgbClr val="182B49">
                    <a:alpha val="100000"/>
                  </a:srgbClr>
                </a:solidFill>
                <a:latin typeface="Source Sans 3"/>
                <a:cs typeface="Source Sans 3"/>
                <a:ea typeface="Source Sans 3"/>
                <a:sym typeface="Source Sans 3"/>
              </a:rPr>
              <a:t>Our aim: as each line is sampled, show how the water compares with normal, and how deep the warm layer reaches, in the tools you have just seen.</a:t>
            </a:r>
          </a:p>
        </p:txBody>
      </p:sp>
      <p:sp>
        <p:nvSpPr>
          <p:cNvPr id="14" name=""/>
          <p:cNvSpPr>
            <a:spLocks noGrp="1"/>
          </p:cNvSpPr>
          <p:nvPr>
          </p:nvPr>
        </p:nvSpPr>
        <p:spPr>
          <a:xfrm>
            <a:off x="548640" y="6336792"/>
            <a:ext cx="11094415" cy="18288"/>
          </a:xfrm>
          <a:prstGeom prst="rect">
            <a:avLst/>
          </a:prstGeom>
          <a:solidFill>
            <a:srgbClr val="182B49">
              <a:alpha val="100000"/>
            </a:srgbClr>
          </a:solidFill>
          <a:ln w="9525" cap="rnd" cmpd="sng">
            <a:solidFill>
              <a:srgbClr val="182B49">
                <a:alpha val="100000"/>
              </a:srgbClr>
            </a:solidFill>
            <a:prstDash val="solid"/>
            <a:round/>
            <a:headEnd type="none" w="med" len="med"/>
            <a:tailEnd type="none" w="med" len="med"/>
          </a:ln>
        </p:spPr>
      </p:sp>
      <p:sp>
        <p:nvSpPr>
          <p:cNvPr id="15" name=""/>
          <p:cNvSpPr>
            <a:spLocks noGrp="1"/>
          </p:cNvSpPr>
          <p:nvPr>
          </p:nvPr>
        </p:nvSpPr>
        <p:spPr>
          <a:xfrm>
            <a:off x="548640" y="6400800"/>
            <a:ext cx="7772400" cy="292608"/>
          </a:xfrm>
        </p:spPr>
        <p:txBody>
          <a:bodyPr/>
          <a:lstStyle/>
          <a:p>
            <a:pPr algn="l" marL="0" marR="0">
              <a:lnSpc>
                <a:spcPct val="105000"/>
              </a:lnSpc>
              <a:spcBef>
                <a:spcPts val="0"/>
              </a:spcBef>
              <a:spcAft>
                <a:spcPts val="0"/>
              </a:spcAft>
              <a:buNone/>
            </a:pPr>
            <a:r>
              <a:rPr cap="none" sz="1100" i="0" b="0" u="none" strike="noStrike">
                <a:solidFill>
                  <a:srgbClr val="00629B">
                    <a:alpha val="100000"/>
                  </a:srgbClr>
                </a:solidFill>
                <a:latin typeface="Source Sans 3"/>
                <a:cs typeface="Source Sans 3"/>
                <a:ea typeface="Source Sans 3"/>
                <a:sym typeface="Source Sans 3"/>
              </a:rPr>
              <a:t>calcofi.io/ctd-transects · calcofi.io/explore</a:t>
            </a:r>
          </a:p>
        </p:txBody>
      </p:sp>
      <p:sp>
        <p:nvSpPr>
          <p:cNvPr id="16" name=""/>
          <p:cNvSpPr>
            <a:spLocks noGrp="1"/>
          </p:cNvSpPr>
          <p:nvPr>
          </p:nvPr>
        </p:nvSpPr>
        <p:spPr>
          <a:xfrm>
            <a:off x="7528255" y="6400800"/>
            <a:ext cx="4114800" cy="292608"/>
          </a:xfrm>
        </p:spPr>
        <p:txBody>
          <a:bodyPr/>
          <a:lstStyle/>
          <a:p>
            <a:pPr algn="r" marL="0" marR="0">
              <a:lnSpc>
                <a:spcPct val="105000"/>
              </a:lnSpc>
              <a:spcBef>
                <a:spcPts val="0"/>
              </a:spcBef>
              <a:spcAft>
                <a:spcPts val="0"/>
              </a:spcAft>
              <a:buNone/>
            </a:pPr>
            <a:r>
              <a:rPr cap="none" sz="1100" i="0" b="0" u="none" strike="noStrike">
                <a:solidFill>
                  <a:srgbClr val="66686A">
                    <a:alpha val="100000"/>
                  </a:srgbClr>
                </a:solidFill>
                <a:latin typeface="Source Sans 3"/>
                <a:cs typeface="Source Sans 3"/>
                <a:ea typeface="Source Sans 3"/>
                <a:sym typeface="Source Sans 3"/>
              </a:rPr>
              <a:t>CalOOS summit · 2026-10-13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nvPr>
        </p:nvSpPr>
        <p:spPr>
          <a:xfrm>
            <a:off x="0" y="0"/>
            <a:ext cx="12191695" cy="6858000"/>
          </a:xfrm>
          <a:prstGeom prst="rect">
            <a:avLst/>
          </a:prstGeom>
          <a:solidFill>
            <a:srgbClr val="0F1A2E">
              <a:alpha val="100000"/>
            </a:srgbClr>
          </a:solidFill>
          <a:ln w="9525" cap="rnd" cmpd="sng">
            <a:solidFill>
              <a:srgbClr val="0F1A2E">
                <a:alpha val="100000"/>
              </a:srgbClr>
            </a:solidFill>
            <a:prstDash val="solid"/>
            <a:round/>
            <a:headEnd type="none" w="med" len="med"/>
            <a:tailEnd type="none" w="med" len="med"/>
          </a:ln>
        </p:spPr>
      </p:sp>
      <p:pic>
        <p:nvPicPr>
          <p:cNvPr id="3" name="" descr=""/>
          <p:cNvPicPr>
            <a:picLocks noGrp="1"/>
          </p:cNvPicPr>
          <p:nvPr>
          </p:nvPr>
        </p:nvPicPr>
        <p:blipFill>
          <a:blip r:embed="rId3"/>
          <a:stretch>
            <a:fillRect/>
          </a:stretch>
        </p:blipFill>
        <p:spPr>
          <a:xfrm>
            <a:off x="548640" y="548640"/>
            <a:ext cx="2926080" cy="697382"/>
          </a:xfrm>
          <a:prstGeom prst="rect">
            <a:avLst/>
          </a:prstGeom>
        </p:spPr>
      </p:pic>
      <p:sp>
        <p:nvSpPr>
          <p:cNvPr id="4" name=""/>
          <p:cNvSpPr>
            <a:spLocks noGrp="1"/>
          </p:cNvSpPr>
          <p:nvPr>
          </p:nvPr>
        </p:nvSpPr>
        <p:spPr>
          <a:xfrm>
            <a:off x="548640" y="2011680"/>
            <a:ext cx="10058400" cy="365760"/>
          </a:xfrm>
        </p:spPr>
        <p:txBody>
          <a:bodyPr/>
          <a:lstStyle/>
          <a:p>
            <a:pPr algn="l" marL="0" marR="0">
              <a:lnSpc>
                <a:spcPct val="105000"/>
              </a:lnSpc>
              <a:spcBef>
                <a:spcPts val="0"/>
              </a:spcBef>
              <a:spcAft>
                <a:spcPts val="0"/>
              </a:spcAft>
              <a:buNone/>
            </a:pPr>
            <a:r>
              <a:rPr cap="none" sz="1300" i="0" b="1" u="none" strike="noStrike">
                <a:solidFill>
                  <a:srgbClr val="FFCD00">
                    <a:alpha val="100000"/>
                  </a:srgbClr>
                </a:solidFill>
                <a:latin typeface="Source Sans 3"/>
                <a:cs typeface="Source Sans 3"/>
                <a:ea typeface="Source Sans 3"/>
                <a:sym typeface="Source Sans 3"/>
              </a:rPr>
              <a:t>ONE RECORD · A DOOR FOR EVERYONE</a:t>
            </a:r>
          </a:p>
        </p:txBody>
      </p:sp>
      <p:sp>
        <p:nvSpPr>
          <p:cNvPr id="5" name=""/>
          <p:cNvSpPr>
            <a:spLocks noGrp="1"/>
          </p:cNvSpPr>
          <p:nvPr>
          </p:nvPr>
        </p:nvSpPr>
        <p:spPr>
          <a:xfrm>
            <a:off x="548640" y="2377440"/>
            <a:ext cx="10789920" cy="1097280"/>
          </a:xfrm>
        </p:spPr>
        <p:txBody>
          <a:bodyPr/>
          <a:lstStyle/>
          <a:p>
            <a:pPr algn="l" marL="0" marR="0">
              <a:lnSpc>
                <a:spcPct val="90000"/>
              </a:lnSpc>
              <a:spcBef>
                <a:spcPts val="0"/>
              </a:spcBef>
              <a:spcAft>
                <a:spcPts val="0"/>
              </a:spcAft>
              <a:buNone/>
            </a:pPr>
            <a:r>
              <a:rPr cap="none" sz="5400" i="0" b="0" u="none" strike="noStrike">
                <a:solidFill>
                  <a:srgbClr val="FFFFFF">
                    <a:alpha val="100000"/>
                  </a:srgbClr>
                </a:solidFill>
                <a:latin typeface="Teko"/>
                <a:cs typeface="Teko"/>
                <a:ea typeface="Teko"/>
                <a:sym typeface="Teko"/>
              </a:rPr>
              <a:t>Explore it, cite it, build on it</a:t>
            </a:r>
          </a:p>
        </p:txBody>
      </p:sp>
      <p:sp>
        <p:nvSpPr>
          <p:cNvPr id="6" name=""/>
          <p:cNvSpPr>
            <a:spLocks noGrp="1"/>
          </p:cNvSpPr>
          <p:nvPr>
          </p:nvPr>
        </p:nvSpPr>
        <p:spPr>
          <a:xfrm>
            <a:off x="548640" y="3749040"/>
            <a:ext cx="10058400" cy="2194560"/>
          </a:xfrm>
        </p:spPr>
        <p:txBody>
          <a:bodyPr/>
          <a:lstStyle/>
          <a:p>
            <a:pPr algn="l" marL="0" marR="0">
              <a:lnSpc>
                <a:spcPct val="105000"/>
              </a:lnSpc>
              <a:spcBef>
                <a:spcPts val="0"/>
              </a:spcBef>
              <a:spcAft>
                <a:spcPts val="600"/>
              </a:spcAft>
              <a:buNone/>
            </a:pPr>
            <a:r>
              <a:rPr cap="none" sz="1800" i="0" b="0" u="none" strike="noStrike">
                <a:solidFill>
                  <a:srgbClr val="B6B1A9">
                    <a:alpha val="100000"/>
                  </a:srgbClr>
                </a:solidFill>
                <a:latin typeface="Source Sans 3"/>
                <a:cs typeface="Source Sans 3"/>
                <a:ea typeface="Source Sans 3"/>
                <a:sym typeface="Source Sans 3"/>
              </a:rPr>
              <a:t>calcofi.io/explore · see the data</a:t>
            </a:r>
          </a:p>
          <a:p>
            <a:pPr algn="l" marL="0" marR="0">
              <a:lnSpc>
                <a:spcPct val="105000"/>
              </a:lnSpc>
              <a:spcBef>
                <a:spcPts val="0"/>
              </a:spcBef>
              <a:spcAft>
                <a:spcPts val="600"/>
              </a:spcAft>
              <a:buNone/>
            </a:pPr>
            <a:r>
              <a:rPr cap="none" sz="1800" i="0" b="0" u="none" strike="noStrike">
                <a:solidFill>
                  <a:srgbClr val="B6B1A9">
                    <a:alpha val="100000"/>
                  </a:srgbClr>
                </a:solidFill>
                <a:latin typeface="Source Sans 3"/>
                <a:cs typeface="Source Sans 3"/>
                <a:ea typeface="Source Sans 3"/>
                <a:sym typeface="Source Sans 3"/>
              </a:rPr>
              <a:t>calcofi.io/ctd-transects · slices and anomalies</a:t>
            </a:r>
          </a:p>
          <a:p>
            <a:pPr algn="l" marL="0" marR="0">
              <a:lnSpc>
                <a:spcPct val="105000"/>
              </a:lnSpc>
              <a:spcBef>
                <a:spcPts val="0"/>
              </a:spcBef>
              <a:spcAft>
                <a:spcPts val="600"/>
              </a:spcAft>
              <a:buNone/>
            </a:pPr>
            <a:r>
              <a:rPr cap="none" sz="1800" i="0" b="0" u="none" strike="noStrike">
                <a:solidFill>
                  <a:srgbClr val="B6B1A9">
                    <a:alpha val="100000"/>
                  </a:srgbClr>
                </a:solidFill>
                <a:latin typeface="Source Sans 3"/>
                <a:cs typeface="Source Sans 3"/>
                <a:ea typeface="Source Sans 3"/>
                <a:sym typeface="Source Sans 3"/>
              </a:rPr>
              <a:t>calcofi.io/docs · which door is yours</a:t>
            </a:r>
          </a:p>
          <a:p>
            <a:pPr algn="l" marL="0" marR="0">
              <a:lnSpc>
                <a:spcPct val="105000"/>
              </a:lnSpc>
              <a:spcBef>
                <a:spcPts val="0"/>
              </a:spcBef>
              <a:spcAft>
                <a:spcPts val="600"/>
              </a:spcAft>
              <a:buNone/>
            </a:pPr>
            <a:r>
              <a:rPr cap="none" sz="1800" i="0" b="0" u="none" strike="noStrike">
                <a:solidFill>
                  <a:srgbClr val="B6B1A9">
                    <a:alpha val="100000"/>
                  </a:srgbClr>
                </a:solidFill>
                <a:latin typeface="Source Sans 3"/>
                <a:cs typeface="Source Sans 3"/>
                <a:ea typeface="Source Sans 3"/>
                <a:sym typeface="Source Sans 3"/>
              </a:rPr>
              <a:t>Release v2026.10.01 · doi.org/10.5281/zenodo.23085119</a:t>
            </a:r>
          </a:p>
          <a:p>
            <a:pPr algn="l" marL="0" marR="0">
              <a:lnSpc>
                <a:spcPct val="105000"/>
              </a:lnSpc>
              <a:spcBef>
                <a:spcPts val="0"/>
              </a:spcBef>
              <a:spcAft>
                <a:spcPts val="600"/>
              </a:spcAft>
              <a:buNone/>
            </a:pPr>
            <a:r>
              <a:rPr cap="none" sz="1800" i="0" b="0" u="none" strike="noStrike">
                <a:solidFill>
                  <a:srgbClr val="B6B1A9">
                    <a:alpha val="100000"/>
                  </a:srgbClr>
                </a:solidFill>
                <a:latin typeface="Source Sans 3"/>
                <a:cs typeface="Source Sans 3"/>
                <a:ea typeface="Source Sans 3"/>
                <a:sym typeface="Source Sans 3"/>
              </a:rPr>
              <a:t>data@calcofi.io</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bbest</cp:lastModifiedBy>
  <cp:revision>3</cp:revision>
  <dcterms:created xsi:type="dcterms:W3CDTF">2017-02-13T16:18:36Z</dcterms:created>
  <dcterms:modified xsi:type="dcterms:W3CDTF">2026-10-02T13:24:44Z</dcterms:modified>
  <cp:category/>
</cp:coreProperties>
</file>