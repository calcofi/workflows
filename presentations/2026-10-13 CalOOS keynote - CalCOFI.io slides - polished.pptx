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for Mark: for 77 years, ships have gone out to the same stations off California and measured the same ocean. Today I want to show what happens when all of it, from every team that has ever sampled there, lives in one place that anyone can open.</a:t>
            </a:r>
          </a:p>
          <a:p/>
          <a:p>
            <a:r>
              <a:t>The story in five beats, which the slides follow in order: the ocean's record has been scattered across files; we turn each dataset into one record; every audience gets its own door; the same water can be seen four ways; and in two weeks a ship leaves to watch an El Niño, and we want you to see it as it happens.</a:t>
            </a:r>
          </a:p>
          <a:p/>
          <a:p>
            <a:r>
              <a:t>For Ben: this is a first full draft. Sections 1, 2 and 5 are titled placeholders for Betty and Erin. The Explorer shots are from the 9/8 and 9/23 decks and carry a visible old release stamp; each such slide has a RESHOOT line in these notes (and the list is in the hand-back).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for Betty's part 1, the statewide monitoring inventory. Ben has not written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Erin owns this slide. Her note in the skeleton says: 'Key point is that this is not the data; metadata.' That is kept on the slide as the working title.</a:t>
            </a:r>
          </a:p>
          <a:p/>
          <a:p>
            <a:r>
              <a:t>Say it plainly: CalOOS is a front window. A person finds CalCOFI data there, and a click takes them to the dataset where we keep it. Nothing is copied into CalOOS, so there is only ever one version of the truth.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this is the whole idea in three words. Ingest, publish, visualize.</a:t>
            </a:r>
          </a:p>
          <a:p/>
          <a:p>
            <a:r>
              <a:t>Ingest: a ship's measurements, a net's catch, a whale survey. They each arrive in their own shape. We read every one the same way, and when we are unsure what a column means, we ask the provider and keep the answer with the data.</a:t>
            </a:r>
          </a:p>
          <a:p/>
          <a:p>
            <a:r>
              <a:t>Publish: from that, we produce one record per dataset, written once. Everything a portal needs, including the description and the citation, is generated from that single record, so a description cannot disagree with itself in two places.</a:t>
            </a:r>
          </a:p>
          <a:p/>
          <a:p>
            <a:r>
              <a:t>Visualize: the same data opens in a web browser with no software, or in R and Python for people who analyse it. Same numbers everywhere.</a:t>
            </a:r>
          </a:p>
          <a:p/>
          <a:p>
            <a:r>
              <a:t>The sentence at the bottom is a rule the pipeline enforces: a release is built only after the keys that join the datasets, and the limits on what a measurement can be, pass their checks.</a:t>
            </a:r>
          </a:p>
          <a:p/>
          <a:p>
            <a:r>
              <a:t>Sources: ../docs/index.qmd (the Ingest, Integrate, Publish, Visualize paragraphs) and ../docs/diagrams/system.mmd.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people, not technology. Who wants CalCOFI data? A curious person or a scientist who wants to see it. A data scientist writing queries. A provider who wants to contribute theirs. The CTD team that checks the instrument data. The team that builds products on it. And the program, which has to report on all of this.</a:t>
            </a:r>
          </a:p>
          <a:p/>
          <a:p>
            <a:r>
              <a:t>Say: six audiences, and they do not want the same thing. Today most data systems answer one of them and leave the rest to work it out.</a:t>
            </a:r>
          </a:p>
          <a:p/>
          <a:p>
            <a:r>
              <a:t>Next slide adds the doors. (Build slide 1 of 4: it stays four separate slides so it animates the same way in Google Slides, a PDF or a projector.)</a:t>
            </a:r>
          </a:p>
          <a:p/>
          <a:p>
            <a:r>
              <a:t>Source: the six rows of 'Which door is yours' (../docs/index.qmd, tbl-doors), read by the build script.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each audience gets a door. Explore is a map in a web browser: you click, you see. Access the data gives R, Python and open files to people who write code. Providing data is the step-by-step guide for a provider. The CTD team has its own route from the instrument to the release. The data team has the guide for adding a dataset. The program has the data management plan and its status page.</a:t>
            </a:r>
          </a:p>
          <a:p/>
          <a:p>
            <a:r>
              <a:t>Say: the point is that nobody has to read about everything to get what they came for. Each door is a short path.</a:t>
            </a:r>
          </a:p>
          <a:p/>
          <a:p>
            <a:r>
              <a:t>Arrows run one way on the slide for simplicity; for a provider the arrow means 'your data goes in here'.</a:t>
            </a:r>
          </a:p>
          <a:p/>
          <a:p>
            <a:r>
              <a:t>Source: ../docs/index.qmd tbl-doors; the door names on the slide are the ones in that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every door is the same database. This is the important idea. It is one integrated record of every dataset: the numbers on this slide (datasets, years) are read from the release itself when the slide is built.</a:t>
            </a:r>
          </a:p>
          <a:p/>
          <a:p>
            <a:r>
              <a:t>Each release is frozen. Think of it as a sealed, numbered edition: it carries a fingerprint, and it has a DOI so anyone can cite exactly what they used. That is what makes the data findable and reusable, the F and the R of FAIR.</a:t>
            </a:r>
          </a:p>
          <a:p/>
          <a:p>
            <a:r>
              <a:t>Say: whether you came through the map or through Python, you read the same bytes. A figure in a paper and a figure on the website cannot disagree.</a:t>
            </a:r>
          </a:p>
          <a:p/>
          <a:p>
            <a:r>
              <a:t>Source: the release record (data/releases/&lt;version&gt;/datasets.json and catalog.json).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step is where CalOOS comes in. From the one database we generate the descriptions that other portals want: CalOOS, the global ocean biodiversity archive OBIS, the EDI environmental archive, ERDDAP data servers, and the ordinary web search that finds datasets.</a:t>
            </a:r>
          </a:p>
          <a:p/>
          <a:p>
            <a:r>
              <a:t>This is Erin's message, and it is the one to land: CalOOS links to the authoritative dataset. Nothing is copied. The portal is a window onto the CalCOFI record, so the CalCOFI team stays the source and the numbers stay consistent.</a:t>
            </a:r>
          </a:p>
          <a:p/>
          <a:p>
            <a:r>
              <a:t>Say: write it once, publish everywhere, copy nothing.</a:t>
            </a:r>
          </a:p>
          <a:p/>
          <a:p>
            <a:r>
              <a:t>Source: ../docs/diagrams/catalog_flow.mmd (the 'Who reads them' column; CalOOS harvests the ERDDAP metadata) and ../docs/data/registry/portal.csv for the portal names.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tiles left to right. 77 years since 1949. 17 datasets in one database. 1,008 species identified. 1.3 M organism observations: a count of an animal or plant in a sample. 336 M measurement values, mostly from instruments lowered into the water. And 88 kinds of measurement, each with its own page.</a:t>
            </a:r>
          </a:p>
          <a:p/>
          <a:p>
            <a:r>
              <a:t>The one sentence for the room: every release is frozen and fingerprinted. In plain words, we publish a numbered edition of the database, and its DOI is a permanent address. Cite it and anyone can fetch exactly what you used, years from now.</a:t>
            </a:r>
          </a:p>
          <a:p/>
          <a:p>
            <a:r>
              <a:t>For Ben: every number is read from data/releases/v2026.10.01/ when the deck is built (years = release year minus the earliest dataset start, the landing page's own rule; species = coverage.json taxa at rank Species; organism observations = obs_bio rows; measurement values = obs_env + obs_ctd_full + obs_mets_full rows, the landing band's definition; kinds = measurements.json counts). Re-run the script after the next release.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for Betty's part 5, the data finder app. Erin's prompt on the slide in the skeleton: 'Curious what data have/are being collected on the CalCOFI platform?'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front page of the Explorer: one map, no software to install. On the left you choose what you care about, an organism or a measurement. Each dot is a station, a place the ship has stopped, and its colour is how much was found there.</a:t>
            </a:r>
          </a:p>
          <a:p/>
          <a:p>
            <a:r>
              <a:t>The bars along the bottom are time: how many observations were made each year. You can drag to look at just a few years.</a:t>
            </a:r>
          </a:p>
          <a:p/>
          <a:p>
            <a:r>
              <a:t>RESHOOT 10/5-10/6: https://calcofi.io/explore/?tour=off&amp;theme=light -- the header still reads release v2026.09.06 and this shot predates the 9/16 colour-ramp and 10/1 changes; retake on v2026.10.01, 1600 x 1000 CSS px at 2x</a:t>
            </a:r>
          </a:p>
          <a:p/>
          <a:p>
            <a:r>
              <a:t>Shot source: explore/shots/tour/stations_light.png (also in the 9/8 deck, slide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idea that makes the Explorer easy for a first-time visitor. The sentence at the top of the screen says, in words, exactly what you are looking at: the animal, its life stage, the statistic, the years, the seasons, the depth. Each part of the sentence is a drop-down.</a:t>
            </a:r>
          </a:p>
          <a:p/>
          <a:p>
            <a:r>
              <a:t>The menu that is open is the lens picker: stations, hexagons, contours, cruises, regions, sections. Pick a lens and the same question is drawn a different way. The next five slides go through them.</a:t>
            </a:r>
          </a:p>
          <a:p/>
          <a:p>
            <a:r>
              <a:t>RESHOOT 10/5-10/6: https://calcofi.io/explore/?tour=off&amp;theme=light -- open the sentence, then open the 'View as' chip; the old shot is cropped from the v2026.09.06 build (recipe: explore/shots/tour/README.md, sentence_dropdown.png)</a:t>
            </a:r>
          </a:p>
          <a:p/>
          <a:p>
            <a:r>
              <a:t>Shot source: explore/shots/tour/sentence_dropdown.png (9/8 deck, slide 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data, different lens. Instead of one dot per station, we pool everything into small hexagons. A hexagon is a fair way to tile a map because every neighbour is the same distance away. You can slide the size up and down to see the pattern at different scales.</a:t>
            </a:r>
          </a:p>
          <a:p/>
          <a:p>
            <a:r>
              <a:t>Plain version: where do sardine larvae live? Look for the yellow band close to the coast.</a:t>
            </a:r>
          </a:p>
          <a:p/>
          <a:p>
            <a:r>
              <a:t>RESHOOT 10/5-10/6: https://calcofi.io/explore/?lens=hex&amp;res=5&amp;tour=off&amp;theme=light -- stamp reads release v2026.09.06</a:t>
            </a:r>
          </a:p>
          <a:p/>
          <a:p>
            <a:r>
              <a:t>Shot source: explore/shots/tour/hexagons.png (9/8 deck, slide 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Ships only measure where they stop, so between stations there is a gap. The contour lens fills the gap with a statistical estimate, kriging, which is a standard method in the earth sciences. The white dots are the real measurements; the colours between them are the estimate.</a:t>
            </a:r>
          </a:p>
          <a:p/>
          <a:p>
            <a:r>
              <a:t>Everything is computed in your own browser, with no server. There is also a view of how uncertain the estimate is, which is the honest part: where the stations are far apart, the picture says so.</a:t>
            </a:r>
          </a:p>
          <a:p/>
          <a:p>
            <a:r>
              <a:t>RESHOOT 10/5-10/6: https://calcofi.io/explore/?lens=contour&amp;var=temperature&amp;grain=station&amp;labels=on&amp;tour=off&amp;theme=light -- stamp reads release v2026.09.06; the 10/1 release also changed the climatology and the colour ramps</a:t>
            </a:r>
          </a:p>
          <a:p/>
          <a:p>
            <a:r>
              <a:t>Shot source: explore/shots/tour/contours_temperature_grid_labels.png (9/8 deck used the 9/7 contour shot).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follow a single voyage, the July 2026 cruise. The track runs across the map and the stations are coloured by temperature.</a:t>
            </a:r>
          </a:p>
          <a:p/>
          <a:p>
            <a:r>
              <a:t>The big panel underneath is the whole record: each dot is one cruise's average temperature, back to the beginning. The highlighted dot on the right is this cruise, so you can see at a glance whether it was warm or cold for its time. That is the question people will ask about the El Niño cruise.</a:t>
            </a:r>
          </a:p>
          <a:p/>
          <a:p>
            <a:r>
              <a:t>RESHOOT 10/5-10/6: https://calcofi.io/explore/?lens=cruise&amp;var=temperature&amp;tour=off&amp;theme=light -- stamp reads release v2026.09.06, newest cruise then was 2026-07-3322; retake with the newest cruise on v2026.10.01</a:t>
            </a:r>
          </a:p>
          <a:p/>
          <a:p>
            <a:r>
              <a:t>Shot source: explore/shots/tour/cruises.png.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Managers ask about places with names: a sanctuary, a county, a protected area. The regions lens averages inside each boundary and ranks them, so you can read the answer straight off the list on the left.</a:t>
            </a:r>
          </a:p>
          <a:p/>
          <a:p>
            <a:r>
              <a:t>Several boundary layers are built in, so the same question can be asked of different management areas.</a:t>
            </a:r>
          </a:p>
          <a:p/>
          <a:p>
            <a:r>
              <a:t>RESHOOT 10/5-10/6: https://calcofi.io/explore/?lens=region&amp;tour=off&amp;theme=light -- stamp reads release v2026.09.06</a:t>
            </a:r>
          </a:p>
          <a:p/>
          <a:p>
            <a:r>
              <a:t>Shot source: explore/shots/tour/regions.png (9/8 deck, slide 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view oceanographers love: a vertical slice. Imagine cutting the sea along line 90, a row of stations running offshore from Southern California. Offshore is on the left, the surface is at the top, and depth runs down. The yellow band at the top is warm surface water, and the water cools quickly with depth.</a:t>
            </a:r>
          </a:p>
          <a:p/>
          <a:p>
            <a:r>
              <a:t>Bridge to the next section: this is as measured. Next, the question that matters for El Niño: how does this slice compare with normal?</a:t>
            </a:r>
          </a:p>
          <a:p/>
          <a:p>
            <a:r>
              <a:t>RESHOOT 10/5-10/6: https://calcofi.io/explore/?lens=section&amp;var=temperature&amp;line=90&amp;tour=off&amp;theme=light -- stamp reads release v2026.09.06 and shows cruise 2026-07-3322; retake on the newest cruise in v2026.10.01</a:t>
            </a:r>
          </a:p>
          <a:p/>
          <a:p>
            <a:r>
              <a:t>Shot source: explore/shots/tour/sections_env.png.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CTD is the instrument lowered from the ship that records temperature, salinity and oxygen all the way down. This plotter turns every cruise's casts into a slice like the last one, but coloured as a difference from the long-term normal.</a:t>
            </a:r>
          </a:p>
          <a:p/>
          <a:p>
            <a:r>
              <a:t>Red means warmer than normal for that place, depth and month; blue means colder. That is how an El Niño shows up: a warm anomaly spreading through the upper layers. Here the line 90 slice for August 2024 shows cold water against the coast and a warm layer offshore.</a:t>
            </a:r>
          </a:p>
          <a:p/>
          <a:p>
            <a:r>
              <a:t>The normal is the average of the cruises from 1993 to 2013, with at least five cruises behind each cell; the page says how many.</a:t>
            </a:r>
          </a:p>
          <a:p/>
          <a:p>
            <a:r>
              <a:t>RESHOOT 10/5-10/6: https://calcofi.io/ctd-transects/?line=90&amp;cruise=2024-08-33P4&amp;var=temperature_ave&amp;mode=anomaly -- stamp reads release v2026.09.11; 10/1 plotter changes (variables shown only where enough stations carry them) are not in this shot; also shoot the 'as measured' version of the same section and a current cruise</a:t>
            </a:r>
          </a:p>
          <a:p/>
          <a:p>
            <a:r>
              <a:t>Shot source: 9/23 deck, slide 20 (ctd-transects PR #4 build).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section, before and after one change: we stopped lumping several nearby stations into one box and drew each station as itself. Two inshore stations that were invisible now show up, and with them a band of cold water right at the coast, the signature of coastal upwelling, which the old picture averaged away.</a:t>
            </a:r>
          </a:p>
          <a:p/>
          <a:p>
            <a:r>
              <a:t>The message for a non-technical audience: more of the real data reaches the screen, and the picture sharpens. This is also why we do the work in the database and not in each app.</a:t>
            </a:r>
          </a:p>
          <a:p/>
          <a:p>
            <a:r>
              <a:t>Two things changed at once, the station key and the baseline, so say 'comes into focus' and do not credit one cause.</a:t>
            </a:r>
          </a:p>
          <a:p/>
          <a:p>
            <a:r>
              <a:t>RESHOOT 10/5-10/6: https://calcofi.io/ctd-transects/?line=90&amp;cruise=2024-08-33P4&amp;var=temperature_ave&amp;mode=anomaly -- optional: the 'after' picture is from the release v2026.09.11 build; only needed if this slide is kept and the plotter's ramps or baseline changed again</a:t>
            </a:r>
          </a:p>
          <a:p/>
          <a:p>
            <a:r>
              <a:t>Shot source: 9/23 deck, slide 19 (before = build of 2026-09-07 on v2026.09.06; after = the bot refresh of 2026-09-12 on v2026.09.11).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 Niño cruise leaves 31 October and runs to about 10 November. If one more slide is wanted, this is the closing beat: the same tools we just walked through, aimed at the thing everyone will be asking about.</a:t>
            </a:r>
          </a:p>
          <a:p/>
          <a:p>
            <a:r>
              <a:t>Two views are planned. First, the temperature anomaly along a line, from CTD Transects: red upper layers spreading offshore are the El Niño signature. Second, a map of mixed-layer depth, the depth to which the surface water is well mixed. These are the first derived products we publish, computed per cast from the CTD profiles and released in v2026.10.01.</a:t>
            </a:r>
          </a:p>
          <a:p/>
          <a:p>
            <a:r>
              <a:t>Be careful with 'as it happens': the preliminary cruise files reach us after the stations are processed, not live from the ship. Confirm with Rasmus what the realistic delay is before the talk, and soften the aim sentence if it is days, not hours.</a:t>
            </a:r>
          </a:p>
          <a:p/>
          <a:p>
            <a:r>
              <a:t>RESHOOT 10/5-10/6 (placeholders, both frames): (1) a CTD Transects anomaly section for the newest cruise: calcofi.io/ctd-transects/?line=90&amp;var=temperature_ave&amp;mode=anomaly. (2) a mixed-layer-depth map from the Explorer, once the surface maps for MLD land (explore#13, not yet built). Until then, delete the frame or keep the placeholder.</a:t>
            </a:r>
          </a:p>
          <a:p/>
          <a:p>
            <a:r>
              <a:t>The cruise dates are not in any release record. Source: Tactiq 9/23 DMP meeting; 2026-10-01 deck slide 13.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door idea: whoever you are, there is a door; behind it is one record; and the portals, CalOOS among them, point back to it rather than copying it.</a:t>
            </a:r>
          </a:p>
          <a:p/>
          <a:p>
            <a:r>
              <a:t>Leave this slide up for questions. data@calcofi.io is the address in the 9/8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11.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2191695" cy="6858000"/>
          </a:xfrm>
          <a:prstGeom prst="rect">
            <a:avLst/>
          </a:prstGeom>
          <a:solidFill>
            <a:srgbClr val="0F1A2E"/>
          </a:solidFill>
          <a:ln>
            <a:noFill/>
          </a:ln>
          <a:effectLst/>
        </p:spPr>
        <p:txBody>
          <a:bodyPr rtlCol="0" anchor="ctr"/>
          <a:lstStyle/>
          <a:p>
            <a:pPr algn="ctr"/>
          </a:p>
        </p:txBody>
      </p:sp>
      <p:pic>
        <p:nvPicPr>
          <p:cNvPr id="3" name="lockup" descr="logo_dark_ground.png"/>
          <p:cNvPicPr>
            <a:picLocks noChangeAspect="1"/>
          </p:cNvPicPr>
          <p:nvPr/>
        </p:nvPicPr>
        <p:blipFill>
          <a:blip r:embed="rId2"/>
          <a:stretch>
            <a:fillRect/>
          </a:stretch>
        </p:blipFill>
        <p:spPr>
          <a:xfrm>
            <a:off x="548640" y="502920"/>
            <a:ext cx="2651760" cy="498373"/>
          </a:xfrm>
          <a:prstGeom prst="rect">
            <a:avLst/>
          </a:prstGeom>
        </p:spPr>
      </p:pic>
      <p:sp>
        <p:nvSpPr>
          <p:cNvPr id="4" name="eyebrow"/>
          <p:cNvSpPr txBox="1"/>
          <p:nvPr/>
        </p:nvSpPr>
        <p:spPr>
          <a:xfrm>
            <a:off x="548640" y="2148840"/>
            <a:ext cx="10515600" cy="320040"/>
          </a:xfrm>
          <a:prstGeom prst="rect">
            <a:avLst/>
          </a:prstGeom>
          <a:noFill/>
        </p:spPr>
        <p:txBody>
          <a:bodyPr wrap="square" lIns="0" rIns="0" tIns="0" bIns="0" anchor="t">
            <a:spAutoFit/>
          </a:bodyPr>
          <a:lstStyle/>
          <a:p>
            <a:pPr algn="l"/>
            <a:r>
              <a:rPr sz="1300" b="1" spc="120">
                <a:solidFill>
                  <a:srgbClr val="FFCD00"/>
                </a:solidFill>
                <a:latin typeface="Source Sans 3"/>
              </a:rPr>
              <a:t>MARK GOLD · CALOOS SUMMIT KEYNOTE · 13 OCTOBER 2026</a:t>
            </a:r>
          </a:p>
        </p:txBody>
      </p:sp>
      <p:sp>
        <p:nvSpPr>
          <p:cNvPr id="5" name="title"/>
          <p:cNvSpPr txBox="1"/>
          <p:nvPr/>
        </p:nvSpPr>
        <p:spPr>
          <a:xfrm>
            <a:off x="548640" y="2560320"/>
            <a:ext cx="10972800" cy="2103120"/>
          </a:xfrm>
          <a:prstGeom prst="rect">
            <a:avLst/>
          </a:prstGeom>
          <a:noFill/>
        </p:spPr>
        <p:txBody>
          <a:bodyPr wrap="square" lIns="0" rIns="0" tIns="0" bIns="0" anchor="t">
            <a:spAutoFit/>
          </a:bodyPr>
          <a:lstStyle/>
          <a:p>
            <a:pPr algn="l">
              <a:lnSpc>
                <a:spcPct val="90000"/>
              </a:lnSpc>
            </a:pPr>
            <a:r>
              <a:rPr sz="6600" b="0" cap="all">
                <a:solidFill>
                  <a:srgbClr val="FFFFFF"/>
                </a:solidFill>
                <a:latin typeface="Teko"/>
              </a:rPr>
              <a:t>77 years of one ocean, now one record, with a door for everyone</a:t>
            </a:r>
          </a:p>
        </p:txBody>
      </p:sp>
      <p:sp>
        <p:nvSpPr>
          <p:cNvPr id="6" name="subtitle"/>
          <p:cNvSpPr txBox="1"/>
          <p:nvPr/>
        </p:nvSpPr>
        <p:spPr>
          <a:xfrm>
            <a:off x="548640" y="4983480"/>
            <a:ext cx="10515600" cy="365760"/>
          </a:xfrm>
          <a:prstGeom prst="rect">
            <a:avLst/>
          </a:prstGeom>
          <a:noFill/>
        </p:spPr>
        <p:txBody>
          <a:bodyPr wrap="square" lIns="0" rIns="0" tIns="0" bIns="0" anchor="t">
            <a:spAutoFit/>
          </a:bodyPr>
          <a:lstStyle/>
          <a:p>
            <a:pPr algn="l"/>
            <a:r>
              <a:rPr sz="1800" b="0">
                <a:solidFill>
                  <a:srgbClr val="B6B1A9"/>
                </a:solidFill>
                <a:latin typeface="Source Sans 3"/>
              </a:rPr>
              <a:t>Draft 1 from Ben Best for Erin's deck, sections 3, 4, 6, 7 and 8 · calcofi.io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1 · BETTY</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Statewide monitoring inventory</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2</a:t>
            </a:r>
          </a:p>
        </p:txBody>
      </p:sp>
      <p:sp>
        <p:nvSpPr>
          <p:cNvPr id="8" name="sand band"/>
          <p:cNvSpPr/>
          <p:nvPr/>
        </p:nvSpPr>
        <p:spPr>
          <a:xfrm>
            <a:off x="0" y="1572768"/>
            <a:ext cx="12191695" cy="4645152"/>
          </a:xfrm>
          <a:prstGeom prst="rect">
            <a:avLst/>
          </a:prstGeom>
          <a:solidFill>
            <a:srgbClr val="F5F0E6"/>
          </a:solidFill>
          <a:ln>
            <a:noFill/>
          </a:ln>
          <a:effectLst/>
        </p:spPr>
        <p:txBody>
          <a:bodyPr rtlCol="0" anchor="ctr"/>
          <a:lstStyle/>
          <a:p>
            <a:pPr algn="ctr"/>
          </a:p>
        </p:txBody>
      </p:sp>
      <p:sp>
        <p:nvSpPr>
          <p:cNvPr id="9" name="eyebrow"/>
          <p:cNvSpPr txBox="1"/>
          <p:nvPr/>
        </p:nvSpPr>
        <p:spPr>
          <a:xfrm>
            <a:off x="548640" y="1938528"/>
            <a:ext cx="5486400" cy="274320"/>
          </a:xfrm>
          <a:prstGeom prst="rect">
            <a:avLst/>
          </a:prstGeom>
          <a:noFill/>
        </p:spPr>
        <p:txBody>
          <a:bodyPr wrap="square" lIns="0" rIns="0" tIns="0" bIns="0" anchor="t">
            <a:spAutoFit/>
          </a:bodyPr>
          <a:lstStyle/>
          <a:p>
            <a:pPr algn="l"/>
            <a:r>
              <a:rPr sz="1100" b="1" spc="90">
                <a:solidFill>
                  <a:srgbClr val="66686A"/>
                </a:solidFill>
                <a:latin typeface="Source Sans 3"/>
              </a:rPr>
              <a:t>PLACEHOLDER</a:t>
            </a:r>
          </a:p>
        </p:txBody>
      </p:sp>
      <p:sp>
        <p:nvSpPr>
          <p:cNvPr id="10" name="body"/>
          <p:cNvSpPr txBox="1"/>
          <p:nvPr/>
        </p:nvSpPr>
        <p:spPr>
          <a:xfrm>
            <a:off x="548640" y="2331720"/>
            <a:ext cx="10424160" cy="3291840"/>
          </a:xfrm>
          <a:prstGeom prst="rect">
            <a:avLst/>
          </a:prstGeom>
          <a:noFill/>
        </p:spPr>
        <p:txBody>
          <a:bodyPr wrap="square" lIns="0" rIns="0" tIns="0" bIns="0" anchor="t">
            <a:spAutoFit/>
          </a:bodyPr>
          <a:lstStyle/>
          <a:p>
            <a:pPr algn="l">
              <a:spcAft>
                <a:spcPts val="800"/>
              </a:spcAft>
            </a:pPr>
            <a:r>
              <a:rPr sz="2000" b="0">
                <a:solidFill>
                  <a:srgbClr val="182B49"/>
                </a:solidFill>
                <a:latin typeface="Source Sans 3"/>
              </a:rPr>
              <a:t>Betty's slides go here.</a:t>
            </a:r>
          </a:p>
          <a:p>
            <a:pPr algn="l">
              <a:spcAft>
                <a:spcPts val="800"/>
              </a:spcAft>
            </a:pPr>
            <a:r>
              <a:rPr sz="2000" b="0">
                <a:solidFill>
                  <a:srgbClr val="182B49"/>
                </a:solidFill>
                <a:latin typeface="Source Sans 3"/>
              </a:rPr>
              <a:t>Owner and content per Erin's skeleton: Betty.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2 · ERIN</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3200" b="0" cap="all">
                <a:solidFill>
                  <a:srgbClr val="182B49"/>
                </a:solidFill>
                <a:latin typeface="Teko"/>
              </a:rPr>
              <a:t>Getting data collected on the CalCOFI platform into the CalOOS portal</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data.caloos.org</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3</a:t>
            </a:r>
          </a:p>
        </p:txBody>
      </p:sp>
      <p:sp>
        <p:nvSpPr>
          <p:cNvPr id="8" name="sand band"/>
          <p:cNvSpPr/>
          <p:nvPr/>
        </p:nvSpPr>
        <p:spPr>
          <a:xfrm>
            <a:off x="0" y="1737360"/>
            <a:ext cx="12191695" cy="2331720"/>
          </a:xfrm>
          <a:prstGeom prst="rect">
            <a:avLst/>
          </a:prstGeom>
          <a:solidFill>
            <a:srgbClr val="F5F0E6"/>
          </a:solidFill>
          <a:ln>
            <a:noFill/>
          </a:ln>
          <a:effectLst/>
        </p:spPr>
        <p:txBody>
          <a:bodyPr rtlCol="0" anchor="ctr"/>
          <a:lstStyle/>
          <a:p>
            <a:pPr algn="ctr"/>
          </a:p>
        </p:txBody>
      </p:sp>
      <p:sp>
        <p:nvSpPr>
          <p:cNvPr id="9" name="eyebrow"/>
          <p:cNvSpPr txBox="1"/>
          <p:nvPr/>
        </p:nvSpPr>
        <p:spPr>
          <a:xfrm>
            <a:off x="548640" y="1993392"/>
            <a:ext cx="7315200" cy="274320"/>
          </a:xfrm>
          <a:prstGeom prst="rect">
            <a:avLst/>
          </a:prstGeom>
          <a:noFill/>
        </p:spPr>
        <p:txBody>
          <a:bodyPr wrap="square" lIns="0" rIns="0" tIns="0" bIns="0" anchor="t">
            <a:spAutoFit/>
          </a:bodyPr>
          <a:lstStyle/>
          <a:p>
            <a:pPr algn="l"/>
            <a:r>
              <a:rPr sz="1100" b="1" spc="90">
                <a:solidFill>
                  <a:srgbClr val="66686A"/>
                </a:solidFill>
                <a:latin typeface="Source Sans 3"/>
              </a:rPr>
              <a:t>PLACEHOLDER · ERIN'S SLIDE</a:t>
            </a:r>
          </a:p>
        </p:txBody>
      </p:sp>
      <p:sp>
        <p:nvSpPr>
          <p:cNvPr id="10" name="statement"/>
          <p:cNvSpPr txBox="1"/>
          <p:nvPr/>
        </p:nvSpPr>
        <p:spPr>
          <a:xfrm>
            <a:off x="548640" y="2359152"/>
            <a:ext cx="10881360" cy="731520"/>
          </a:xfrm>
          <a:prstGeom prst="rect">
            <a:avLst/>
          </a:prstGeom>
          <a:noFill/>
        </p:spPr>
        <p:txBody>
          <a:bodyPr wrap="square" lIns="0" rIns="0" tIns="0" bIns="0" anchor="t">
            <a:spAutoFit/>
          </a:bodyPr>
          <a:lstStyle/>
          <a:p>
            <a:pPr algn="l">
              <a:lnSpc>
                <a:spcPct val="90000"/>
              </a:lnSpc>
            </a:pPr>
            <a:r>
              <a:rPr sz="3800" b="0" cap="all">
                <a:solidFill>
                  <a:srgbClr val="182B49"/>
                </a:solidFill>
                <a:latin typeface="Teko"/>
              </a:rPr>
              <a:t>This is not the data. It is metadata.</a:t>
            </a:r>
          </a:p>
        </p:txBody>
      </p:sp>
      <p:sp>
        <p:nvSpPr>
          <p:cNvPr id="11" name="erin message"/>
          <p:cNvSpPr txBox="1"/>
          <p:nvPr/>
        </p:nvSpPr>
        <p:spPr>
          <a:xfrm>
            <a:off x="548640" y="3182112"/>
            <a:ext cx="10881360" cy="548640"/>
          </a:xfrm>
          <a:prstGeom prst="rect">
            <a:avLst/>
          </a:prstGeom>
          <a:noFill/>
        </p:spPr>
        <p:txBody>
          <a:bodyPr wrap="square" lIns="0" rIns="0" tIns="0" bIns="0" anchor="t">
            <a:spAutoFit/>
          </a:bodyPr>
          <a:lstStyle/>
          <a:p>
            <a:pPr algn="l"/>
            <a:r>
              <a:rPr sz="2200" b="1">
                <a:solidFill>
                  <a:srgbClr val="00629B"/>
                </a:solidFill>
                <a:latin typeface="Source Sans 3"/>
              </a:rPr>
              <a:t>CalOOS links to the authoritative dataset. Nothing is copied.</a:t>
            </a:r>
          </a:p>
        </p:txBody>
      </p:sp>
      <p:sp>
        <p:nvSpPr>
          <p:cNvPr id="12" name="body"/>
          <p:cNvSpPr txBox="1"/>
          <p:nvPr/>
        </p:nvSpPr>
        <p:spPr>
          <a:xfrm>
            <a:off x="548640" y="4434840"/>
            <a:ext cx="10881360" cy="1737360"/>
          </a:xfrm>
          <a:prstGeom prst="rect">
            <a:avLst/>
          </a:prstGeom>
          <a:noFill/>
        </p:spPr>
        <p:txBody>
          <a:bodyPr wrap="square" lIns="0" rIns="0" tIns="0" bIns="0" anchor="t">
            <a:spAutoFit/>
          </a:bodyPr>
          <a:lstStyle/>
          <a:p>
            <a:pPr algn="l">
              <a:spcAft>
                <a:spcPts val="800"/>
              </a:spcAft>
            </a:pPr>
            <a:r>
              <a:rPr sz="1600" b="0">
                <a:solidFill>
                  <a:srgbClr val="182B49"/>
                </a:solidFill>
                <a:latin typeface="Source Sans 3"/>
              </a:rPr>
              <a:t>Erin's note on this slide in the skeleton: "Key point is that this is not the data; metadata."</a:t>
            </a:r>
          </a:p>
          <a:p>
            <a:pPr algn="l">
              <a:spcAft>
                <a:spcPts val="800"/>
              </a:spcAft>
            </a:pPr>
            <a:r>
              <a:rPr sz="1600" b="0">
                <a:solidFill>
                  <a:srgbClr val="182B49"/>
                </a:solidFill>
                <a:latin typeface="Source Sans 3"/>
              </a:rPr>
              <a:t>Ben's part 3 (the next slides) ends on the same message, so the two parts meet.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3 · THE FAIR VISION</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77 years of one ocean, kept in many files</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calcofi.io/docs</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4</a:t>
            </a:r>
          </a:p>
        </p:txBody>
      </p:sp>
      <p:sp>
        <p:nvSpPr>
          <p:cNvPr id="8" name="lede"/>
          <p:cNvSpPr txBox="1"/>
          <p:nvPr/>
        </p:nvSpPr>
        <p:spPr>
          <a:xfrm>
            <a:off x="548640" y="1572768"/>
            <a:ext cx="11064240" cy="365760"/>
          </a:xfrm>
          <a:prstGeom prst="rect">
            <a:avLst/>
          </a:prstGeom>
          <a:noFill/>
        </p:spPr>
        <p:txBody>
          <a:bodyPr wrap="square" lIns="0" rIns="0" tIns="0" bIns="0" anchor="t">
            <a:spAutoFit/>
          </a:bodyPr>
          <a:lstStyle/>
          <a:p>
            <a:pPr algn="l"/>
            <a:r>
              <a:rPr sz="1800" b="0">
                <a:solidFill>
                  <a:srgbClr val="66686A"/>
                </a:solidFill>
                <a:latin typeface="Source Sans 3"/>
              </a:rPr>
              <a:t>Findable, accessible, interoperable, reusable: three steps get there.</a:t>
            </a:r>
          </a:p>
        </p:txBody>
      </p:sp>
      <p:sp>
        <p:nvSpPr>
          <p:cNvPr id="9" name="sand band"/>
          <p:cNvSpPr/>
          <p:nvPr/>
        </p:nvSpPr>
        <p:spPr>
          <a:xfrm>
            <a:off x="0" y="2148840"/>
            <a:ext cx="12191695" cy="3246120"/>
          </a:xfrm>
          <a:prstGeom prst="rect">
            <a:avLst/>
          </a:prstGeom>
          <a:solidFill>
            <a:srgbClr val="F5F0E6"/>
          </a:solidFill>
          <a:ln>
            <a:noFill/>
          </a:ln>
          <a:effectLst/>
        </p:spPr>
        <p:txBody>
          <a:bodyPr rtlCol="0" anchor="ctr"/>
          <a:lstStyle/>
          <a:p>
            <a:pPr algn="ctr"/>
          </a:p>
        </p:txBody>
      </p:sp>
      <p:sp>
        <p:nvSpPr>
          <p:cNvPr id="10" name="card"/>
          <p:cNvSpPr/>
          <p:nvPr/>
        </p:nvSpPr>
        <p:spPr>
          <a:xfrm>
            <a:off x="548640" y="2423160"/>
            <a:ext cx="3429000" cy="2697480"/>
          </a:xfrm>
          <a:prstGeom prst="roundRect">
            <a:avLst>
              <a:gd name="adj" fmla="val 4067"/>
            </a:avLst>
          </a:prstGeom>
          <a:solidFill>
            <a:srgbClr val="FFFFFF"/>
          </a:solidFill>
          <a:ln>
            <a:noFill/>
          </a:ln>
          <a:effectLst/>
        </p:spPr>
        <p:txBody>
          <a:bodyPr rtlCol="0" anchor="ctr"/>
          <a:lstStyle/>
          <a:p>
            <a:pPr algn="ctr"/>
          </a:p>
        </p:txBody>
      </p:sp>
      <p:sp>
        <p:nvSpPr>
          <p:cNvPr id="11" name="step number"/>
          <p:cNvSpPr txBox="1"/>
          <p:nvPr/>
        </p:nvSpPr>
        <p:spPr>
          <a:xfrm>
            <a:off x="822959" y="2587752"/>
            <a:ext cx="640080" cy="731520"/>
          </a:xfrm>
          <a:prstGeom prst="rect">
            <a:avLst/>
          </a:prstGeom>
          <a:noFill/>
        </p:spPr>
        <p:txBody>
          <a:bodyPr wrap="square" lIns="0" rIns="0" tIns="0" bIns="0" anchor="t">
            <a:spAutoFit/>
          </a:bodyPr>
          <a:lstStyle/>
          <a:p>
            <a:pPr algn="l">
              <a:lnSpc>
                <a:spcPct val="90000"/>
              </a:lnSpc>
            </a:pPr>
            <a:r>
              <a:rPr sz="4800" b="0">
                <a:solidFill>
                  <a:srgbClr val="00629B"/>
                </a:solidFill>
                <a:latin typeface="Teko"/>
              </a:rPr>
              <a:t>1</a:t>
            </a:r>
          </a:p>
        </p:txBody>
      </p:sp>
      <p:sp>
        <p:nvSpPr>
          <p:cNvPr id="12" name="step name"/>
          <p:cNvSpPr txBox="1"/>
          <p:nvPr/>
        </p:nvSpPr>
        <p:spPr>
          <a:xfrm>
            <a:off x="1417319" y="2724912"/>
            <a:ext cx="2331720" cy="548640"/>
          </a:xfrm>
          <a:prstGeom prst="rect">
            <a:avLst/>
          </a:prstGeom>
          <a:noFill/>
        </p:spPr>
        <p:txBody>
          <a:bodyPr wrap="square" lIns="0" rIns="0" tIns="0" bIns="0" anchor="t">
            <a:spAutoFit/>
          </a:bodyPr>
          <a:lstStyle/>
          <a:p>
            <a:pPr algn="l">
              <a:lnSpc>
                <a:spcPct val="90000"/>
              </a:lnSpc>
            </a:pPr>
            <a:r>
              <a:rPr sz="2800" b="0" cap="all">
                <a:solidFill>
                  <a:srgbClr val="182B49"/>
                </a:solidFill>
                <a:latin typeface="Teko"/>
              </a:rPr>
              <a:t>INGEST</a:t>
            </a:r>
          </a:p>
        </p:txBody>
      </p:sp>
      <p:sp>
        <p:nvSpPr>
          <p:cNvPr id="13" name="step body"/>
          <p:cNvSpPr txBox="1"/>
          <p:nvPr/>
        </p:nvSpPr>
        <p:spPr>
          <a:xfrm>
            <a:off x="822959" y="3474720"/>
            <a:ext cx="2880360" cy="1554480"/>
          </a:xfrm>
          <a:prstGeom prst="rect">
            <a:avLst/>
          </a:prstGeom>
          <a:noFill/>
        </p:spPr>
        <p:txBody>
          <a:bodyPr wrap="square" lIns="0" rIns="0" tIns="0" bIns="0" anchor="t">
            <a:spAutoFit/>
          </a:bodyPr>
          <a:lstStyle/>
          <a:p>
            <a:pPr algn="l">
              <a:lnSpc>
                <a:spcPct val="115000"/>
              </a:lnSpc>
            </a:pPr>
            <a:r>
              <a:rPr sz="1500" b="0">
                <a:solidFill>
                  <a:srgbClr val="182B49"/>
                </a:solidFill>
                <a:latin typeface="Source Sans 3"/>
              </a:rPr>
              <a:t>Each provider sends files in their own format. We read every one the same way and keep their answers to our questions with it.</a:t>
            </a:r>
          </a:p>
        </p:txBody>
      </p:sp>
      <p:sp>
        <p:nvSpPr>
          <p:cNvPr id="14" name="arrow"/>
          <p:cNvSpPr/>
          <p:nvPr/>
        </p:nvSpPr>
        <p:spPr>
          <a:xfrm>
            <a:off x="4050791" y="3662172"/>
            <a:ext cx="274320" cy="219456"/>
          </a:xfrm>
          <a:prstGeom prst="rightArrow">
            <a:avLst/>
          </a:prstGeom>
          <a:solidFill>
            <a:srgbClr val="B6B1A9"/>
          </a:solidFill>
          <a:ln>
            <a:noFill/>
          </a:ln>
          <a:effectLst/>
        </p:spPr>
        <p:txBody>
          <a:bodyPr rtlCol="0" anchor="ctr"/>
          <a:lstStyle/>
          <a:p>
            <a:pPr algn="ctr"/>
          </a:p>
        </p:txBody>
      </p:sp>
      <p:sp>
        <p:nvSpPr>
          <p:cNvPr id="15" name="card"/>
          <p:cNvSpPr/>
          <p:nvPr/>
        </p:nvSpPr>
        <p:spPr>
          <a:xfrm>
            <a:off x="4379976" y="2423160"/>
            <a:ext cx="3429000" cy="2697480"/>
          </a:xfrm>
          <a:prstGeom prst="roundRect">
            <a:avLst>
              <a:gd name="adj" fmla="val 4067"/>
            </a:avLst>
          </a:prstGeom>
          <a:solidFill>
            <a:srgbClr val="FFFFFF"/>
          </a:solidFill>
          <a:ln>
            <a:noFill/>
          </a:ln>
          <a:effectLst/>
        </p:spPr>
        <p:txBody>
          <a:bodyPr rtlCol="0" anchor="ctr"/>
          <a:lstStyle/>
          <a:p>
            <a:pPr algn="ctr"/>
          </a:p>
        </p:txBody>
      </p:sp>
      <p:sp>
        <p:nvSpPr>
          <p:cNvPr id="16" name="step number"/>
          <p:cNvSpPr txBox="1"/>
          <p:nvPr/>
        </p:nvSpPr>
        <p:spPr>
          <a:xfrm>
            <a:off x="4654296" y="2587752"/>
            <a:ext cx="640080" cy="731520"/>
          </a:xfrm>
          <a:prstGeom prst="rect">
            <a:avLst/>
          </a:prstGeom>
          <a:noFill/>
        </p:spPr>
        <p:txBody>
          <a:bodyPr wrap="square" lIns="0" rIns="0" tIns="0" bIns="0" anchor="t">
            <a:spAutoFit/>
          </a:bodyPr>
          <a:lstStyle/>
          <a:p>
            <a:pPr algn="l">
              <a:lnSpc>
                <a:spcPct val="90000"/>
              </a:lnSpc>
            </a:pPr>
            <a:r>
              <a:rPr sz="4800" b="0">
                <a:solidFill>
                  <a:srgbClr val="00629B"/>
                </a:solidFill>
                <a:latin typeface="Teko"/>
              </a:rPr>
              <a:t>2</a:t>
            </a:r>
          </a:p>
        </p:txBody>
      </p:sp>
      <p:sp>
        <p:nvSpPr>
          <p:cNvPr id="17" name="step name"/>
          <p:cNvSpPr txBox="1"/>
          <p:nvPr/>
        </p:nvSpPr>
        <p:spPr>
          <a:xfrm>
            <a:off x="5248656" y="2724912"/>
            <a:ext cx="2331720" cy="548640"/>
          </a:xfrm>
          <a:prstGeom prst="rect">
            <a:avLst/>
          </a:prstGeom>
          <a:noFill/>
        </p:spPr>
        <p:txBody>
          <a:bodyPr wrap="square" lIns="0" rIns="0" tIns="0" bIns="0" anchor="t">
            <a:spAutoFit/>
          </a:bodyPr>
          <a:lstStyle/>
          <a:p>
            <a:pPr algn="l">
              <a:lnSpc>
                <a:spcPct val="90000"/>
              </a:lnSpc>
            </a:pPr>
            <a:r>
              <a:rPr sz="2800" b="0" cap="all">
                <a:solidFill>
                  <a:srgbClr val="182B49"/>
                </a:solidFill>
                <a:latin typeface="Teko"/>
              </a:rPr>
              <a:t>PUBLISH</a:t>
            </a:r>
          </a:p>
        </p:txBody>
      </p:sp>
      <p:sp>
        <p:nvSpPr>
          <p:cNvPr id="18" name="step body"/>
          <p:cNvSpPr txBox="1"/>
          <p:nvPr/>
        </p:nvSpPr>
        <p:spPr>
          <a:xfrm>
            <a:off x="4654296" y="3474720"/>
            <a:ext cx="2880360" cy="1554480"/>
          </a:xfrm>
          <a:prstGeom prst="rect">
            <a:avLst/>
          </a:prstGeom>
          <a:noFill/>
        </p:spPr>
        <p:txBody>
          <a:bodyPr wrap="square" lIns="0" rIns="0" tIns="0" bIns="0" anchor="t">
            <a:spAutoFit/>
          </a:bodyPr>
          <a:lstStyle/>
          <a:p>
            <a:pPr algn="l">
              <a:lnSpc>
                <a:spcPct val="115000"/>
              </a:lnSpc>
            </a:pPr>
            <a:r>
              <a:rPr sz="1500" b="0">
                <a:solidFill>
                  <a:srgbClr val="182B49"/>
                </a:solidFill>
                <a:latin typeface="Source Sans 3"/>
              </a:rPr>
              <a:t>From one record per dataset we generate everything a portal needs: the description, the citation, the DOI.</a:t>
            </a:r>
          </a:p>
        </p:txBody>
      </p:sp>
      <p:sp>
        <p:nvSpPr>
          <p:cNvPr id="19" name="arrow"/>
          <p:cNvSpPr/>
          <p:nvPr/>
        </p:nvSpPr>
        <p:spPr>
          <a:xfrm>
            <a:off x="7882127" y="3662172"/>
            <a:ext cx="274320" cy="219456"/>
          </a:xfrm>
          <a:prstGeom prst="rightArrow">
            <a:avLst/>
          </a:prstGeom>
          <a:solidFill>
            <a:srgbClr val="B6B1A9"/>
          </a:solidFill>
          <a:ln>
            <a:noFill/>
          </a:ln>
          <a:effectLst/>
        </p:spPr>
        <p:txBody>
          <a:bodyPr rtlCol="0" anchor="ctr"/>
          <a:lstStyle/>
          <a:p>
            <a:pPr algn="ctr"/>
          </a:p>
        </p:txBody>
      </p:sp>
      <p:sp>
        <p:nvSpPr>
          <p:cNvPr id="20" name="card"/>
          <p:cNvSpPr/>
          <p:nvPr/>
        </p:nvSpPr>
        <p:spPr>
          <a:xfrm>
            <a:off x="8211312" y="2423160"/>
            <a:ext cx="3429000" cy="2697480"/>
          </a:xfrm>
          <a:prstGeom prst="roundRect">
            <a:avLst>
              <a:gd name="adj" fmla="val 4067"/>
            </a:avLst>
          </a:prstGeom>
          <a:solidFill>
            <a:srgbClr val="FFFFFF"/>
          </a:solidFill>
          <a:ln>
            <a:noFill/>
          </a:ln>
          <a:effectLst/>
        </p:spPr>
        <p:txBody>
          <a:bodyPr rtlCol="0" anchor="ctr"/>
          <a:lstStyle/>
          <a:p>
            <a:pPr algn="ctr"/>
          </a:p>
        </p:txBody>
      </p:sp>
      <p:sp>
        <p:nvSpPr>
          <p:cNvPr id="21" name="step number"/>
          <p:cNvSpPr txBox="1"/>
          <p:nvPr/>
        </p:nvSpPr>
        <p:spPr>
          <a:xfrm>
            <a:off x="8485632" y="2587752"/>
            <a:ext cx="640080" cy="731520"/>
          </a:xfrm>
          <a:prstGeom prst="rect">
            <a:avLst/>
          </a:prstGeom>
          <a:noFill/>
        </p:spPr>
        <p:txBody>
          <a:bodyPr wrap="square" lIns="0" rIns="0" tIns="0" bIns="0" anchor="t">
            <a:spAutoFit/>
          </a:bodyPr>
          <a:lstStyle/>
          <a:p>
            <a:pPr algn="l">
              <a:lnSpc>
                <a:spcPct val="90000"/>
              </a:lnSpc>
            </a:pPr>
            <a:r>
              <a:rPr sz="4800" b="0">
                <a:solidFill>
                  <a:srgbClr val="00629B"/>
                </a:solidFill>
                <a:latin typeface="Teko"/>
              </a:rPr>
              <a:t>3</a:t>
            </a:r>
          </a:p>
        </p:txBody>
      </p:sp>
      <p:sp>
        <p:nvSpPr>
          <p:cNvPr id="22" name="step name"/>
          <p:cNvSpPr txBox="1"/>
          <p:nvPr/>
        </p:nvSpPr>
        <p:spPr>
          <a:xfrm>
            <a:off x="9079992" y="2724912"/>
            <a:ext cx="2331720" cy="548640"/>
          </a:xfrm>
          <a:prstGeom prst="rect">
            <a:avLst/>
          </a:prstGeom>
          <a:noFill/>
        </p:spPr>
        <p:txBody>
          <a:bodyPr wrap="square" lIns="0" rIns="0" tIns="0" bIns="0" anchor="t">
            <a:spAutoFit/>
          </a:bodyPr>
          <a:lstStyle/>
          <a:p>
            <a:pPr algn="l">
              <a:lnSpc>
                <a:spcPct val="90000"/>
              </a:lnSpc>
            </a:pPr>
            <a:r>
              <a:rPr sz="2800" b="0" cap="all">
                <a:solidFill>
                  <a:srgbClr val="182B49"/>
                </a:solidFill>
                <a:latin typeface="Teko"/>
              </a:rPr>
              <a:t>VISUALIZE</a:t>
            </a:r>
          </a:p>
        </p:txBody>
      </p:sp>
      <p:sp>
        <p:nvSpPr>
          <p:cNvPr id="23" name="step body"/>
          <p:cNvSpPr txBox="1"/>
          <p:nvPr/>
        </p:nvSpPr>
        <p:spPr>
          <a:xfrm>
            <a:off x="8485632" y="3474720"/>
            <a:ext cx="2880360" cy="1554480"/>
          </a:xfrm>
          <a:prstGeom prst="rect">
            <a:avLst/>
          </a:prstGeom>
          <a:noFill/>
        </p:spPr>
        <p:txBody>
          <a:bodyPr wrap="square" lIns="0" rIns="0" tIns="0" bIns="0" anchor="t">
            <a:spAutoFit/>
          </a:bodyPr>
          <a:lstStyle/>
          <a:p>
            <a:pPr algn="l">
              <a:lnSpc>
                <a:spcPct val="115000"/>
              </a:lnSpc>
            </a:pPr>
            <a:r>
              <a:rPr sz="1500" b="0">
                <a:solidFill>
                  <a:srgbClr val="182B49"/>
                </a:solidFill>
                <a:latin typeface="Source Sans 3"/>
              </a:rPr>
              <a:t>People open the data in a browser, or in R and Python. Everyone sees the same numbers.</a:t>
            </a:r>
          </a:p>
        </p:txBody>
      </p:sp>
      <p:sp>
        <p:nvSpPr>
          <p:cNvPr id="24" name="rule"/>
          <p:cNvSpPr txBox="1"/>
          <p:nvPr/>
        </p:nvSpPr>
        <p:spPr>
          <a:xfrm>
            <a:off x="548640" y="5623560"/>
            <a:ext cx="11064240" cy="365760"/>
          </a:xfrm>
          <a:prstGeom prst="rect">
            <a:avLst/>
          </a:prstGeom>
          <a:noFill/>
        </p:spPr>
        <p:txBody>
          <a:bodyPr wrap="square" lIns="0" rIns="0" tIns="0" bIns="0" anchor="t">
            <a:spAutoFit/>
          </a:bodyPr>
          <a:lstStyle/>
          <a:p>
            <a:pPr algn="l"/>
            <a:r>
              <a:rPr sz="1700" b="1">
                <a:solidFill>
                  <a:srgbClr val="00629B"/>
                </a:solidFill>
                <a:latin typeface="Source Sans 3"/>
              </a:rPr>
              <a:t>A release is cut only after its keys and its bounds have been checked.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3 · WHO YOU ARE, YOUR DOOR, ONE DATABASE, THE PORTALS · STEP 1 OF 4</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Who needs CalCOFI data?</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calcofi.io/docs · Which door is yours</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5</a:t>
            </a:r>
          </a:p>
        </p:txBody>
      </p:sp>
      <p:sp>
        <p:nvSpPr>
          <p:cNvPr id="8" name="eyebrow"/>
          <p:cNvSpPr txBox="1"/>
          <p:nvPr/>
        </p:nvSpPr>
        <p:spPr>
          <a:xfrm>
            <a:off x="548640" y="1572768"/>
            <a:ext cx="2743200" cy="274320"/>
          </a:xfrm>
          <a:prstGeom prst="rect">
            <a:avLst/>
          </a:prstGeom>
          <a:noFill/>
        </p:spPr>
        <p:txBody>
          <a:bodyPr wrap="square" lIns="0" rIns="0" tIns="0" bIns="0" anchor="t">
            <a:spAutoFit/>
          </a:bodyPr>
          <a:lstStyle/>
          <a:p>
            <a:pPr algn="l"/>
            <a:r>
              <a:rPr sz="1100" b="1" spc="90">
                <a:solidFill>
                  <a:srgbClr val="66686A"/>
                </a:solidFill>
                <a:latin typeface="Source Sans 3"/>
              </a:rPr>
              <a:t>WHO YOU ARE</a:t>
            </a:r>
          </a:p>
        </p:txBody>
      </p:sp>
      <p:sp>
        <p:nvSpPr>
          <p:cNvPr id="9" name="new-column marker"/>
          <p:cNvSpPr/>
          <p:nvPr/>
        </p:nvSpPr>
        <p:spPr>
          <a:xfrm>
            <a:off x="548640" y="1847088"/>
            <a:ext cx="640080" cy="45720"/>
          </a:xfrm>
          <a:prstGeom prst="rect">
            <a:avLst/>
          </a:prstGeom>
          <a:solidFill>
            <a:srgbClr val="FFCD00"/>
          </a:solidFill>
          <a:ln>
            <a:noFill/>
          </a:ln>
          <a:effectLst/>
        </p:spPr>
        <p:txBody>
          <a:bodyPr rtlCol="0" anchor="ctr"/>
          <a:lstStyle/>
          <a:p>
            <a:pPr algn="ctr"/>
          </a:p>
        </p:txBody>
      </p:sp>
      <p:sp>
        <p:nvSpPr>
          <p:cNvPr id="10" name="who tile"/>
          <p:cNvSpPr/>
          <p:nvPr/>
        </p:nvSpPr>
        <p:spPr>
          <a:xfrm>
            <a:off x="548640" y="1965960"/>
            <a:ext cx="2743200" cy="548640"/>
          </a:xfrm>
          <a:prstGeom prst="roundRect">
            <a:avLst>
              <a:gd name="adj" fmla="val 13333"/>
            </a:avLst>
          </a:prstGeom>
          <a:solidFill>
            <a:srgbClr val="F5F0E6"/>
          </a:solidFill>
          <a:ln>
            <a:noFill/>
          </a:ln>
          <a:effectLst/>
        </p:spPr>
        <p:txBody>
          <a:bodyPr rtlCol="0" anchor="ctr"/>
          <a:lstStyle/>
          <a:p>
            <a:pPr algn="ctr"/>
          </a:p>
        </p:txBody>
      </p:sp>
      <p:sp>
        <p:nvSpPr>
          <p:cNvPr id="11" name="who"/>
          <p:cNvSpPr txBox="1"/>
          <p:nvPr/>
        </p:nvSpPr>
        <p:spPr>
          <a:xfrm>
            <a:off x="685800" y="196596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Curious about the ocean off California, or a scientist</a:t>
            </a:r>
          </a:p>
        </p:txBody>
      </p:sp>
      <p:sp>
        <p:nvSpPr>
          <p:cNvPr id="12" name="who tile"/>
          <p:cNvSpPr/>
          <p:nvPr/>
        </p:nvSpPr>
        <p:spPr>
          <a:xfrm>
            <a:off x="548640" y="2606039"/>
            <a:ext cx="2743200" cy="548640"/>
          </a:xfrm>
          <a:prstGeom prst="roundRect">
            <a:avLst>
              <a:gd name="adj" fmla="val 13333"/>
            </a:avLst>
          </a:prstGeom>
          <a:solidFill>
            <a:srgbClr val="F5F0E6"/>
          </a:solidFill>
          <a:ln>
            <a:noFill/>
          </a:ln>
          <a:effectLst/>
        </p:spPr>
        <p:txBody>
          <a:bodyPr rtlCol="0" anchor="ctr"/>
          <a:lstStyle/>
          <a:p>
            <a:pPr algn="ctr"/>
          </a:p>
        </p:txBody>
      </p:sp>
      <p:sp>
        <p:nvSpPr>
          <p:cNvPr id="13" name="who"/>
          <p:cNvSpPr txBox="1"/>
          <p:nvPr/>
        </p:nvSpPr>
        <p:spPr>
          <a:xfrm>
            <a:off x="685800" y="2606039"/>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A data scientist writing queries</a:t>
            </a:r>
          </a:p>
        </p:txBody>
      </p:sp>
      <p:sp>
        <p:nvSpPr>
          <p:cNvPr id="14" name="who tile"/>
          <p:cNvSpPr/>
          <p:nvPr/>
        </p:nvSpPr>
        <p:spPr>
          <a:xfrm>
            <a:off x="548640" y="3246120"/>
            <a:ext cx="2743200" cy="548640"/>
          </a:xfrm>
          <a:prstGeom prst="roundRect">
            <a:avLst>
              <a:gd name="adj" fmla="val 13333"/>
            </a:avLst>
          </a:prstGeom>
          <a:solidFill>
            <a:srgbClr val="F5F0E6"/>
          </a:solidFill>
          <a:ln>
            <a:noFill/>
          </a:ln>
          <a:effectLst/>
        </p:spPr>
        <p:txBody>
          <a:bodyPr rtlCol="0" anchor="ctr"/>
          <a:lstStyle/>
          <a:p>
            <a:pPr algn="ctr"/>
          </a:p>
        </p:txBody>
      </p:sp>
      <p:sp>
        <p:nvSpPr>
          <p:cNvPr id="15" name="who"/>
          <p:cNvSpPr txBox="1"/>
          <p:nvPr/>
        </p:nvSpPr>
        <p:spPr>
          <a:xfrm>
            <a:off x="685800" y="324612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A data provider, now or in future</a:t>
            </a:r>
          </a:p>
        </p:txBody>
      </p:sp>
      <p:sp>
        <p:nvSpPr>
          <p:cNvPr id="16" name="who tile"/>
          <p:cNvSpPr/>
          <p:nvPr/>
        </p:nvSpPr>
        <p:spPr>
          <a:xfrm>
            <a:off x="548640" y="3886200"/>
            <a:ext cx="2743200" cy="548640"/>
          </a:xfrm>
          <a:prstGeom prst="roundRect">
            <a:avLst>
              <a:gd name="adj" fmla="val 13333"/>
            </a:avLst>
          </a:prstGeom>
          <a:solidFill>
            <a:srgbClr val="F5F0E6"/>
          </a:solidFill>
          <a:ln>
            <a:noFill/>
          </a:ln>
          <a:effectLst/>
        </p:spPr>
        <p:txBody>
          <a:bodyPr rtlCol="0" anchor="ctr"/>
          <a:lstStyle/>
          <a:p>
            <a:pPr algn="ctr"/>
          </a:p>
        </p:txBody>
      </p:sp>
      <p:sp>
        <p:nvSpPr>
          <p:cNvPr id="17" name="who"/>
          <p:cNvSpPr txBox="1"/>
          <p:nvPr/>
        </p:nvSpPr>
        <p:spPr>
          <a:xfrm>
            <a:off x="685800" y="388620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On the CTD team</a:t>
            </a:r>
          </a:p>
        </p:txBody>
      </p:sp>
      <p:sp>
        <p:nvSpPr>
          <p:cNvPr id="18" name="who tile"/>
          <p:cNvSpPr/>
          <p:nvPr/>
        </p:nvSpPr>
        <p:spPr>
          <a:xfrm>
            <a:off x="548640" y="4526279"/>
            <a:ext cx="2743200" cy="548640"/>
          </a:xfrm>
          <a:prstGeom prst="roundRect">
            <a:avLst>
              <a:gd name="adj" fmla="val 13333"/>
            </a:avLst>
          </a:prstGeom>
          <a:solidFill>
            <a:srgbClr val="F5F0E6"/>
          </a:solidFill>
          <a:ln>
            <a:noFill/>
          </a:ln>
          <a:effectLst/>
        </p:spPr>
        <p:txBody>
          <a:bodyPr rtlCol="0" anchor="ctr"/>
          <a:lstStyle/>
          <a:p>
            <a:pPr algn="ctr"/>
          </a:p>
        </p:txBody>
      </p:sp>
      <p:sp>
        <p:nvSpPr>
          <p:cNvPr id="19" name="who"/>
          <p:cNvSpPr txBox="1"/>
          <p:nvPr/>
        </p:nvSpPr>
        <p:spPr>
          <a:xfrm>
            <a:off x="685800" y="4526279"/>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On the data team, or building a CalCOFI product</a:t>
            </a:r>
          </a:p>
        </p:txBody>
      </p:sp>
      <p:sp>
        <p:nvSpPr>
          <p:cNvPr id="20" name="who tile"/>
          <p:cNvSpPr/>
          <p:nvPr/>
        </p:nvSpPr>
        <p:spPr>
          <a:xfrm>
            <a:off x="548640" y="5166360"/>
            <a:ext cx="2743200" cy="548640"/>
          </a:xfrm>
          <a:prstGeom prst="roundRect">
            <a:avLst>
              <a:gd name="adj" fmla="val 13333"/>
            </a:avLst>
          </a:prstGeom>
          <a:solidFill>
            <a:srgbClr val="F5F0E6"/>
          </a:solidFill>
          <a:ln>
            <a:noFill/>
          </a:ln>
          <a:effectLst/>
        </p:spPr>
        <p:txBody>
          <a:bodyPr rtlCol="0" anchor="ctr"/>
          <a:lstStyle/>
          <a:p>
            <a:pPr algn="ctr"/>
          </a:p>
        </p:txBody>
      </p:sp>
      <p:sp>
        <p:nvSpPr>
          <p:cNvPr id="21" name="who"/>
          <p:cNvSpPr txBox="1"/>
          <p:nvPr/>
        </p:nvSpPr>
        <p:spPr>
          <a:xfrm>
            <a:off x="685800" y="516636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Reporting on the program</a:t>
            </a:r>
          </a:p>
        </p:txBody>
      </p:sp>
      <p:sp>
        <p:nvSpPr>
          <p:cNvPr id="22" name="one sentence"/>
          <p:cNvSpPr txBox="1"/>
          <p:nvPr/>
        </p:nvSpPr>
        <p:spPr>
          <a:xfrm>
            <a:off x="548640" y="5870448"/>
            <a:ext cx="11064240" cy="365760"/>
          </a:xfrm>
          <a:prstGeom prst="rect">
            <a:avLst/>
          </a:prstGeom>
          <a:noFill/>
        </p:spPr>
        <p:txBody>
          <a:bodyPr wrap="square" lIns="0" rIns="0" tIns="0" bIns="0" anchor="t">
            <a:spAutoFit/>
          </a:bodyPr>
          <a:lstStyle/>
          <a:p>
            <a:pPr algn="l"/>
            <a:r>
              <a:rPr sz="1600" b="0">
                <a:solidFill>
                  <a:srgbClr val="182B49"/>
                </a:solidFill>
                <a:latin typeface="Source Sans 3"/>
              </a:rPr>
              <a:t>Every audience that asks for CalCOFI data, in plain words.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3 · WHO YOU ARE, YOUR DOOR, ONE DATABASE, THE PORTALS · STEP 2 OF 4</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Everyone gets a door</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calcofi.io/docs · Which door is yours</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6</a:t>
            </a:r>
          </a:p>
        </p:txBody>
      </p:sp>
      <p:sp>
        <p:nvSpPr>
          <p:cNvPr id="8" name="eyebrow"/>
          <p:cNvSpPr txBox="1"/>
          <p:nvPr/>
        </p:nvSpPr>
        <p:spPr>
          <a:xfrm>
            <a:off x="548640" y="1572768"/>
            <a:ext cx="2743200" cy="274320"/>
          </a:xfrm>
          <a:prstGeom prst="rect">
            <a:avLst/>
          </a:prstGeom>
          <a:noFill/>
        </p:spPr>
        <p:txBody>
          <a:bodyPr wrap="square" lIns="0" rIns="0" tIns="0" bIns="0" anchor="t">
            <a:spAutoFit/>
          </a:bodyPr>
          <a:lstStyle/>
          <a:p>
            <a:pPr algn="l"/>
            <a:r>
              <a:rPr sz="1100" b="1" spc="90">
                <a:solidFill>
                  <a:srgbClr val="66686A"/>
                </a:solidFill>
                <a:latin typeface="Source Sans 3"/>
              </a:rPr>
              <a:t>WHO YOU ARE</a:t>
            </a:r>
          </a:p>
        </p:txBody>
      </p:sp>
      <p:sp>
        <p:nvSpPr>
          <p:cNvPr id="9" name="eyebrow"/>
          <p:cNvSpPr txBox="1"/>
          <p:nvPr/>
        </p:nvSpPr>
        <p:spPr>
          <a:xfrm>
            <a:off x="3566160" y="1572768"/>
            <a:ext cx="2743200" cy="274320"/>
          </a:xfrm>
          <a:prstGeom prst="rect">
            <a:avLst/>
          </a:prstGeom>
          <a:noFill/>
        </p:spPr>
        <p:txBody>
          <a:bodyPr wrap="square" lIns="0" rIns="0" tIns="0" bIns="0" anchor="t">
            <a:spAutoFit/>
          </a:bodyPr>
          <a:lstStyle/>
          <a:p>
            <a:pPr algn="l"/>
            <a:r>
              <a:rPr sz="1100" b="1" spc="90">
                <a:solidFill>
                  <a:srgbClr val="66686A"/>
                </a:solidFill>
                <a:latin typeface="Source Sans 3"/>
              </a:rPr>
              <a:t>YOUR DOOR</a:t>
            </a:r>
          </a:p>
        </p:txBody>
      </p:sp>
      <p:sp>
        <p:nvSpPr>
          <p:cNvPr id="10" name="new-column marker"/>
          <p:cNvSpPr/>
          <p:nvPr/>
        </p:nvSpPr>
        <p:spPr>
          <a:xfrm>
            <a:off x="3566160" y="1847088"/>
            <a:ext cx="640080" cy="45720"/>
          </a:xfrm>
          <a:prstGeom prst="rect">
            <a:avLst/>
          </a:prstGeom>
          <a:solidFill>
            <a:srgbClr val="FFCD00"/>
          </a:solidFill>
          <a:ln>
            <a:noFill/>
          </a:ln>
          <a:effectLst/>
        </p:spPr>
        <p:txBody>
          <a:bodyPr rtlCol="0" anchor="ctr"/>
          <a:lstStyle/>
          <a:p>
            <a:pPr algn="ctr"/>
          </a:p>
        </p:txBody>
      </p:sp>
      <p:sp>
        <p:nvSpPr>
          <p:cNvPr id="11" name="who tile"/>
          <p:cNvSpPr/>
          <p:nvPr/>
        </p:nvSpPr>
        <p:spPr>
          <a:xfrm>
            <a:off x="548640" y="1965960"/>
            <a:ext cx="2743200" cy="548640"/>
          </a:xfrm>
          <a:prstGeom prst="roundRect">
            <a:avLst>
              <a:gd name="adj" fmla="val 13333"/>
            </a:avLst>
          </a:prstGeom>
          <a:solidFill>
            <a:srgbClr val="F5F0E6"/>
          </a:solidFill>
          <a:ln>
            <a:noFill/>
          </a:ln>
          <a:effectLst/>
        </p:spPr>
        <p:txBody>
          <a:bodyPr rtlCol="0" anchor="ctr"/>
          <a:lstStyle/>
          <a:p>
            <a:pPr algn="ctr"/>
          </a:p>
        </p:txBody>
      </p:sp>
      <p:sp>
        <p:nvSpPr>
          <p:cNvPr id="12" name="who"/>
          <p:cNvSpPr txBox="1"/>
          <p:nvPr/>
        </p:nvSpPr>
        <p:spPr>
          <a:xfrm>
            <a:off x="685800" y="196596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Curious about the ocean off California, or a scientist</a:t>
            </a:r>
          </a:p>
        </p:txBody>
      </p:sp>
      <p:sp>
        <p:nvSpPr>
          <p:cNvPr id="13" name="who tile"/>
          <p:cNvSpPr/>
          <p:nvPr/>
        </p:nvSpPr>
        <p:spPr>
          <a:xfrm>
            <a:off x="548640" y="2606039"/>
            <a:ext cx="2743200" cy="548640"/>
          </a:xfrm>
          <a:prstGeom prst="roundRect">
            <a:avLst>
              <a:gd name="adj" fmla="val 13333"/>
            </a:avLst>
          </a:prstGeom>
          <a:solidFill>
            <a:srgbClr val="F5F0E6"/>
          </a:solidFill>
          <a:ln>
            <a:noFill/>
          </a:ln>
          <a:effectLst/>
        </p:spPr>
        <p:txBody>
          <a:bodyPr rtlCol="0" anchor="ctr"/>
          <a:lstStyle/>
          <a:p>
            <a:pPr algn="ctr"/>
          </a:p>
        </p:txBody>
      </p:sp>
      <p:sp>
        <p:nvSpPr>
          <p:cNvPr id="14" name="who"/>
          <p:cNvSpPr txBox="1"/>
          <p:nvPr/>
        </p:nvSpPr>
        <p:spPr>
          <a:xfrm>
            <a:off x="685800" y="2606039"/>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A data scientist writing queries</a:t>
            </a:r>
          </a:p>
        </p:txBody>
      </p:sp>
      <p:sp>
        <p:nvSpPr>
          <p:cNvPr id="15" name="who tile"/>
          <p:cNvSpPr/>
          <p:nvPr/>
        </p:nvSpPr>
        <p:spPr>
          <a:xfrm>
            <a:off x="548640" y="3246120"/>
            <a:ext cx="2743200" cy="548640"/>
          </a:xfrm>
          <a:prstGeom prst="roundRect">
            <a:avLst>
              <a:gd name="adj" fmla="val 13333"/>
            </a:avLst>
          </a:prstGeom>
          <a:solidFill>
            <a:srgbClr val="F5F0E6"/>
          </a:solidFill>
          <a:ln>
            <a:noFill/>
          </a:ln>
          <a:effectLst/>
        </p:spPr>
        <p:txBody>
          <a:bodyPr rtlCol="0" anchor="ctr"/>
          <a:lstStyle/>
          <a:p>
            <a:pPr algn="ctr"/>
          </a:p>
        </p:txBody>
      </p:sp>
      <p:sp>
        <p:nvSpPr>
          <p:cNvPr id="16" name="who"/>
          <p:cNvSpPr txBox="1"/>
          <p:nvPr/>
        </p:nvSpPr>
        <p:spPr>
          <a:xfrm>
            <a:off x="685800" y="324612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A data provider, now or in future</a:t>
            </a:r>
          </a:p>
        </p:txBody>
      </p:sp>
      <p:sp>
        <p:nvSpPr>
          <p:cNvPr id="17" name="who tile"/>
          <p:cNvSpPr/>
          <p:nvPr/>
        </p:nvSpPr>
        <p:spPr>
          <a:xfrm>
            <a:off x="548640" y="3886200"/>
            <a:ext cx="2743200" cy="548640"/>
          </a:xfrm>
          <a:prstGeom prst="roundRect">
            <a:avLst>
              <a:gd name="adj" fmla="val 13333"/>
            </a:avLst>
          </a:prstGeom>
          <a:solidFill>
            <a:srgbClr val="F5F0E6"/>
          </a:solidFill>
          <a:ln>
            <a:noFill/>
          </a:ln>
          <a:effectLst/>
        </p:spPr>
        <p:txBody>
          <a:bodyPr rtlCol="0" anchor="ctr"/>
          <a:lstStyle/>
          <a:p>
            <a:pPr algn="ctr"/>
          </a:p>
        </p:txBody>
      </p:sp>
      <p:sp>
        <p:nvSpPr>
          <p:cNvPr id="18" name="who"/>
          <p:cNvSpPr txBox="1"/>
          <p:nvPr/>
        </p:nvSpPr>
        <p:spPr>
          <a:xfrm>
            <a:off x="685800" y="388620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On the CTD team</a:t>
            </a:r>
          </a:p>
        </p:txBody>
      </p:sp>
      <p:sp>
        <p:nvSpPr>
          <p:cNvPr id="19" name="who tile"/>
          <p:cNvSpPr/>
          <p:nvPr/>
        </p:nvSpPr>
        <p:spPr>
          <a:xfrm>
            <a:off x="548640" y="4526279"/>
            <a:ext cx="2743200" cy="548640"/>
          </a:xfrm>
          <a:prstGeom prst="roundRect">
            <a:avLst>
              <a:gd name="adj" fmla="val 13333"/>
            </a:avLst>
          </a:prstGeom>
          <a:solidFill>
            <a:srgbClr val="F5F0E6"/>
          </a:solidFill>
          <a:ln>
            <a:noFill/>
          </a:ln>
          <a:effectLst/>
        </p:spPr>
        <p:txBody>
          <a:bodyPr rtlCol="0" anchor="ctr"/>
          <a:lstStyle/>
          <a:p>
            <a:pPr algn="ctr"/>
          </a:p>
        </p:txBody>
      </p:sp>
      <p:sp>
        <p:nvSpPr>
          <p:cNvPr id="20" name="who"/>
          <p:cNvSpPr txBox="1"/>
          <p:nvPr/>
        </p:nvSpPr>
        <p:spPr>
          <a:xfrm>
            <a:off x="685800" y="4526279"/>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On the data team, or building a CalCOFI product</a:t>
            </a:r>
          </a:p>
        </p:txBody>
      </p:sp>
      <p:sp>
        <p:nvSpPr>
          <p:cNvPr id="21" name="who tile"/>
          <p:cNvSpPr/>
          <p:nvPr/>
        </p:nvSpPr>
        <p:spPr>
          <a:xfrm>
            <a:off x="548640" y="5166360"/>
            <a:ext cx="2743200" cy="548640"/>
          </a:xfrm>
          <a:prstGeom prst="roundRect">
            <a:avLst>
              <a:gd name="adj" fmla="val 13333"/>
            </a:avLst>
          </a:prstGeom>
          <a:solidFill>
            <a:srgbClr val="F5F0E6"/>
          </a:solidFill>
          <a:ln>
            <a:noFill/>
          </a:ln>
          <a:effectLst/>
        </p:spPr>
        <p:txBody>
          <a:bodyPr rtlCol="0" anchor="ctr"/>
          <a:lstStyle/>
          <a:p>
            <a:pPr algn="ctr"/>
          </a:p>
        </p:txBody>
      </p:sp>
      <p:sp>
        <p:nvSpPr>
          <p:cNvPr id="22" name="who"/>
          <p:cNvSpPr txBox="1"/>
          <p:nvPr/>
        </p:nvSpPr>
        <p:spPr>
          <a:xfrm>
            <a:off x="685800" y="516636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Reporting on the program</a:t>
            </a:r>
          </a:p>
        </p:txBody>
      </p:sp>
      <p:sp>
        <p:nvSpPr>
          <p:cNvPr id="23" name="arrow"/>
          <p:cNvSpPr/>
          <p:nvPr/>
        </p:nvSpPr>
        <p:spPr>
          <a:xfrm>
            <a:off x="3328415" y="2148840"/>
            <a:ext cx="201168" cy="182880"/>
          </a:xfrm>
          <a:prstGeom prst="rightArrow">
            <a:avLst/>
          </a:prstGeom>
          <a:solidFill>
            <a:srgbClr val="B6B1A9"/>
          </a:solidFill>
          <a:ln>
            <a:noFill/>
          </a:ln>
          <a:effectLst/>
        </p:spPr>
        <p:txBody>
          <a:bodyPr rtlCol="0" anchor="ctr"/>
          <a:lstStyle/>
          <a:p>
            <a:pPr algn="ctr"/>
          </a:p>
        </p:txBody>
      </p:sp>
      <p:sp>
        <p:nvSpPr>
          <p:cNvPr id="24" name="door tile"/>
          <p:cNvSpPr/>
          <p:nvPr/>
        </p:nvSpPr>
        <p:spPr>
          <a:xfrm>
            <a:off x="3566160" y="196596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25" name="door"/>
          <p:cNvSpPr txBox="1"/>
          <p:nvPr/>
        </p:nvSpPr>
        <p:spPr>
          <a:xfrm>
            <a:off x="3703320" y="196596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Explore</a:t>
            </a:r>
          </a:p>
          <a:p>
            <a:pPr algn="l">
              <a:lnSpc>
                <a:spcPct val="100000"/>
              </a:lnSpc>
            </a:pPr>
            <a:r>
              <a:rPr sz="1100" b="0">
                <a:solidFill>
                  <a:srgbClr val="66686A"/>
                </a:solidFill>
                <a:latin typeface="Source Sans 3"/>
              </a:rPr>
              <a:t>see the data on a map, in a browser</a:t>
            </a:r>
          </a:p>
        </p:txBody>
      </p:sp>
      <p:sp>
        <p:nvSpPr>
          <p:cNvPr id="26" name="arrow"/>
          <p:cNvSpPr/>
          <p:nvPr/>
        </p:nvSpPr>
        <p:spPr>
          <a:xfrm>
            <a:off x="3328415" y="2788920"/>
            <a:ext cx="201168" cy="182880"/>
          </a:xfrm>
          <a:prstGeom prst="rightArrow">
            <a:avLst/>
          </a:prstGeom>
          <a:solidFill>
            <a:srgbClr val="B6B1A9"/>
          </a:solidFill>
          <a:ln>
            <a:noFill/>
          </a:ln>
          <a:effectLst/>
        </p:spPr>
        <p:txBody>
          <a:bodyPr rtlCol="0" anchor="ctr"/>
          <a:lstStyle/>
          <a:p>
            <a:pPr algn="ctr"/>
          </a:p>
        </p:txBody>
      </p:sp>
      <p:sp>
        <p:nvSpPr>
          <p:cNvPr id="27" name="door tile"/>
          <p:cNvSpPr/>
          <p:nvPr/>
        </p:nvSpPr>
        <p:spPr>
          <a:xfrm>
            <a:off x="3566160" y="2606039"/>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28" name="door"/>
          <p:cNvSpPr txBox="1"/>
          <p:nvPr/>
        </p:nvSpPr>
        <p:spPr>
          <a:xfrm>
            <a:off x="3703320" y="2606039"/>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Access the data</a:t>
            </a:r>
          </a:p>
          <a:p>
            <a:pPr algn="l">
              <a:lnSpc>
                <a:spcPct val="100000"/>
              </a:lnSpc>
            </a:pPr>
            <a:r>
              <a:rPr sz="1100" b="0">
                <a:solidFill>
                  <a:srgbClr val="66686A"/>
                </a:solidFill>
                <a:latin typeface="Source Sans 3"/>
              </a:rPr>
              <a:t>R, Python and open files</a:t>
            </a:r>
          </a:p>
        </p:txBody>
      </p:sp>
      <p:sp>
        <p:nvSpPr>
          <p:cNvPr id="29" name="arrow"/>
          <p:cNvSpPr/>
          <p:nvPr/>
        </p:nvSpPr>
        <p:spPr>
          <a:xfrm>
            <a:off x="3328415" y="3429000"/>
            <a:ext cx="201168" cy="182880"/>
          </a:xfrm>
          <a:prstGeom prst="rightArrow">
            <a:avLst/>
          </a:prstGeom>
          <a:solidFill>
            <a:srgbClr val="B6B1A9"/>
          </a:solidFill>
          <a:ln>
            <a:noFill/>
          </a:ln>
          <a:effectLst/>
        </p:spPr>
        <p:txBody>
          <a:bodyPr rtlCol="0" anchor="ctr"/>
          <a:lstStyle/>
          <a:p>
            <a:pPr algn="ctr"/>
          </a:p>
        </p:txBody>
      </p:sp>
      <p:sp>
        <p:nvSpPr>
          <p:cNvPr id="30" name="door tile"/>
          <p:cNvSpPr/>
          <p:nvPr/>
        </p:nvSpPr>
        <p:spPr>
          <a:xfrm>
            <a:off x="3566160" y="324612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1" name="door"/>
          <p:cNvSpPr txBox="1"/>
          <p:nvPr/>
        </p:nvSpPr>
        <p:spPr>
          <a:xfrm>
            <a:off x="3703320" y="324612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Providing data to CalCOFI</a:t>
            </a:r>
          </a:p>
          <a:p>
            <a:pPr algn="l">
              <a:lnSpc>
                <a:spcPct val="100000"/>
              </a:lnSpc>
            </a:pPr>
            <a:r>
              <a:rPr sz="1100" b="0">
                <a:solidFill>
                  <a:srgbClr val="66686A"/>
                </a:solidFill>
                <a:latin typeface="Source Sans 3"/>
              </a:rPr>
              <a:t>send us your data, step by step</a:t>
            </a:r>
          </a:p>
        </p:txBody>
      </p:sp>
      <p:sp>
        <p:nvSpPr>
          <p:cNvPr id="32" name="arrow"/>
          <p:cNvSpPr/>
          <p:nvPr/>
        </p:nvSpPr>
        <p:spPr>
          <a:xfrm>
            <a:off x="3328415" y="4069080"/>
            <a:ext cx="201168" cy="182880"/>
          </a:xfrm>
          <a:prstGeom prst="rightArrow">
            <a:avLst/>
          </a:prstGeom>
          <a:solidFill>
            <a:srgbClr val="B6B1A9"/>
          </a:solidFill>
          <a:ln>
            <a:noFill/>
          </a:ln>
          <a:effectLst/>
        </p:spPr>
        <p:txBody>
          <a:bodyPr rtlCol="0" anchor="ctr"/>
          <a:lstStyle/>
          <a:p>
            <a:pPr algn="ctr"/>
          </a:p>
        </p:txBody>
      </p:sp>
      <p:sp>
        <p:nvSpPr>
          <p:cNvPr id="33" name="door tile"/>
          <p:cNvSpPr/>
          <p:nvPr/>
        </p:nvSpPr>
        <p:spPr>
          <a:xfrm>
            <a:off x="3566160" y="388620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4" name="door"/>
          <p:cNvSpPr txBox="1"/>
          <p:nvPr/>
        </p:nvSpPr>
        <p:spPr>
          <a:xfrm>
            <a:off x="3703320" y="388620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CTD QA/QC, start to release</a:t>
            </a:r>
          </a:p>
          <a:p>
            <a:pPr algn="l">
              <a:lnSpc>
                <a:spcPct val="100000"/>
              </a:lnSpc>
            </a:pPr>
            <a:r>
              <a:rPr sz="1100" b="0">
                <a:solidFill>
                  <a:srgbClr val="66686A"/>
                </a:solidFill>
                <a:latin typeface="Source Sans 3"/>
              </a:rPr>
              <a:t>quality control, cast to release</a:t>
            </a:r>
          </a:p>
        </p:txBody>
      </p:sp>
      <p:sp>
        <p:nvSpPr>
          <p:cNvPr id="35" name="arrow"/>
          <p:cNvSpPr/>
          <p:nvPr/>
        </p:nvSpPr>
        <p:spPr>
          <a:xfrm>
            <a:off x="3328415" y="4709159"/>
            <a:ext cx="201168" cy="182880"/>
          </a:xfrm>
          <a:prstGeom prst="rightArrow">
            <a:avLst/>
          </a:prstGeom>
          <a:solidFill>
            <a:srgbClr val="B6B1A9"/>
          </a:solidFill>
          <a:ln>
            <a:noFill/>
          </a:ln>
          <a:effectLst/>
        </p:spPr>
        <p:txBody>
          <a:bodyPr rtlCol="0" anchor="ctr"/>
          <a:lstStyle/>
          <a:p>
            <a:pPr algn="ctr"/>
          </a:p>
        </p:txBody>
      </p:sp>
      <p:sp>
        <p:nvSpPr>
          <p:cNvPr id="36" name="door tile"/>
          <p:cNvSpPr/>
          <p:nvPr/>
        </p:nvSpPr>
        <p:spPr>
          <a:xfrm>
            <a:off x="3566160" y="4526279"/>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7" name="door"/>
          <p:cNvSpPr txBox="1"/>
          <p:nvPr/>
        </p:nvSpPr>
        <p:spPr>
          <a:xfrm>
            <a:off x="3703320" y="4526279"/>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Ingesting a dataset</a:t>
            </a:r>
          </a:p>
          <a:p>
            <a:pPr algn="l">
              <a:lnSpc>
                <a:spcPct val="100000"/>
              </a:lnSpc>
            </a:pPr>
            <a:r>
              <a:rPr sz="1100" b="0">
                <a:solidFill>
                  <a:srgbClr val="66686A"/>
                </a:solidFill>
                <a:latin typeface="Source Sans 3"/>
              </a:rPr>
              <a:t>add a dataset, build an app</a:t>
            </a:r>
          </a:p>
        </p:txBody>
      </p:sp>
      <p:sp>
        <p:nvSpPr>
          <p:cNvPr id="38" name="arrow"/>
          <p:cNvSpPr/>
          <p:nvPr/>
        </p:nvSpPr>
        <p:spPr>
          <a:xfrm>
            <a:off x="3328415" y="5349240"/>
            <a:ext cx="201168" cy="182880"/>
          </a:xfrm>
          <a:prstGeom prst="rightArrow">
            <a:avLst/>
          </a:prstGeom>
          <a:solidFill>
            <a:srgbClr val="B6B1A9"/>
          </a:solidFill>
          <a:ln>
            <a:noFill/>
          </a:ln>
          <a:effectLst/>
        </p:spPr>
        <p:txBody>
          <a:bodyPr rtlCol="0" anchor="ctr"/>
          <a:lstStyle/>
          <a:p>
            <a:pPr algn="ctr"/>
          </a:p>
        </p:txBody>
      </p:sp>
      <p:sp>
        <p:nvSpPr>
          <p:cNvPr id="39" name="door tile"/>
          <p:cNvSpPr/>
          <p:nvPr/>
        </p:nvSpPr>
        <p:spPr>
          <a:xfrm>
            <a:off x="3566160" y="516636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40" name="door"/>
          <p:cNvSpPr txBox="1"/>
          <p:nvPr/>
        </p:nvSpPr>
        <p:spPr>
          <a:xfrm>
            <a:off x="3703320" y="516636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The data management plan</a:t>
            </a:r>
          </a:p>
          <a:p>
            <a:pPr algn="l">
              <a:lnSpc>
                <a:spcPct val="100000"/>
              </a:lnSpc>
            </a:pPr>
            <a:r>
              <a:rPr sz="1100" b="0">
                <a:solidFill>
                  <a:srgbClr val="66686A"/>
                </a:solidFill>
                <a:latin typeface="Source Sans 3"/>
              </a:rPr>
              <a:t>the plan and its status</a:t>
            </a:r>
          </a:p>
        </p:txBody>
      </p:sp>
      <p:sp>
        <p:nvSpPr>
          <p:cNvPr id="41" name="one sentence"/>
          <p:cNvSpPr txBox="1"/>
          <p:nvPr/>
        </p:nvSpPr>
        <p:spPr>
          <a:xfrm>
            <a:off x="548640" y="5870448"/>
            <a:ext cx="11064240" cy="365760"/>
          </a:xfrm>
          <a:prstGeom prst="rect">
            <a:avLst/>
          </a:prstGeom>
          <a:noFill/>
        </p:spPr>
        <p:txBody>
          <a:bodyPr wrap="square" lIns="0" rIns="0" tIns="0" bIns="0" anchor="t">
            <a:spAutoFit/>
          </a:bodyPr>
          <a:lstStyle/>
          <a:p>
            <a:pPr algn="l"/>
            <a:r>
              <a:rPr sz="1600" b="0">
                <a:solidFill>
                  <a:srgbClr val="182B49"/>
                </a:solidFill>
                <a:latin typeface="Source Sans 3"/>
              </a:rPr>
              <a:t>Each one starts at its own door. None needs to know how the rest of it 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3 · WHO YOU ARE, YOUR DOOR, ONE DATABASE, THE PORTALS · STEP 3 OF 4</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Behind every door, one database</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calcofi.io/docs · Which door is yours</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7</a:t>
            </a:r>
          </a:p>
        </p:txBody>
      </p:sp>
      <p:sp>
        <p:nvSpPr>
          <p:cNvPr id="8" name="eyebrow"/>
          <p:cNvSpPr txBox="1"/>
          <p:nvPr/>
        </p:nvSpPr>
        <p:spPr>
          <a:xfrm>
            <a:off x="548640" y="1572768"/>
            <a:ext cx="2743200" cy="274320"/>
          </a:xfrm>
          <a:prstGeom prst="rect">
            <a:avLst/>
          </a:prstGeom>
          <a:noFill/>
        </p:spPr>
        <p:txBody>
          <a:bodyPr wrap="square" lIns="0" rIns="0" tIns="0" bIns="0" anchor="t">
            <a:spAutoFit/>
          </a:bodyPr>
          <a:lstStyle/>
          <a:p>
            <a:pPr algn="l"/>
            <a:r>
              <a:rPr sz="1100" b="1" spc="90">
                <a:solidFill>
                  <a:srgbClr val="66686A"/>
                </a:solidFill>
                <a:latin typeface="Source Sans 3"/>
              </a:rPr>
              <a:t>WHO YOU ARE</a:t>
            </a:r>
          </a:p>
        </p:txBody>
      </p:sp>
      <p:sp>
        <p:nvSpPr>
          <p:cNvPr id="9" name="eyebrow"/>
          <p:cNvSpPr txBox="1"/>
          <p:nvPr/>
        </p:nvSpPr>
        <p:spPr>
          <a:xfrm>
            <a:off x="3566160" y="1572768"/>
            <a:ext cx="2743200" cy="274320"/>
          </a:xfrm>
          <a:prstGeom prst="rect">
            <a:avLst/>
          </a:prstGeom>
          <a:noFill/>
        </p:spPr>
        <p:txBody>
          <a:bodyPr wrap="square" lIns="0" rIns="0" tIns="0" bIns="0" anchor="t">
            <a:spAutoFit/>
          </a:bodyPr>
          <a:lstStyle/>
          <a:p>
            <a:pPr algn="l"/>
            <a:r>
              <a:rPr sz="1100" b="1" spc="90">
                <a:solidFill>
                  <a:srgbClr val="66686A"/>
                </a:solidFill>
                <a:latin typeface="Source Sans 3"/>
              </a:rPr>
              <a:t>YOUR DOOR</a:t>
            </a:r>
          </a:p>
        </p:txBody>
      </p:sp>
      <p:sp>
        <p:nvSpPr>
          <p:cNvPr id="10" name="eyebrow"/>
          <p:cNvSpPr txBox="1"/>
          <p:nvPr/>
        </p:nvSpPr>
        <p:spPr>
          <a:xfrm>
            <a:off x="6583680" y="1572768"/>
            <a:ext cx="2377440" cy="274320"/>
          </a:xfrm>
          <a:prstGeom prst="rect">
            <a:avLst/>
          </a:prstGeom>
          <a:noFill/>
        </p:spPr>
        <p:txBody>
          <a:bodyPr wrap="square" lIns="0" rIns="0" tIns="0" bIns="0" anchor="t">
            <a:spAutoFit/>
          </a:bodyPr>
          <a:lstStyle/>
          <a:p>
            <a:pPr algn="l"/>
            <a:r>
              <a:rPr sz="1100" b="1" spc="90">
                <a:solidFill>
                  <a:srgbClr val="66686A"/>
                </a:solidFill>
                <a:latin typeface="Source Sans 3"/>
              </a:rPr>
              <a:t>ONE DATABASE</a:t>
            </a:r>
          </a:p>
        </p:txBody>
      </p:sp>
      <p:sp>
        <p:nvSpPr>
          <p:cNvPr id="11" name="new-column marker"/>
          <p:cNvSpPr/>
          <p:nvPr/>
        </p:nvSpPr>
        <p:spPr>
          <a:xfrm>
            <a:off x="6583680" y="1847088"/>
            <a:ext cx="640080" cy="45720"/>
          </a:xfrm>
          <a:prstGeom prst="rect">
            <a:avLst/>
          </a:prstGeom>
          <a:solidFill>
            <a:srgbClr val="FFCD00"/>
          </a:solidFill>
          <a:ln>
            <a:noFill/>
          </a:ln>
          <a:effectLst/>
        </p:spPr>
        <p:txBody>
          <a:bodyPr rtlCol="0" anchor="ctr"/>
          <a:lstStyle/>
          <a:p>
            <a:pPr algn="ctr"/>
          </a:p>
        </p:txBody>
      </p:sp>
      <p:sp>
        <p:nvSpPr>
          <p:cNvPr id="12" name="who tile"/>
          <p:cNvSpPr/>
          <p:nvPr/>
        </p:nvSpPr>
        <p:spPr>
          <a:xfrm>
            <a:off x="548640" y="1965960"/>
            <a:ext cx="2743200" cy="548640"/>
          </a:xfrm>
          <a:prstGeom prst="roundRect">
            <a:avLst>
              <a:gd name="adj" fmla="val 13333"/>
            </a:avLst>
          </a:prstGeom>
          <a:solidFill>
            <a:srgbClr val="F5F0E6"/>
          </a:solidFill>
          <a:ln>
            <a:noFill/>
          </a:ln>
          <a:effectLst/>
        </p:spPr>
        <p:txBody>
          <a:bodyPr rtlCol="0" anchor="ctr"/>
          <a:lstStyle/>
          <a:p>
            <a:pPr algn="ctr"/>
          </a:p>
        </p:txBody>
      </p:sp>
      <p:sp>
        <p:nvSpPr>
          <p:cNvPr id="13" name="who"/>
          <p:cNvSpPr txBox="1"/>
          <p:nvPr/>
        </p:nvSpPr>
        <p:spPr>
          <a:xfrm>
            <a:off x="685800" y="196596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Curious about the ocean off California, or a scientist</a:t>
            </a:r>
          </a:p>
        </p:txBody>
      </p:sp>
      <p:sp>
        <p:nvSpPr>
          <p:cNvPr id="14" name="who tile"/>
          <p:cNvSpPr/>
          <p:nvPr/>
        </p:nvSpPr>
        <p:spPr>
          <a:xfrm>
            <a:off x="548640" y="2606039"/>
            <a:ext cx="2743200" cy="548640"/>
          </a:xfrm>
          <a:prstGeom prst="roundRect">
            <a:avLst>
              <a:gd name="adj" fmla="val 13333"/>
            </a:avLst>
          </a:prstGeom>
          <a:solidFill>
            <a:srgbClr val="F5F0E6"/>
          </a:solidFill>
          <a:ln>
            <a:noFill/>
          </a:ln>
          <a:effectLst/>
        </p:spPr>
        <p:txBody>
          <a:bodyPr rtlCol="0" anchor="ctr"/>
          <a:lstStyle/>
          <a:p>
            <a:pPr algn="ctr"/>
          </a:p>
        </p:txBody>
      </p:sp>
      <p:sp>
        <p:nvSpPr>
          <p:cNvPr id="15" name="who"/>
          <p:cNvSpPr txBox="1"/>
          <p:nvPr/>
        </p:nvSpPr>
        <p:spPr>
          <a:xfrm>
            <a:off x="685800" y="2606039"/>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A data scientist writing queries</a:t>
            </a:r>
          </a:p>
        </p:txBody>
      </p:sp>
      <p:sp>
        <p:nvSpPr>
          <p:cNvPr id="16" name="who tile"/>
          <p:cNvSpPr/>
          <p:nvPr/>
        </p:nvSpPr>
        <p:spPr>
          <a:xfrm>
            <a:off x="548640" y="3246120"/>
            <a:ext cx="2743200" cy="548640"/>
          </a:xfrm>
          <a:prstGeom prst="roundRect">
            <a:avLst>
              <a:gd name="adj" fmla="val 13333"/>
            </a:avLst>
          </a:prstGeom>
          <a:solidFill>
            <a:srgbClr val="F5F0E6"/>
          </a:solidFill>
          <a:ln>
            <a:noFill/>
          </a:ln>
          <a:effectLst/>
        </p:spPr>
        <p:txBody>
          <a:bodyPr rtlCol="0" anchor="ctr"/>
          <a:lstStyle/>
          <a:p>
            <a:pPr algn="ctr"/>
          </a:p>
        </p:txBody>
      </p:sp>
      <p:sp>
        <p:nvSpPr>
          <p:cNvPr id="17" name="who"/>
          <p:cNvSpPr txBox="1"/>
          <p:nvPr/>
        </p:nvSpPr>
        <p:spPr>
          <a:xfrm>
            <a:off x="685800" y="324612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A data provider, now or in future</a:t>
            </a:r>
          </a:p>
        </p:txBody>
      </p:sp>
      <p:sp>
        <p:nvSpPr>
          <p:cNvPr id="18" name="who tile"/>
          <p:cNvSpPr/>
          <p:nvPr/>
        </p:nvSpPr>
        <p:spPr>
          <a:xfrm>
            <a:off x="548640" y="3886200"/>
            <a:ext cx="2743200" cy="548640"/>
          </a:xfrm>
          <a:prstGeom prst="roundRect">
            <a:avLst>
              <a:gd name="adj" fmla="val 13333"/>
            </a:avLst>
          </a:prstGeom>
          <a:solidFill>
            <a:srgbClr val="F5F0E6"/>
          </a:solidFill>
          <a:ln>
            <a:noFill/>
          </a:ln>
          <a:effectLst/>
        </p:spPr>
        <p:txBody>
          <a:bodyPr rtlCol="0" anchor="ctr"/>
          <a:lstStyle/>
          <a:p>
            <a:pPr algn="ctr"/>
          </a:p>
        </p:txBody>
      </p:sp>
      <p:sp>
        <p:nvSpPr>
          <p:cNvPr id="19" name="who"/>
          <p:cNvSpPr txBox="1"/>
          <p:nvPr/>
        </p:nvSpPr>
        <p:spPr>
          <a:xfrm>
            <a:off x="685800" y="388620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On the CTD team</a:t>
            </a:r>
          </a:p>
        </p:txBody>
      </p:sp>
      <p:sp>
        <p:nvSpPr>
          <p:cNvPr id="20" name="who tile"/>
          <p:cNvSpPr/>
          <p:nvPr/>
        </p:nvSpPr>
        <p:spPr>
          <a:xfrm>
            <a:off x="548640" y="4526279"/>
            <a:ext cx="2743200" cy="548640"/>
          </a:xfrm>
          <a:prstGeom prst="roundRect">
            <a:avLst>
              <a:gd name="adj" fmla="val 13333"/>
            </a:avLst>
          </a:prstGeom>
          <a:solidFill>
            <a:srgbClr val="F5F0E6"/>
          </a:solidFill>
          <a:ln>
            <a:noFill/>
          </a:ln>
          <a:effectLst/>
        </p:spPr>
        <p:txBody>
          <a:bodyPr rtlCol="0" anchor="ctr"/>
          <a:lstStyle/>
          <a:p>
            <a:pPr algn="ctr"/>
          </a:p>
        </p:txBody>
      </p:sp>
      <p:sp>
        <p:nvSpPr>
          <p:cNvPr id="21" name="who"/>
          <p:cNvSpPr txBox="1"/>
          <p:nvPr/>
        </p:nvSpPr>
        <p:spPr>
          <a:xfrm>
            <a:off x="685800" y="4526279"/>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On the data team, or building a CalCOFI product</a:t>
            </a:r>
          </a:p>
        </p:txBody>
      </p:sp>
      <p:sp>
        <p:nvSpPr>
          <p:cNvPr id="22" name="who tile"/>
          <p:cNvSpPr/>
          <p:nvPr/>
        </p:nvSpPr>
        <p:spPr>
          <a:xfrm>
            <a:off x="548640" y="5166360"/>
            <a:ext cx="2743200" cy="548640"/>
          </a:xfrm>
          <a:prstGeom prst="roundRect">
            <a:avLst>
              <a:gd name="adj" fmla="val 13333"/>
            </a:avLst>
          </a:prstGeom>
          <a:solidFill>
            <a:srgbClr val="F5F0E6"/>
          </a:solidFill>
          <a:ln>
            <a:noFill/>
          </a:ln>
          <a:effectLst/>
        </p:spPr>
        <p:txBody>
          <a:bodyPr rtlCol="0" anchor="ctr"/>
          <a:lstStyle/>
          <a:p>
            <a:pPr algn="ctr"/>
          </a:p>
        </p:txBody>
      </p:sp>
      <p:sp>
        <p:nvSpPr>
          <p:cNvPr id="23" name="who"/>
          <p:cNvSpPr txBox="1"/>
          <p:nvPr/>
        </p:nvSpPr>
        <p:spPr>
          <a:xfrm>
            <a:off x="685800" y="516636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Reporting on the program</a:t>
            </a:r>
          </a:p>
        </p:txBody>
      </p:sp>
      <p:sp>
        <p:nvSpPr>
          <p:cNvPr id="24" name="arrow"/>
          <p:cNvSpPr/>
          <p:nvPr/>
        </p:nvSpPr>
        <p:spPr>
          <a:xfrm>
            <a:off x="3328415" y="2148840"/>
            <a:ext cx="201168" cy="182880"/>
          </a:xfrm>
          <a:prstGeom prst="rightArrow">
            <a:avLst/>
          </a:prstGeom>
          <a:solidFill>
            <a:srgbClr val="B6B1A9"/>
          </a:solidFill>
          <a:ln>
            <a:noFill/>
          </a:ln>
          <a:effectLst/>
        </p:spPr>
        <p:txBody>
          <a:bodyPr rtlCol="0" anchor="ctr"/>
          <a:lstStyle/>
          <a:p>
            <a:pPr algn="ctr"/>
          </a:p>
        </p:txBody>
      </p:sp>
      <p:sp>
        <p:nvSpPr>
          <p:cNvPr id="25" name="door tile"/>
          <p:cNvSpPr/>
          <p:nvPr/>
        </p:nvSpPr>
        <p:spPr>
          <a:xfrm>
            <a:off x="3566160" y="196596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26" name="door"/>
          <p:cNvSpPr txBox="1"/>
          <p:nvPr/>
        </p:nvSpPr>
        <p:spPr>
          <a:xfrm>
            <a:off x="3703320" y="196596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Explore</a:t>
            </a:r>
          </a:p>
          <a:p>
            <a:pPr algn="l">
              <a:lnSpc>
                <a:spcPct val="100000"/>
              </a:lnSpc>
            </a:pPr>
            <a:r>
              <a:rPr sz="1100" b="0">
                <a:solidFill>
                  <a:srgbClr val="66686A"/>
                </a:solidFill>
                <a:latin typeface="Source Sans 3"/>
              </a:rPr>
              <a:t>see the data on a map, in a browser</a:t>
            </a:r>
          </a:p>
        </p:txBody>
      </p:sp>
      <p:sp>
        <p:nvSpPr>
          <p:cNvPr id="27" name="arrow"/>
          <p:cNvSpPr/>
          <p:nvPr/>
        </p:nvSpPr>
        <p:spPr>
          <a:xfrm>
            <a:off x="3328415" y="2788920"/>
            <a:ext cx="201168" cy="182880"/>
          </a:xfrm>
          <a:prstGeom prst="rightArrow">
            <a:avLst/>
          </a:prstGeom>
          <a:solidFill>
            <a:srgbClr val="B6B1A9"/>
          </a:solidFill>
          <a:ln>
            <a:noFill/>
          </a:ln>
          <a:effectLst/>
        </p:spPr>
        <p:txBody>
          <a:bodyPr rtlCol="0" anchor="ctr"/>
          <a:lstStyle/>
          <a:p>
            <a:pPr algn="ctr"/>
          </a:p>
        </p:txBody>
      </p:sp>
      <p:sp>
        <p:nvSpPr>
          <p:cNvPr id="28" name="door tile"/>
          <p:cNvSpPr/>
          <p:nvPr/>
        </p:nvSpPr>
        <p:spPr>
          <a:xfrm>
            <a:off x="3566160" y="2606039"/>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29" name="door"/>
          <p:cNvSpPr txBox="1"/>
          <p:nvPr/>
        </p:nvSpPr>
        <p:spPr>
          <a:xfrm>
            <a:off x="3703320" y="2606039"/>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Access the data</a:t>
            </a:r>
          </a:p>
          <a:p>
            <a:pPr algn="l">
              <a:lnSpc>
                <a:spcPct val="100000"/>
              </a:lnSpc>
            </a:pPr>
            <a:r>
              <a:rPr sz="1100" b="0">
                <a:solidFill>
                  <a:srgbClr val="66686A"/>
                </a:solidFill>
                <a:latin typeface="Source Sans 3"/>
              </a:rPr>
              <a:t>R, Python and open files</a:t>
            </a:r>
          </a:p>
        </p:txBody>
      </p:sp>
      <p:sp>
        <p:nvSpPr>
          <p:cNvPr id="30" name="arrow"/>
          <p:cNvSpPr/>
          <p:nvPr/>
        </p:nvSpPr>
        <p:spPr>
          <a:xfrm>
            <a:off x="3328415" y="3429000"/>
            <a:ext cx="201168" cy="182880"/>
          </a:xfrm>
          <a:prstGeom prst="rightArrow">
            <a:avLst/>
          </a:prstGeom>
          <a:solidFill>
            <a:srgbClr val="B6B1A9"/>
          </a:solidFill>
          <a:ln>
            <a:noFill/>
          </a:ln>
          <a:effectLst/>
        </p:spPr>
        <p:txBody>
          <a:bodyPr rtlCol="0" anchor="ctr"/>
          <a:lstStyle/>
          <a:p>
            <a:pPr algn="ctr"/>
          </a:p>
        </p:txBody>
      </p:sp>
      <p:sp>
        <p:nvSpPr>
          <p:cNvPr id="31" name="door tile"/>
          <p:cNvSpPr/>
          <p:nvPr/>
        </p:nvSpPr>
        <p:spPr>
          <a:xfrm>
            <a:off x="3566160" y="324612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2" name="door"/>
          <p:cNvSpPr txBox="1"/>
          <p:nvPr/>
        </p:nvSpPr>
        <p:spPr>
          <a:xfrm>
            <a:off x="3703320" y="324612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Providing data to CalCOFI</a:t>
            </a:r>
          </a:p>
          <a:p>
            <a:pPr algn="l">
              <a:lnSpc>
                <a:spcPct val="100000"/>
              </a:lnSpc>
            </a:pPr>
            <a:r>
              <a:rPr sz="1100" b="0">
                <a:solidFill>
                  <a:srgbClr val="66686A"/>
                </a:solidFill>
                <a:latin typeface="Source Sans 3"/>
              </a:rPr>
              <a:t>send us your data, step by step</a:t>
            </a:r>
          </a:p>
        </p:txBody>
      </p:sp>
      <p:sp>
        <p:nvSpPr>
          <p:cNvPr id="33" name="arrow"/>
          <p:cNvSpPr/>
          <p:nvPr/>
        </p:nvSpPr>
        <p:spPr>
          <a:xfrm>
            <a:off x="3328415" y="4069080"/>
            <a:ext cx="201168" cy="182880"/>
          </a:xfrm>
          <a:prstGeom prst="rightArrow">
            <a:avLst/>
          </a:prstGeom>
          <a:solidFill>
            <a:srgbClr val="B6B1A9"/>
          </a:solidFill>
          <a:ln>
            <a:noFill/>
          </a:ln>
          <a:effectLst/>
        </p:spPr>
        <p:txBody>
          <a:bodyPr rtlCol="0" anchor="ctr"/>
          <a:lstStyle/>
          <a:p>
            <a:pPr algn="ctr"/>
          </a:p>
        </p:txBody>
      </p:sp>
      <p:sp>
        <p:nvSpPr>
          <p:cNvPr id="34" name="door tile"/>
          <p:cNvSpPr/>
          <p:nvPr/>
        </p:nvSpPr>
        <p:spPr>
          <a:xfrm>
            <a:off x="3566160" y="388620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5" name="door"/>
          <p:cNvSpPr txBox="1"/>
          <p:nvPr/>
        </p:nvSpPr>
        <p:spPr>
          <a:xfrm>
            <a:off x="3703320" y="388620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CTD QA/QC, start to release</a:t>
            </a:r>
          </a:p>
          <a:p>
            <a:pPr algn="l">
              <a:lnSpc>
                <a:spcPct val="100000"/>
              </a:lnSpc>
            </a:pPr>
            <a:r>
              <a:rPr sz="1100" b="0">
                <a:solidFill>
                  <a:srgbClr val="66686A"/>
                </a:solidFill>
                <a:latin typeface="Source Sans 3"/>
              </a:rPr>
              <a:t>quality control, cast to release</a:t>
            </a:r>
          </a:p>
        </p:txBody>
      </p:sp>
      <p:sp>
        <p:nvSpPr>
          <p:cNvPr id="36" name="arrow"/>
          <p:cNvSpPr/>
          <p:nvPr/>
        </p:nvSpPr>
        <p:spPr>
          <a:xfrm>
            <a:off x="3328415" y="4709159"/>
            <a:ext cx="201168" cy="182880"/>
          </a:xfrm>
          <a:prstGeom prst="rightArrow">
            <a:avLst/>
          </a:prstGeom>
          <a:solidFill>
            <a:srgbClr val="B6B1A9"/>
          </a:solidFill>
          <a:ln>
            <a:noFill/>
          </a:ln>
          <a:effectLst/>
        </p:spPr>
        <p:txBody>
          <a:bodyPr rtlCol="0" anchor="ctr"/>
          <a:lstStyle/>
          <a:p>
            <a:pPr algn="ctr"/>
          </a:p>
        </p:txBody>
      </p:sp>
      <p:sp>
        <p:nvSpPr>
          <p:cNvPr id="37" name="door tile"/>
          <p:cNvSpPr/>
          <p:nvPr/>
        </p:nvSpPr>
        <p:spPr>
          <a:xfrm>
            <a:off x="3566160" y="4526279"/>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8" name="door"/>
          <p:cNvSpPr txBox="1"/>
          <p:nvPr/>
        </p:nvSpPr>
        <p:spPr>
          <a:xfrm>
            <a:off x="3703320" y="4526279"/>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Ingesting a dataset</a:t>
            </a:r>
          </a:p>
          <a:p>
            <a:pPr algn="l">
              <a:lnSpc>
                <a:spcPct val="100000"/>
              </a:lnSpc>
            </a:pPr>
            <a:r>
              <a:rPr sz="1100" b="0">
                <a:solidFill>
                  <a:srgbClr val="66686A"/>
                </a:solidFill>
                <a:latin typeface="Source Sans 3"/>
              </a:rPr>
              <a:t>add a dataset, build an app</a:t>
            </a:r>
          </a:p>
        </p:txBody>
      </p:sp>
      <p:sp>
        <p:nvSpPr>
          <p:cNvPr id="39" name="arrow"/>
          <p:cNvSpPr/>
          <p:nvPr/>
        </p:nvSpPr>
        <p:spPr>
          <a:xfrm>
            <a:off x="3328415" y="5349240"/>
            <a:ext cx="201168" cy="182880"/>
          </a:xfrm>
          <a:prstGeom prst="rightArrow">
            <a:avLst/>
          </a:prstGeom>
          <a:solidFill>
            <a:srgbClr val="B6B1A9"/>
          </a:solidFill>
          <a:ln>
            <a:noFill/>
          </a:ln>
          <a:effectLst/>
        </p:spPr>
        <p:txBody>
          <a:bodyPr rtlCol="0" anchor="ctr"/>
          <a:lstStyle/>
          <a:p>
            <a:pPr algn="ctr"/>
          </a:p>
        </p:txBody>
      </p:sp>
      <p:sp>
        <p:nvSpPr>
          <p:cNvPr id="40" name="door tile"/>
          <p:cNvSpPr/>
          <p:nvPr/>
        </p:nvSpPr>
        <p:spPr>
          <a:xfrm>
            <a:off x="3566160" y="516636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41" name="door"/>
          <p:cNvSpPr txBox="1"/>
          <p:nvPr/>
        </p:nvSpPr>
        <p:spPr>
          <a:xfrm>
            <a:off x="3703320" y="516636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The data management plan</a:t>
            </a:r>
          </a:p>
          <a:p>
            <a:pPr algn="l">
              <a:lnSpc>
                <a:spcPct val="100000"/>
              </a:lnSpc>
            </a:pPr>
            <a:r>
              <a:rPr sz="1100" b="0">
                <a:solidFill>
                  <a:srgbClr val="66686A"/>
                </a:solidFill>
                <a:latin typeface="Source Sans 3"/>
              </a:rPr>
              <a:t>the plan and its status</a:t>
            </a:r>
          </a:p>
        </p:txBody>
      </p:sp>
      <p:sp>
        <p:nvSpPr>
          <p:cNvPr id="42" name="arrow"/>
          <p:cNvSpPr/>
          <p:nvPr/>
        </p:nvSpPr>
        <p:spPr>
          <a:xfrm>
            <a:off x="6345936" y="2148840"/>
            <a:ext cx="201168" cy="182880"/>
          </a:xfrm>
          <a:prstGeom prst="rightArrow">
            <a:avLst/>
          </a:prstGeom>
          <a:solidFill>
            <a:srgbClr val="B6B1A9"/>
          </a:solidFill>
          <a:ln>
            <a:noFill/>
          </a:ln>
          <a:effectLst/>
        </p:spPr>
        <p:txBody>
          <a:bodyPr rtlCol="0" anchor="ctr"/>
          <a:lstStyle/>
          <a:p>
            <a:pPr algn="ctr"/>
          </a:p>
        </p:txBody>
      </p:sp>
      <p:sp>
        <p:nvSpPr>
          <p:cNvPr id="43" name="arrow"/>
          <p:cNvSpPr/>
          <p:nvPr/>
        </p:nvSpPr>
        <p:spPr>
          <a:xfrm>
            <a:off x="6345936" y="2788920"/>
            <a:ext cx="201168" cy="182880"/>
          </a:xfrm>
          <a:prstGeom prst="rightArrow">
            <a:avLst/>
          </a:prstGeom>
          <a:solidFill>
            <a:srgbClr val="B6B1A9"/>
          </a:solidFill>
          <a:ln>
            <a:noFill/>
          </a:ln>
          <a:effectLst/>
        </p:spPr>
        <p:txBody>
          <a:bodyPr rtlCol="0" anchor="ctr"/>
          <a:lstStyle/>
          <a:p>
            <a:pPr algn="ctr"/>
          </a:p>
        </p:txBody>
      </p:sp>
      <p:sp>
        <p:nvSpPr>
          <p:cNvPr id="44" name="arrow"/>
          <p:cNvSpPr/>
          <p:nvPr/>
        </p:nvSpPr>
        <p:spPr>
          <a:xfrm>
            <a:off x="6345936" y="3429000"/>
            <a:ext cx="201168" cy="182880"/>
          </a:xfrm>
          <a:prstGeom prst="rightArrow">
            <a:avLst/>
          </a:prstGeom>
          <a:solidFill>
            <a:srgbClr val="B6B1A9"/>
          </a:solidFill>
          <a:ln>
            <a:noFill/>
          </a:ln>
          <a:effectLst/>
        </p:spPr>
        <p:txBody>
          <a:bodyPr rtlCol="0" anchor="ctr"/>
          <a:lstStyle/>
          <a:p>
            <a:pPr algn="ctr"/>
          </a:p>
        </p:txBody>
      </p:sp>
      <p:sp>
        <p:nvSpPr>
          <p:cNvPr id="45" name="arrow"/>
          <p:cNvSpPr/>
          <p:nvPr/>
        </p:nvSpPr>
        <p:spPr>
          <a:xfrm>
            <a:off x="6345936" y="4069080"/>
            <a:ext cx="201168" cy="182880"/>
          </a:xfrm>
          <a:prstGeom prst="rightArrow">
            <a:avLst/>
          </a:prstGeom>
          <a:solidFill>
            <a:srgbClr val="B6B1A9"/>
          </a:solidFill>
          <a:ln>
            <a:noFill/>
          </a:ln>
          <a:effectLst/>
        </p:spPr>
        <p:txBody>
          <a:bodyPr rtlCol="0" anchor="ctr"/>
          <a:lstStyle/>
          <a:p>
            <a:pPr algn="ctr"/>
          </a:p>
        </p:txBody>
      </p:sp>
      <p:sp>
        <p:nvSpPr>
          <p:cNvPr id="46" name="arrow"/>
          <p:cNvSpPr/>
          <p:nvPr/>
        </p:nvSpPr>
        <p:spPr>
          <a:xfrm>
            <a:off x="6345936" y="4709159"/>
            <a:ext cx="201168" cy="182880"/>
          </a:xfrm>
          <a:prstGeom prst="rightArrow">
            <a:avLst/>
          </a:prstGeom>
          <a:solidFill>
            <a:srgbClr val="B6B1A9"/>
          </a:solidFill>
          <a:ln>
            <a:noFill/>
          </a:ln>
          <a:effectLst/>
        </p:spPr>
        <p:txBody>
          <a:bodyPr rtlCol="0" anchor="ctr"/>
          <a:lstStyle/>
          <a:p>
            <a:pPr algn="ctr"/>
          </a:p>
        </p:txBody>
      </p:sp>
      <p:sp>
        <p:nvSpPr>
          <p:cNvPr id="47" name="arrow"/>
          <p:cNvSpPr/>
          <p:nvPr/>
        </p:nvSpPr>
        <p:spPr>
          <a:xfrm>
            <a:off x="6345936" y="5349240"/>
            <a:ext cx="201168" cy="182880"/>
          </a:xfrm>
          <a:prstGeom prst="rightArrow">
            <a:avLst/>
          </a:prstGeom>
          <a:solidFill>
            <a:srgbClr val="B6B1A9"/>
          </a:solidFill>
          <a:ln>
            <a:noFill/>
          </a:ln>
          <a:effectLst/>
        </p:spPr>
        <p:txBody>
          <a:bodyPr rtlCol="0" anchor="ctr"/>
          <a:lstStyle/>
          <a:p>
            <a:pPr algn="ctr"/>
          </a:p>
        </p:txBody>
      </p:sp>
      <p:sp>
        <p:nvSpPr>
          <p:cNvPr id="48" name="database block"/>
          <p:cNvSpPr/>
          <p:nvPr/>
        </p:nvSpPr>
        <p:spPr>
          <a:xfrm>
            <a:off x="6583680" y="1965960"/>
            <a:ext cx="2377440" cy="3749039"/>
          </a:xfrm>
          <a:prstGeom prst="roundRect">
            <a:avLst>
              <a:gd name="adj" fmla="val 4615"/>
            </a:avLst>
          </a:prstGeom>
          <a:solidFill>
            <a:srgbClr val="182B49"/>
          </a:solidFill>
          <a:ln>
            <a:noFill/>
          </a:ln>
          <a:effectLst/>
        </p:spPr>
        <p:txBody>
          <a:bodyPr rtlCol="0" anchor="ctr"/>
          <a:lstStyle/>
          <a:p>
            <a:pPr algn="ctr"/>
          </a:p>
        </p:txBody>
      </p:sp>
      <p:sp>
        <p:nvSpPr>
          <p:cNvPr id="49" name="one database"/>
          <p:cNvSpPr txBox="1"/>
          <p:nvPr/>
        </p:nvSpPr>
        <p:spPr>
          <a:xfrm>
            <a:off x="6766560" y="2148840"/>
            <a:ext cx="2011680" cy="1005840"/>
          </a:xfrm>
          <a:prstGeom prst="rect">
            <a:avLst/>
          </a:prstGeom>
          <a:noFill/>
        </p:spPr>
        <p:txBody>
          <a:bodyPr wrap="square" lIns="0" rIns="0" tIns="0" bIns="0" anchor="t">
            <a:spAutoFit/>
          </a:bodyPr>
          <a:lstStyle/>
          <a:p>
            <a:pPr algn="l">
              <a:lnSpc>
                <a:spcPct val="85000"/>
              </a:lnSpc>
            </a:pPr>
            <a:r>
              <a:rPr sz="3000" b="0" cap="all">
                <a:solidFill>
                  <a:srgbClr val="FFFFFF"/>
                </a:solidFill>
                <a:latin typeface="Teko"/>
              </a:rPr>
              <a:t>ONE</a:t>
            </a:r>
          </a:p>
          <a:p>
            <a:pPr algn="l">
              <a:lnSpc>
                <a:spcPct val="85000"/>
              </a:lnSpc>
            </a:pPr>
            <a:r>
              <a:rPr sz="3000" b="0" cap="all">
                <a:solidFill>
                  <a:srgbClr val="FFFFFF"/>
                </a:solidFill>
                <a:latin typeface="Teko"/>
              </a:rPr>
              <a:t>DATABASE</a:t>
            </a:r>
          </a:p>
        </p:txBody>
      </p:sp>
      <p:sp>
        <p:nvSpPr>
          <p:cNvPr id="50" name="database facts"/>
          <p:cNvSpPr txBox="1"/>
          <p:nvPr/>
        </p:nvSpPr>
        <p:spPr>
          <a:xfrm>
            <a:off x="6766560" y="3291840"/>
            <a:ext cx="2011680" cy="2377440"/>
          </a:xfrm>
          <a:prstGeom prst="rect">
            <a:avLst/>
          </a:prstGeom>
          <a:noFill/>
        </p:spPr>
        <p:txBody>
          <a:bodyPr wrap="square" lIns="0" rIns="0" tIns="0" bIns="0" anchor="t">
            <a:spAutoFit/>
          </a:bodyPr>
          <a:lstStyle/>
          <a:p>
            <a:pPr algn="l">
              <a:lnSpc>
                <a:spcPct val="110000"/>
              </a:lnSpc>
              <a:spcAft>
                <a:spcPts val="600"/>
              </a:spcAft>
            </a:pPr>
            <a:r>
              <a:rPr sz="1800" b="1">
                <a:solidFill>
                  <a:srgbClr val="FFFFFF"/>
                </a:solidFill>
                <a:latin typeface="Source Sans 3"/>
              </a:rPr>
              <a:t>17 datasets</a:t>
            </a:r>
          </a:p>
          <a:p>
            <a:pPr algn="l">
              <a:lnSpc>
                <a:spcPct val="110000"/>
              </a:lnSpc>
              <a:spcAft>
                <a:spcPts val="600"/>
              </a:spcAft>
            </a:pPr>
            <a:r>
              <a:rPr sz="1800" b="1">
                <a:solidFill>
                  <a:srgbClr val="FFFFFF"/>
                </a:solidFill>
                <a:latin typeface="Source Sans 3"/>
              </a:rPr>
              <a:t>77 years</a:t>
            </a:r>
          </a:p>
          <a:p>
            <a:pPr algn="l">
              <a:lnSpc>
                <a:spcPct val="110000"/>
              </a:lnSpc>
              <a:spcAft>
                <a:spcPts val="600"/>
              </a:spcAft>
            </a:pPr>
            <a:r>
              <a:rPr sz="1250" b="0">
                <a:solidFill>
                  <a:srgbClr val="FFFFFF"/>
                </a:solidFill>
                <a:latin typeface="Source Sans 3"/>
              </a:rPr>
              <a:t>One record per dataset, frozen, fingerprinted and citable with a DOI.</a:t>
            </a:r>
          </a:p>
          <a:p>
            <a:pPr algn="l">
              <a:lnSpc>
                <a:spcPct val="110000"/>
              </a:lnSpc>
              <a:spcAft>
                <a:spcPts val="600"/>
              </a:spcAft>
            </a:pPr>
            <a:r>
              <a:rPr sz="1200" b="0">
                <a:solidFill>
                  <a:srgbClr val="B9C6DA"/>
                </a:solidFill>
                <a:latin typeface="Source Sans 3"/>
              </a:rPr>
              <a:t>Release v2026.10.01</a:t>
            </a:r>
          </a:p>
        </p:txBody>
      </p:sp>
      <p:sp>
        <p:nvSpPr>
          <p:cNvPr id="51" name="one sentence"/>
          <p:cNvSpPr txBox="1"/>
          <p:nvPr/>
        </p:nvSpPr>
        <p:spPr>
          <a:xfrm>
            <a:off x="548640" y="5870448"/>
            <a:ext cx="11064240" cy="365760"/>
          </a:xfrm>
          <a:prstGeom prst="rect">
            <a:avLst/>
          </a:prstGeom>
          <a:noFill/>
        </p:spPr>
        <p:txBody>
          <a:bodyPr wrap="square" lIns="0" rIns="0" tIns="0" bIns="0" anchor="t">
            <a:spAutoFit/>
          </a:bodyPr>
          <a:lstStyle/>
          <a:p>
            <a:pPr algn="l"/>
            <a:r>
              <a:rPr sz="1600" b="0">
                <a:solidFill>
                  <a:srgbClr val="182B49"/>
                </a:solidFill>
                <a:latin typeface="Source Sans 3"/>
              </a:rPr>
              <a:t>All the doors lead to the same place, so a number is the same wherever you read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3 · WHO YOU ARE, YOUR DOOR, ONE DATABASE, THE PORTALS · STEP 4 OF 4</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CalOOS and the portals read from it</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calcofi.io/docs · Which door is yours</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8</a:t>
            </a:r>
          </a:p>
        </p:txBody>
      </p:sp>
      <p:sp>
        <p:nvSpPr>
          <p:cNvPr id="8" name="eyebrow"/>
          <p:cNvSpPr txBox="1"/>
          <p:nvPr/>
        </p:nvSpPr>
        <p:spPr>
          <a:xfrm>
            <a:off x="548640" y="1572768"/>
            <a:ext cx="2743200" cy="274320"/>
          </a:xfrm>
          <a:prstGeom prst="rect">
            <a:avLst/>
          </a:prstGeom>
          <a:noFill/>
        </p:spPr>
        <p:txBody>
          <a:bodyPr wrap="square" lIns="0" rIns="0" tIns="0" bIns="0" anchor="t">
            <a:spAutoFit/>
          </a:bodyPr>
          <a:lstStyle/>
          <a:p>
            <a:pPr algn="l"/>
            <a:r>
              <a:rPr sz="1100" b="1" spc="90">
                <a:solidFill>
                  <a:srgbClr val="66686A"/>
                </a:solidFill>
                <a:latin typeface="Source Sans 3"/>
              </a:rPr>
              <a:t>WHO YOU ARE</a:t>
            </a:r>
          </a:p>
        </p:txBody>
      </p:sp>
      <p:sp>
        <p:nvSpPr>
          <p:cNvPr id="9" name="eyebrow"/>
          <p:cNvSpPr txBox="1"/>
          <p:nvPr/>
        </p:nvSpPr>
        <p:spPr>
          <a:xfrm>
            <a:off x="3566160" y="1572768"/>
            <a:ext cx="2743200" cy="274320"/>
          </a:xfrm>
          <a:prstGeom prst="rect">
            <a:avLst/>
          </a:prstGeom>
          <a:noFill/>
        </p:spPr>
        <p:txBody>
          <a:bodyPr wrap="square" lIns="0" rIns="0" tIns="0" bIns="0" anchor="t">
            <a:spAutoFit/>
          </a:bodyPr>
          <a:lstStyle/>
          <a:p>
            <a:pPr algn="l"/>
            <a:r>
              <a:rPr sz="1100" b="1" spc="90">
                <a:solidFill>
                  <a:srgbClr val="66686A"/>
                </a:solidFill>
                <a:latin typeface="Source Sans 3"/>
              </a:rPr>
              <a:t>YOUR DOOR</a:t>
            </a:r>
          </a:p>
        </p:txBody>
      </p:sp>
      <p:sp>
        <p:nvSpPr>
          <p:cNvPr id="10" name="eyebrow"/>
          <p:cNvSpPr txBox="1"/>
          <p:nvPr/>
        </p:nvSpPr>
        <p:spPr>
          <a:xfrm>
            <a:off x="6583680" y="1572768"/>
            <a:ext cx="2377440" cy="274320"/>
          </a:xfrm>
          <a:prstGeom prst="rect">
            <a:avLst/>
          </a:prstGeom>
          <a:noFill/>
        </p:spPr>
        <p:txBody>
          <a:bodyPr wrap="square" lIns="0" rIns="0" tIns="0" bIns="0" anchor="t">
            <a:spAutoFit/>
          </a:bodyPr>
          <a:lstStyle/>
          <a:p>
            <a:pPr algn="l"/>
            <a:r>
              <a:rPr sz="1100" b="1" spc="90">
                <a:solidFill>
                  <a:srgbClr val="66686A"/>
                </a:solidFill>
                <a:latin typeface="Source Sans 3"/>
              </a:rPr>
              <a:t>ONE DATABASE</a:t>
            </a:r>
          </a:p>
        </p:txBody>
      </p:sp>
      <p:sp>
        <p:nvSpPr>
          <p:cNvPr id="11" name="eyebrow"/>
          <p:cNvSpPr txBox="1"/>
          <p:nvPr/>
        </p:nvSpPr>
        <p:spPr>
          <a:xfrm>
            <a:off x="9235440" y="1572768"/>
            <a:ext cx="2404872" cy="274320"/>
          </a:xfrm>
          <a:prstGeom prst="rect">
            <a:avLst/>
          </a:prstGeom>
          <a:noFill/>
        </p:spPr>
        <p:txBody>
          <a:bodyPr wrap="square" lIns="0" rIns="0" tIns="0" bIns="0" anchor="t">
            <a:spAutoFit/>
          </a:bodyPr>
          <a:lstStyle/>
          <a:p>
            <a:pPr algn="l"/>
            <a:r>
              <a:rPr sz="1100" b="1" spc="90">
                <a:solidFill>
                  <a:srgbClr val="66686A"/>
                </a:solidFill>
                <a:latin typeface="Source Sans 3"/>
              </a:rPr>
              <a:t>THE PORTALS</a:t>
            </a:r>
          </a:p>
        </p:txBody>
      </p:sp>
      <p:sp>
        <p:nvSpPr>
          <p:cNvPr id="12" name="new-column marker"/>
          <p:cNvSpPr/>
          <p:nvPr/>
        </p:nvSpPr>
        <p:spPr>
          <a:xfrm>
            <a:off x="9235440" y="1847088"/>
            <a:ext cx="640080" cy="45720"/>
          </a:xfrm>
          <a:prstGeom prst="rect">
            <a:avLst/>
          </a:prstGeom>
          <a:solidFill>
            <a:srgbClr val="FFCD00"/>
          </a:solidFill>
          <a:ln>
            <a:noFill/>
          </a:ln>
          <a:effectLst/>
        </p:spPr>
        <p:txBody>
          <a:bodyPr rtlCol="0" anchor="ctr"/>
          <a:lstStyle/>
          <a:p>
            <a:pPr algn="ctr"/>
          </a:p>
        </p:txBody>
      </p:sp>
      <p:sp>
        <p:nvSpPr>
          <p:cNvPr id="13" name="who tile"/>
          <p:cNvSpPr/>
          <p:nvPr/>
        </p:nvSpPr>
        <p:spPr>
          <a:xfrm>
            <a:off x="548640" y="1965960"/>
            <a:ext cx="2743200" cy="548640"/>
          </a:xfrm>
          <a:prstGeom prst="roundRect">
            <a:avLst>
              <a:gd name="adj" fmla="val 13333"/>
            </a:avLst>
          </a:prstGeom>
          <a:solidFill>
            <a:srgbClr val="F5F0E6"/>
          </a:solidFill>
          <a:ln>
            <a:noFill/>
          </a:ln>
          <a:effectLst/>
        </p:spPr>
        <p:txBody>
          <a:bodyPr rtlCol="0" anchor="ctr"/>
          <a:lstStyle/>
          <a:p>
            <a:pPr algn="ctr"/>
          </a:p>
        </p:txBody>
      </p:sp>
      <p:sp>
        <p:nvSpPr>
          <p:cNvPr id="14" name="who"/>
          <p:cNvSpPr txBox="1"/>
          <p:nvPr/>
        </p:nvSpPr>
        <p:spPr>
          <a:xfrm>
            <a:off x="685800" y="196596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Curious about the ocean off California, or a scientist</a:t>
            </a:r>
          </a:p>
        </p:txBody>
      </p:sp>
      <p:sp>
        <p:nvSpPr>
          <p:cNvPr id="15" name="who tile"/>
          <p:cNvSpPr/>
          <p:nvPr/>
        </p:nvSpPr>
        <p:spPr>
          <a:xfrm>
            <a:off x="548640" y="2606039"/>
            <a:ext cx="2743200" cy="548640"/>
          </a:xfrm>
          <a:prstGeom prst="roundRect">
            <a:avLst>
              <a:gd name="adj" fmla="val 13333"/>
            </a:avLst>
          </a:prstGeom>
          <a:solidFill>
            <a:srgbClr val="F5F0E6"/>
          </a:solidFill>
          <a:ln>
            <a:noFill/>
          </a:ln>
          <a:effectLst/>
        </p:spPr>
        <p:txBody>
          <a:bodyPr rtlCol="0" anchor="ctr"/>
          <a:lstStyle/>
          <a:p>
            <a:pPr algn="ctr"/>
          </a:p>
        </p:txBody>
      </p:sp>
      <p:sp>
        <p:nvSpPr>
          <p:cNvPr id="16" name="who"/>
          <p:cNvSpPr txBox="1"/>
          <p:nvPr/>
        </p:nvSpPr>
        <p:spPr>
          <a:xfrm>
            <a:off x="685800" y="2606039"/>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A data scientist writing queries</a:t>
            </a:r>
          </a:p>
        </p:txBody>
      </p:sp>
      <p:sp>
        <p:nvSpPr>
          <p:cNvPr id="17" name="who tile"/>
          <p:cNvSpPr/>
          <p:nvPr/>
        </p:nvSpPr>
        <p:spPr>
          <a:xfrm>
            <a:off x="548640" y="3246120"/>
            <a:ext cx="2743200" cy="548640"/>
          </a:xfrm>
          <a:prstGeom prst="roundRect">
            <a:avLst>
              <a:gd name="adj" fmla="val 13333"/>
            </a:avLst>
          </a:prstGeom>
          <a:solidFill>
            <a:srgbClr val="F5F0E6"/>
          </a:solidFill>
          <a:ln>
            <a:noFill/>
          </a:ln>
          <a:effectLst/>
        </p:spPr>
        <p:txBody>
          <a:bodyPr rtlCol="0" anchor="ctr"/>
          <a:lstStyle/>
          <a:p>
            <a:pPr algn="ctr"/>
          </a:p>
        </p:txBody>
      </p:sp>
      <p:sp>
        <p:nvSpPr>
          <p:cNvPr id="18" name="who"/>
          <p:cNvSpPr txBox="1"/>
          <p:nvPr/>
        </p:nvSpPr>
        <p:spPr>
          <a:xfrm>
            <a:off x="685800" y="324612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A data provider, now or in future</a:t>
            </a:r>
          </a:p>
        </p:txBody>
      </p:sp>
      <p:sp>
        <p:nvSpPr>
          <p:cNvPr id="19" name="who tile"/>
          <p:cNvSpPr/>
          <p:nvPr/>
        </p:nvSpPr>
        <p:spPr>
          <a:xfrm>
            <a:off x="548640" y="3886200"/>
            <a:ext cx="2743200" cy="548640"/>
          </a:xfrm>
          <a:prstGeom prst="roundRect">
            <a:avLst>
              <a:gd name="adj" fmla="val 13333"/>
            </a:avLst>
          </a:prstGeom>
          <a:solidFill>
            <a:srgbClr val="F5F0E6"/>
          </a:solidFill>
          <a:ln>
            <a:noFill/>
          </a:ln>
          <a:effectLst/>
        </p:spPr>
        <p:txBody>
          <a:bodyPr rtlCol="0" anchor="ctr"/>
          <a:lstStyle/>
          <a:p>
            <a:pPr algn="ctr"/>
          </a:p>
        </p:txBody>
      </p:sp>
      <p:sp>
        <p:nvSpPr>
          <p:cNvPr id="20" name="who"/>
          <p:cNvSpPr txBox="1"/>
          <p:nvPr/>
        </p:nvSpPr>
        <p:spPr>
          <a:xfrm>
            <a:off x="685800" y="388620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On the CTD team</a:t>
            </a:r>
          </a:p>
        </p:txBody>
      </p:sp>
      <p:sp>
        <p:nvSpPr>
          <p:cNvPr id="21" name="who tile"/>
          <p:cNvSpPr/>
          <p:nvPr/>
        </p:nvSpPr>
        <p:spPr>
          <a:xfrm>
            <a:off x="548640" y="4526279"/>
            <a:ext cx="2743200" cy="548640"/>
          </a:xfrm>
          <a:prstGeom prst="roundRect">
            <a:avLst>
              <a:gd name="adj" fmla="val 13333"/>
            </a:avLst>
          </a:prstGeom>
          <a:solidFill>
            <a:srgbClr val="F5F0E6"/>
          </a:solidFill>
          <a:ln>
            <a:noFill/>
          </a:ln>
          <a:effectLst/>
        </p:spPr>
        <p:txBody>
          <a:bodyPr rtlCol="0" anchor="ctr"/>
          <a:lstStyle/>
          <a:p>
            <a:pPr algn="ctr"/>
          </a:p>
        </p:txBody>
      </p:sp>
      <p:sp>
        <p:nvSpPr>
          <p:cNvPr id="22" name="who"/>
          <p:cNvSpPr txBox="1"/>
          <p:nvPr/>
        </p:nvSpPr>
        <p:spPr>
          <a:xfrm>
            <a:off x="685800" y="4526279"/>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On the data team, or building a CalCOFI product</a:t>
            </a:r>
          </a:p>
        </p:txBody>
      </p:sp>
      <p:sp>
        <p:nvSpPr>
          <p:cNvPr id="23" name="who tile"/>
          <p:cNvSpPr/>
          <p:nvPr/>
        </p:nvSpPr>
        <p:spPr>
          <a:xfrm>
            <a:off x="548640" y="5166360"/>
            <a:ext cx="2743200" cy="548640"/>
          </a:xfrm>
          <a:prstGeom prst="roundRect">
            <a:avLst>
              <a:gd name="adj" fmla="val 13333"/>
            </a:avLst>
          </a:prstGeom>
          <a:solidFill>
            <a:srgbClr val="F5F0E6"/>
          </a:solidFill>
          <a:ln>
            <a:noFill/>
          </a:ln>
          <a:effectLst/>
        </p:spPr>
        <p:txBody>
          <a:bodyPr rtlCol="0" anchor="ctr"/>
          <a:lstStyle/>
          <a:p>
            <a:pPr algn="ctr"/>
          </a:p>
        </p:txBody>
      </p:sp>
      <p:sp>
        <p:nvSpPr>
          <p:cNvPr id="24" name="who"/>
          <p:cNvSpPr txBox="1"/>
          <p:nvPr/>
        </p:nvSpPr>
        <p:spPr>
          <a:xfrm>
            <a:off x="685800" y="5166360"/>
            <a:ext cx="2468880" cy="548640"/>
          </a:xfrm>
          <a:prstGeom prst="rect">
            <a:avLst/>
          </a:prstGeom>
          <a:noFill/>
        </p:spPr>
        <p:txBody>
          <a:bodyPr wrap="square" lIns="0" rIns="0" tIns="0" bIns="0" anchor="ctr">
            <a:spAutoFit/>
          </a:bodyPr>
          <a:lstStyle/>
          <a:p>
            <a:pPr algn="l">
              <a:lnSpc>
                <a:spcPct val="105000"/>
              </a:lnSpc>
            </a:pPr>
            <a:r>
              <a:rPr sz="1300" b="0">
                <a:solidFill>
                  <a:srgbClr val="182B49"/>
                </a:solidFill>
                <a:latin typeface="Source Sans 3"/>
              </a:rPr>
              <a:t>Reporting on the program</a:t>
            </a:r>
          </a:p>
        </p:txBody>
      </p:sp>
      <p:sp>
        <p:nvSpPr>
          <p:cNvPr id="25" name="arrow"/>
          <p:cNvSpPr/>
          <p:nvPr/>
        </p:nvSpPr>
        <p:spPr>
          <a:xfrm>
            <a:off x="3328415" y="2148840"/>
            <a:ext cx="201168" cy="182880"/>
          </a:xfrm>
          <a:prstGeom prst="rightArrow">
            <a:avLst/>
          </a:prstGeom>
          <a:solidFill>
            <a:srgbClr val="B6B1A9"/>
          </a:solidFill>
          <a:ln>
            <a:noFill/>
          </a:ln>
          <a:effectLst/>
        </p:spPr>
        <p:txBody>
          <a:bodyPr rtlCol="0" anchor="ctr"/>
          <a:lstStyle/>
          <a:p>
            <a:pPr algn="ctr"/>
          </a:p>
        </p:txBody>
      </p:sp>
      <p:sp>
        <p:nvSpPr>
          <p:cNvPr id="26" name="door tile"/>
          <p:cNvSpPr/>
          <p:nvPr/>
        </p:nvSpPr>
        <p:spPr>
          <a:xfrm>
            <a:off x="3566160" y="196596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27" name="door"/>
          <p:cNvSpPr txBox="1"/>
          <p:nvPr/>
        </p:nvSpPr>
        <p:spPr>
          <a:xfrm>
            <a:off x="3703320" y="196596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Explore</a:t>
            </a:r>
          </a:p>
          <a:p>
            <a:pPr algn="l">
              <a:lnSpc>
                <a:spcPct val="100000"/>
              </a:lnSpc>
            </a:pPr>
            <a:r>
              <a:rPr sz="1100" b="0">
                <a:solidFill>
                  <a:srgbClr val="66686A"/>
                </a:solidFill>
                <a:latin typeface="Source Sans 3"/>
              </a:rPr>
              <a:t>see the data on a map, in a browser</a:t>
            </a:r>
          </a:p>
        </p:txBody>
      </p:sp>
      <p:sp>
        <p:nvSpPr>
          <p:cNvPr id="28" name="arrow"/>
          <p:cNvSpPr/>
          <p:nvPr/>
        </p:nvSpPr>
        <p:spPr>
          <a:xfrm>
            <a:off x="3328415" y="2788920"/>
            <a:ext cx="201168" cy="182880"/>
          </a:xfrm>
          <a:prstGeom prst="rightArrow">
            <a:avLst/>
          </a:prstGeom>
          <a:solidFill>
            <a:srgbClr val="B6B1A9"/>
          </a:solidFill>
          <a:ln>
            <a:noFill/>
          </a:ln>
          <a:effectLst/>
        </p:spPr>
        <p:txBody>
          <a:bodyPr rtlCol="0" anchor="ctr"/>
          <a:lstStyle/>
          <a:p>
            <a:pPr algn="ctr"/>
          </a:p>
        </p:txBody>
      </p:sp>
      <p:sp>
        <p:nvSpPr>
          <p:cNvPr id="29" name="door tile"/>
          <p:cNvSpPr/>
          <p:nvPr/>
        </p:nvSpPr>
        <p:spPr>
          <a:xfrm>
            <a:off x="3566160" y="2606039"/>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0" name="door"/>
          <p:cNvSpPr txBox="1"/>
          <p:nvPr/>
        </p:nvSpPr>
        <p:spPr>
          <a:xfrm>
            <a:off x="3703320" y="2606039"/>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Access the data</a:t>
            </a:r>
          </a:p>
          <a:p>
            <a:pPr algn="l">
              <a:lnSpc>
                <a:spcPct val="100000"/>
              </a:lnSpc>
            </a:pPr>
            <a:r>
              <a:rPr sz="1100" b="0">
                <a:solidFill>
                  <a:srgbClr val="66686A"/>
                </a:solidFill>
                <a:latin typeface="Source Sans 3"/>
              </a:rPr>
              <a:t>R, Python and open files</a:t>
            </a:r>
          </a:p>
        </p:txBody>
      </p:sp>
      <p:sp>
        <p:nvSpPr>
          <p:cNvPr id="31" name="arrow"/>
          <p:cNvSpPr/>
          <p:nvPr/>
        </p:nvSpPr>
        <p:spPr>
          <a:xfrm>
            <a:off x="3328415" y="3429000"/>
            <a:ext cx="201168" cy="182880"/>
          </a:xfrm>
          <a:prstGeom prst="rightArrow">
            <a:avLst/>
          </a:prstGeom>
          <a:solidFill>
            <a:srgbClr val="B6B1A9"/>
          </a:solidFill>
          <a:ln>
            <a:noFill/>
          </a:ln>
          <a:effectLst/>
        </p:spPr>
        <p:txBody>
          <a:bodyPr rtlCol="0" anchor="ctr"/>
          <a:lstStyle/>
          <a:p>
            <a:pPr algn="ctr"/>
          </a:p>
        </p:txBody>
      </p:sp>
      <p:sp>
        <p:nvSpPr>
          <p:cNvPr id="32" name="door tile"/>
          <p:cNvSpPr/>
          <p:nvPr/>
        </p:nvSpPr>
        <p:spPr>
          <a:xfrm>
            <a:off x="3566160" y="324612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3" name="door"/>
          <p:cNvSpPr txBox="1"/>
          <p:nvPr/>
        </p:nvSpPr>
        <p:spPr>
          <a:xfrm>
            <a:off x="3703320" y="324612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Providing data to CalCOFI</a:t>
            </a:r>
          </a:p>
          <a:p>
            <a:pPr algn="l">
              <a:lnSpc>
                <a:spcPct val="100000"/>
              </a:lnSpc>
            </a:pPr>
            <a:r>
              <a:rPr sz="1100" b="0">
                <a:solidFill>
                  <a:srgbClr val="66686A"/>
                </a:solidFill>
                <a:latin typeface="Source Sans 3"/>
              </a:rPr>
              <a:t>send us your data, step by step</a:t>
            </a:r>
          </a:p>
        </p:txBody>
      </p:sp>
      <p:sp>
        <p:nvSpPr>
          <p:cNvPr id="34" name="arrow"/>
          <p:cNvSpPr/>
          <p:nvPr/>
        </p:nvSpPr>
        <p:spPr>
          <a:xfrm>
            <a:off x="3328415" y="4069080"/>
            <a:ext cx="201168" cy="182880"/>
          </a:xfrm>
          <a:prstGeom prst="rightArrow">
            <a:avLst/>
          </a:prstGeom>
          <a:solidFill>
            <a:srgbClr val="B6B1A9"/>
          </a:solidFill>
          <a:ln>
            <a:noFill/>
          </a:ln>
          <a:effectLst/>
        </p:spPr>
        <p:txBody>
          <a:bodyPr rtlCol="0" anchor="ctr"/>
          <a:lstStyle/>
          <a:p>
            <a:pPr algn="ctr"/>
          </a:p>
        </p:txBody>
      </p:sp>
      <p:sp>
        <p:nvSpPr>
          <p:cNvPr id="35" name="door tile"/>
          <p:cNvSpPr/>
          <p:nvPr/>
        </p:nvSpPr>
        <p:spPr>
          <a:xfrm>
            <a:off x="3566160" y="388620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6" name="door"/>
          <p:cNvSpPr txBox="1"/>
          <p:nvPr/>
        </p:nvSpPr>
        <p:spPr>
          <a:xfrm>
            <a:off x="3703320" y="388620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CTD QA/QC, start to release</a:t>
            </a:r>
          </a:p>
          <a:p>
            <a:pPr algn="l">
              <a:lnSpc>
                <a:spcPct val="100000"/>
              </a:lnSpc>
            </a:pPr>
            <a:r>
              <a:rPr sz="1100" b="0">
                <a:solidFill>
                  <a:srgbClr val="66686A"/>
                </a:solidFill>
                <a:latin typeface="Source Sans 3"/>
              </a:rPr>
              <a:t>quality control, cast to release</a:t>
            </a:r>
          </a:p>
        </p:txBody>
      </p:sp>
      <p:sp>
        <p:nvSpPr>
          <p:cNvPr id="37" name="arrow"/>
          <p:cNvSpPr/>
          <p:nvPr/>
        </p:nvSpPr>
        <p:spPr>
          <a:xfrm>
            <a:off x="3328415" y="4709159"/>
            <a:ext cx="201168" cy="182880"/>
          </a:xfrm>
          <a:prstGeom prst="rightArrow">
            <a:avLst/>
          </a:prstGeom>
          <a:solidFill>
            <a:srgbClr val="B6B1A9"/>
          </a:solidFill>
          <a:ln>
            <a:noFill/>
          </a:ln>
          <a:effectLst/>
        </p:spPr>
        <p:txBody>
          <a:bodyPr rtlCol="0" anchor="ctr"/>
          <a:lstStyle/>
          <a:p>
            <a:pPr algn="ctr"/>
          </a:p>
        </p:txBody>
      </p:sp>
      <p:sp>
        <p:nvSpPr>
          <p:cNvPr id="38" name="door tile"/>
          <p:cNvSpPr/>
          <p:nvPr/>
        </p:nvSpPr>
        <p:spPr>
          <a:xfrm>
            <a:off x="3566160" y="4526279"/>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39" name="door"/>
          <p:cNvSpPr txBox="1"/>
          <p:nvPr/>
        </p:nvSpPr>
        <p:spPr>
          <a:xfrm>
            <a:off x="3703320" y="4526279"/>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Ingesting a dataset</a:t>
            </a:r>
          </a:p>
          <a:p>
            <a:pPr algn="l">
              <a:lnSpc>
                <a:spcPct val="100000"/>
              </a:lnSpc>
            </a:pPr>
            <a:r>
              <a:rPr sz="1100" b="0">
                <a:solidFill>
                  <a:srgbClr val="66686A"/>
                </a:solidFill>
                <a:latin typeface="Source Sans 3"/>
              </a:rPr>
              <a:t>add a dataset, build an app</a:t>
            </a:r>
          </a:p>
        </p:txBody>
      </p:sp>
      <p:sp>
        <p:nvSpPr>
          <p:cNvPr id="40" name="arrow"/>
          <p:cNvSpPr/>
          <p:nvPr/>
        </p:nvSpPr>
        <p:spPr>
          <a:xfrm>
            <a:off x="3328415" y="5349240"/>
            <a:ext cx="201168" cy="182880"/>
          </a:xfrm>
          <a:prstGeom prst="rightArrow">
            <a:avLst/>
          </a:prstGeom>
          <a:solidFill>
            <a:srgbClr val="B6B1A9"/>
          </a:solidFill>
          <a:ln>
            <a:noFill/>
          </a:ln>
          <a:effectLst/>
        </p:spPr>
        <p:txBody>
          <a:bodyPr rtlCol="0" anchor="ctr"/>
          <a:lstStyle/>
          <a:p>
            <a:pPr algn="ctr"/>
          </a:p>
        </p:txBody>
      </p:sp>
      <p:sp>
        <p:nvSpPr>
          <p:cNvPr id="41" name="door tile"/>
          <p:cNvSpPr/>
          <p:nvPr/>
        </p:nvSpPr>
        <p:spPr>
          <a:xfrm>
            <a:off x="3566160" y="5166360"/>
            <a:ext cx="2743200" cy="548640"/>
          </a:xfrm>
          <a:prstGeom prst="roundRect">
            <a:avLst>
              <a:gd name="adj" fmla="val 13333"/>
            </a:avLst>
          </a:prstGeom>
          <a:solidFill>
            <a:srgbClr val="FFFFFF"/>
          </a:solidFill>
          <a:ln w="12700">
            <a:solidFill>
              <a:srgbClr val="DDDDDD"/>
            </a:solidFill>
          </a:ln>
          <a:effectLst/>
        </p:spPr>
        <p:txBody>
          <a:bodyPr rtlCol="0" anchor="ctr"/>
          <a:lstStyle/>
          <a:p>
            <a:pPr algn="ctr"/>
          </a:p>
        </p:txBody>
      </p:sp>
      <p:sp>
        <p:nvSpPr>
          <p:cNvPr id="42" name="door"/>
          <p:cNvSpPr txBox="1"/>
          <p:nvPr/>
        </p:nvSpPr>
        <p:spPr>
          <a:xfrm>
            <a:off x="3703320" y="5166360"/>
            <a:ext cx="2468880" cy="548640"/>
          </a:xfrm>
          <a:prstGeom prst="rect">
            <a:avLst/>
          </a:prstGeom>
          <a:noFill/>
        </p:spPr>
        <p:txBody>
          <a:bodyPr wrap="square" lIns="0" rIns="0" tIns="0" bIns="0" anchor="ctr">
            <a:spAutoFit/>
          </a:bodyPr>
          <a:lstStyle/>
          <a:p>
            <a:pPr algn="l">
              <a:lnSpc>
                <a:spcPct val="100000"/>
              </a:lnSpc>
            </a:pPr>
            <a:r>
              <a:rPr sz="1300" b="1">
                <a:solidFill>
                  <a:srgbClr val="00629B"/>
                </a:solidFill>
                <a:latin typeface="Source Sans 3"/>
              </a:rPr>
              <a:t>The data management plan</a:t>
            </a:r>
          </a:p>
          <a:p>
            <a:pPr algn="l">
              <a:lnSpc>
                <a:spcPct val="100000"/>
              </a:lnSpc>
            </a:pPr>
            <a:r>
              <a:rPr sz="1100" b="0">
                <a:solidFill>
                  <a:srgbClr val="66686A"/>
                </a:solidFill>
                <a:latin typeface="Source Sans 3"/>
              </a:rPr>
              <a:t>the plan and its status</a:t>
            </a:r>
          </a:p>
        </p:txBody>
      </p:sp>
      <p:sp>
        <p:nvSpPr>
          <p:cNvPr id="43" name="arrow"/>
          <p:cNvSpPr/>
          <p:nvPr/>
        </p:nvSpPr>
        <p:spPr>
          <a:xfrm>
            <a:off x="6345936" y="2148840"/>
            <a:ext cx="201168" cy="182880"/>
          </a:xfrm>
          <a:prstGeom prst="rightArrow">
            <a:avLst/>
          </a:prstGeom>
          <a:solidFill>
            <a:srgbClr val="B6B1A9"/>
          </a:solidFill>
          <a:ln>
            <a:noFill/>
          </a:ln>
          <a:effectLst/>
        </p:spPr>
        <p:txBody>
          <a:bodyPr rtlCol="0" anchor="ctr"/>
          <a:lstStyle/>
          <a:p>
            <a:pPr algn="ctr"/>
          </a:p>
        </p:txBody>
      </p:sp>
      <p:sp>
        <p:nvSpPr>
          <p:cNvPr id="44" name="arrow"/>
          <p:cNvSpPr/>
          <p:nvPr/>
        </p:nvSpPr>
        <p:spPr>
          <a:xfrm>
            <a:off x="6345936" y="2788920"/>
            <a:ext cx="201168" cy="182880"/>
          </a:xfrm>
          <a:prstGeom prst="rightArrow">
            <a:avLst/>
          </a:prstGeom>
          <a:solidFill>
            <a:srgbClr val="B6B1A9"/>
          </a:solidFill>
          <a:ln>
            <a:noFill/>
          </a:ln>
          <a:effectLst/>
        </p:spPr>
        <p:txBody>
          <a:bodyPr rtlCol="0" anchor="ctr"/>
          <a:lstStyle/>
          <a:p>
            <a:pPr algn="ctr"/>
          </a:p>
        </p:txBody>
      </p:sp>
      <p:sp>
        <p:nvSpPr>
          <p:cNvPr id="45" name="arrow"/>
          <p:cNvSpPr/>
          <p:nvPr/>
        </p:nvSpPr>
        <p:spPr>
          <a:xfrm>
            <a:off x="6345936" y="3429000"/>
            <a:ext cx="201168" cy="182880"/>
          </a:xfrm>
          <a:prstGeom prst="rightArrow">
            <a:avLst/>
          </a:prstGeom>
          <a:solidFill>
            <a:srgbClr val="B6B1A9"/>
          </a:solidFill>
          <a:ln>
            <a:noFill/>
          </a:ln>
          <a:effectLst/>
        </p:spPr>
        <p:txBody>
          <a:bodyPr rtlCol="0" anchor="ctr"/>
          <a:lstStyle/>
          <a:p>
            <a:pPr algn="ctr"/>
          </a:p>
        </p:txBody>
      </p:sp>
      <p:sp>
        <p:nvSpPr>
          <p:cNvPr id="46" name="arrow"/>
          <p:cNvSpPr/>
          <p:nvPr/>
        </p:nvSpPr>
        <p:spPr>
          <a:xfrm>
            <a:off x="6345936" y="4069080"/>
            <a:ext cx="201168" cy="182880"/>
          </a:xfrm>
          <a:prstGeom prst="rightArrow">
            <a:avLst/>
          </a:prstGeom>
          <a:solidFill>
            <a:srgbClr val="B6B1A9"/>
          </a:solidFill>
          <a:ln>
            <a:noFill/>
          </a:ln>
          <a:effectLst/>
        </p:spPr>
        <p:txBody>
          <a:bodyPr rtlCol="0" anchor="ctr"/>
          <a:lstStyle/>
          <a:p>
            <a:pPr algn="ctr"/>
          </a:p>
        </p:txBody>
      </p:sp>
      <p:sp>
        <p:nvSpPr>
          <p:cNvPr id="47" name="arrow"/>
          <p:cNvSpPr/>
          <p:nvPr/>
        </p:nvSpPr>
        <p:spPr>
          <a:xfrm>
            <a:off x="6345936" y="4709159"/>
            <a:ext cx="201168" cy="182880"/>
          </a:xfrm>
          <a:prstGeom prst="rightArrow">
            <a:avLst/>
          </a:prstGeom>
          <a:solidFill>
            <a:srgbClr val="B6B1A9"/>
          </a:solidFill>
          <a:ln>
            <a:noFill/>
          </a:ln>
          <a:effectLst/>
        </p:spPr>
        <p:txBody>
          <a:bodyPr rtlCol="0" anchor="ctr"/>
          <a:lstStyle/>
          <a:p>
            <a:pPr algn="ctr"/>
          </a:p>
        </p:txBody>
      </p:sp>
      <p:sp>
        <p:nvSpPr>
          <p:cNvPr id="48" name="arrow"/>
          <p:cNvSpPr/>
          <p:nvPr/>
        </p:nvSpPr>
        <p:spPr>
          <a:xfrm>
            <a:off x="6345936" y="5349240"/>
            <a:ext cx="201168" cy="182880"/>
          </a:xfrm>
          <a:prstGeom prst="rightArrow">
            <a:avLst/>
          </a:prstGeom>
          <a:solidFill>
            <a:srgbClr val="B6B1A9"/>
          </a:solidFill>
          <a:ln>
            <a:noFill/>
          </a:ln>
          <a:effectLst/>
        </p:spPr>
        <p:txBody>
          <a:bodyPr rtlCol="0" anchor="ctr"/>
          <a:lstStyle/>
          <a:p>
            <a:pPr algn="ctr"/>
          </a:p>
        </p:txBody>
      </p:sp>
      <p:sp>
        <p:nvSpPr>
          <p:cNvPr id="49" name="database block"/>
          <p:cNvSpPr/>
          <p:nvPr/>
        </p:nvSpPr>
        <p:spPr>
          <a:xfrm>
            <a:off x="6583680" y="1965960"/>
            <a:ext cx="2377440" cy="3749039"/>
          </a:xfrm>
          <a:prstGeom prst="roundRect">
            <a:avLst>
              <a:gd name="adj" fmla="val 4615"/>
            </a:avLst>
          </a:prstGeom>
          <a:solidFill>
            <a:srgbClr val="182B49"/>
          </a:solidFill>
          <a:ln>
            <a:noFill/>
          </a:ln>
          <a:effectLst/>
        </p:spPr>
        <p:txBody>
          <a:bodyPr rtlCol="0" anchor="ctr"/>
          <a:lstStyle/>
          <a:p>
            <a:pPr algn="ctr"/>
          </a:p>
        </p:txBody>
      </p:sp>
      <p:sp>
        <p:nvSpPr>
          <p:cNvPr id="50" name="one database"/>
          <p:cNvSpPr txBox="1"/>
          <p:nvPr/>
        </p:nvSpPr>
        <p:spPr>
          <a:xfrm>
            <a:off x="6766560" y="2148840"/>
            <a:ext cx="2011680" cy="1005840"/>
          </a:xfrm>
          <a:prstGeom prst="rect">
            <a:avLst/>
          </a:prstGeom>
          <a:noFill/>
        </p:spPr>
        <p:txBody>
          <a:bodyPr wrap="square" lIns="0" rIns="0" tIns="0" bIns="0" anchor="t">
            <a:spAutoFit/>
          </a:bodyPr>
          <a:lstStyle/>
          <a:p>
            <a:pPr algn="l">
              <a:lnSpc>
                <a:spcPct val="85000"/>
              </a:lnSpc>
            </a:pPr>
            <a:r>
              <a:rPr sz="3000" b="0" cap="all">
                <a:solidFill>
                  <a:srgbClr val="FFFFFF"/>
                </a:solidFill>
                <a:latin typeface="Teko"/>
              </a:rPr>
              <a:t>ONE</a:t>
            </a:r>
          </a:p>
          <a:p>
            <a:pPr algn="l">
              <a:lnSpc>
                <a:spcPct val="85000"/>
              </a:lnSpc>
            </a:pPr>
            <a:r>
              <a:rPr sz="3000" b="0" cap="all">
                <a:solidFill>
                  <a:srgbClr val="FFFFFF"/>
                </a:solidFill>
                <a:latin typeface="Teko"/>
              </a:rPr>
              <a:t>DATABASE</a:t>
            </a:r>
          </a:p>
        </p:txBody>
      </p:sp>
      <p:sp>
        <p:nvSpPr>
          <p:cNvPr id="51" name="database facts"/>
          <p:cNvSpPr txBox="1"/>
          <p:nvPr/>
        </p:nvSpPr>
        <p:spPr>
          <a:xfrm>
            <a:off x="6766560" y="3291840"/>
            <a:ext cx="2011680" cy="2377440"/>
          </a:xfrm>
          <a:prstGeom prst="rect">
            <a:avLst/>
          </a:prstGeom>
          <a:noFill/>
        </p:spPr>
        <p:txBody>
          <a:bodyPr wrap="square" lIns="0" rIns="0" tIns="0" bIns="0" anchor="t">
            <a:spAutoFit/>
          </a:bodyPr>
          <a:lstStyle/>
          <a:p>
            <a:pPr algn="l">
              <a:lnSpc>
                <a:spcPct val="110000"/>
              </a:lnSpc>
              <a:spcAft>
                <a:spcPts val="600"/>
              </a:spcAft>
            </a:pPr>
            <a:r>
              <a:rPr sz="1800" b="1">
                <a:solidFill>
                  <a:srgbClr val="FFFFFF"/>
                </a:solidFill>
                <a:latin typeface="Source Sans 3"/>
              </a:rPr>
              <a:t>17 datasets</a:t>
            </a:r>
          </a:p>
          <a:p>
            <a:pPr algn="l">
              <a:lnSpc>
                <a:spcPct val="110000"/>
              </a:lnSpc>
              <a:spcAft>
                <a:spcPts val="600"/>
              </a:spcAft>
            </a:pPr>
            <a:r>
              <a:rPr sz="1800" b="1">
                <a:solidFill>
                  <a:srgbClr val="FFFFFF"/>
                </a:solidFill>
                <a:latin typeface="Source Sans 3"/>
              </a:rPr>
              <a:t>77 years</a:t>
            </a:r>
          </a:p>
          <a:p>
            <a:pPr algn="l">
              <a:lnSpc>
                <a:spcPct val="110000"/>
              </a:lnSpc>
              <a:spcAft>
                <a:spcPts val="600"/>
              </a:spcAft>
            </a:pPr>
            <a:r>
              <a:rPr sz="1250" b="0">
                <a:solidFill>
                  <a:srgbClr val="FFFFFF"/>
                </a:solidFill>
                <a:latin typeface="Source Sans 3"/>
              </a:rPr>
              <a:t>One record per dataset, frozen, fingerprinted and citable with a DOI.</a:t>
            </a:r>
          </a:p>
          <a:p>
            <a:pPr algn="l">
              <a:lnSpc>
                <a:spcPct val="110000"/>
              </a:lnSpc>
              <a:spcAft>
                <a:spcPts val="600"/>
              </a:spcAft>
            </a:pPr>
            <a:r>
              <a:rPr sz="1200" b="0">
                <a:solidFill>
                  <a:srgbClr val="B9C6DA"/>
                </a:solidFill>
                <a:latin typeface="Source Sans 3"/>
              </a:rPr>
              <a:t>Release v2026.10.01</a:t>
            </a:r>
          </a:p>
        </p:txBody>
      </p:sp>
      <p:sp>
        <p:nvSpPr>
          <p:cNvPr id="52" name="arrow"/>
          <p:cNvSpPr/>
          <p:nvPr/>
        </p:nvSpPr>
        <p:spPr>
          <a:xfrm>
            <a:off x="8997696" y="2212848"/>
            <a:ext cx="201168" cy="182880"/>
          </a:xfrm>
          <a:prstGeom prst="rightArrow">
            <a:avLst/>
          </a:prstGeom>
          <a:solidFill>
            <a:srgbClr val="B6B1A9"/>
          </a:solidFill>
          <a:ln>
            <a:noFill/>
          </a:ln>
          <a:effectLst/>
        </p:spPr>
        <p:txBody>
          <a:bodyPr rtlCol="0" anchor="ctr"/>
          <a:lstStyle/>
          <a:p>
            <a:pPr algn="ctr"/>
          </a:p>
        </p:txBody>
      </p:sp>
      <p:sp>
        <p:nvSpPr>
          <p:cNvPr id="53" name="portal tile CalOOS"/>
          <p:cNvSpPr/>
          <p:nvPr/>
        </p:nvSpPr>
        <p:spPr>
          <a:xfrm>
            <a:off x="9235440" y="1965960"/>
            <a:ext cx="2404872" cy="676656"/>
          </a:xfrm>
          <a:prstGeom prst="roundRect">
            <a:avLst>
              <a:gd name="adj" fmla="val 10810"/>
            </a:avLst>
          </a:prstGeom>
          <a:solidFill>
            <a:srgbClr val="00629B"/>
          </a:solidFill>
          <a:ln>
            <a:noFill/>
          </a:ln>
          <a:effectLst/>
        </p:spPr>
        <p:txBody>
          <a:bodyPr rtlCol="0" anchor="ctr"/>
          <a:lstStyle/>
          <a:p>
            <a:pPr algn="ctr"/>
          </a:p>
        </p:txBody>
      </p:sp>
      <p:sp>
        <p:nvSpPr>
          <p:cNvPr id="54" name="portal"/>
          <p:cNvSpPr txBox="1"/>
          <p:nvPr/>
        </p:nvSpPr>
        <p:spPr>
          <a:xfrm>
            <a:off x="9372600" y="1965960"/>
            <a:ext cx="2130552" cy="676656"/>
          </a:xfrm>
          <a:prstGeom prst="rect">
            <a:avLst/>
          </a:prstGeom>
          <a:noFill/>
        </p:spPr>
        <p:txBody>
          <a:bodyPr wrap="square" lIns="0" rIns="0" tIns="0" bIns="0" anchor="ctr">
            <a:spAutoFit/>
          </a:bodyPr>
          <a:lstStyle/>
          <a:p>
            <a:pPr algn="l">
              <a:lnSpc>
                <a:spcPct val="100000"/>
              </a:lnSpc>
            </a:pPr>
            <a:r>
              <a:rPr sz="1400" b="1">
                <a:solidFill>
                  <a:srgbClr val="FFFFFF"/>
                </a:solidFill>
                <a:latin typeface="Source Sans 3"/>
              </a:rPr>
              <a:t>CalOOS</a:t>
            </a:r>
          </a:p>
          <a:p>
            <a:pPr algn="l">
              <a:lnSpc>
                <a:spcPct val="100000"/>
              </a:lnSpc>
            </a:pPr>
            <a:r>
              <a:rPr sz="1100" b="0">
                <a:solidFill>
                  <a:srgbClr val="FFFFFF"/>
                </a:solidFill>
                <a:latin typeface="Source Sans 3"/>
              </a:rPr>
              <a:t>California's ocean portal</a:t>
            </a:r>
          </a:p>
        </p:txBody>
      </p:sp>
      <p:sp>
        <p:nvSpPr>
          <p:cNvPr id="55" name="arrow"/>
          <p:cNvSpPr/>
          <p:nvPr/>
        </p:nvSpPr>
        <p:spPr>
          <a:xfrm>
            <a:off x="8997696" y="2980944"/>
            <a:ext cx="201168" cy="182880"/>
          </a:xfrm>
          <a:prstGeom prst="rightArrow">
            <a:avLst/>
          </a:prstGeom>
          <a:solidFill>
            <a:srgbClr val="B6B1A9"/>
          </a:solidFill>
          <a:ln>
            <a:noFill/>
          </a:ln>
          <a:effectLst/>
        </p:spPr>
        <p:txBody>
          <a:bodyPr rtlCol="0" anchor="ctr"/>
          <a:lstStyle/>
          <a:p>
            <a:pPr algn="ctr"/>
          </a:p>
        </p:txBody>
      </p:sp>
      <p:sp>
        <p:nvSpPr>
          <p:cNvPr id="56" name="portal tile"/>
          <p:cNvSpPr/>
          <p:nvPr/>
        </p:nvSpPr>
        <p:spPr>
          <a:xfrm>
            <a:off x="9235440" y="2734056"/>
            <a:ext cx="2404872" cy="676656"/>
          </a:xfrm>
          <a:prstGeom prst="roundRect">
            <a:avLst>
              <a:gd name="adj" fmla="val 10810"/>
            </a:avLst>
          </a:prstGeom>
          <a:solidFill>
            <a:srgbClr val="FFFFFF"/>
          </a:solidFill>
          <a:ln w="12700">
            <a:solidFill>
              <a:srgbClr val="DDDDDD"/>
            </a:solidFill>
          </a:ln>
          <a:effectLst/>
        </p:spPr>
        <p:txBody>
          <a:bodyPr rtlCol="0" anchor="ctr"/>
          <a:lstStyle/>
          <a:p>
            <a:pPr algn="ctr"/>
          </a:p>
        </p:txBody>
      </p:sp>
      <p:sp>
        <p:nvSpPr>
          <p:cNvPr id="57" name="portal"/>
          <p:cNvSpPr txBox="1"/>
          <p:nvPr/>
        </p:nvSpPr>
        <p:spPr>
          <a:xfrm>
            <a:off x="9372600" y="2734056"/>
            <a:ext cx="2130552" cy="676656"/>
          </a:xfrm>
          <a:prstGeom prst="rect">
            <a:avLst/>
          </a:prstGeom>
          <a:noFill/>
        </p:spPr>
        <p:txBody>
          <a:bodyPr wrap="square" lIns="0" rIns="0" tIns="0" bIns="0" anchor="ctr">
            <a:spAutoFit/>
          </a:bodyPr>
          <a:lstStyle/>
          <a:p>
            <a:pPr algn="l">
              <a:lnSpc>
                <a:spcPct val="100000"/>
              </a:lnSpc>
            </a:pPr>
            <a:r>
              <a:rPr sz="1400" b="1">
                <a:solidFill>
                  <a:srgbClr val="00629B"/>
                </a:solidFill>
                <a:latin typeface="Source Sans 3"/>
              </a:rPr>
              <a:t>OBIS</a:t>
            </a:r>
          </a:p>
          <a:p>
            <a:pPr algn="l">
              <a:lnSpc>
                <a:spcPct val="100000"/>
              </a:lnSpc>
            </a:pPr>
            <a:r>
              <a:rPr sz="1100" b="0">
                <a:solidFill>
                  <a:srgbClr val="66686A"/>
                </a:solidFill>
                <a:latin typeface="Source Sans 3"/>
              </a:rPr>
              <a:t>global biodiversity archive</a:t>
            </a:r>
          </a:p>
        </p:txBody>
      </p:sp>
      <p:sp>
        <p:nvSpPr>
          <p:cNvPr id="58" name="arrow"/>
          <p:cNvSpPr/>
          <p:nvPr/>
        </p:nvSpPr>
        <p:spPr>
          <a:xfrm>
            <a:off x="8997696" y="3749039"/>
            <a:ext cx="201168" cy="182880"/>
          </a:xfrm>
          <a:prstGeom prst="rightArrow">
            <a:avLst/>
          </a:prstGeom>
          <a:solidFill>
            <a:srgbClr val="B6B1A9"/>
          </a:solidFill>
          <a:ln>
            <a:noFill/>
          </a:ln>
          <a:effectLst/>
        </p:spPr>
        <p:txBody>
          <a:bodyPr rtlCol="0" anchor="ctr"/>
          <a:lstStyle/>
          <a:p>
            <a:pPr algn="ctr"/>
          </a:p>
        </p:txBody>
      </p:sp>
      <p:sp>
        <p:nvSpPr>
          <p:cNvPr id="59" name="portal tile"/>
          <p:cNvSpPr/>
          <p:nvPr/>
        </p:nvSpPr>
        <p:spPr>
          <a:xfrm>
            <a:off x="9235440" y="3502152"/>
            <a:ext cx="2404872" cy="676656"/>
          </a:xfrm>
          <a:prstGeom prst="roundRect">
            <a:avLst>
              <a:gd name="adj" fmla="val 10810"/>
            </a:avLst>
          </a:prstGeom>
          <a:solidFill>
            <a:srgbClr val="FFFFFF"/>
          </a:solidFill>
          <a:ln w="12700">
            <a:solidFill>
              <a:srgbClr val="DDDDDD"/>
            </a:solidFill>
          </a:ln>
          <a:effectLst/>
        </p:spPr>
        <p:txBody>
          <a:bodyPr rtlCol="0" anchor="ctr"/>
          <a:lstStyle/>
          <a:p>
            <a:pPr algn="ctr"/>
          </a:p>
        </p:txBody>
      </p:sp>
      <p:sp>
        <p:nvSpPr>
          <p:cNvPr id="60" name="portal"/>
          <p:cNvSpPr txBox="1"/>
          <p:nvPr/>
        </p:nvSpPr>
        <p:spPr>
          <a:xfrm>
            <a:off x="9372600" y="3502152"/>
            <a:ext cx="2130552" cy="676656"/>
          </a:xfrm>
          <a:prstGeom prst="rect">
            <a:avLst/>
          </a:prstGeom>
          <a:noFill/>
        </p:spPr>
        <p:txBody>
          <a:bodyPr wrap="square" lIns="0" rIns="0" tIns="0" bIns="0" anchor="ctr">
            <a:spAutoFit/>
          </a:bodyPr>
          <a:lstStyle/>
          <a:p>
            <a:pPr algn="l">
              <a:lnSpc>
                <a:spcPct val="100000"/>
              </a:lnSpc>
            </a:pPr>
            <a:r>
              <a:rPr sz="1400" b="1">
                <a:solidFill>
                  <a:srgbClr val="00629B"/>
                </a:solidFill>
                <a:latin typeface="Source Sans 3"/>
              </a:rPr>
              <a:t>EDI</a:t>
            </a:r>
          </a:p>
          <a:p>
            <a:pPr algn="l">
              <a:lnSpc>
                <a:spcPct val="100000"/>
              </a:lnSpc>
            </a:pPr>
            <a:r>
              <a:rPr sz="1100" b="0">
                <a:solidFill>
                  <a:srgbClr val="66686A"/>
                </a:solidFill>
                <a:latin typeface="Source Sans 3"/>
              </a:rPr>
              <a:t>environmental data archive</a:t>
            </a:r>
          </a:p>
        </p:txBody>
      </p:sp>
      <p:sp>
        <p:nvSpPr>
          <p:cNvPr id="61" name="arrow"/>
          <p:cNvSpPr/>
          <p:nvPr/>
        </p:nvSpPr>
        <p:spPr>
          <a:xfrm>
            <a:off x="8997696" y="4517136"/>
            <a:ext cx="201168" cy="182880"/>
          </a:xfrm>
          <a:prstGeom prst="rightArrow">
            <a:avLst/>
          </a:prstGeom>
          <a:solidFill>
            <a:srgbClr val="B6B1A9"/>
          </a:solidFill>
          <a:ln>
            <a:noFill/>
          </a:ln>
          <a:effectLst/>
        </p:spPr>
        <p:txBody>
          <a:bodyPr rtlCol="0" anchor="ctr"/>
          <a:lstStyle/>
          <a:p>
            <a:pPr algn="ctr"/>
          </a:p>
        </p:txBody>
      </p:sp>
      <p:sp>
        <p:nvSpPr>
          <p:cNvPr id="62" name="portal tile"/>
          <p:cNvSpPr/>
          <p:nvPr/>
        </p:nvSpPr>
        <p:spPr>
          <a:xfrm>
            <a:off x="9235440" y="4270248"/>
            <a:ext cx="2404872" cy="676656"/>
          </a:xfrm>
          <a:prstGeom prst="roundRect">
            <a:avLst>
              <a:gd name="adj" fmla="val 10810"/>
            </a:avLst>
          </a:prstGeom>
          <a:solidFill>
            <a:srgbClr val="FFFFFF"/>
          </a:solidFill>
          <a:ln w="12700">
            <a:solidFill>
              <a:srgbClr val="DDDDDD"/>
            </a:solidFill>
          </a:ln>
          <a:effectLst/>
        </p:spPr>
        <p:txBody>
          <a:bodyPr rtlCol="0" anchor="ctr"/>
          <a:lstStyle/>
          <a:p>
            <a:pPr algn="ctr"/>
          </a:p>
        </p:txBody>
      </p:sp>
      <p:sp>
        <p:nvSpPr>
          <p:cNvPr id="63" name="portal"/>
          <p:cNvSpPr txBox="1"/>
          <p:nvPr/>
        </p:nvSpPr>
        <p:spPr>
          <a:xfrm>
            <a:off x="9372600" y="4270248"/>
            <a:ext cx="2130552" cy="676656"/>
          </a:xfrm>
          <a:prstGeom prst="rect">
            <a:avLst/>
          </a:prstGeom>
          <a:noFill/>
        </p:spPr>
        <p:txBody>
          <a:bodyPr wrap="square" lIns="0" rIns="0" tIns="0" bIns="0" anchor="ctr">
            <a:spAutoFit/>
          </a:bodyPr>
          <a:lstStyle/>
          <a:p>
            <a:pPr algn="l">
              <a:lnSpc>
                <a:spcPct val="100000"/>
              </a:lnSpc>
            </a:pPr>
            <a:r>
              <a:rPr sz="1400" b="1">
                <a:solidFill>
                  <a:srgbClr val="00629B"/>
                </a:solidFill>
                <a:latin typeface="Source Sans 3"/>
              </a:rPr>
              <a:t>ERDDAP</a:t>
            </a:r>
          </a:p>
          <a:p>
            <a:pPr algn="l">
              <a:lnSpc>
                <a:spcPct val="100000"/>
              </a:lnSpc>
            </a:pPr>
            <a:r>
              <a:rPr sz="1100" b="0">
                <a:solidFill>
                  <a:srgbClr val="66686A"/>
                </a:solidFill>
                <a:latin typeface="Source Sans 3"/>
              </a:rPr>
              <a:t>data servers, ours too</a:t>
            </a:r>
          </a:p>
        </p:txBody>
      </p:sp>
      <p:sp>
        <p:nvSpPr>
          <p:cNvPr id="64" name="arrow"/>
          <p:cNvSpPr/>
          <p:nvPr/>
        </p:nvSpPr>
        <p:spPr>
          <a:xfrm>
            <a:off x="8997696" y="5285231"/>
            <a:ext cx="201168" cy="182880"/>
          </a:xfrm>
          <a:prstGeom prst="rightArrow">
            <a:avLst/>
          </a:prstGeom>
          <a:solidFill>
            <a:srgbClr val="B6B1A9"/>
          </a:solidFill>
          <a:ln>
            <a:noFill/>
          </a:ln>
          <a:effectLst/>
        </p:spPr>
        <p:txBody>
          <a:bodyPr rtlCol="0" anchor="ctr"/>
          <a:lstStyle/>
          <a:p>
            <a:pPr algn="ctr"/>
          </a:p>
        </p:txBody>
      </p:sp>
      <p:sp>
        <p:nvSpPr>
          <p:cNvPr id="65" name="portal tile"/>
          <p:cNvSpPr/>
          <p:nvPr/>
        </p:nvSpPr>
        <p:spPr>
          <a:xfrm>
            <a:off x="9235440" y="5038344"/>
            <a:ext cx="2404872" cy="676656"/>
          </a:xfrm>
          <a:prstGeom prst="roundRect">
            <a:avLst>
              <a:gd name="adj" fmla="val 10810"/>
            </a:avLst>
          </a:prstGeom>
          <a:solidFill>
            <a:srgbClr val="FFFFFF"/>
          </a:solidFill>
          <a:ln w="12700">
            <a:solidFill>
              <a:srgbClr val="DDDDDD"/>
            </a:solidFill>
          </a:ln>
          <a:effectLst/>
        </p:spPr>
        <p:txBody>
          <a:bodyPr rtlCol="0" anchor="ctr"/>
          <a:lstStyle/>
          <a:p>
            <a:pPr algn="ctr"/>
          </a:p>
        </p:txBody>
      </p:sp>
      <p:sp>
        <p:nvSpPr>
          <p:cNvPr id="66" name="portal"/>
          <p:cNvSpPr txBox="1"/>
          <p:nvPr/>
        </p:nvSpPr>
        <p:spPr>
          <a:xfrm>
            <a:off x="9372600" y="5038344"/>
            <a:ext cx="2130552" cy="676656"/>
          </a:xfrm>
          <a:prstGeom prst="rect">
            <a:avLst/>
          </a:prstGeom>
          <a:noFill/>
        </p:spPr>
        <p:txBody>
          <a:bodyPr wrap="square" lIns="0" rIns="0" tIns="0" bIns="0" anchor="ctr">
            <a:spAutoFit/>
          </a:bodyPr>
          <a:lstStyle/>
          <a:p>
            <a:pPr algn="l">
              <a:lnSpc>
                <a:spcPct val="100000"/>
              </a:lnSpc>
            </a:pPr>
            <a:r>
              <a:rPr sz="1400" b="1">
                <a:solidFill>
                  <a:srgbClr val="00629B"/>
                </a:solidFill>
                <a:latin typeface="Source Sans 3"/>
              </a:rPr>
              <a:t>Google Dataset Search</a:t>
            </a:r>
          </a:p>
          <a:p>
            <a:pPr algn="l">
              <a:lnSpc>
                <a:spcPct val="100000"/>
              </a:lnSpc>
            </a:pPr>
            <a:r>
              <a:rPr sz="1100" b="0">
                <a:solidFill>
                  <a:srgbClr val="66686A"/>
                </a:solidFill>
                <a:latin typeface="Source Sans 3"/>
              </a:rPr>
              <a:t>and data.gov, via search</a:t>
            </a:r>
          </a:p>
        </p:txBody>
      </p:sp>
      <p:sp>
        <p:nvSpPr>
          <p:cNvPr id="67" name="erin message"/>
          <p:cNvSpPr txBox="1"/>
          <p:nvPr/>
        </p:nvSpPr>
        <p:spPr>
          <a:xfrm>
            <a:off x="548640" y="5870448"/>
            <a:ext cx="11064240" cy="365760"/>
          </a:xfrm>
          <a:prstGeom prst="rect">
            <a:avLst/>
          </a:prstGeom>
          <a:noFill/>
        </p:spPr>
        <p:txBody>
          <a:bodyPr wrap="square" lIns="0" rIns="0" tIns="0" bIns="0" anchor="t">
            <a:spAutoFit/>
          </a:bodyPr>
          <a:lstStyle/>
          <a:p>
            <a:pPr algn="l"/>
            <a:r>
              <a:rPr sz="1700" b="1">
                <a:solidFill>
                  <a:srgbClr val="00629B"/>
                </a:solidFill>
                <a:latin typeface="Source Sans 3"/>
              </a:rPr>
              <a:t>CalOOS links to the authoritative dataset. Nothing is copied.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4 · THE INTEGRATED DATABASE</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One database, from the first cruise to the next</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doi.org/10.5281/zenodo.23085119</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9</a:t>
            </a:r>
          </a:p>
        </p:txBody>
      </p:sp>
      <p:sp>
        <p:nvSpPr>
          <p:cNvPr id="8" name="sand band"/>
          <p:cNvSpPr/>
          <p:nvPr/>
        </p:nvSpPr>
        <p:spPr>
          <a:xfrm>
            <a:off x="0" y="1572768"/>
            <a:ext cx="12191695" cy="3639312"/>
          </a:xfrm>
          <a:prstGeom prst="rect">
            <a:avLst/>
          </a:prstGeom>
          <a:solidFill>
            <a:srgbClr val="F5F0E6"/>
          </a:solidFill>
          <a:ln>
            <a:noFill/>
          </a:ln>
          <a:effectLst/>
        </p:spPr>
        <p:txBody>
          <a:bodyPr rtlCol="0" anchor="ctr"/>
          <a:lstStyle/>
          <a:p>
            <a:pPr algn="ctr"/>
          </a:p>
        </p:txBody>
      </p:sp>
      <p:sp>
        <p:nvSpPr>
          <p:cNvPr id="9" name="card"/>
          <p:cNvSpPr/>
          <p:nvPr/>
        </p:nvSpPr>
        <p:spPr>
          <a:xfrm>
            <a:off x="548640" y="1801368"/>
            <a:ext cx="3566160" cy="1536192"/>
          </a:xfrm>
          <a:prstGeom prst="roundRect">
            <a:avLst>
              <a:gd name="adj" fmla="val 7142"/>
            </a:avLst>
          </a:prstGeom>
          <a:solidFill>
            <a:srgbClr val="FFFFFF"/>
          </a:solidFill>
          <a:ln>
            <a:noFill/>
          </a:ln>
          <a:effectLst/>
        </p:spPr>
        <p:txBody>
          <a:bodyPr rtlCol="0" anchor="ctr"/>
          <a:lstStyle/>
          <a:p>
            <a:pPr algn="ctr"/>
          </a:p>
        </p:txBody>
      </p:sp>
      <p:sp>
        <p:nvSpPr>
          <p:cNvPr id="10" name="number"/>
          <p:cNvSpPr txBox="1"/>
          <p:nvPr/>
        </p:nvSpPr>
        <p:spPr>
          <a:xfrm>
            <a:off x="777240" y="1874519"/>
            <a:ext cx="3108960" cy="868680"/>
          </a:xfrm>
          <a:prstGeom prst="rect">
            <a:avLst/>
          </a:prstGeom>
          <a:noFill/>
        </p:spPr>
        <p:txBody>
          <a:bodyPr wrap="square" lIns="0" rIns="0" tIns="0" bIns="0" anchor="t">
            <a:spAutoFit/>
          </a:bodyPr>
          <a:lstStyle/>
          <a:p>
            <a:pPr algn="l">
              <a:lnSpc>
                <a:spcPct val="85000"/>
              </a:lnSpc>
            </a:pPr>
            <a:r>
              <a:rPr sz="6000" b="0">
                <a:solidFill>
                  <a:srgbClr val="00629B"/>
                </a:solidFill>
                <a:latin typeface="Teko"/>
              </a:rPr>
              <a:t>77</a:t>
            </a:r>
          </a:p>
        </p:txBody>
      </p:sp>
      <p:sp>
        <p:nvSpPr>
          <p:cNvPr id="11" name="label"/>
          <p:cNvSpPr txBox="1"/>
          <p:nvPr/>
        </p:nvSpPr>
        <p:spPr>
          <a:xfrm>
            <a:off x="777240" y="2697480"/>
            <a:ext cx="3108960" cy="548640"/>
          </a:xfrm>
          <a:prstGeom prst="rect">
            <a:avLst/>
          </a:prstGeom>
          <a:noFill/>
        </p:spPr>
        <p:txBody>
          <a:bodyPr wrap="square" lIns="0" rIns="0" tIns="0" bIns="0" anchor="t">
            <a:spAutoFit/>
          </a:bodyPr>
          <a:lstStyle/>
          <a:p>
            <a:pPr algn="l">
              <a:lnSpc>
                <a:spcPct val="105000"/>
              </a:lnSpc>
            </a:pPr>
            <a:r>
              <a:rPr sz="1500" b="0">
                <a:solidFill>
                  <a:srgbClr val="182B49"/>
                </a:solidFill>
                <a:latin typeface="Source Sans 3"/>
              </a:rPr>
              <a:t>years of sampling, since 1949</a:t>
            </a:r>
          </a:p>
        </p:txBody>
      </p:sp>
      <p:sp>
        <p:nvSpPr>
          <p:cNvPr id="12" name="card"/>
          <p:cNvSpPr/>
          <p:nvPr/>
        </p:nvSpPr>
        <p:spPr>
          <a:xfrm>
            <a:off x="4306824" y="1801368"/>
            <a:ext cx="3566160" cy="1536192"/>
          </a:xfrm>
          <a:prstGeom prst="roundRect">
            <a:avLst>
              <a:gd name="adj" fmla="val 7142"/>
            </a:avLst>
          </a:prstGeom>
          <a:solidFill>
            <a:srgbClr val="FFFFFF"/>
          </a:solidFill>
          <a:ln>
            <a:noFill/>
          </a:ln>
          <a:effectLst/>
        </p:spPr>
        <p:txBody>
          <a:bodyPr rtlCol="0" anchor="ctr"/>
          <a:lstStyle/>
          <a:p>
            <a:pPr algn="ctr"/>
          </a:p>
        </p:txBody>
      </p:sp>
      <p:sp>
        <p:nvSpPr>
          <p:cNvPr id="13" name="number"/>
          <p:cNvSpPr txBox="1"/>
          <p:nvPr/>
        </p:nvSpPr>
        <p:spPr>
          <a:xfrm>
            <a:off x="4535424" y="1874519"/>
            <a:ext cx="3108960" cy="868680"/>
          </a:xfrm>
          <a:prstGeom prst="rect">
            <a:avLst/>
          </a:prstGeom>
          <a:noFill/>
        </p:spPr>
        <p:txBody>
          <a:bodyPr wrap="square" lIns="0" rIns="0" tIns="0" bIns="0" anchor="t">
            <a:spAutoFit/>
          </a:bodyPr>
          <a:lstStyle/>
          <a:p>
            <a:pPr algn="l">
              <a:lnSpc>
                <a:spcPct val="85000"/>
              </a:lnSpc>
            </a:pPr>
            <a:r>
              <a:rPr sz="6000" b="0">
                <a:solidFill>
                  <a:srgbClr val="00629B"/>
                </a:solidFill>
                <a:latin typeface="Teko"/>
              </a:rPr>
              <a:t>17</a:t>
            </a:r>
          </a:p>
        </p:txBody>
      </p:sp>
      <p:sp>
        <p:nvSpPr>
          <p:cNvPr id="14" name="label"/>
          <p:cNvSpPr txBox="1"/>
          <p:nvPr/>
        </p:nvSpPr>
        <p:spPr>
          <a:xfrm>
            <a:off x="4535424" y="2697480"/>
            <a:ext cx="3108960" cy="548640"/>
          </a:xfrm>
          <a:prstGeom prst="rect">
            <a:avLst/>
          </a:prstGeom>
          <a:noFill/>
        </p:spPr>
        <p:txBody>
          <a:bodyPr wrap="square" lIns="0" rIns="0" tIns="0" bIns="0" anchor="t">
            <a:spAutoFit/>
          </a:bodyPr>
          <a:lstStyle/>
          <a:p>
            <a:pPr algn="l">
              <a:lnSpc>
                <a:spcPct val="105000"/>
              </a:lnSpc>
            </a:pPr>
            <a:r>
              <a:rPr sz="1500" b="0">
                <a:solidFill>
                  <a:srgbClr val="182B49"/>
                </a:solidFill>
                <a:latin typeface="Source Sans 3"/>
              </a:rPr>
              <a:t>datasets in one database</a:t>
            </a:r>
          </a:p>
        </p:txBody>
      </p:sp>
      <p:sp>
        <p:nvSpPr>
          <p:cNvPr id="15" name="card"/>
          <p:cNvSpPr/>
          <p:nvPr/>
        </p:nvSpPr>
        <p:spPr>
          <a:xfrm>
            <a:off x="8074152" y="1801368"/>
            <a:ext cx="3566160" cy="1536192"/>
          </a:xfrm>
          <a:prstGeom prst="roundRect">
            <a:avLst>
              <a:gd name="adj" fmla="val 7142"/>
            </a:avLst>
          </a:prstGeom>
          <a:solidFill>
            <a:srgbClr val="FFFFFF"/>
          </a:solidFill>
          <a:ln>
            <a:noFill/>
          </a:ln>
          <a:effectLst/>
        </p:spPr>
        <p:txBody>
          <a:bodyPr rtlCol="0" anchor="ctr"/>
          <a:lstStyle/>
          <a:p>
            <a:pPr algn="ctr"/>
          </a:p>
        </p:txBody>
      </p:sp>
      <p:sp>
        <p:nvSpPr>
          <p:cNvPr id="16" name="number"/>
          <p:cNvSpPr txBox="1"/>
          <p:nvPr/>
        </p:nvSpPr>
        <p:spPr>
          <a:xfrm>
            <a:off x="8302752" y="1874519"/>
            <a:ext cx="3108960" cy="868680"/>
          </a:xfrm>
          <a:prstGeom prst="rect">
            <a:avLst/>
          </a:prstGeom>
          <a:noFill/>
        </p:spPr>
        <p:txBody>
          <a:bodyPr wrap="square" lIns="0" rIns="0" tIns="0" bIns="0" anchor="t">
            <a:spAutoFit/>
          </a:bodyPr>
          <a:lstStyle/>
          <a:p>
            <a:pPr algn="l">
              <a:lnSpc>
                <a:spcPct val="85000"/>
              </a:lnSpc>
            </a:pPr>
            <a:r>
              <a:rPr sz="6000" b="0">
                <a:solidFill>
                  <a:srgbClr val="00629B"/>
                </a:solidFill>
                <a:latin typeface="Teko"/>
              </a:rPr>
              <a:t>1,008</a:t>
            </a:r>
          </a:p>
        </p:txBody>
      </p:sp>
      <p:sp>
        <p:nvSpPr>
          <p:cNvPr id="17" name="label"/>
          <p:cNvSpPr txBox="1"/>
          <p:nvPr/>
        </p:nvSpPr>
        <p:spPr>
          <a:xfrm>
            <a:off x="8302752" y="2697480"/>
            <a:ext cx="3108960" cy="548640"/>
          </a:xfrm>
          <a:prstGeom prst="rect">
            <a:avLst/>
          </a:prstGeom>
          <a:noFill/>
        </p:spPr>
        <p:txBody>
          <a:bodyPr wrap="square" lIns="0" rIns="0" tIns="0" bIns="0" anchor="t">
            <a:spAutoFit/>
          </a:bodyPr>
          <a:lstStyle/>
          <a:p>
            <a:pPr algn="l">
              <a:lnSpc>
                <a:spcPct val="105000"/>
              </a:lnSpc>
            </a:pPr>
            <a:r>
              <a:rPr sz="1500" b="0">
                <a:solidFill>
                  <a:srgbClr val="182B49"/>
                </a:solidFill>
                <a:latin typeface="Source Sans 3"/>
              </a:rPr>
              <a:t>species identified</a:t>
            </a:r>
          </a:p>
        </p:txBody>
      </p:sp>
      <p:sp>
        <p:nvSpPr>
          <p:cNvPr id="18" name="card"/>
          <p:cNvSpPr/>
          <p:nvPr/>
        </p:nvSpPr>
        <p:spPr>
          <a:xfrm>
            <a:off x="548640" y="3474720"/>
            <a:ext cx="3566160" cy="1536192"/>
          </a:xfrm>
          <a:prstGeom prst="roundRect">
            <a:avLst>
              <a:gd name="adj" fmla="val 7142"/>
            </a:avLst>
          </a:prstGeom>
          <a:solidFill>
            <a:srgbClr val="FFFFFF"/>
          </a:solidFill>
          <a:ln>
            <a:noFill/>
          </a:ln>
          <a:effectLst/>
        </p:spPr>
        <p:txBody>
          <a:bodyPr rtlCol="0" anchor="ctr"/>
          <a:lstStyle/>
          <a:p>
            <a:pPr algn="ctr"/>
          </a:p>
        </p:txBody>
      </p:sp>
      <p:sp>
        <p:nvSpPr>
          <p:cNvPr id="19" name="number"/>
          <p:cNvSpPr txBox="1"/>
          <p:nvPr/>
        </p:nvSpPr>
        <p:spPr>
          <a:xfrm>
            <a:off x="777240" y="3547872"/>
            <a:ext cx="3108960" cy="868680"/>
          </a:xfrm>
          <a:prstGeom prst="rect">
            <a:avLst/>
          </a:prstGeom>
          <a:noFill/>
        </p:spPr>
        <p:txBody>
          <a:bodyPr wrap="square" lIns="0" rIns="0" tIns="0" bIns="0" anchor="t">
            <a:spAutoFit/>
          </a:bodyPr>
          <a:lstStyle/>
          <a:p>
            <a:pPr algn="l">
              <a:lnSpc>
                <a:spcPct val="85000"/>
              </a:lnSpc>
            </a:pPr>
            <a:r>
              <a:rPr sz="6000" b="0">
                <a:solidFill>
                  <a:srgbClr val="00629B"/>
                </a:solidFill>
                <a:latin typeface="Teko"/>
              </a:rPr>
              <a:t>1.3 M</a:t>
            </a:r>
          </a:p>
        </p:txBody>
      </p:sp>
      <p:sp>
        <p:nvSpPr>
          <p:cNvPr id="20" name="label"/>
          <p:cNvSpPr txBox="1"/>
          <p:nvPr/>
        </p:nvSpPr>
        <p:spPr>
          <a:xfrm>
            <a:off x="777240" y="4370831"/>
            <a:ext cx="3108960" cy="548640"/>
          </a:xfrm>
          <a:prstGeom prst="rect">
            <a:avLst/>
          </a:prstGeom>
          <a:noFill/>
        </p:spPr>
        <p:txBody>
          <a:bodyPr wrap="square" lIns="0" rIns="0" tIns="0" bIns="0" anchor="t">
            <a:spAutoFit/>
          </a:bodyPr>
          <a:lstStyle/>
          <a:p>
            <a:pPr algn="l">
              <a:lnSpc>
                <a:spcPct val="105000"/>
              </a:lnSpc>
            </a:pPr>
            <a:r>
              <a:rPr sz="1500" b="0">
                <a:solidFill>
                  <a:srgbClr val="182B49"/>
                </a:solidFill>
                <a:latin typeface="Source Sans 3"/>
              </a:rPr>
              <a:t>organism observations</a:t>
            </a:r>
          </a:p>
        </p:txBody>
      </p:sp>
      <p:sp>
        <p:nvSpPr>
          <p:cNvPr id="21" name="card"/>
          <p:cNvSpPr/>
          <p:nvPr/>
        </p:nvSpPr>
        <p:spPr>
          <a:xfrm>
            <a:off x="4306824" y="3474720"/>
            <a:ext cx="3566160" cy="1536192"/>
          </a:xfrm>
          <a:prstGeom prst="roundRect">
            <a:avLst>
              <a:gd name="adj" fmla="val 7142"/>
            </a:avLst>
          </a:prstGeom>
          <a:solidFill>
            <a:srgbClr val="FFFFFF"/>
          </a:solidFill>
          <a:ln>
            <a:noFill/>
          </a:ln>
          <a:effectLst/>
        </p:spPr>
        <p:txBody>
          <a:bodyPr rtlCol="0" anchor="ctr"/>
          <a:lstStyle/>
          <a:p>
            <a:pPr algn="ctr"/>
          </a:p>
        </p:txBody>
      </p:sp>
      <p:sp>
        <p:nvSpPr>
          <p:cNvPr id="22" name="number"/>
          <p:cNvSpPr txBox="1"/>
          <p:nvPr/>
        </p:nvSpPr>
        <p:spPr>
          <a:xfrm>
            <a:off x="4535424" y="3547872"/>
            <a:ext cx="3108960" cy="868680"/>
          </a:xfrm>
          <a:prstGeom prst="rect">
            <a:avLst/>
          </a:prstGeom>
          <a:noFill/>
        </p:spPr>
        <p:txBody>
          <a:bodyPr wrap="square" lIns="0" rIns="0" tIns="0" bIns="0" anchor="t">
            <a:spAutoFit/>
          </a:bodyPr>
          <a:lstStyle/>
          <a:p>
            <a:pPr algn="l">
              <a:lnSpc>
                <a:spcPct val="85000"/>
              </a:lnSpc>
            </a:pPr>
            <a:r>
              <a:rPr sz="6000" b="0">
                <a:solidFill>
                  <a:srgbClr val="00629B"/>
                </a:solidFill>
                <a:latin typeface="Teko"/>
              </a:rPr>
              <a:t>336 M</a:t>
            </a:r>
          </a:p>
        </p:txBody>
      </p:sp>
      <p:sp>
        <p:nvSpPr>
          <p:cNvPr id="23" name="label"/>
          <p:cNvSpPr txBox="1"/>
          <p:nvPr/>
        </p:nvSpPr>
        <p:spPr>
          <a:xfrm>
            <a:off x="4535424" y="4370831"/>
            <a:ext cx="3108960" cy="548640"/>
          </a:xfrm>
          <a:prstGeom prst="rect">
            <a:avLst/>
          </a:prstGeom>
          <a:noFill/>
        </p:spPr>
        <p:txBody>
          <a:bodyPr wrap="square" lIns="0" rIns="0" tIns="0" bIns="0" anchor="t">
            <a:spAutoFit/>
          </a:bodyPr>
          <a:lstStyle/>
          <a:p>
            <a:pPr algn="l">
              <a:lnSpc>
                <a:spcPct val="105000"/>
              </a:lnSpc>
            </a:pPr>
            <a:r>
              <a:rPr sz="1500" b="0">
                <a:solidFill>
                  <a:srgbClr val="182B49"/>
                </a:solidFill>
                <a:latin typeface="Source Sans 3"/>
              </a:rPr>
              <a:t>measurement values, from the ocean's chemistry and physics</a:t>
            </a:r>
          </a:p>
        </p:txBody>
      </p:sp>
      <p:sp>
        <p:nvSpPr>
          <p:cNvPr id="24" name="card"/>
          <p:cNvSpPr/>
          <p:nvPr/>
        </p:nvSpPr>
        <p:spPr>
          <a:xfrm>
            <a:off x="8074152" y="3474720"/>
            <a:ext cx="3566160" cy="1536192"/>
          </a:xfrm>
          <a:prstGeom prst="roundRect">
            <a:avLst>
              <a:gd name="adj" fmla="val 7142"/>
            </a:avLst>
          </a:prstGeom>
          <a:solidFill>
            <a:srgbClr val="FFFFFF"/>
          </a:solidFill>
          <a:ln>
            <a:noFill/>
          </a:ln>
          <a:effectLst/>
        </p:spPr>
        <p:txBody>
          <a:bodyPr rtlCol="0" anchor="ctr"/>
          <a:lstStyle/>
          <a:p>
            <a:pPr algn="ctr"/>
          </a:p>
        </p:txBody>
      </p:sp>
      <p:sp>
        <p:nvSpPr>
          <p:cNvPr id="25" name="number"/>
          <p:cNvSpPr txBox="1"/>
          <p:nvPr/>
        </p:nvSpPr>
        <p:spPr>
          <a:xfrm>
            <a:off x="8302752" y="3547872"/>
            <a:ext cx="3108960" cy="868680"/>
          </a:xfrm>
          <a:prstGeom prst="rect">
            <a:avLst/>
          </a:prstGeom>
          <a:noFill/>
        </p:spPr>
        <p:txBody>
          <a:bodyPr wrap="square" lIns="0" rIns="0" tIns="0" bIns="0" anchor="t">
            <a:spAutoFit/>
          </a:bodyPr>
          <a:lstStyle/>
          <a:p>
            <a:pPr algn="l">
              <a:lnSpc>
                <a:spcPct val="85000"/>
              </a:lnSpc>
            </a:pPr>
            <a:r>
              <a:rPr sz="6000" b="0">
                <a:solidFill>
                  <a:srgbClr val="C69214"/>
                </a:solidFill>
                <a:latin typeface="Teko"/>
              </a:rPr>
              <a:t>88</a:t>
            </a:r>
          </a:p>
        </p:txBody>
      </p:sp>
      <p:sp>
        <p:nvSpPr>
          <p:cNvPr id="26" name="label"/>
          <p:cNvSpPr txBox="1"/>
          <p:nvPr/>
        </p:nvSpPr>
        <p:spPr>
          <a:xfrm>
            <a:off x="8302752" y="4370831"/>
            <a:ext cx="3108960" cy="548640"/>
          </a:xfrm>
          <a:prstGeom prst="rect">
            <a:avLst/>
          </a:prstGeom>
          <a:noFill/>
        </p:spPr>
        <p:txBody>
          <a:bodyPr wrap="square" lIns="0" rIns="0" tIns="0" bIns="0" anchor="t">
            <a:spAutoFit/>
          </a:bodyPr>
          <a:lstStyle/>
          <a:p>
            <a:pPr algn="l">
              <a:lnSpc>
                <a:spcPct val="105000"/>
              </a:lnSpc>
            </a:pPr>
            <a:r>
              <a:rPr sz="1500" b="0">
                <a:solidFill>
                  <a:srgbClr val="182B49"/>
                </a:solidFill>
                <a:latin typeface="Source Sans 3"/>
              </a:rPr>
              <a:t>kinds of measurement, each with its own page</a:t>
            </a:r>
          </a:p>
        </p:txBody>
      </p:sp>
      <p:sp>
        <p:nvSpPr>
          <p:cNvPr id="27" name="release"/>
          <p:cNvSpPr txBox="1"/>
          <p:nvPr/>
        </p:nvSpPr>
        <p:spPr>
          <a:xfrm>
            <a:off x="548640" y="5440680"/>
            <a:ext cx="11064240" cy="777240"/>
          </a:xfrm>
          <a:prstGeom prst="rect">
            <a:avLst/>
          </a:prstGeom>
          <a:noFill/>
        </p:spPr>
        <p:txBody>
          <a:bodyPr wrap="square" lIns="0" rIns="0" tIns="0" bIns="0" anchor="t">
            <a:spAutoFit/>
          </a:bodyPr>
          <a:lstStyle/>
          <a:p>
            <a:pPr algn="l">
              <a:spcAft>
                <a:spcPts val="400"/>
              </a:spcAft>
            </a:pPr>
            <a:r>
              <a:rPr sz="1700" b="1">
                <a:solidFill>
                  <a:srgbClr val="00629B"/>
                </a:solidFill>
                <a:latin typeface="Source Sans 3"/>
              </a:rPr>
              <a:t>Release v2026.10.01 · DOI 10.5281/zenodo.23085119</a:t>
            </a:r>
          </a:p>
          <a:p>
            <a:pPr algn="l">
              <a:spcAft>
                <a:spcPts val="400"/>
              </a:spcAft>
            </a:pPr>
            <a:r>
              <a:rPr sz="1600" b="0">
                <a:solidFill>
                  <a:srgbClr val="182B49"/>
                </a:solidFill>
                <a:latin typeface="Source Sans 3"/>
              </a:rPr>
              <a:t>Every release is frozen and fingerprinted: cite the DOI, and anyone gets exactly the files we published.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5 · BETTY</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Data finder app</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10</a:t>
            </a:r>
          </a:p>
        </p:txBody>
      </p:sp>
      <p:sp>
        <p:nvSpPr>
          <p:cNvPr id="8" name="sand band"/>
          <p:cNvSpPr/>
          <p:nvPr/>
        </p:nvSpPr>
        <p:spPr>
          <a:xfrm>
            <a:off x="0" y="1572768"/>
            <a:ext cx="12191695" cy="4645152"/>
          </a:xfrm>
          <a:prstGeom prst="rect">
            <a:avLst/>
          </a:prstGeom>
          <a:solidFill>
            <a:srgbClr val="F5F0E6"/>
          </a:solidFill>
          <a:ln>
            <a:noFill/>
          </a:ln>
          <a:effectLst/>
        </p:spPr>
        <p:txBody>
          <a:bodyPr rtlCol="0" anchor="ctr"/>
          <a:lstStyle/>
          <a:p>
            <a:pPr algn="ctr"/>
          </a:p>
        </p:txBody>
      </p:sp>
      <p:sp>
        <p:nvSpPr>
          <p:cNvPr id="9" name="eyebrow"/>
          <p:cNvSpPr txBox="1"/>
          <p:nvPr/>
        </p:nvSpPr>
        <p:spPr>
          <a:xfrm>
            <a:off x="548640" y="1938528"/>
            <a:ext cx="5486400" cy="274320"/>
          </a:xfrm>
          <a:prstGeom prst="rect">
            <a:avLst/>
          </a:prstGeom>
          <a:noFill/>
        </p:spPr>
        <p:txBody>
          <a:bodyPr wrap="square" lIns="0" rIns="0" tIns="0" bIns="0" anchor="t">
            <a:spAutoFit/>
          </a:bodyPr>
          <a:lstStyle/>
          <a:p>
            <a:pPr algn="l"/>
            <a:r>
              <a:rPr sz="1100" b="1" spc="90">
                <a:solidFill>
                  <a:srgbClr val="66686A"/>
                </a:solidFill>
                <a:latin typeface="Source Sans 3"/>
              </a:rPr>
              <a:t>PLACEHOLDER</a:t>
            </a:r>
          </a:p>
        </p:txBody>
      </p:sp>
      <p:sp>
        <p:nvSpPr>
          <p:cNvPr id="10" name="body"/>
          <p:cNvSpPr txBox="1"/>
          <p:nvPr/>
        </p:nvSpPr>
        <p:spPr>
          <a:xfrm>
            <a:off x="548640" y="2331720"/>
            <a:ext cx="10424160" cy="3291840"/>
          </a:xfrm>
          <a:prstGeom prst="rect">
            <a:avLst/>
          </a:prstGeom>
          <a:noFill/>
        </p:spPr>
        <p:txBody>
          <a:bodyPr wrap="square" lIns="0" rIns="0" tIns="0" bIns="0" anchor="t">
            <a:spAutoFit/>
          </a:bodyPr>
          <a:lstStyle/>
          <a:p>
            <a:pPr algn="l">
              <a:spcAft>
                <a:spcPts val="800"/>
              </a:spcAft>
            </a:pPr>
            <a:r>
              <a:rPr sz="2000" b="0">
                <a:solidFill>
                  <a:srgbClr val="182B49"/>
                </a:solidFill>
                <a:latin typeface="Source Sans 3"/>
              </a:rPr>
              <a:t>Betty's slides go here.</a:t>
            </a:r>
          </a:p>
          <a:p>
            <a:pPr algn="l">
              <a:spcAft>
                <a:spcPts val="800"/>
              </a:spcAft>
            </a:pPr>
            <a:r>
              <a:rPr sz="2000" b="0">
                <a:solidFill>
                  <a:srgbClr val="182B49"/>
                </a:solidFill>
                <a:latin typeface="Source Sans 3"/>
              </a:rPr>
              <a:t>From Erin's skeleton: "Curious what data have/are being collected on the CalCOFI platform?"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6 · EXPLORE · 1 OF 7</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3600" b="0" cap="all">
                <a:solidFill>
                  <a:srgbClr val="182B49"/>
                </a:solidFill>
                <a:latin typeface="Teko"/>
              </a:rPr>
              <a:t>Pick what you care about, see every place it was found</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calcofi.io/explore</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11</a:t>
            </a:r>
          </a:p>
        </p:txBody>
      </p:sp>
      <p:pic>
        <p:nvPicPr>
          <p:cNvPr id="8" name="screenshot" descr="31634b7902d78e281cc4e596999668d19ccf1d20.png"/>
          <p:cNvPicPr>
            <a:picLocks noChangeAspect="1"/>
          </p:cNvPicPr>
          <p:nvPr/>
        </p:nvPicPr>
        <p:blipFill>
          <a:blip r:embed="rId4"/>
          <a:stretch>
            <a:fillRect/>
          </a:stretch>
        </p:blipFill>
        <p:spPr>
          <a:xfrm>
            <a:off x="548640" y="1572768"/>
            <a:ext cx="7432243" cy="4645152"/>
          </a:xfrm>
          <a:prstGeom prst="rect">
            <a:avLst/>
          </a:prstGeom>
          <a:ln w="9525">
            <a:solidFill>
              <a:srgbClr val="DDDDDD"/>
            </a:solidFill>
          </a:ln>
        </p:spPr>
      </p:pic>
      <p:sp>
        <p:nvSpPr>
          <p:cNvPr id="9" name="caption"/>
          <p:cNvSpPr txBox="1"/>
          <p:nvPr/>
        </p:nvSpPr>
        <p:spPr>
          <a:xfrm>
            <a:off x="8273491" y="1618488"/>
            <a:ext cx="3369564" cy="3291840"/>
          </a:xfrm>
          <a:prstGeom prst="rect">
            <a:avLst/>
          </a:prstGeom>
          <a:noFill/>
        </p:spPr>
        <p:txBody>
          <a:bodyPr wrap="square" lIns="0" rIns="0" tIns="0" bIns="0" anchor="t">
            <a:spAutoFit/>
          </a:bodyPr>
          <a:lstStyle/>
          <a:p>
            <a:pPr algn="l">
              <a:lnSpc>
                <a:spcPct val="115000"/>
              </a:lnSpc>
              <a:spcAft>
                <a:spcPts val="1000"/>
              </a:spcAft>
            </a:pPr>
            <a:r>
              <a:rPr sz="1600" b="0">
                <a:solidFill>
                  <a:srgbClr val="182B49"/>
                </a:solidFill>
                <a:latin typeface="Source Sans 3"/>
              </a:rPr>
              <a:t>Choose an organism or a measurement. Each dot is a station where CalCOFI has looked, shaded by how much was there.</a:t>
            </a:r>
          </a:p>
          <a:p>
            <a:pPr algn="l">
              <a:lnSpc>
                <a:spcPct val="115000"/>
              </a:lnSpc>
              <a:spcAft>
                <a:spcPts val="1000"/>
              </a:spcAft>
            </a:pPr>
            <a:r>
              <a:rPr sz="1600" b="0">
                <a:solidFill>
                  <a:srgbClr val="182B49"/>
                </a:solidFill>
                <a:latin typeface="Source Sans 3"/>
              </a:rPr>
              <a:t>Here: Pacific sardine larvae, over all years. The bars along the bottom show when.</a:t>
            </a:r>
          </a:p>
        </p:txBody>
      </p:sp>
      <p:sp>
        <p:nvSpPr>
          <p:cNvPr id="10" name="try-it chip"/>
          <p:cNvSpPr/>
          <p:nvPr/>
        </p:nvSpPr>
        <p:spPr>
          <a:xfrm>
            <a:off x="8273491" y="5074920"/>
            <a:ext cx="868680" cy="292608"/>
          </a:xfrm>
          <a:prstGeom prst="roundRect">
            <a:avLst>
              <a:gd name="adj" fmla="val 50000"/>
            </a:avLst>
          </a:prstGeom>
          <a:solidFill>
            <a:srgbClr val="FFCD00"/>
          </a:solidFill>
          <a:ln>
            <a:noFill/>
          </a:ln>
          <a:effectLst/>
        </p:spPr>
        <p:txBody>
          <a:bodyPr rtlCol="0" anchor="ctr"/>
          <a:lstStyle/>
          <a:p>
            <a:pPr algn="ctr"/>
          </a:p>
        </p:txBody>
      </p:sp>
      <p:sp>
        <p:nvSpPr>
          <p:cNvPr id="11" name="try-it label"/>
          <p:cNvSpPr txBox="1"/>
          <p:nvPr/>
        </p:nvSpPr>
        <p:spPr>
          <a:xfrm>
            <a:off x="8273491" y="5074920"/>
            <a:ext cx="868680" cy="292608"/>
          </a:xfrm>
          <a:prstGeom prst="rect">
            <a:avLst/>
          </a:prstGeom>
          <a:noFill/>
        </p:spPr>
        <p:txBody>
          <a:bodyPr wrap="square" lIns="0" rIns="0" tIns="0" bIns="0" anchor="ctr">
            <a:spAutoFit/>
          </a:bodyPr>
          <a:lstStyle/>
          <a:p>
            <a:pPr algn="ctr"/>
            <a:r>
              <a:rPr sz="1100" b="1" spc="90">
                <a:solidFill>
                  <a:srgbClr val="182B49"/>
                </a:solidFill>
                <a:latin typeface="Source Sans 3"/>
              </a:rPr>
              <a:t>TRY IT</a:t>
            </a:r>
          </a:p>
        </p:txBody>
      </p:sp>
      <p:sp>
        <p:nvSpPr>
          <p:cNvPr id="12" name="try-it url"/>
          <p:cNvSpPr txBox="1"/>
          <p:nvPr/>
        </p:nvSpPr>
        <p:spPr>
          <a:xfrm>
            <a:off x="8273491" y="5458968"/>
            <a:ext cx="3369564" cy="685800"/>
          </a:xfrm>
          <a:prstGeom prst="rect">
            <a:avLst/>
          </a:prstGeom>
          <a:noFill/>
        </p:spPr>
        <p:txBody>
          <a:bodyPr wrap="square" lIns="0" rIns="0" tIns="0" bIns="0" anchor="t">
            <a:spAutoFit/>
          </a:bodyPr>
          <a:lstStyle/>
          <a:p>
            <a:pPr algn="l"/>
            <a:r>
              <a:rPr sz="1400" b="1">
                <a:solidFill>
                  <a:srgbClr val="00629B"/>
                </a:solidFill>
                <a:latin typeface="Source Sans 3"/>
              </a:rPr>
              <a:t>calcofi.io/explore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6 · EXPLORE · 2 OF 7</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One sentence says what you are looking at</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calcofi.io/explore</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12</a:t>
            </a:r>
          </a:p>
        </p:txBody>
      </p:sp>
      <p:pic>
        <p:nvPicPr>
          <p:cNvPr id="8" name="screenshot" descr="4c13c2b0978b6064bcdfd75eae110596e5998fa8.png"/>
          <p:cNvPicPr>
            <a:picLocks noChangeAspect="1"/>
          </p:cNvPicPr>
          <p:nvPr/>
        </p:nvPicPr>
        <p:blipFill>
          <a:blip r:embed="rId4"/>
          <a:stretch>
            <a:fillRect/>
          </a:stretch>
        </p:blipFill>
        <p:spPr>
          <a:xfrm>
            <a:off x="548640" y="1572768"/>
            <a:ext cx="11094415" cy="3304885"/>
          </a:xfrm>
          <a:prstGeom prst="rect">
            <a:avLst/>
          </a:prstGeom>
          <a:ln w="9525">
            <a:solidFill>
              <a:srgbClr val="DDDDDD"/>
            </a:solidFill>
          </a:ln>
        </p:spPr>
      </p:pic>
      <p:sp>
        <p:nvSpPr>
          <p:cNvPr id="9" name="caption 1"/>
          <p:cNvSpPr txBox="1"/>
          <p:nvPr/>
        </p:nvSpPr>
        <p:spPr>
          <a:xfrm>
            <a:off x="548640" y="5151973"/>
            <a:ext cx="5349240" cy="1097280"/>
          </a:xfrm>
          <a:prstGeom prst="rect">
            <a:avLst/>
          </a:prstGeom>
          <a:noFill/>
        </p:spPr>
        <p:txBody>
          <a:bodyPr wrap="square" lIns="0" rIns="0" tIns="0" bIns="0" anchor="t">
            <a:spAutoFit/>
          </a:bodyPr>
          <a:lstStyle/>
          <a:p>
            <a:pPr algn="l">
              <a:lnSpc>
                <a:spcPct val="115000"/>
              </a:lnSpc>
            </a:pPr>
            <a:r>
              <a:rPr sz="1600" b="0">
                <a:solidFill>
                  <a:srgbClr val="182B49"/>
                </a:solidFill>
                <a:latin typeface="Source Sans 3"/>
              </a:rPr>
              <a:t>Every word in the sentence is a control: change the organism, the years or the depth and the map follows.</a:t>
            </a:r>
          </a:p>
        </p:txBody>
      </p:sp>
      <p:sp>
        <p:nvSpPr>
          <p:cNvPr id="10" name="caption 2"/>
          <p:cNvSpPr txBox="1"/>
          <p:nvPr/>
        </p:nvSpPr>
        <p:spPr>
          <a:xfrm>
            <a:off x="6263640" y="5151973"/>
            <a:ext cx="5349240" cy="1097280"/>
          </a:xfrm>
          <a:prstGeom prst="rect">
            <a:avLst/>
          </a:prstGeom>
          <a:noFill/>
        </p:spPr>
        <p:txBody>
          <a:bodyPr wrap="square" lIns="0" rIns="0" tIns="0" bIns="0" anchor="t">
            <a:spAutoFit/>
          </a:bodyPr>
          <a:lstStyle/>
          <a:p>
            <a:pPr algn="l">
              <a:lnSpc>
                <a:spcPct val="115000"/>
              </a:lnSpc>
            </a:pPr>
            <a:r>
              <a:rPr sz="1600" b="0">
                <a:solidFill>
                  <a:srgbClr val="182B49"/>
                </a:solidFill>
                <a:latin typeface="Source Sans 3"/>
              </a:rPr>
              <a:t>The last chip changes the way of looking. There are six lenses, and your selection stays put when you switch.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6 · EXPLORE · 3 OF 7</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Hexagons: the pattern, not the points</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calcofi.io/explore/?lens=hex</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13</a:t>
            </a:r>
          </a:p>
        </p:txBody>
      </p:sp>
      <p:pic>
        <p:nvPicPr>
          <p:cNvPr id="8" name="screenshot" descr="9f936a8f6cb5b55a8786be165b6131385ecfeb17.png"/>
          <p:cNvPicPr>
            <a:picLocks noChangeAspect="1"/>
          </p:cNvPicPr>
          <p:nvPr/>
        </p:nvPicPr>
        <p:blipFill>
          <a:blip r:embed="rId4"/>
          <a:stretch>
            <a:fillRect/>
          </a:stretch>
        </p:blipFill>
        <p:spPr>
          <a:xfrm>
            <a:off x="548640" y="1572768"/>
            <a:ext cx="7432243" cy="4645152"/>
          </a:xfrm>
          <a:prstGeom prst="rect">
            <a:avLst/>
          </a:prstGeom>
          <a:ln w="9525">
            <a:solidFill>
              <a:srgbClr val="DDDDDD"/>
            </a:solidFill>
          </a:ln>
        </p:spPr>
      </p:pic>
      <p:sp>
        <p:nvSpPr>
          <p:cNvPr id="9" name="caption"/>
          <p:cNvSpPr txBox="1"/>
          <p:nvPr/>
        </p:nvSpPr>
        <p:spPr>
          <a:xfrm>
            <a:off x="8273491" y="1618488"/>
            <a:ext cx="3369564" cy="3291840"/>
          </a:xfrm>
          <a:prstGeom prst="rect">
            <a:avLst/>
          </a:prstGeom>
          <a:noFill/>
        </p:spPr>
        <p:txBody>
          <a:bodyPr wrap="square" lIns="0" rIns="0" tIns="0" bIns="0" anchor="t">
            <a:spAutoFit/>
          </a:bodyPr>
          <a:lstStyle/>
          <a:p>
            <a:pPr algn="l">
              <a:lnSpc>
                <a:spcPct val="115000"/>
              </a:lnSpc>
              <a:spcAft>
                <a:spcPts val="1000"/>
              </a:spcAft>
            </a:pPr>
            <a:r>
              <a:rPr sz="1600" b="0">
                <a:solidFill>
                  <a:srgbClr val="182B49"/>
                </a:solidFill>
                <a:latin typeface="Source Sans 3"/>
              </a:rPr>
              <a:t>The same sardine larvae, pooled into honeycomb cells about 8.5 km across.</a:t>
            </a:r>
          </a:p>
          <a:p>
            <a:pPr algn="l">
              <a:lnSpc>
                <a:spcPct val="115000"/>
              </a:lnSpc>
              <a:spcAft>
                <a:spcPts val="1000"/>
              </a:spcAft>
            </a:pPr>
            <a:r>
              <a:rPr sz="1600" b="0">
                <a:solidFill>
                  <a:srgbClr val="182B49"/>
                </a:solidFill>
                <a:latin typeface="Source Sans 3"/>
              </a:rPr>
              <a:t>Good for seeing where a species lives, without being distracted by single stations.</a:t>
            </a:r>
          </a:p>
        </p:txBody>
      </p:sp>
      <p:sp>
        <p:nvSpPr>
          <p:cNvPr id="10" name="try-it chip"/>
          <p:cNvSpPr/>
          <p:nvPr/>
        </p:nvSpPr>
        <p:spPr>
          <a:xfrm>
            <a:off x="8273491" y="5074920"/>
            <a:ext cx="868680" cy="292608"/>
          </a:xfrm>
          <a:prstGeom prst="roundRect">
            <a:avLst>
              <a:gd name="adj" fmla="val 50000"/>
            </a:avLst>
          </a:prstGeom>
          <a:solidFill>
            <a:srgbClr val="FFCD00"/>
          </a:solidFill>
          <a:ln>
            <a:noFill/>
          </a:ln>
          <a:effectLst/>
        </p:spPr>
        <p:txBody>
          <a:bodyPr rtlCol="0" anchor="ctr"/>
          <a:lstStyle/>
          <a:p>
            <a:pPr algn="ctr"/>
          </a:p>
        </p:txBody>
      </p:sp>
      <p:sp>
        <p:nvSpPr>
          <p:cNvPr id="11" name="try-it label"/>
          <p:cNvSpPr txBox="1"/>
          <p:nvPr/>
        </p:nvSpPr>
        <p:spPr>
          <a:xfrm>
            <a:off x="8273491" y="5074920"/>
            <a:ext cx="868680" cy="292608"/>
          </a:xfrm>
          <a:prstGeom prst="rect">
            <a:avLst/>
          </a:prstGeom>
          <a:noFill/>
        </p:spPr>
        <p:txBody>
          <a:bodyPr wrap="square" lIns="0" rIns="0" tIns="0" bIns="0" anchor="ctr">
            <a:spAutoFit/>
          </a:bodyPr>
          <a:lstStyle/>
          <a:p>
            <a:pPr algn="ctr"/>
            <a:r>
              <a:rPr sz="1100" b="1" spc="90">
                <a:solidFill>
                  <a:srgbClr val="182B49"/>
                </a:solidFill>
                <a:latin typeface="Source Sans 3"/>
              </a:rPr>
              <a:t>TRY IT</a:t>
            </a:r>
          </a:p>
        </p:txBody>
      </p:sp>
      <p:sp>
        <p:nvSpPr>
          <p:cNvPr id="12" name="try-it url"/>
          <p:cNvSpPr txBox="1"/>
          <p:nvPr/>
        </p:nvSpPr>
        <p:spPr>
          <a:xfrm>
            <a:off x="8273491" y="5458968"/>
            <a:ext cx="3369564" cy="685800"/>
          </a:xfrm>
          <a:prstGeom prst="rect">
            <a:avLst/>
          </a:prstGeom>
          <a:noFill/>
        </p:spPr>
        <p:txBody>
          <a:bodyPr wrap="square" lIns="0" rIns="0" tIns="0" bIns="0" anchor="t">
            <a:spAutoFit/>
          </a:bodyPr>
          <a:lstStyle/>
          <a:p>
            <a:pPr algn="l"/>
            <a:r>
              <a:rPr sz="1400" b="1">
                <a:solidFill>
                  <a:srgbClr val="00629B"/>
                </a:solidFill>
                <a:latin typeface="Source Sans 3"/>
              </a:rPr>
              <a:t>calcofi.io/explore/?lens=hex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6 · EXPLORE · 4 OF 7</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3600" b="0" cap="all">
                <a:solidFill>
                  <a:srgbClr val="182B49"/>
                </a:solidFill>
                <a:latin typeface="Teko"/>
              </a:rPr>
              <a:t>Contours: filling in the water between the stations</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calcofi.io/explore/?lens=contour&amp;var=temperature</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14</a:t>
            </a:r>
          </a:p>
        </p:txBody>
      </p:sp>
      <p:pic>
        <p:nvPicPr>
          <p:cNvPr id="8" name="screenshot" descr="756eacf56566c6a0b08d14d82274da4b93749e26.png"/>
          <p:cNvPicPr>
            <a:picLocks noChangeAspect="1"/>
          </p:cNvPicPr>
          <p:nvPr/>
        </p:nvPicPr>
        <p:blipFill>
          <a:blip r:embed="rId4"/>
          <a:stretch>
            <a:fillRect/>
          </a:stretch>
        </p:blipFill>
        <p:spPr>
          <a:xfrm>
            <a:off x="548640" y="1572768"/>
            <a:ext cx="7432243" cy="4645152"/>
          </a:xfrm>
          <a:prstGeom prst="rect">
            <a:avLst/>
          </a:prstGeom>
          <a:ln w="9525">
            <a:solidFill>
              <a:srgbClr val="DDDDDD"/>
            </a:solidFill>
          </a:ln>
        </p:spPr>
      </p:pic>
      <p:sp>
        <p:nvSpPr>
          <p:cNvPr id="9" name="caption"/>
          <p:cNvSpPr txBox="1"/>
          <p:nvPr/>
        </p:nvSpPr>
        <p:spPr>
          <a:xfrm>
            <a:off x="8273491" y="1618488"/>
            <a:ext cx="3369564" cy="3291840"/>
          </a:xfrm>
          <a:prstGeom prst="rect">
            <a:avLst/>
          </a:prstGeom>
          <a:noFill/>
        </p:spPr>
        <p:txBody>
          <a:bodyPr wrap="square" lIns="0" rIns="0" tIns="0" bIns="0" anchor="t">
            <a:spAutoFit/>
          </a:bodyPr>
          <a:lstStyle/>
          <a:p>
            <a:pPr algn="l">
              <a:lnSpc>
                <a:spcPct val="115000"/>
              </a:lnSpc>
              <a:spcAft>
                <a:spcPts val="1000"/>
              </a:spcAft>
            </a:pPr>
            <a:r>
              <a:rPr sz="1600" b="0">
                <a:solidFill>
                  <a:srgbClr val="182B49"/>
                </a:solidFill>
                <a:latin typeface="Source Sans 3"/>
              </a:rPr>
              <a:t>Temperature, estimated between the stations that measured it, and drawn as a surface.</a:t>
            </a:r>
          </a:p>
          <a:p>
            <a:pPr algn="l">
              <a:lnSpc>
                <a:spcPct val="115000"/>
              </a:lnSpc>
              <a:spcAft>
                <a:spcPts val="1000"/>
              </a:spcAft>
            </a:pPr>
            <a:r>
              <a:rPr sz="1600" b="0">
                <a:solidFill>
                  <a:srgbClr val="182B49"/>
                </a:solidFill>
                <a:latin typeface="Source Sans 3"/>
              </a:rPr>
              <a:t>It is computed in your browser, and the app can show how uncertain the estimate is.</a:t>
            </a:r>
          </a:p>
        </p:txBody>
      </p:sp>
      <p:sp>
        <p:nvSpPr>
          <p:cNvPr id="10" name="try-it chip"/>
          <p:cNvSpPr/>
          <p:nvPr/>
        </p:nvSpPr>
        <p:spPr>
          <a:xfrm>
            <a:off x="8273491" y="5074920"/>
            <a:ext cx="868680" cy="292608"/>
          </a:xfrm>
          <a:prstGeom prst="roundRect">
            <a:avLst>
              <a:gd name="adj" fmla="val 50000"/>
            </a:avLst>
          </a:prstGeom>
          <a:solidFill>
            <a:srgbClr val="FFCD00"/>
          </a:solidFill>
          <a:ln>
            <a:noFill/>
          </a:ln>
          <a:effectLst/>
        </p:spPr>
        <p:txBody>
          <a:bodyPr rtlCol="0" anchor="ctr"/>
          <a:lstStyle/>
          <a:p>
            <a:pPr algn="ctr"/>
          </a:p>
        </p:txBody>
      </p:sp>
      <p:sp>
        <p:nvSpPr>
          <p:cNvPr id="11" name="try-it label"/>
          <p:cNvSpPr txBox="1"/>
          <p:nvPr/>
        </p:nvSpPr>
        <p:spPr>
          <a:xfrm>
            <a:off x="8273491" y="5074920"/>
            <a:ext cx="868680" cy="292608"/>
          </a:xfrm>
          <a:prstGeom prst="rect">
            <a:avLst/>
          </a:prstGeom>
          <a:noFill/>
        </p:spPr>
        <p:txBody>
          <a:bodyPr wrap="square" lIns="0" rIns="0" tIns="0" bIns="0" anchor="ctr">
            <a:spAutoFit/>
          </a:bodyPr>
          <a:lstStyle/>
          <a:p>
            <a:pPr algn="ctr"/>
            <a:r>
              <a:rPr sz="1100" b="1" spc="90">
                <a:solidFill>
                  <a:srgbClr val="182B49"/>
                </a:solidFill>
                <a:latin typeface="Source Sans 3"/>
              </a:rPr>
              <a:t>TRY IT</a:t>
            </a:r>
          </a:p>
        </p:txBody>
      </p:sp>
      <p:sp>
        <p:nvSpPr>
          <p:cNvPr id="12" name="try-it url"/>
          <p:cNvSpPr txBox="1"/>
          <p:nvPr/>
        </p:nvSpPr>
        <p:spPr>
          <a:xfrm>
            <a:off x="8273491" y="5458968"/>
            <a:ext cx="3369564" cy="685800"/>
          </a:xfrm>
          <a:prstGeom prst="rect">
            <a:avLst/>
          </a:prstGeom>
          <a:noFill/>
        </p:spPr>
        <p:txBody>
          <a:bodyPr wrap="square" lIns="0" rIns="0" tIns="0" bIns="0" anchor="t">
            <a:spAutoFit/>
          </a:bodyPr>
          <a:lstStyle/>
          <a:p>
            <a:pPr algn="l"/>
            <a:r>
              <a:rPr sz="1400" b="1">
                <a:solidFill>
                  <a:srgbClr val="00629B"/>
                </a:solidFill>
                <a:latin typeface="Source Sans 3"/>
              </a:rPr>
              <a:t>calcofi.io/explore/?lens=contour&amp;var=temperature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6 · EXPLORE · 5 OF 7</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Cruises: follow one voyage</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calcofi.io/explore/?lens=cruise&amp;var=temperature</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15</a:t>
            </a:r>
          </a:p>
        </p:txBody>
      </p:sp>
      <p:pic>
        <p:nvPicPr>
          <p:cNvPr id="8" name="screenshot" descr="16cfc526c5b0275da22f982409ebffad2dcfdeb4.png"/>
          <p:cNvPicPr>
            <a:picLocks noChangeAspect="1"/>
          </p:cNvPicPr>
          <p:nvPr/>
        </p:nvPicPr>
        <p:blipFill>
          <a:blip r:embed="rId4"/>
          <a:stretch>
            <a:fillRect/>
          </a:stretch>
        </p:blipFill>
        <p:spPr>
          <a:xfrm>
            <a:off x="548640" y="1572768"/>
            <a:ext cx="7432243" cy="4645152"/>
          </a:xfrm>
          <a:prstGeom prst="rect">
            <a:avLst/>
          </a:prstGeom>
          <a:ln w="9525">
            <a:solidFill>
              <a:srgbClr val="DDDDDD"/>
            </a:solidFill>
          </a:ln>
        </p:spPr>
      </p:pic>
      <p:sp>
        <p:nvSpPr>
          <p:cNvPr id="9" name="caption"/>
          <p:cNvSpPr txBox="1"/>
          <p:nvPr/>
        </p:nvSpPr>
        <p:spPr>
          <a:xfrm>
            <a:off x="8273491" y="1618488"/>
            <a:ext cx="3369564" cy="3291840"/>
          </a:xfrm>
          <a:prstGeom prst="rect">
            <a:avLst/>
          </a:prstGeom>
          <a:noFill/>
        </p:spPr>
        <p:txBody>
          <a:bodyPr wrap="square" lIns="0" rIns="0" tIns="0" bIns="0" anchor="t">
            <a:spAutoFit/>
          </a:bodyPr>
          <a:lstStyle/>
          <a:p>
            <a:pPr algn="l">
              <a:lnSpc>
                <a:spcPct val="115000"/>
              </a:lnSpc>
              <a:spcAft>
                <a:spcPts val="1000"/>
              </a:spcAft>
            </a:pPr>
            <a:r>
              <a:rPr sz="1600" b="0">
                <a:solidFill>
                  <a:srgbClr val="182B49"/>
                </a:solidFill>
                <a:latin typeface="Source Sans 3"/>
              </a:rPr>
              <a:t>One ship's track, with its stations coloured by temperature.</a:t>
            </a:r>
          </a:p>
          <a:p>
            <a:pPr algn="l">
              <a:lnSpc>
                <a:spcPct val="115000"/>
              </a:lnSpc>
              <a:spcAft>
                <a:spcPts val="1000"/>
              </a:spcAft>
            </a:pPr>
            <a:r>
              <a:rPr sz="1600" b="0">
                <a:solidFill>
                  <a:srgbClr val="182B49"/>
                </a:solidFill>
                <a:latin typeface="Source Sans 3"/>
              </a:rPr>
              <a:t>Underneath, every cruise since the record began is a dot: this voyage in context.</a:t>
            </a:r>
          </a:p>
        </p:txBody>
      </p:sp>
      <p:sp>
        <p:nvSpPr>
          <p:cNvPr id="10" name="try-it chip"/>
          <p:cNvSpPr/>
          <p:nvPr/>
        </p:nvSpPr>
        <p:spPr>
          <a:xfrm>
            <a:off x="8273491" y="5074920"/>
            <a:ext cx="868680" cy="292608"/>
          </a:xfrm>
          <a:prstGeom prst="roundRect">
            <a:avLst>
              <a:gd name="adj" fmla="val 50000"/>
            </a:avLst>
          </a:prstGeom>
          <a:solidFill>
            <a:srgbClr val="FFCD00"/>
          </a:solidFill>
          <a:ln>
            <a:noFill/>
          </a:ln>
          <a:effectLst/>
        </p:spPr>
        <p:txBody>
          <a:bodyPr rtlCol="0" anchor="ctr"/>
          <a:lstStyle/>
          <a:p>
            <a:pPr algn="ctr"/>
          </a:p>
        </p:txBody>
      </p:sp>
      <p:sp>
        <p:nvSpPr>
          <p:cNvPr id="11" name="try-it label"/>
          <p:cNvSpPr txBox="1"/>
          <p:nvPr/>
        </p:nvSpPr>
        <p:spPr>
          <a:xfrm>
            <a:off x="8273491" y="5074920"/>
            <a:ext cx="868680" cy="292608"/>
          </a:xfrm>
          <a:prstGeom prst="rect">
            <a:avLst/>
          </a:prstGeom>
          <a:noFill/>
        </p:spPr>
        <p:txBody>
          <a:bodyPr wrap="square" lIns="0" rIns="0" tIns="0" bIns="0" anchor="ctr">
            <a:spAutoFit/>
          </a:bodyPr>
          <a:lstStyle/>
          <a:p>
            <a:pPr algn="ctr"/>
            <a:r>
              <a:rPr sz="1100" b="1" spc="90">
                <a:solidFill>
                  <a:srgbClr val="182B49"/>
                </a:solidFill>
                <a:latin typeface="Source Sans 3"/>
              </a:rPr>
              <a:t>TRY IT</a:t>
            </a:r>
          </a:p>
        </p:txBody>
      </p:sp>
      <p:sp>
        <p:nvSpPr>
          <p:cNvPr id="12" name="try-it url"/>
          <p:cNvSpPr txBox="1"/>
          <p:nvPr/>
        </p:nvSpPr>
        <p:spPr>
          <a:xfrm>
            <a:off x="8273491" y="5458968"/>
            <a:ext cx="3369564" cy="685800"/>
          </a:xfrm>
          <a:prstGeom prst="rect">
            <a:avLst/>
          </a:prstGeom>
          <a:noFill/>
        </p:spPr>
        <p:txBody>
          <a:bodyPr wrap="square" lIns="0" rIns="0" tIns="0" bIns="0" anchor="t">
            <a:spAutoFit/>
          </a:bodyPr>
          <a:lstStyle/>
          <a:p>
            <a:pPr algn="l"/>
            <a:r>
              <a:rPr sz="1400" b="1">
                <a:solidFill>
                  <a:srgbClr val="00629B"/>
                </a:solidFill>
                <a:latin typeface="Source Sans 3"/>
              </a:rPr>
              <a:t>calcofi.io/explore/?lens=cruise&amp;var=temperature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6 · EXPLORE · 6 OF 7</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Regions: the numbers inside a sanctuary</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calcofi.io/explore/?lens=region</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16</a:t>
            </a:r>
          </a:p>
        </p:txBody>
      </p:sp>
      <p:pic>
        <p:nvPicPr>
          <p:cNvPr id="8" name="screenshot" descr="e67794c51642ac98205233177733f79e6c46b3b6.png"/>
          <p:cNvPicPr>
            <a:picLocks noChangeAspect="1"/>
          </p:cNvPicPr>
          <p:nvPr/>
        </p:nvPicPr>
        <p:blipFill>
          <a:blip r:embed="rId4"/>
          <a:stretch>
            <a:fillRect/>
          </a:stretch>
        </p:blipFill>
        <p:spPr>
          <a:xfrm>
            <a:off x="548640" y="1572768"/>
            <a:ext cx="7432243" cy="4645152"/>
          </a:xfrm>
          <a:prstGeom prst="rect">
            <a:avLst/>
          </a:prstGeom>
          <a:ln w="9525">
            <a:solidFill>
              <a:srgbClr val="DDDDDD"/>
            </a:solidFill>
          </a:ln>
        </p:spPr>
      </p:pic>
      <p:sp>
        <p:nvSpPr>
          <p:cNvPr id="9" name="caption"/>
          <p:cNvSpPr txBox="1"/>
          <p:nvPr/>
        </p:nvSpPr>
        <p:spPr>
          <a:xfrm>
            <a:off x="8273491" y="1618488"/>
            <a:ext cx="3369564" cy="3291840"/>
          </a:xfrm>
          <a:prstGeom prst="rect">
            <a:avLst/>
          </a:prstGeom>
          <a:noFill/>
        </p:spPr>
        <p:txBody>
          <a:bodyPr wrap="square" lIns="0" rIns="0" tIns="0" bIns="0" anchor="t">
            <a:spAutoFit/>
          </a:bodyPr>
          <a:lstStyle/>
          <a:p>
            <a:pPr algn="l">
              <a:lnSpc>
                <a:spcPct val="115000"/>
              </a:lnSpc>
              <a:spcAft>
                <a:spcPts val="1000"/>
              </a:spcAft>
            </a:pPr>
            <a:r>
              <a:rPr sz="1600" b="0">
                <a:solidFill>
                  <a:srgbClr val="182B49"/>
                </a:solidFill>
                <a:latin typeface="Source Sans 3"/>
              </a:rPr>
              <a:t>Average sardine larvae inside each National Marine Sanctuary, ranked.</a:t>
            </a:r>
          </a:p>
          <a:p>
            <a:pPr algn="l">
              <a:lnSpc>
                <a:spcPct val="115000"/>
              </a:lnSpc>
              <a:spcAft>
                <a:spcPts val="1000"/>
              </a:spcAft>
            </a:pPr>
            <a:r>
              <a:rPr sz="1600" b="0">
                <a:solidFill>
                  <a:srgbClr val="182B49"/>
                </a:solidFill>
                <a:latin typeface="Source Sans 3"/>
              </a:rPr>
              <a:t>Swap the sanctuaries for another boundary layer and the same data is summarised there.</a:t>
            </a:r>
          </a:p>
        </p:txBody>
      </p:sp>
      <p:sp>
        <p:nvSpPr>
          <p:cNvPr id="10" name="try-it chip"/>
          <p:cNvSpPr/>
          <p:nvPr/>
        </p:nvSpPr>
        <p:spPr>
          <a:xfrm>
            <a:off x="8273491" y="5074920"/>
            <a:ext cx="868680" cy="292608"/>
          </a:xfrm>
          <a:prstGeom prst="roundRect">
            <a:avLst>
              <a:gd name="adj" fmla="val 50000"/>
            </a:avLst>
          </a:prstGeom>
          <a:solidFill>
            <a:srgbClr val="FFCD00"/>
          </a:solidFill>
          <a:ln>
            <a:noFill/>
          </a:ln>
          <a:effectLst/>
        </p:spPr>
        <p:txBody>
          <a:bodyPr rtlCol="0" anchor="ctr"/>
          <a:lstStyle/>
          <a:p>
            <a:pPr algn="ctr"/>
          </a:p>
        </p:txBody>
      </p:sp>
      <p:sp>
        <p:nvSpPr>
          <p:cNvPr id="11" name="try-it label"/>
          <p:cNvSpPr txBox="1"/>
          <p:nvPr/>
        </p:nvSpPr>
        <p:spPr>
          <a:xfrm>
            <a:off x="8273491" y="5074920"/>
            <a:ext cx="868680" cy="292608"/>
          </a:xfrm>
          <a:prstGeom prst="rect">
            <a:avLst/>
          </a:prstGeom>
          <a:noFill/>
        </p:spPr>
        <p:txBody>
          <a:bodyPr wrap="square" lIns="0" rIns="0" tIns="0" bIns="0" anchor="ctr">
            <a:spAutoFit/>
          </a:bodyPr>
          <a:lstStyle/>
          <a:p>
            <a:pPr algn="ctr"/>
            <a:r>
              <a:rPr sz="1100" b="1" spc="90">
                <a:solidFill>
                  <a:srgbClr val="182B49"/>
                </a:solidFill>
                <a:latin typeface="Source Sans 3"/>
              </a:rPr>
              <a:t>TRY IT</a:t>
            </a:r>
          </a:p>
        </p:txBody>
      </p:sp>
      <p:sp>
        <p:nvSpPr>
          <p:cNvPr id="12" name="try-it url"/>
          <p:cNvSpPr txBox="1"/>
          <p:nvPr/>
        </p:nvSpPr>
        <p:spPr>
          <a:xfrm>
            <a:off x="8273491" y="5458968"/>
            <a:ext cx="3369564" cy="685800"/>
          </a:xfrm>
          <a:prstGeom prst="rect">
            <a:avLst/>
          </a:prstGeom>
          <a:noFill/>
        </p:spPr>
        <p:txBody>
          <a:bodyPr wrap="square" lIns="0" rIns="0" tIns="0" bIns="0" anchor="t">
            <a:spAutoFit/>
          </a:bodyPr>
          <a:lstStyle/>
          <a:p>
            <a:pPr algn="l"/>
            <a:r>
              <a:rPr sz="1400" b="1">
                <a:solidFill>
                  <a:srgbClr val="00629B"/>
                </a:solidFill>
                <a:latin typeface="Source Sans 3"/>
              </a:rPr>
              <a:t>calcofi.io/explore/?lens=region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6 · EXPLORE · 7 OF 7</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Sections: the ocean in slices</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calcofi.io/explore/?lens=section&amp;line=90</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17</a:t>
            </a:r>
          </a:p>
        </p:txBody>
      </p:sp>
      <p:pic>
        <p:nvPicPr>
          <p:cNvPr id="8" name="screenshot" descr="0cdbc1b8e79bf736737b0951ec6df5d5a36115c2.png"/>
          <p:cNvPicPr>
            <a:picLocks noChangeAspect="1"/>
          </p:cNvPicPr>
          <p:nvPr/>
        </p:nvPicPr>
        <p:blipFill>
          <a:blip r:embed="rId4"/>
          <a:stretch>
            <a:fillRect/>
          </a:stretch>
        </p:blipFill>
        <p:spPr>
          <a:xfrm>
            <a:off x="548640" y="1572768"/>
            <a:ext cx="7432243" cy="4645152"/>
          </a:xfrm>
          <a:prstGeom prst="rect">
            <a:avLst/>
          </a:prstGeom>
          <a:ln w="9525">
            <a:solidFill>
              <a:srgbClr val="DDDDDD"/>
            </a:solidFill>
          </a:ln>
        </p:spPr>
      </p:pic>
      <p:sp>
        <p:nvSpPr>
          <p:cNvPr id="9" name="caption"/>
          <p:cNvSpPr txBox="1"/>
          <p:nvPr/>
        </p:nvSpPr>
        <p:spPr>
          <a:xfrm>
            <a:off x="8273491" y="1618488"/>
            <a:ext cx="3369564" cy="3291840"/>
          </a:xfrm>
          <a:prstGeom prst="rect">
            <a:avLst/>
          </a:prstGeom>
          <a:noFill/>
        </p:spPr>
        <p:txBody>
          <a:bodyPr wrap="square" lIns="0" rIns="0" tIns="0" bIns="0" anchor="t">
            <a:spAutoFit/>
          </a:bodyPr>
          <a:lstStyle/>
          <a:p>
            <a:pPr algn="l">
              <a:lnSpc>
                <a:spcPct val="115000"/>
              </a:lnSpc>
              <a:spcAft>
                <a:spcPts val="1000"/>
              </a:spcAft>
            </a:pPr>
            <a:r>
              <a:rPr sz="1600" b="0">
                <a:solidFill>
                  <a:srgbClr val="182B49"/>
                </a:solidFill>
                <a:latin typeface="Source Sans 3"/>
              </a:rPr>
              <a:t>A slice down through the water along one line of stations: offshore on the left, depth going down.</a:t>
            </a:r>
          </a:p>
          <a:p>
            <a:pPr algn="l">
              <a:lnSpc>
                <a:spcPct val="115000"/>
              </a:lnSpc>
              <a:spcAft>
                <a:spcPts val="1000"/>
              </a:spcAft>
            </a:pPr>
            <a:r>
              <a:rPr sz="1600" b="0">
                <a:solidFill>
                  <a:srgbClr val="182B49"/>
                </a:solidFill>
                <a:latin typeface="Source Sans 3"/>
              </a:rPr>
              <a:t>Warm water floats on top and cools quickly with depth.</a:t>
            </a:r>
          </a:p>
        </p:txBody>
      </p:sp>
      <p:sp>
        <p:nvSpPr>
          <p:cNvPr id="10" name="try-it chip"/>
          <p:cNvSpPr/>
          <p:nvPr/>
        </p:nvSpPr>
        <p:spPr>
          <a:xfrm>
            <a:off x="8273491" y="5074920"/>
            <a:ext cx="868680" cy="292608"/>
          </a:xfrm>
          <a:prstGeom prst="roundRect">
            <a:avLst>
              <a:gd name="adj" fmla="val 50000"/>
            </a:avLst>
          </a:prstGeom>
          <a:solidFill>
            <a:srgbClr val="FFCD00"/>
          </a:solidFill>
          <a:ln>
            <a:noFill/>
          </a:ln>
          <a:effectLst/>
        </p:spPr>
        <p:txBody>
          <a:bodyPr rtlCol="0" anchor="ctr"/>
          <a:lstStyle/>
          <a:p>
            <a:pPr algn="ctr"/>
          </a:p>
        </p:txBody>
      </p:sp>
      <p:sp>
        <p:nvSpPr>
          <p:cNvPr id="11" name="try-it label"/>
          <p:cNvSpPr txBox="1"/>
          <p:nvPr/>
        </p:nvSpPr>
        <p:spPr>
          <a:xfrm>
            <a:off x="8273491" y="5074920"/>
            <a:ext cx="868680" cy="292608"/>
          </a:xfrm>
          <a:prstGeom prst="rect">
            <a:avLst/>
          </a:prstGeom>
          <a:noFill/>
        </p:spPr>
        <p:txBody>
          <a:bodyPr wrap="square" lIns="0" rIns="0" tIns="0" bIns="0" anchor="ctr">
            <a:spAutoFit/>
          </a:bodyPr>
          <a:lstStyle/>
          <a:p>
            <a:pPr algn="ctr"/>
            <a:r>
              <a:rPr sz="1100" b="1" spc="90">
                <a:solidFill>
                  <a:srgbClr val="182B49"/>
                </a:solidFill>
                <a:latin typeface="Source Sans 3"/>
              </a:rPr>
              <a:t>TRY IT</a:t>
            </a:r>
          </a:p>
        </p:txBody>
      </p:sp>
      <p:sp>
        <p:nvSpPr>
          <p:cNvPr id="12" name="try-it url"/>
          <p:cNvSpPr txBox="1"/>
          <p:nvPr/>
        </p:nvSpPr>
        <p:spPr>
          <a:xfrm>
            <a:off x="8273491" y="5458968"/>
            <a:ext cx="3369564" cy="685800"/>
          </a:xfrm>
          <a:prstGeom prst="rect">
            <a:avLst/>
          </a:prstGeom>
          <a:noFill/>
        </p:spPr>
        <p:txBody>
          <a:bodyPr wrap="square" lIns="0" rIns="0" tIns="0" bIns="0" anchor="t">
            <a:spAutoFit/>
          </a:bodyPr>
          <a:lstStyle/>
          <a:p>
            <a:pPr algn="l"/>
            <a:r>
              <a:rPr sz="1400" b="1">
                <a:solidFill>
                  <a:srgbClr val="00629B"/>
                </a:solidFill>
                <a:latin typeface="Source Sans 3"/>
              </a:rPr>
              <a:t>calcofi.io/explore/?lens=section&amp;line=90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7 · THE CTD VISUALIZER · 1 OF 2</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3600" b="0" cap="all">
                <a:solidFill>
                  <a:srgbClr val="182B49"/>
                </a:solidFill>
                <a:latin typeface="Teko"/>
              </a:rPr>
              <a:t>The same slice, against normal: warmer or colder?</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calcofi.io/ctd-transects</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18</a:t>
            </a:r>
          </a:p>
        </p:txBody>
      </p:sp>
      <p:pic>
        <p:nvPicPr>
          <p:cNvPr id="8" name="screenshot" descr="74a77e55fae94625957e6339eb0d797042c64e61.png"/>
          <p:cNvPicPr>
            <a:picLocks noChangeAspect="1"/>
          </p:cNvPicPr>
          <p:nvPr/>
        </p:nvPicPr>
        <p:blipFill>
          <a:blip r:embed="rId4"/>
          <a:stretch>
            <a:fillRect/>
          </a:stretch>
        </p:blipFill>
        <p:spPr>
          <a:xfrm>
            <a:off x="548640" y="1572768"/>
            <a:ext cx="5861390" cy="4645152"/>
          </a:xfrm>
          <a:prstGeom prst="rect">
            <a:avLst/>
          </a:prstGeom>
          <a:ln w="9525">
            <a:solidFill>
              <a:srgbClr val="DDDDDD"/>
            </a:solidFill>
          </a:ln>
        </p:spPr>
      </p:pic>
      <p:sp>
        <p:nvSpPr>
          <p:cNvPr id="9" name="caption"/>
          <p:cNvSpPr txBox="1"/>
          <p:nvPr/>
        </p:nvSpPr>
        <p:spPr>
          <a:xfrm>
            <a:off x="6702638" y="1618488"/>
            <a:ext cx="4940416" cy="3291840"/>
          </a:xfrm>
          <a:prstGeom prst="rect">
            <a:avLst/>
          </a:prstGeom>
          <a:noFill/>
        </p:spPr>
        <p:txBody>
          <a:bodyPr wrap="square" lIns="0" rIns="0" tIns="0" bIns="0" anchor="t">
            <a:spAutoFit/>
          </a:bodyPr>
          <a:lstStyle/>
          <a:p>
            <a:pPr algn="l">
              <a:lnSpc>
                <a:spcPct val="115000"/>
              </a:lnSpc>
              <a:spcAft>
                <a:spcPts val="1000"/>
              </a:spcAft>
            </a:pPr>
            <a:r>
              <a:rPr sz="1600" b="0">
                <a:solidFill>
                  <a:srgbClr val="182B49"/>
                </a:solidFill>
                <a:latin typeface="Source Sans 3"/>
              </a:rPr>
              <a:t>The CTD Transects plotter draws a slice for every line and every cruise.</a:t>
            </a:r>
          </a:p>
          <a:p>
            <a:pPr algn="l">
              <a:lnSpc>
                <a:spcPct val="115000"/>
              </a:lnSpc>
              <a:spcAft>
                <a:spcPts val="1000"/>
              </a:spcAft>
            </a:pPr>
            <a:r>
              <a:rPr sz="1600" b="0">
                <a:solidFill>
                  <a:srgbClr val="182B49"/>
                </a:solidFill>
                <a:latin typeface="Source Sans 3"/>
              </a:rPr>
              <a:t>Red is warmer than the 1993 to 2013 normal, blue is colder. Line 90, August 2024: a cold coastal edge and a warm offshore layer.</a:t>
            </a:r>
          </a:p>
          <a:p>
            <a:pPr algn="l">
              <a:lnSpc>
                <a:spcPct val="115000"/>
              </a:lnSpc>
              <a:spcAft>
                <a:spcPts val="1000"/>
              </a:spcAft>
            </a:pPr>
            <a:r>
              <a:rPr sz="1600" b="0">
                <a:solidFill>
                  <a:srgbClr val="182B49"/>
                </a:solidFill>
                <a:latin typeface="Source Sans 3"/>
              </a:rPr>
              <a:t>Every cruise since 1993 is a click away.</a:t>
            </a:r>
          </a:p>
        </p:txBody>
      </p:sp>
      <p:sp>
        <p:nvSpPr>
          <p:cNvPr id="10" name="try-it chip"/>
          <p:cNvSpPr/>
          <p:nvPr/>
        </p:nvSpPr>
        <p:spPr>
          <a:xfrm>
            <a:off x="6702638" y="5074920"/>
            <a:ext cx="868680" cy="292608"/>
          </a:xfrm>
          <a:prstGeom prst="roundRect">
            <a:avLst>
              <a:gd name="adj" fmla="val 50000"/>
            </a:avLst>
          </a:prstGeom>
          <a:solidFill>
            <a:srgbClr val="FFCD00"/>
          </a:solidFill>
          <a:ln>
            <a:noFill/>
          </a:ln>
          <a:effectLst/>
        </p:spPr>
        <p:txBody>
          <a:bodyPr rtlCol="0" anchor="ctr"/>
          <a:lstStyle/>
          <a:p>
            <a:pPr algn="ctr"/>
          </a:p>
        </p:txBody>
      </p:sp>
      <p:sp>
        <p:nvSpPr>
          <p:cNvPr id="11" name="try-it label"/>
          <p:cNvSpPr txBox="1"/>
          <p:nvPr/>
        </p:nvSpPr>
        <p:spPr>
          <a:xfrm>
            <a:off x="6702638" y="5074920"/>
            <a:ext cx="868680" cy="292608"/>
          </a:xfrm>
          <a:prstGeom prst="rect">
            <a:avLst/>
          </a:prstGeom>
          <a:noFill/>
        </p:spPr>
        <p:txBody>
          <a:bodyPr wrap="square" lIns="0" rIns="0" tIns="0" bIns="0" anchor="ctr">
            <a:spAutoFit/>
          </a:bodyPr>
          <a:lstStyle/>
          <a:p>
            <a:pPr algn="ctr"/>
            <a:r>
              <a:rPr sz="1100" b="1" spc="90">
                <a:solidFill>
                  <a:srgbClr val="182B49"/>
                </a:solidFill>
                <a:latin typeface="Source Sans 3"/>
              </a:rPr>
              <a:t>TRY IT</a:t>
            </a:r>
          </a:p>
        </p:txBody>
      </p:sp>
      <p:sp>
        <p:nvSpPr>
          <p:cNvPr id="12" name="try-it url"/>
          <p:cNvSpPr txBox="1"/>
          <p:nvPr/>
        </p:nvSpPr>
        <p:spPr>
          <a:xfrm>
            <a:off x="6702638" y="5458968"/>
            <a:ext cx="4940416" cy="685800"/>
          </a:xfrm>
          <a:prstGeom prst="rect">
            <a:avLst/>
          </a:prstGeom>
          <a:noFill/>
        </p:spPr>
        <p:txBody>
          <a:bodyPr wrap="square" lIns="0" rIns="0" tIns="0" bIns="0" anchor="t">
            <a:spAutoFit/>
          </a:bodyPr>
          <a:lstStyle/>
          <a:p>
            <a:pPr algn="l"/>
            <a:r>
              <a:rPr sz="1400" b="1">
                <a:solidFill>
                  <a:srgbClr val="00629B"/>
                </a:solidFill>
                <a:latin typeface="Source Sans 3"/>
              </a:rPr>
              <a:t>calcofi.io/ctd-transects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7 · THE CTD VISUALIZER · 2 OF 2</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More stations, a sharper coast</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https://calcofi.io/ctd-transects/</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19</a:t>
            </a:r>
          </a:p>
        </p:txBody>
      </p:sp>
      <p:sp>
        <p:nvSpPr>
          <p:cNvPr id="8" name="eyebrow"/>
          <p:cNvSpPr txBox="1"/>
          <p:nvPr/>
        </p:nvSpPr>
        <p:spPr>
          <a:xfrm>
            <a:off x="548640" y="1572768"/>
            <a:ext cx="5413248" cy="274320"/>
          </a:xfrm>
          <a:prstGeom prst="rect">
            <a:avLst/>
          </a:prstGeom>
          <a:noFill/>
        </p:spPr>
        <p:txBody>
          <a:bodyPr wrap="square" lIns="0" rIns="0" tIns="0" bIns="0" anchor="t">
            <a:spAutoFit/>
          </a:bodyPr>
          <a:lstStyle/>
          <a:p>
            <a:pPr algn="l"/>
            <a:r>
              <a:rPr sz="1100" b="1" spc="90">
                <a:solidFill>
                  <a:srgbClr val="66686A"/>
                </a:solidFill>
                <a:latin typeface="Source Sans 3"/>
              </a:rPr>
              <a:t>BEFORE · ONE STATION PER GRID CELL</a:t>
            </a:r>
          </a:p>
        </p:txBody>
      </p:sp>
      <p:sp>
        <p:nvSpPr>
          <p:cNvPr id="9" name="eyebrow"/>
          <p:cNvSpPr txBox="1"/>
          <p:nvPr/>
        </p:nvSpPr>
        <p:spPr>
          <a:xfrm>
            <a:off x="6227064" y="1572768"/>
            <a:ext cx="5413248" cy="274320"/>
          </a:xfrm>
          <a:prstGeom prst="rect">
            <a:avLst/>
          </a:prstGeom>
          <a:noFill/>
        </p:spPr>
        <p:txBody>
          <a:bodyPr wrap="square" lIns="0" rIns="0" tIns="0" bIns="0" anchor="t">
            <a:spAutoFit/>
          </a:bodyPr>
          <a:lstStyle/>
          <a:p>
            <a:pPr algn="l"/>
            <a:r>
              <a:rPr sz="1100" b="1" spc="90">
                <a:solidFill>
                  <a:srgbClr val="66686A"/>
                </a:solidFill>
                <a:latin typeface="Source Sans 3"/>
              </a:rPr>
              <a:t>AFTER · EVERY STATION ITS OWN COLUMN</a:t>
            </a:r>
          </a:p>
        </p:txBody>
      </p:sp>
      <p:pic>
        <p:nvPicPr>
          <p:cNvPr id="10" name="before" descr="20b66dac01aaaf8a629ff82c6fc512f307222103.png"/>
          <p:cNvPicPr>
            <a:picLocks noChangeAspect="1"/>
          </p:cNvPicPr>
          <p:nvPr/>
        </p:nvPicPr>
        <p:blipFill>
          <a:blip r:embed="rId4"/>
          <a:stretch>
            <a:fillRect/>
          </a:stretch>
        </p:blipFill>
        <p:spPr>
          <a:xfrm>
            <a:off x="548640" y="1874519"/>
            <a:ext cx="5413248" cy="2911100"/>
          </a:xfrm>
          <a:prstGeom prst="rect">
            <a:avLst/>
          </a:prstGeom>
          <a:ln w="9525">
            <a:solidFill>
              <a:srgbClr val="DDDDDD"/>
            </a:solidFill>
          </a:ln>
        </p:spPr>
      </p:pic>
      <p:pic>
        <p:nvPicPr>
          <p:cNvPr id="11" name="after" descr="79ac5372993d6e423dbaf9ade0b7c94607f3e3ab.png"/>
          <p:cNvPicPr>
            <a:picLocks noChangeAspect="1"/>
          </p:cNvPicPr>
          <p:nvPr/>
        </p:nvPicPr>
        <p:blipFill>
          <a:blip r:embed="rId5"/>
          <a:stretch>
            <a:fillRect/>
          </a:stretch>
        </p:blipFill>
        <p:spPr>
          <a:xfrm>
            <a:off x="6227064" y="1874519"/>
            <a:ext cx="5413248" cy="2911100"/>
          </a:xfrm>
          <a:prstGeom prst="rect">
            <a:avLst/>
          </a:prstGeom>
          <a:ln w="9525">
            <a:solidFill>
              <a:srgbClr val="DDDDDD"/>
            </a:solidFill>
          </a:ln>
        </p:spPr>
      </p:pic>
      <p:sp>
        <p:nvSpPr>
          <p:cNvPr id="12" name="caption"/>
          <p:cNvSpPr txBox="1"/>
          <p:nvPr/>
        </p:nvSpPr>
        <p:spPr>
          <a:xfrm>
            <a:off x="548640" y="5059940"/>
            <a:ext cx="11064240" cy="1097280"/>
          </a:xfrm>
          <a:prstGeom prst="rect">
            <a:avLst/>
          </a:prstGeom>
          <a:noFill/>
        </p:spPr>
        <p:txBody>
          <a:bodyPr wrap="square" lIns="0" rIns="0" tIns="0" bIns="0" anchor="t">
            <a:spAutoFit/>
          </a:bodyPr>
          <a:lstStyle/>
          <a:p>
            <a:pPr algn="l">
              <a:lnSpc>
                <a:spcPct val="115000"/>
              </a:lnSpc>
              <a:spcAft>
                <a:spcPts val="600"/>
              </a:spcAft>
            </a:pPr>
            <a:r>
              <a:rPr sz="1600" b="0">
                <a:solidFill>
                  <a:srgbClr val="182B49"/>
                </a:solidFill>
                <a:latin typeface="Source Sans 3"/>
              </a:rPr>
              <a:t>Line 90, August 2024. Once each station is drawn as itself, two inshore stations appear, and with them a cold nearshore core that the old picture hid.</a:t>
            </a:r>
          </a:p>
          <a:p>
            <a:pPr algn="l">
              <a:lnSpc>
                <a:spcPct val="115000"/>
              </a:lnSpc>
              <a:spcAft>
                <a:spcPts val="600"/>
              </a:spcAft>
            </a:pPr>
            <a:r>
              <a:rPr sz="1600" b="1">
                <a:solidFill>
                  <a:srgbClr val="182B49"/>
                </a:solidFill>
                <a:latin typeface="Source Sans 3"/>
              </a:rPr>
              <a:t>Red is warmer and blue colder than normal.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9052560" cy="274320"/>
          </a:xfrm>
          <a:prstGeom prst="rect">
            <a:avLst/>
          </a:prstGeom>
          <a:noFill/>
        </p:spPr>
        <p:txBody>
          <a:bodyPr wrap="square" lIns="0" rIns="0" tIns="0" bIns="0" anchor="t">
            <a:spAutoFit/>
          </a:bodyPr>
          <a:lstStyle/>
          <a:p>
            <a:pPr algn="l"/>
            <a:r>
              <a:rPr sz="1100" b="1" spc="90">
                <a:solidFill>
                  <a:srgbClr val="66686A"/>
                </a:solidFill>
                <a:latin typeface="Source Sans 3"/>
              </a:rPr>
              <a:t>PART 8 · OFFERED BY BEN</a:t>
            </a:r>
          </a:p>
        </p:txBody>
      </p:sp>
      <p:sp>
        <p:nvSpPr>
          <p:cNvPr id="3" name="title"/>
          <p:cNvSpPr txBox="1"/>
          <p:nvPr/>
        </p:nvSpPr>
        <p:spPr>
          <a:xfrm>
            <a:off x="548640" y="585216"/>
            <a:ext cx="9006840" cy="914400"/>
          </a:xfrm>
          <a:prstGeom prst="rect">
            <a:avLst/>
          </a:prstGeom>
          <a:noFill/>
        </p:spPr>
        <p:txBody>
          <a:bodyPr wrap="square" lIns="0" rIns="0" tIns="0" bIns="0" anchor="t">
            <a:spAutoFit/>
          </a:bodyPr>
          <a:lstStyle/>
          <a:p>
            <a:pPr algn="l">
              <a:lnSpc>
                <a:spcPct val="90000"/>
              </a:lnSpc>
            </a:pPr>
            <a:r>
              <a:rPr sz="4000" b="0" cap="all">
                <a:solidFill>
                  <a:srgbClr val="182B49"/>
                </a:solidFill>
                <a:latin typeface="Teko"/>
              </a:rPr>
              <a:t>Watching the next El Niño as it happens</a:t>
            </a:r>
          </a:p>
        </p:txBody>
      </p:sp>
      <p:pic>
        <p:nvPicPr>
          <p:cNvPr id="4" name="lockup" descr="logo_light_ground.png"/>
          <p:cNvPicPr>
            <a:picLocks noChangeAspect="1"/>
          </p:cNvPicPr>
          <p:nvPr/>
        </p:nvPicPr>
        <p:blipFill>
          <a:blip r:embed="rId2"/>
          <a:stretch>
            <a:fillRect/>
          </a:stretch>
        </p:blipFill>
        <p:spPr>
          <a:xfrm>
            <a:off x="9768535" y="384048"/>
            <a:ext cx="1874519" cy="352298"/>
          </a:xfrm>
          <a:prstGeom prst="rect">
            <a:avLst/>
          </a:prstGeom>
        </p:spPr>
      </p:pic>
      <p:sp>
        <p:nvSpPr>
          <p:cNvPr id="5" name="footer rule"/>
          <p:cNvSpPr/>
          <p:nvPr/>
        </p:nvSpPr>
        <p:spPr>
          <a:xfrm>
            <a:off x="548640" y="6355080"/>
            <a:ext cx="11094415" cy="9144"/>
          </a:xfrm>
          <a:prstGeom prst="rect">
            <a:avLst/>
          </a:prstGeom>
          <a:solidFill>
            <a:srgbClr val="DDDDDD"/>
          </a:solidFill>
          <a:ln>
            <a:noFill/>
          </a:ln>
          <a:effectLst/>
        </p:spPr>
        <p:txBody>
          <a:bodyPr rtlCol="0" anchor="ctr"/>
          <a:lstStyle/>
          <a:p>
            <a:pPr algn="ctr"/>
          </a:p>
        </p:txBody>
      </p:sp>
      <p:sp>
        <p:nvSpPr>
          <p:cNvPr id="6" name="footer left"/>
          <p:cNvSpPr txBox="1"/>
          <p:nvPr/>
        </p:nvSpPr>
        <p:spPr>
          <a:xfrm>
            <a:off x="548640" y="6428232"/>
            <a:ext cx="7772400" cy="274320"/>
          </a:xfrm>
          <a:prstGeom prst="rect">
            <a:avLst/>
          </a:prstGeom>
          <a:noFill/>
        </p:spPr>
        <p:txBody>
          <a:bodyPr wrap="square" lIns="0" rIns="0" tIns="0" bIns="0" anchor="t">
            <a:spAutoFit/>
          </a:bodyPr>
          <a:lstStyle/>
          <a:p>
            <a:pPr algn="l"/>
            <a:r>
              <a:rPr sz="1100" b="0">
                <a:solidFill>
                  <a:srgbClr val="00629B"/>
                </a:solidFill>
                <a:latin typeface="Source Sans 3"/>
              </a:rPr>
              <a:t>calcofi.io/ctd-transects · calcofi.io/explore</a:t>
            </a:r>
          </a:p>
        </p:txBody>
      </p:sp>
      <p:sp>
        <p:nvSpPr>
          <p:cNvPr id="7" name="footer right"/>
          <p:cNvSpPr txBox="1"/>
          <p:nvPr/>
        </p:nvSpPr>
        <p:spPr>
          <a:xfrm>
            <a:off x="7528255" y="6428232"/>
            <a:ext cx="4114800" cy="274320"/>
          </a:xfrm>
          <a:prstGeom prst="rect">
            <a:avLst/>
          </a:prstGeom>
          <a:noFill/>
        </p:spPr>
        <p:txBody>
          <a:bodyPr wrap="square" lIns="0" rIns="0" tIns="0" bIns="0" anchor="t">
            <a:spAutoFit/>
          </a:bodyPr>
          <a:lstStyle/>
          <a:p>
            <a:pPr algn="r"/>
            <a:r>
              <a:rPr sz="1100" b="0">
                <a:solidFill>
                  <a:srgbClr val="66686A"/>
                </a:solidFill>
                <a:latin typeface="Source Sans 3"/>
              </a:rPr>
              <a:t>CalOOS summit · 2026-10-13 · 20</a:t>
            </a:r>
          </a:p>
        </p:txBody>
      </p:sp>
      <p:sp>
        <p:nvSpPr>
          <p:cNvPr id="8" name="placeholder frame"/>
          <p:cNvSpPr/>
          <p:nvPr/>
        </p:nvSpPr>
        <p:spPr>
          <a:xfrm>
            <a:off x="548640" y="1572768"/>
            <a:ext cx="5413248" cy="3017520"/>
          </a:xfrm>
          <a:prstGeom prst="roundRect">
            <a:avLst>
              <a:gd name="adj" fmla="val 3636"/>
            </a:avLst>
          </a:prstGeom>
          <a:solidFill>
            <a:srgbClr val="F5F0E6"/>
          </a:solidFill>
          <a:ln w="12700">
            <a:solidFill>
              <a:srgbClr val="B6B1A9"/>
            </a:solidFill>
            <a:prstDash val="dash"/>
          </a:ln>
          <a:effectLst/>
        </p:spPr>
        <p:txBody>
          <a:bodyPr rtlCol="0" anchor="ctr"/>
          <a:lstStyle/>
          <a:p>
            <a:pPr algn="ctr"/>
          </a:p>
        </p:txBody>
      </p:sp>
      <p:sp>
        <p:nvSpPr>
          <p:cNvPr id="9" name="eyebrow"/>
          <p:cNvSpPr txBox="1"/>
          <p:nvPr/>
        </p:nvSpPr>
        <p:spPr>
          <a:xfrm>
            <a:off x="822959" y="1801368"/>
            <a:ext cx="4864608" cy="274320"/>
          </a:xfrm>
          <a:prstGeom prst="rect">
            <a:avLst/>
          </a:prstGeom>
          <a:noFill/>
        </p:spPr>
        <p:txBody>
          <a:bodyPr wrap="square" lIns="0" rIns="0" tIns="0" bIns="0" anchor="t">
            <a:spAutoFit/>
          </a:bodyPr>
          <a:lstStyle/>
          <a:p>
            <a:pPr algn="l"/>
            <a:r>
              <a:rPr sz="1100" b="1" spc="90">
                <a:solidFill>
                  <a:srgbClr val="66686A"/>
                </a:solidFill>
                <a:latin typeface="Source Sans 3"/>
              </a:rPr>
              <a:t>PLACEHOLDER SHOT</a:t>
            </a:r>
          </a:p>
        </p:txBody>
      </p:sp>
      <p:sp>
        <p:nvSpPr>
          <p:cNvPr id="10" name="frame title"/>
          <p:cNvSpPr txBox="1"/>
          <p:nvPr/>
        </p:nvSpPr>
        <p:spPr>
          <a:xfrm>
            <a:off x="822959" y="2532888"/>
            <a:ext cx="4864608" cy="640080"/>
          </a:xfrm>
          <a:prstGeom prst="rect">
            <a:avLst/>
          </a:prstGeom>
          <a:noFill/>
        </p:spPr>
        <p:txBody>
          <a:bodyPr wrap="square" lIns="0" rIns="0" tIns="0" bIns="0" anchor="t">
            <a:spAutoFit/>
          </a:bodyPr>
          <a:lstStyle/>
          <a:p>
            <a:pPr algn="l">
              <a:lnSpc>
                <a:spcPct val="90000"/>
              </a:lnSpc>
            </a:pPr>
            <a:r>
              <a:rPr sz="2800" b="0" cap="all">
                <a:solidFill>
                  <a:srgbClr val="182B49"/>
                </a:solidFill>
                <a:latin typeface="Teko"/>
              </a:rPr>
              <a:t>TEMPERATURE ANOMALY, ONE LINE</a:t>
            </a:r>
          </a:p>
        </p:txBody>
      </p:sp>
      <p:sp>
        <p:nvSpPr>
          <p:cNvPr id="11" name="frame caption"/>
          <p:cNvSpPr txBox="1"/>
          <p:nvPr/>
        </p:nvSpPr>
        <p:spPr>
          <a:xfrm>
            <a:off x="822959" y="3264408"/>
            <a:ext cx="4864608" cy="914400"/>
          </a:xfrm>
          <a:prstGeom prst="rect">
            <a:avLst/>
          </a:prstGeom>
          <a:noFill/>
        </p:spPr>
        <p:txBody>
          <a:bodyPr wrap="square" lIns="0" rIns="0" tIns="0" bIns="0" anchor="t">
            <a:spAutoFit/>
          </a:bodyPr>
          <a:lstStyle/>
          <a:p>
            <a:pPr algn="l">
              <a:lnSpc>
                <a:spcPct val="115000"/>
              </a:lnSpc>
            </a:pPr>
            <a:r>
              <a:rPr sz="1500" b="0">
                <a:solidFill>
                  <a:srgbClr val="66686A"/>
                </a:solidFill>
                <a:latin typeface="Source Sans 3"/>
              </a:rPr>
              <a:t>The CTD Transects slice for a current cruise, against normal.</a:t>
            </a:r>
          </a:p>
        </p:txBody>
      </p:sp>
      <p:sp>
        <p:nvSpPr>
          <p:cNvPr id="12" name="placeholder frame"/>
          <p:cNvSpPr/>
          <p:nvPr/>
        </p:nvSpPr>
        <p:spPr>
          <a:xfrm>
            <a:off x="6227064" y="1572768"/>
            <a:ext cx="5413248" cy="3017520"/>
          </a:xfrm>
          <a:prstGeom prst="roundRect">
            <a:avLst>
              <a:gd name="adj" fmla="val 3636"/>
            </a:avLst>
          </a:prstGeom>
          <a:solidFill>
            <a:srgbClr val="F5F0E6"/>
          </a:solidFill>
          <a:ln w="12700">
            <a:solidFill>
              <a:srgbClr val="B6B1A9"/>
            </a:solidFill>
            <a:prstDash val="dash"/>
          </a:ln>
          <a:effectLst/>
        </p:spPr>
        <p:txBody>
          <a:bodyPr rtlCol="0" anchor="ctr"/>
          <a:lstStyle/>
          <a:p>
            <a:pPr algn="ctr"/>
          </a:p>
        </p:txBody>
      </p:sp>
      <p:sp>
        <p:nvSpPr>
          <p:cNvPr id="13" name="eyebrow"/>
          <p:cNvSpPr txBox="1"/>
          <p:nvPr/>
        </p:nvSpPr>
        <p:spPr>
          <a:xfrm>
            <a:off x="6501383" y="1801368"/>
            <a:ext cx="4864608" cy="274320"/>
          </a:xfrm>
          <a:prstGeom prst="rect">
            <a:avLst/>
          </a:prstGeom>
          <a:noFill/>
        </p:spPr>
        <p:txBody>
          <a:bodyPr wrap="square" lIns="0" rIns="0" tIns="0" bIns="0" anchor="t">
            <a:spAutoFit/>
          </a:bodyPr>
          <a:lstStyle/>
          <a:p>
            <a:pPr algn="l"/>
            <a:r>
              <a:rPr sz="1100" b="1" spc="90">
                <a:solidFill>
                  <a:srgbClr val="66686A"/>
                </a:solidFill>
                <a:latin typeface="Source Sans 3"/>
              </a:rPr>
              <a:t>PLACEHOLDER SHOT</a:t>
            </a:r>
          </a:p>
        </p:txBody>
      </p:sp>
      <p:sp>
        <p:nvSpPr>
          <p:cNvPr id="14" name="frame title"/>
          <p:cNvSpPr txBox="1"/>
          <p:nvPr/>
        </p:nvSpPr>
        <p:spPr>
          <a:xfrm>
            <a:off x="6501383" y="2532888"/>
            <a:ext cx="4864608" cy="640080"/>
          </a:xfrm>
          <a:prstGeom prst="rect">
            <a:avLst/>
          </a:prstGeom>
          <a:noFill/>
        </p:spPr>
        <p:txBody>
          <a:bodyPr wrap="square" lIns="0" rIns="0" tIns="0" bIns="0" anchor="t">
            <a:spAutoFit/>
          </a:bodyPr>
          <a:lstStyle/>
          <a:p>
            <a:pPr algn="l">
              <a:lnSpc>
                <a:spcPct val="90000"/>
              </a:lnSpc>
            </a:pPr>
            <a:r>
              <a:rPr sz="2800" b="0" cap="all">
                <a:solidFill>
                  <a:srgbClr val="182B49"/>
                </a:solidFill>
                <a:latin typeface="Teko"/>
              </a:rPr>
              <a:t>MIXED-LAYER DEPTH, A MAP</a:t>
            </a:r>
          </a:p>
        </p:txBody>
      </p:sp>
      <p:sp>
        <p:nvSpPr>
          <p:cNvPr id="15" name="frame caption"/>
          <p:cNvSpPr txBox="1"/>
          <p:nvPr/>
        </p:nvSpPr>
        <p:spPr>
          <a:xfrm>
            <a:off x="6501383" y="3264408"/>
            <a:ext cx="4864608" cy="914400"/>
          </a:xfrm>
          <a:prstGeom prst="rect">
            <a:avLst/>
          </a:prstGeom>
          <a:noFill/>
        </p:spPr>
        <p:txBody>
          <a:bodyPr wrap="square" lIns="0" rIns="0" tIns="0" bIns="0" anchor="t">
            <a:spAutoFit/>
          </a:bodyPr>
          <a:lstStyle/>
          <a:p>
            <a:pPr algn="l">
              <a:lnSpc>
                <a:spcPct val="115000"/>
              </a:lnSpc>
            </a:pPr>
            <a:r>
              <a:rPr sz="1500" b="0">
                <a:solidFill>
                  <a:srgbClr val="66686A"/>
                </a:solidFill>
                <a:latin typeface="Source Sans 3"/>
              </a:rPr>
              <a:t>How deep the warm surface layer reaches, station by station.</a:t>
            </a:r>
          </a:p>
        </p:txBody>
      </p:sp>
      <p:sp>
        <p:nvSpPr>
          <p:cNvPr id="16" name="closing"/>
          <p:cNvSpPr txBox="1"/>
          <p:nvPr/>
        </p:nvSpPr>
        <p:spPr>
          <a:xfrm>
            <a:off x="548640" y="4892040"/>
            <a:ext cx="11064240" cy="1325880"/>
          </a:xfrm>
          <a:prstGeom prst="rect">
            <a:avLst/>
          </a:prstGeom>
          <a:noFill/>
        </p:spPr>
        <p:txBody>
          <a:bodyPr wrap="square" lIns="0" rIns="0" tIns="0" bIns="0" anchor="t">
            <a:spAutoFit/>
          </a:bodyPr>
          <a:lstStyle/>
          <a:p>
            <a:pPr algn="l">
              <a:lnSpc>
                <a:spcPct val="115000"/>
              </a:lnSpc>
              <a:spcAft>
                <a:spcPts val="600"/>
              </a:spcAft>
            </a:pPr>
            <a:r>
              <a:rPr sz="2200" b="1">
                <a:solidFill>
                  <a:srgbClr val="00629B"/>
                </a:solidFill>
                <a:latin typeface="Source Sans 3"/>
              </a:rPr>
              <a:t>The El Niño cruise leaves 31 October.</a:t>
            </a:r>
          </a:p>
          <a:p>
            <a:pPr algn="l">
              <a:lnSpc>
                <a:spcPct val="115000"/>
              </a:lnSpc>
              <a:spcAft>
                <a:spcPts val="600"/>
              </a:spcAft>
            </a:pPr>
            <a:r>
              <a:rPr sz="1700" b="0">
                <a:solidFill>
                  <a:srgbClr val="182B49"/>
                </a:solidFill>
                <a:latin typeface="Source Sans 3"/>
              </a:rPr>
              <a:t>Our aim: as each line is sampled, show how the water compares with normal, and how deep the warm layer reaches, in the tools you have just seen.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2191695" cy="6858000"/>
          </a:xfrm>
          <a:prstGeom prst="rect">
            <a:avLst/>
          </a:prstGeom>
          <a:solidFill>
            <a:srgbClr val="0F1A2E"/>
          </a:solidFill>
          <a:ln>
            <a:noFill/>
          </a:ln>
          <a:effectLst/>
        </p:spPr>
        <p:txBody>
          <a:bodyPr rtlCol="0" anchor="ctr"/>
          <a:lstStyle/>
          <a:p>
            <a:pPr algn="ctr"/>
          </a:p>
        </p:txBody>
      </p:sp>
      <p:pic>
        <p:nvPicPr>
          <p:cNvPr id="3" name="lockup" descr="logo_dark_ground.png"/>
          <p:cNvPicPr>
            <a:picLocks noChangeAspect="1"/>
          </p:cNvPicPr>
          <p:nvPr/>
        </p:nvPicPr>
        <p:blipFill>
          <a:blip r:embed="rId2"/>
          <a:stretch>
            <a:fillRect/>
          </a:stretch>
        </p:blipFill>
        <p:spPr>
          <a:xfrm>
            <a:off x="548640" y="502920"/>
            <a:ext cx="2651760" cy="498373"/>
          </a:xfrm>
          <a:prstGeom prst="rect">
            <a:avLst/>
          </a:prstGeom>
        </p:spPr>
      </p:pic>
      <p:sp>
        <p:nvSpPr>
          <p:cNvPr id="4" name="eyebrow"/>
          <p:cNvSpPr txBox="1"/>
          <p:nvPr/>
        </p:nvSpPr>
        <p:spPr>
          <a:xfrm>
            <a:off x="548640" y="2011680"/>
            <a:ext cx="10515600" cy="320040"/>
          </a:xfrm>
          <a:prstGeom prst="rect">
            <a:avLst/>
          </a:prstGeom>
          <a:noFill/>
        </p:spPr>
        <p:txBody>
          <a:bodyPr wrap="square" lIns="0" rIns="0" tIns="0" bIns="0" anchor="t">
            <a:spAutoFit/>
          </a:bodyPr>
          <a:lstStyle/>
          <a:p>
            <a:pPr algn="l"/>
            <a:r>
              <a:rPr sz="1300" b="1" spc="120">
                <a:solidFill>
                  <a:srgbClr val="FFCD00"/>
                </a:solidFill>
                <a:latin typeface="Source Sans 3"/>
              </a:rPr>
              <a:t>ONE RECORD · A DOOR FOR EVERYONE</a:t>
            </a:r>
          </a:p>
        </p:txBody>
      </p:sp>
      <p:sp>
        <p:nvSpPr>
          <p:cNvPr id="5" name="title"/>
          <p:cNvSpPr txBox="1"/>
          <p:nvPr/>
        </p:nvSpPr>
        <p:spPr>
          <a:xfrm>
            <a:off x="548640" y="2377440"/>
            <a:ext cx="10972800" cy="1097280"/>
          </a:xfrm>
          <a:prstGeom prst="rect">
            <a:avLst/>
          </a:prstGeom>
          <a:noFill/>
        </p:spPr>
        <p:txBody>
          <a:bodyPr wrap="square" lIns="0" rIns="0" tIns="0" bIns="0" anchor="t">
            <a:spAutoFit/>
          </a:bodyPr>
          <a:lstStyle/>
          <a:p>
            <a:pPr algn="l">
              <a:lnSpc>
                <a:spcPct val="90000"/>
              </a:lnSpc>
            </a:pPr>
            <a:r>
              <a:rPr sz="6600" b="0" cap="all">
                <a:solidFill>
                  <a:srgbClr val="FFFFFF"/>
                </a:solidFill>
                <a:latin typeface="Teko"/>
              </a:rPr>
              <a:t>Explore it, cite it, build on it</a:t>
            </a:r>
          </a:p>
        </p:txBody>
      </p:sp>
      <p:sp>
        <p:nvSpPr>
          <p:cNvPr id="6" name="links"/>
          <p:cNvSpPr txBox="1"/>
          <p:nvPr/>
        </p:nvSpPr>
        <p:spPr>
          <a:xfrm>
            <a:off x="548640" y="3840480"/>
            <a:ext cx="10515600" cy="2377440"/>
          </a:xfrm>
          <a:prstGeom prst="rect">
            <a:avLst/>
          </a:prstGeom>
          <a:noFill/>
        </p:spPr>
        <p:txBody>
          <a:bodyPr wrap="square" lIns="0" rIns="0" tIns="0" bIns="0" anchor="t">
            <a:spAutoFit/>
          </a:bodyPr>
          <a:lstStyle/>
          <a:p>
            <a:pPr algn="l">
              <a:spcAft>
                <a:spcPts val="800"/>
              </a:spcAft>
            </a:pPr>
            <a:r>
              <a:rPr sz="2000" b="1">
                <a:solidFill>
                  <a:srgbClr val="FFFFFF"/>
                </a:solidFill>
                <a:latin typeface="Source Sans 3"/>
              </a:rPr>
              <a:t>calcofi.io/explore</a:t>
            </a:r>
            <a:r>
              <a:rPr sz="2000" b="0">
                <a:solidFill>
                  <a:srgbClr val="B9C6DA"/>
                </a:solidFill>
                <a:latin typeface="Source Sans 3"/>
              </a:rPr>
              <a:t> · see the data</a:t>
            </a:r>
          </a:p>
          <a:p>
            <a:pPr algn="l">
              <a:spcAft>
                <a:spcPts val="800"/>
              </a:spcAft>
            </a:pPr>
            <a:r>
              <a:rPr sz="2000" b="1">
                <a:solidFill>
                  <a:srgbClr val="FFFFFF"/>
                </a:solidFill>
                <a:latin typeface="Source Sans 3"/>
              </a:rPr>
              <a:t>calcofi.io/ctd-transects</a:t>
            </a:r>
            <a:r>
              <a:rPr sz="2000" b="0">
                <a:solidFill>
                  <a:srgbClr val="B9C6DA"/>
                </a:solidFill>
                <a:latin typeface="Source Sans 3"/>
              </a:rPr>
              <a:t> · slices and anomalies</a:t>
            </a:r>
          </a:p>
          <a:p>
            <a:pPr algn="l">
              <a:spcAft>
                <a:spcPts val="800"/>
              </a:spcAft>
            </a:pPr>
            <a:r>
              <a:rPr sz="2000" b="1">
                <a:solidFill>
                  <a:srgbClr val="FFFFFF"/>
                </a:solidFill>
                <a:latin typeface="Source Sans 3"/>
              </a:rPr>
              <a:t>calcofi.io/docs</a:t>
            </a:r>
            <a:r>
              <a:rPr sz="2000" b="0">
                <a:solidFill>
                  <a:srgbClr val="B9C6DA"/>
                </a:solidFill>
                <a:latin typeface="Source Sans 3"/>
              </a:rPr>
              <a:t> · which door is yours</a:t>
            </a:r>
          </a:p>
          <a:p>
            <a:pPr algn="l">
              <a:spcAft>
                <a:spcPts val="800"/>
              </a:spcAft>
            </a:pPr>
            <a:r>
              <a:rPr sz="2000" b="1">
                <a:solidFill>
                  <a:srgbClr val="FFFFFF"/>
                </a:solidFill>
                <a:latin typeface="Source Sans 3"/>
              </a:rPr>
              <a:t>Release v2026.10.01</a:t>
            </a:r>
            <a:r>
              <a:rPr sz="2000" b="0">
                <a:solidFill>
                  <a:srgbClr val="B9C6DA"/>
                </a:solidFill>
                <a:latin typeface="Source Sans 3"/>
              </a:rPr>
              <a:t> · doi.org/10.5281/zenodo.23085119</a:t>
            </a:r>
          </a:p>
          <a:p>
            <a:pPr algn="l">
              <a:spcAft>
                <a:spcPts val="800"/>
              </a:spcAft>
            </a:pPr>
            <a:r>
              <a:rPr sz="2000" b="1">
                <a:solidFill>
                  <a:srgbClr val="FFFFFF"/>
                </a:solidFill>
                <a:latin typeface="Source Sans 3"/>
              </a:rPr>
              <a:t>data@calcofi.io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